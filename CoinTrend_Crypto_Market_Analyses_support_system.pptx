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1"/>
  </p:notesMasterIdLst>
  <p:sldIdLst>
    <p:sldId id="257" r:id="rId2"/>
    <p:sldId id="258" r:id="rId3"/>
    <p:sldId id="259" r:id="rId4"/>
    <p:sldId id="256" r:id="rId5"/>
    <p:sldId id="292" r:id="rId6"/>
    <p:sldId id="293" r:id="rId7"/>
    <p:sldId id="294" r:id="rId8"/>
    <p:sldId id="295" r:id="rId9"/>
    <p:sldId id="296" r:id="rId10"/>
    <p:sldId id="297" r:id="rId11"/>
    <p:sldId id="298" r:id="rId12"/>
    <p:sldId id="299" r:id="rId13"/>
    <p:sldId id="270" r:id="rId14"/>
    <p:sldId id="271" r:id="rId15"/>
    <p:sldId id="272" r:id="rId16"/>
    <p:sldId id="278" r:id="rId17"/>
    <p:sldId id="273" r:id="rId18"/>
    <p:sldId id="274" r:id="rId19"/>
    <p:sldId id="276" r:id="rId20"/>
    <p:sldId id="277" r:id="rId21"/>
    <p:sldId id="279" r:id="rId22"/>
    <p:sldId id="280" r:id="rId23"/>
    <p:sldId id="281" r:id="rId24"/>
    <p:sldId id="291" r:id="rId25"/>
    <p:sldId id="287" r:id="rId26"/>
    <p:sldId id="288" r:id="rId27"/>
    <p:sldId id="289" r:id="rId28"/>
    <p:sldId id="286" r:id="rId29"/>
    <p:sldId id="290"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90A3486-29A9-4F90-9EBD-71B831DC996F}">
          <p14:sldIdLst>
            <p14:sldId id="257"/>
            <p14:sldId id="258"/>
            <p14:sldId id="259"/>
            <p14:sldId id="256"/>
            <p14:sldId id="292"/>
            <p14:sldId id="293"/>
            <p14:sldId id="294"/>
            <p14:sldId id="295"/>
            <p14:sldId id="296"/>
            <p14:sldId id="297"/>
            <p14:sldId id="298"/>
            <p14:sldId id="299"/>
            <p14:sldId id="270"/>
            <p14:sldId id="271"/>
            <p14:sldId id="272"/>
            <p14:sldId id="278"/>
            <p14:sldId id="273"/>
            <p14:sldId id="274"/>
            <p14:sldId id="276"/>
            <p14:sldId id="277"/>
            <p14:sldId id="279"/>
            <p14:sldId id="280"/>
            <p14:sldId id="281"/>
            <p14:sldId id="291"/>
            <p14:sldId id="287"/>
            <p14:sldId id="288"/>
            <p14:sldId id="289"/>
            <p14:sldId id="286"/>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32238"/>
    <a:srgbClr val="2A5B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3592" autoAdjust="0"/>
  </p:normalViewPr>
  <p:slideViewPr>
    <p:cSldViewPr snapToGrid="0">
      <p:cViewPr>
        <p:scale>
          <a:sx n="130" d="100"/>
          <a:sy n="130" d="100"/>
        </p:scale>
        <p:origin x="492" y="54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0C3A51-3D09-4A32-8833-8B00BB06E6F5}" type="datetimeFigureOut">
              <a:rPr lang="en-DE" smtClean="0"/>
              <a:t>03/03/2026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89D7A5-2A41-4EFE-A9D9-E783F74D1BBD}" type="slidenum">
              <a:rPr lang="en-DE" smtClean="0"/>
              <a:t>‹#›</a:t>
            </a:fld>
            <a:endParaRPr lang="en-DE"/>
          </a:p>
        </p:txBody>
      </p:sp>
    </p:spTree>
    <p:extLst>
      <p:ext uri="{BB962C8B-B14F-4D97-AF65-F5344CB8AC3E}">
        <p14:creationId xmlns:p14="http://schemas.microsoft.com/office/powerpoint/2010/main" val="12701942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475569"/>
                </a:solidFill>
                <a:latin typeface="Calibri" pitchFamily="34" charset="0"/>
                <a:ea typeface="Calibri" pitchFamily="34" charset="-122"/>
                <a:cs typeface="Calibri" pitchFamily="34" charset="-120"/>
              </a:rPr>
              <a:t>The market is driven by many factors like …. . </a:t>
            </a:r>
            <a:r>
              <a:rPr lang="en-US" dirty="0"/>
              <a:t>“The challenge is not understanding one of these forces —</a:t>
            </a:r>
            <a:br>
              <a:rPr lang="en-US" dirty="0"/>
            </a:br>
            <a:r>
              <a:rPr lang="en-US" dirty="0"/>
              <a:t>the challenge is combining all of them into a single intelligent system.”</a:t>
            </a:r>
            <a:endParaRPr lang="en-DE" sz="1200" dirty="0">
              <a:solidFill>
                <a:srgbClr val="475569"/>
              </a:solidFill>
              <a:latin typeface="Calibri" pitchFamily="34" charset="0"/>
              <a:ea typeface="Calibri" pitchFamily="34" charset="-122"/>
              <a:cs typeface="Calibri" pitchFamily="34" charset="-120"/>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how </a:t>
            </a:r>
            <a:r>
              <a:rPr lang="en-US" dirty="0" err="1"/>
              <a:t>CoinTrend</a:t>
            </a:r>
            <a:r>
              <a:rPr lang="en-US" dirty="0"/>
              <a:t> AI works end to end :Every day at 00:30 AM, the system automatically fetches live market data prices, macro signals, and sentiment indicators. </a:t>
            </a:r>
          </a:p>
          <a:p>
            <a:r>
              <a:rPr lang="en-US" dirty="0"/>
              <a:t>From there we have two parallel pipelines running at the same time. </a:t>
            </a:r>
          </a:p>
          <a:p>
            <a:endParaRPr lang="en-US" dirty="0"/>
          </a:p>
          <a:p>
            <a:r>
              <a:rPr lang="en-US" dirty="0"/>
              <a:t>The first is the ML pipeline :the raw data goes through feature engineering where we compute 21 technical and macro features, it then feeds our ML models </a:t>
            </a:r>
          </a:p>
          <a:p>
            <a:r>
              <a:rPr lang="en-US" dirty="0"/>
              <a:t>both trained on 5 years of historical data but predicting on live real-time features. The output is a direction  UP or DOWN . </a:t>
            </a:r>
          </a:p>
          <a:p>
            <a:r>
              <a:rPr lang="en-US" dirty="0"/>
              <a:t>The second pipeline is the RAG pipeline : </a:t>
            </a:r>
            <a:r>
              <a:rPr lang="en-US" dirty="0" err="1"/>
              <a:t>Tavily</a:t>
            </a:r>
            <a:r>
              <a:rPr lang="en-US" dirty="0"/>
              <a:t> fetches the latest crypto and macro news. then our RAG and TF-IDF retrieval system scores and ranks the articles . The LLM analyses the prediction and the rag output and generates a structured report . </a:t>
            </a:r>
          </a:p>
          <a:p>
            <a:endParaRPr lang="en-US" dirty="0"/>
          </a:p>
          <a:p>
            <a:r>
              <a:rPr lang="en-US" dirty="0"/>
              <a:t>Both pipelines then converge into the chatbot and dashboard the two components of our </a:t>
            </a:r>
            <a:r>
              <a:rPr lang="en-US" dirty="0" err="1"/>
              <a:t>coinTrend</a:t>
            </a:r>
            <a:r>
              <a:rPr lang="en-US" dirty="0"/>
              <a:t> app , The chatbot acts as the conductor  it manages conversation history, assembles the right context, and routes everything based on what LLMA intent detected. The dashboard </a:t>
            </a:r>
            <a:r>
              <a:rPr lang="en-US" dirty="0" err="1"/>
              <a:t>displayes</a:t>
            </a:r>
            <a:r>
              <a:rPr lang="en-US" dirty="0"/>
              <a:t> the prediction of ML and daily technical signals</a:t>
            </a:r>
          </a:p>
          <a:p>
            <a:endParaRPr lang="en-US" dirty="0"/>
          </a:p>
          <a:p>
            <a:r>
              <a:rPr lang="en-US" dirty="0"/>
              <a:t>We will go through each of these steps in detail in the next slides. But the key thing to understand here is that this is a fully automated, end-to-end system — from raw data to intelligent analysis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7D898-A962-DDEA-FC33-E5EFDF168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9C379-9CA4-9978-CB88-6E39625053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8B7E13-9446-F42C-F723-6F60B7F0AF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OHLCV : Open</a:t>
            </a:r>
            <a:r>
              <a:rPr lang="en-US" dirty="0"/>
              <a:t> — the price at the start of the day </a:t>
            </a:r>
            <a:r>
              <a:rPr lang="en-US" b="1" dirty="0"/>
              <a:t>High</a:t>
            </a:r>
            <a:r>
              <a:rPr lang="en-US" dirty="0"/>
              <a:t> — the highest price reached during the day </a:t>
            </a:r>
            <a:r>
              <a:rPr lang="en-US" b="1" dirty="0"/>
              <a:t>Low</a:t>
            </a:r>
            <a:r>
              <a:rPr lang="en-US" dirty="0"/>
              <a:t> — the lowest price reached during the day </a:t>
            </a:r>
            <a:r>
              <a:rPr lang="en-US" b="1" dirty="0"/>
              <a:t>Close</a:t>
            </a:r>
            <a:r>
              <a:rPr lang="en-US" dirty="0"/>
              <a:t> — the price at the end of the day </a:t>
            </a:r>
            <a:r>
              <a:rPr lang="en-US" b="1" dirty="0"/>
              <a:t>Volume</a:t>
            </a:r>
            <a:r>
              <a:rPr lang="en-US" dirty="0"/>
              <a:t> — how many units were traded that day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Let me give you the big picture of our data : We pull from four sources on a daily base  Bitcoin and Ethereum prices, global macro indicators like the US stock market, the dollar index and the volatility index, the Fear &amp; Greed sentiment score, </a:t>
            </a:r>
          </a:p>
          <a:p>
            <a:r>
              <a:rPr lang="en-US" dirty="0"/>
              <a:t>Before feeding anything to the model, we clean the data : we fill any missing days caused by weekends or holidays, then we compute our 21 engineered features, create the target label which is simply up or down for tomorrow</a:t>
            </a:r>
          </a:p>
          <a:p>
            <a:endParaRPr lang="en-US" dirty="0"/>
          </a:p>
          <a:p>
            <a:r>
              <a:rPr lang="en-US" dirty="0"/>
              <a:t>Those 21 features are organized into 6 categories : each one capturing a different dimension of market behavior. Trend tells us where the price is relative to its averages. Momentum tells us if the move is accelerating or fading. Volatility measures how wildly the market is behaving. Macro captures what's happening globally  stocks, the dollar. Sentiment tracks investor psychology. And Regime flags whether we're in a bull or bear market.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2C9D58F4-3724-E516-EE78-367D3E8D3595}"/>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1433694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"Before we talk about the model, we need to understand why this problem is harder than it looks.</a:t>
            </a:r>
            <a:endParaRPr lang="en-US" dirty="0"/>
          </a:p>
          <a:p>
            <a:r>
              <a:rPr lang="en-US" dirty="0"/>
              <a:t>What you're seeing here is 8 years of Bitcoin and Ethereum price history  and the first thing that jumps out is that the market doesn't behave the same way over time. It moves in distinct regimes. A bear crash in 2018. A bull run in 2020. A complete wipeout in 2022. A recovery. And now an institutional phase that looks different from everything before it.</a:t>
            </a:r>
          </a:p>
          <a:p>
            <a:r>
              <a:rPr lang="en-US" dirty="0"/>
              <a:t>This creates three problems for any machine learning model.</a:t>
            </a:r>
          </a:p>
          <a:p>
            <a:r>
              <a:rPr lang="en-US" dirty="0"/>
              <a:t>First, price is not stationary BTC went from $3,000 to $124,000. The statistical properties of the data are completely different from one period to the next.</a:t>
            </a:r>
          </a:p>
          <a:p>
            <a:r>
              <a:rPr lang="en-US" dirty="0"/>
              <a:t>Second, each regime behaves differently bear markets produce large negative spikes, bull runs cluster upward moves. A model trained on a bull market is essentially blind when a crash arrives.</a:t>
            </a:r>
          </a:p>
          <a:p>
            <a:r>
              <a:rPr lang="en-US" dirty="0"/>
              <a:t>Third, volatility is not uniform  the structure of the market shifts, not just the price level.</a:t>
            </a:r>
          </a:p>
          <a:p>
            <a:r>
              <a:rPr lang="en-US" dirty="0"/>
              <a:t>So if we just take a random 80/20 split of this data, we would mix these regimes the model would accidentally learn from future market conditions during training. That's called data leakage, and it would give us completely misleading accuracy scores.</a:t>
            </a:r>
          </a:p>
          <a:p>
            <a:r>
              <a:rPr lang="en-US" dirty="0"/>
              <a:t>This is why we need a chronological split, regime-aware features, and to predict direction rather than exact price.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8" name="PlaceHolder 1"/>
          <p:cNvSpPr>
            <a:spLocks noGrp="1" noRot="1" noChangeAspect="1"/>
          </p:cNvSpPr>
          <p:nvPr>
            <p:ph type="sldImg"/>
          </p:nvPr>
        </p:nvSpPr>
        <p:spPr>
          <a:xfrm>
            <a:off x="685800" y="1143000"/>
            <a:ext cx="5486400" cy="3086100"/>
          </a:xfrm>
          <a:prstGeom prst="rect">
            <a:avLst/>
          </a:prstGeom>
          <a:ln w="0">
            <a:noFill/>
          </a:ln>
        </p:spPr>
      </p:sp>
      <p:sp>
        <p:nvSpPr>
          <p:cNvPr id="8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r>
              <a:rPr lang="en-US" sz="1200" b="0" kern="1200" dirty="0">
                <a:solidFill>
                  <a:schemeClr val="tx1"/>
                </a:solidFill>
                <a:effectLst/>
                <a:latin typeface="+mn-lt"/>
                <a:ea typeface="+mn-ea"/>
                <a:cs typeface="+mn-cs"/>
              </a:rPr>
              <a:t>S2 wins all measurable metrics. Extending validation to cover 2023–2024 gives the model richer regime diversity (bull, bear, recovery), resulting in a cleaner test on 2025–2026. </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Decision → S2 locked for all subsequent experiments.</a:t>
            </a:r>
          </a:p>
          <a:p>
            <a:pPr marL="216000" indent="-216000">
              <a:buNone/>
            </a:pPr>
            <a:endParaRPr lang="en-US" sz="1800" b="0" strike="noStrike" spc="-1" dirty="0">
              <a:solidFill>
                <a:srgbClr val="000000"/>
              </a:solidFill>
              <a:latin typeface="Arial"/>
            </a:endParaRPr>
          </a:p>
        </p:txBody>
      </p:sp>
      <p:sp>
        <p:nvSpPr>
          <p:cNvPr id="860" name="PlaceHolder 3"/>
          <p:cNvSpPr>
            <a:spLocks noGrp="1"/>
          </p:cNvSpPr>
          <p:nvPr>
            <p:ph type="sldNum" idx="68"/>
          </p:nvPr>
        </p:nvSpPr>
        <p:spPr>
          <a:xfrm>
            <a:off x="3884760" y="8685360"/>
            <a:ext cx="2971440" cy="458280"/>
          </a:xfrm>
          <a:prstGeom prst="rect">
            <a:avLst/>
          </a:prstGeom>
          <a:noFill/>
          <a:ln w="0">
            <a:noFill/>
          </a:ln>
        </p:spPr>
        <p:txBody>
          <a:bodyPr lIns="91440" tIns="45720" rIns="91440" bIns="45720" anchor="b">
            <a:noAutofit/>
          </a:bodyPr>
          <a:lstStyle>
            <a:lvl1pPr indent="0" algn="r" defTabSz="457200">
              <a:lnSpc>
                <a:spcPct val="100000"/>
              </a:lnSpc>
              <a:buNone/>
              <a:defRPr lang="en-US" sz="1200" b="0" strike="noStrike" spc="-1">
                <a:solidFill>
                  <a:schemeClr val="dk1"/>
                </a:solidFill>
                <a:latin typeface="+mn-lt"/>
                <a:ea typeface="+mn-ea"/>
              </a:defRPr>
            </a:lvl1pPr>
          </a:lstStyle>
          <a:p>
            <a:pPr indent="0" algn="r" defTabSz="457200">
              <a:lnSpc>
                <a:spcPct val="100000"/>
              </a:lnSpc>
              <a:buNone/>
            </a:pPr>
            <a:fld id="{87B124A6-18CC-4AC8-ABA4-11C46760B9FC}" type="slidenum">
              <a:rPr lang="en-US" sz="1200" b="0" strike="noStrike" spc="-1">
                <a:solidFill>
                  <a:schemeClr val="dk1"/>
                </a:solidFill>
                <a:latin typeface="+mn-lt"/>
                <a:ea typeface="+mn-ea"/>
              </a:rPr>
              <a:t>13</a:t>
            </a:fld>
            <a:endParaRPr lang="en-US" sz="12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DE" sz="1000" b="1" strike="noStrike" kern="1200" spc="-1" dirty="0">
              <a:solidFill>
                <a:srgbClr val="FFFFFF"/>
              </a:solidFill>
              <a:latin typeface="Calibri"/>
              <a:ea typeface="Calibri"/>
              <a:cs typeface="+mn-cs"/>
            </a:endParaRPr>
          </a:p>
        </p:txBody>
      </p:sp>
      <p:sp>
        <p:nvSpPr>
          <p:cNvPr id="4" name="Slide Number Placeholder 3"/>
          <p:cNvSpPr>
            <a:spLocks noGrp="1"/>
          </p:cNvSpPr>
          <p:nvPr>
            <p:ph type="sldNum" idx="54"/>
          </p:nvPr>
        </p:nvSpPr>
        <p:spPr/>
        <p:txBody>
          <a:bodyPr/>
          <a:lstStyle/>
          <a:p>
            <a:pPr indent="0" algn="r">
              <a:buNone/>
            </a:pPr>
            <a:fld id="{84B1E0E5-54B6-420A-A47B-6FAFB2A7B1CF}" type="slidenum">
              <a:rPr lang="en-US" sz="1400" b="0" strike="noStrike" spc="-1" smtClean="0">
                <a:solidFill>
                  <a:srgbClr val="000000"/>
                </a:solidFill>
                <a:latin typeface="Times New Roman"/>
              </a:rPr>
              <a:t>14</a:t>
            </a:fld>
            <a:endParaRPr lang="en-US" sz="1400" b="0" strike="noStrike" spc="-1">
              <a:solidFill>
                <a:srgbClr val="000000"/>
              </a:solidFill>
              <a:latin typeface="Times New Roman"/>
            </a:endParaRPr>
          </a:p>
        </p:txBody>
      </p:sp>
    </p:spTree>
    <p:extLst>
      <p:ext uri="{BB962C8B-B14F-4D97-AF65-F5344CB8AC3E}">
        <p14:creationId xmlns:p14="http://schemas.microsoft.com/office/powerpoint/2010/main" val="6206447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Special type of neutral network RNN designed to </a:t>
            </a:r>
            <a:r>
              <a:rPr lang="en-US" dirty="0" err="1"/>
              <a:t>handel</a:t>
            </a:r>
            <a:r>
              <a:rPr lang="en-US" dirty="0"/>
              <a:t> sequential data like time series , text or speech . It has a memory cell that remembers the information from far back in a sequence . It’s powerful when it comes to predict stock prices weather forecast </a:t>
            </a:r>
            <a:endParaRPr lang="en-DE" dirty="0"/>
          </a:p>
        </p:txBody>
      </p:sp>
      <p:sp>
        <p:nvSpPr>
          <p:cNvPr id="4" name="Slide Number Placeholder 3"/>
          <p:cNvSpPr>
            <a:spLocks noGrp="1"/>
          </p:cNvSpPr>
          <p:nvPr>
            <p:ph type="sldNum" sz="quarter" idx="5"/>
          </p:nvPr>
        </p:nvSpPr>
        <p:spPr/>
        <p:txBody>
          <a:bodyPr/>
          <a:lstStyle/>
          <a:p>
            <a:fld id="{0D89D7A5-2A41-4EFE-A9D9-E783F74D1BBD}" type="slidenum">
              <a:rPr lang="en-DE" smtClean="0"/>
              <a:t>16</a:t>
            </a:fld>
            <a:endParaRPr lang="en-DE"/>
          </a:p>
        </p:txBody>
      </p:sp>
    </p:spTree>
    <p:extLst>
      <p:ext uri="{BB962C8B-B14F-4D97-AF65-F5344CB8AC3E}">
        <p14:creationId xmlns:p14="http://schemas.microsoft.com/office/powerpoint/2010/main" val="32610215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In practical terms: when the model says UP, it's right 85% of the time a high confidence signal. When the market drops, the model rarely misses it (only 25 missed DOWN days out of 207).</a:t>
            </a:r>
          </a:p>
          <a:p>
            <a:endParaRPr lang="en-DE" dirty="0"/>
          </a:p>
        </p:txBody>
      </p:sp>
      <p:sp>
        <p:nvSpPr>
          <p:cNvPr id="4" name="Slide Number Placeholder 3"/>
          <p:cNvSpPr>
            <a:spLocks noGrp="1"/>
          </p:cNvSpPr>
          <p:nvPr>
            <p:ph type="sldNum" sz="quarter" idx="5"/>
          </p:nvPr>
        </p:nvSpPr>
        <p:spPr/>
        <p:txBody>
          <a:bodyPr/>
          <a:lstStyle/>
          <a:p>
            <a:fld id="{0D89D7A5-2A41-4EFE-A9D9-E783F74D1BBD}" type="slidenum">
              <a:rPr lang="en-DE" smtClean="0"/>
              <a:t>21</a:t>
            </a:fld>
            <a:endParaRPr lang="en-DE"/>
          </a:p>
        </p:txBody>
      </p:sp>
    </p:spTree>
    <p:extLst>
      <p:ext uri="{BB962C8B-B14F-4D97-AF65-F5344CB8AC3E}">
        <p14:creationId xmlns:p14="http://schemas.microsoft.com/office/powerpoint/2010/main" val="41751813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0D89D7A5-2A41-4EFE-A9D9-E783F74D1BBD}" type="slidenum">
              <a:rPr lang="en-DE" smtClean="0"/>
              <a:t>23</a:t>
            </a:fld>
            <a:endParaRPr lang="en-DE"/>
          </a:p>
        </p:txBody>
      </p:sp>
    </p:spTree>
    <p:extLst>
      <p:ext uri="{BB962C8B-B14F-4D97-AF65-F5344CB8AC3E}">
        <p14:creationId xmlns:p14="http://schemas.microsoft.com/office/powerpoint/2010/main" val="11991195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Before I show you how the tracking system works, let me explain why I built it.</a:t>
            </a:r>
            <a:endParaRPr lang="en-US" dirty="0"/>
          </a:p>
          <a:p>
            <a:r>
              <a:rPr lang="en-US" dirty="0"/>
              <a:t>A machine learning model is only as good as the data it was trained on. And in crypto, the market you trained on last year is not the market you're predicting in today. Regimes change unexpectedly and a static model will silently degrade and you won't even know it.</a:t>
            </a:r>
          </a:p>
          <a:p>
            <a:endParaRPr lang="en-US" dirty="0"/>
          </a:p>
          <a:p>
            <a:r>
              <a:rPr lang="en-US" dirty="0"/>
              <a:t>So from the start I knew that deploying a model once and leaving it was not an option. I needed a system that watches the model's performance every single day, detects when it starts losing its edge, and retrains it automatically on fresh data.</a:t>
            </a:r>
          </a:p>
          <a:p>
            <a:endParaRPr lang="en-US" dirty="0"/>
          </a:p>
          <a:p>
            <a:r>
              <a:rPr lang="en-US" dirty="0"/>
              <a:t>That's exactly what this system does  and I'll show you how.</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now let me show you how the chatbot actually works  and I want to explain it on two levels.</a:t>
            </a:r>
            <a:endParaRPr lang="en-US" dirty="0"/>
          </a:p>
          <a:p>
            <a:r>
              <a:rPr lang="en-US" b="1" dirty="0"/>
              <a:t>First, from the user's perspective  it's very simple.</a:t>
            </a:r>
            <a:endParaRPr lang="en-US" dirty="0"/>
          </a:p>
          <a:p>
            <a:r>
              <a:rPr lang="en-US" dirty="0"/>
              <a:t>You type a question. The chatbot receives it, figures out what you're asking, triggers the right tools behind the scenes, and sends back a structured answer. That's it. From the outside it feels like talking to a smart assistant.</a:t>
            </a:r>
          </a:p>
          <a:p>
            <a:endParaRPr lang="en-US" dirty="0"/>
          </a:p>
          <a:p>
            <a:r>
              <a:rPr lang="en-US" dirty="0"/>
              <a:t>But the chatbot is actually the brain the orchestrator of the whole system. It has four responsibilities: it detects your intent, it routes to the right pipeline, it orchestrates all the tools, and it keeps track of the conversation history so you can ask follow-up questions naturally.</a:t>
            </a:r>
          </a:p>
          <a:p>
            <a:endParaRPr lang="en-US" dirty="0"/>
          </a:p>
          <a:p>
            <a:r>
              <a:rPr lang="en-US" b="1" dirty="0"/>
              <a:t>Now  what is actually happening under the hood?</a:t>
            </a:r>
            <a:endParaRPr lang="en-US" dirty="0"/>
          </a:p>
          <a:p>
            <a:r>
              <a:rPr lang="en-US" dirty="0"/>
              <a:t>This is the second level. The moment you send your question, the chatbot silently triggers a 5-step pipeline.</a:t>
            </a:r>
          </a:p>
          <a:p>
            <a:r>
              <a:rPr lang="en-US" dirty="0"/>
              <a:t>First, intent detection the system uses a </a:t>
            </a:r>
            <a:r>
              <a:rPr lang="en-US" dirty="0" err="1"/>
              <a:t>LLaMA</a:t>
            </a:r>
            <a:r>
              <a:rPr lang="en-US" dirty="0"/>
              <a:t> classifier to understand what you're really asking and which coin you're talking about.</a:t>
            </a:r>
          </a:p>
          <a:p>
            <a:r>
              <a:rPr lang="en-US" dirty="0"/>
              <a:t>Then the data layer kicks in  depending on your intent, it either runs the ML model to get a price direction prediction, fetches live news through </a:t>
            </a:r>
            <a:r>
              <a:rPr lang="en-US" dirty="0" err="1"/>
              <a:t>Tavily</a:t>
            </a:r>
            <a:r>
              <a:rPr lang="en-US" dirty="0"/>
              <a:t> and ranks them with our RAG pipeline, or both.</a:t>
            </a:r>
          </a:p>
          <a:p>
            <a:r>
              <a:rPr lang="en-US" dirty="0"/>
              <a:t>All that data then goes into the context builder which packages everything into one structured prompt: your conversation history, the ML prediction, the live technical indicators, and the top news articles.</a:t>
            </a:r>
          </a:p>
          <a:p>
            <a:r>
              <a:rPr lang="en-US" dirty="0"/>
              <a:t>That prompt is then sent to the LLM engine  </a:t>
            </a:r>
            <a:r>
              <a:rPr lang="en-US" dirty="0" err="1"/>
              <a:t>LLaMA</a:t>
            </a:r>
            <a:r>
              <a:rPr lang="en-US" dirty="0"/>
              <a:t> 3.3 70B  which reads all of it, reasons over it, and generates a structured response tailored to your specific question.</a:t>
            </a:r>
          </a:p>
          <a:p>
            <a:r>
              <a:rPr lang="en-US" b="1" dirty="0"/>
              <a:t>So what the user experiences as one simple conversation is actually a sophisticated pipeline running silently in the background  that's the core of </a:t>
            </a:r>
            <a:r>
              <a:rPr lang="en-US" b="1" dirty="0" err="1"/>
              <a:t>CoinTrend</a:t>
            </a:r>
            <a:r>
              <a:rPr lang="en-US" b="1" dirty="0"/>
              <a:t>."</a:t>
            </a:r>
            <a:endParaRPr lang="en-US" dirty="0"/>
          </a:p>
          <a:p>
            <a:endParaRPr lang="en-DE" dirty="0"/>
          </a:p>
        </p:txBody>
      </p:sp>
      <p:sp>
        <p:nvSpPr>
          <p:cNvPr id="4" name="Slide Number Placeholder 3"/>
          <p:cNvSpPr>
            <a:spLocks noGrp="1"/>
          </p:cNvSpPr>
          <p:nvPr>
            <p:ph type="sldNum" sz="quarter" idx="5"/>
          </p:nvPr>
        </p:nvSpPr>
        <p:spPr/>
        <p:txBody>
          <a:bodyPr/>
          <a:lstStyle/>
          <a:p>
            <a:fld id="{0D89D7A5-2A41-4EFE-A9D9-E783F74D1BBD}" type="slidenum">
              <a:rPr lang="en-DE" smtClean="0"/>
              <a:t>25</a:t>
            </a:fld>
            <a:endParaRPr lang="en-DE"/>
          </a:p>
        </p:txBody>
      </p:sp>
    </p:spTree>
    <p:extLst>
      <p:ext uri="{BB962C8B-B14F-4D97-AF65-F5344CB8AC3E}">
        <p14:creationId xmlns:p14="http://schemas.microsoft.com/office/powerpoint/2010/main" val="37343616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AAAAAA"/>
                </a:solidFill>
                <a:latin typeface="Calibri"/>
              </a:rPr>
              <a:t>Tavily</a:t>
            </a:r>
            <a:r>
              <a:rPr lang="en-US" sz="1200" dirty="0">
                <a:solidFill>
                  <a:srgbClr val="AAAAAA"/>
                </a:solidFill>
                <a:latin typeface="Calibri"/>
              </a:rPr>
              <a:t> fetcher : thread pool </a:t>
            </a:r>
            <a:r>
              <a:rPr lang="en-US" sz="1200" dirty="0" err="1">
                <a:solidFill>
                  <a:srgbClr val="AAAAAA"/>
                </a:solidFill>
                <a:latin typeface="Calibri"/>
              </a:rPr>
              <a:t>excutor</a:t>
            </a:r>
            <a:r>
              <a:rPr lang="en-US" sz="1200" dirty="0">
                <a:solidFill>
                  <a:srgbClr val="AAAAAA"/>
                </a:solidFill>
                <a:latin typeface="Calibri"/>
              </a:rPr>
              <a:t> costs nothing extra and cuts fetch time by 75%. Total 48 articles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AAAAAA"/>
                </a:solidFill>
                <a:latin typeface="Calibri"/>
              </a:rPr>
              <a:t>TF IDF tokenizes the question and articles </a:t>
            </a:r>
          </a:p>
          <a:p>
            <a:endParaRPr lang="en-DE" dirty="0"/>
          </a:p>
        </p:txBody>
      </p:sp>
      <p:sp>
        <p:nvSpPr>
          <p:cNvPr id="4" name="Slide Number Placeholder 3"/>
          <p:cNvSpPr>
            <a:spLocks noGrp="1"/>
          </p:cNvSpPr>
          <p:nvPr>
            <p:ph type="sldNum" sz="quarter" idx="5"/>
          </p:nvPr>
        </p:nvSpPr>
        <p:spPr/>
        <p:txBody>
          <a:bodyPr/>
          <a:lstStyle/>
          <a:p>
            <a:fld id="{0D89D7A5-2A41-4EFE-A9D9-E783F74D1BBD}" type="slidenum">
              <a:rPr lang="en-DE" smtClean="0"/>
              <a:t>27</a:t>
            </a:fld>
            <a:endParaRPr lang="en-DE"/>
          </a:p>
        </p:txBody>
      </p:sp>
    </p:spTree>
    <p:extLst>
      <p:ext uri="{BB962C8B-B14F-4D97-AF65-F5344CB8AC3E}">
        <p14:creationId xmlns:p14="http://schemas.microsoft.com/office/powerpoint/2010/main" val="34767540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DBF4A-E4C8-E850-814D-A7E7887C09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ECFDB-219E-3302-CF2E-7432A4569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31B1EC-6877-381A-AC1D-2B20EF15A6E8}"/>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23C62BE-17E7-928D-5A2C-9DC7A00AF2BC}"/>
              </a:ext>
            </a:extLst>
          </p:cNvPr>
          <p:cNvSpPr>
            <a:spLocks noGrp="1"/>
          </p:cNvSpPr>
          <p:nvPr>
            <p:ph type="sldNum" sz="quarter" idx="5"/>
          </p:nvPr>
        </p:nvSpPr>
        <p:spPr/>
        <p:txBody>
          <a:bodyPr/>
          <a:lstStyle/>
          <a:p>
            <a:fld id="{0D89D7A5-2A41-4EFE-A9D9-E783F74D1BBD}" type="slidenum">
              <a:rPr lang="en-DE" smtClean="0"/>
              <a:t>29</a:t>
            </a:fld>
            <a:endParaRPr lang="en-DE"/>
          </a:p>
        </p:txBody>
      </p:sp>
    </p:spTree>
    <p:extLst>
      <p:ext uri="{BB962C8B-B14F-4D97-AF65-F5344CB8AC3E}">
        <p14:creationId xmlns:p14="http://schemas.microsoft.com/office/powerpoint/2010/main" val="24592425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95269" y="1122363"/>
            <a:ext cx="9001462" cy="2387600"/>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595269" y="3602038"/>
            <a:ext cx="9001462"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B5A1AF7-CAB7-4AE3-8A5D-6F799FB7CD90}" type="datetimeFigureOut">
              <a:rPr lang="en-DE" smtClean="0"/>
              <a:t>03/03/2026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2335412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5A1AF7-CAB7-4AE3-8A5D-6F799FB7CD90}" type="datetimeFigureOut">
              <a:rPr lang="en-DE" smtClean="0"/>
              <a:t>03/03/2026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3136745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29244" y="657226"/>
            <a:ext cx="9733512" cy="2852737"/>
          </a:xfrm>
        </p:spPr>
        <p:txBody>
          <a:bodyPr anchor="b">
            <a:normAutofit/>
          </a:bodyPr>
          <a:lstStyle>
            <a:lvl1pPr>
              <a:defRPr sz="3400"/>
            </a:lvl1pPr>
          </a:lstStyle>
          <a:p>
            <a:r>
              <a:rPr lang="en-US"/>
              <a:t>Click to edit Master title style</a:t>
            </a:r>
            <a:endParaRPr lang="en-US" dirty="0"/>
          </a:p>
        </p:txBody>
      </p:sp>
      <p:sp>
        <p:nvSpPr>
          <p:cNvPr id="3" name="Text Placeholder 2"/>
          <p:cNvSpPr>
            <a:spLocks noGrp="1"/>
          </p:cNvSpPr>
          <p:nvPr>
            <p:ph type="body" idx="1"/>
          </p:nvPr>
        </p:nvSpPr>
        <p:spPr>
          <a:xfrm>
            <a:off x="1229244" y="3602038"/>
            <a:ext cx="9733512" cy="1500187"/>
          </a:xfrm>
        </p:spPr>
        <p:txBody>
          <a:bodyPr/>
          <a:lstStyle>
            <a:lvl1pPr marL="0" indent="0" algn="ctr">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B5A1AF7-CAB7-4AE3-8A5D-6F799FB7CD90}" type="datetimeFigureOut">
              <a:rPr lang="en-DE" smtClean="0"/>
              <a:t>03/03/2026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42174763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1" cy="1326321"/>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88319"/>
            <a:ext cx="5106004" cy="37028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3403" y="2088319"/>
            <a:ext cx="5094154" cy="37028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6489685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1"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1804" y="2088320"/>
            <a:ext cx="4879199" cy="823912"/>
          </a:xfrm>
        </p:spPr>
        <p:txBody>
          <a:bodyPr anchor="b"/>
          <a:lstStyle>
            <a:lvl1pPr marL="0" indent="0">
              <a:lnSpc>
                <a:spcPct val="100000"/>
              </a:lnSpc>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913795" y="2912232"/>
            <a:ext cx="5107208" cy="28789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2003" y="2088320"/>
            <a:ext cx="4865554" cy="823912"/>
          </a:xfrm>
        </p:spPr>
        <p:txBody>
          <a:bodyPr anchor="b"/>
          <a:lstStyle>
            <a:lvl1pPr marL="0" indent="0">
              <a:lnSpc>
                <a:spcPct val="100000"/>
              </a:lnSpc>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912232"/>
            <a:ext cx="5095357" cy="28789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B5A1AF7-CAB7-4AE3-8A5D-6F799FB7CD90}" type="datetimeFigureOut">
              <a:rPr lang="en-DE" smtClean="0"/>
              <a:t>03/03/2026</a:t>
            </a:fld>
            <a:endParaRPr lang="en-DE"/>
          </a:p>
        </p:txBody>
      </p:sp>
      <p:sp>
        <p:nvSpPr>
          <p:cNvPr id="8" name="Footer Placeholder 7"/>
          <p:cNvSpPr>
            <a:spLocks noGrp="1"/>
          </p:cNvSpPr>
          <p:nvPr>
            <p:ph type="ftr" sz="quarter" idx="11"/>
          </p:nvPr>
        </p:nvSpPr>
        <p:spPr/>
        <p:txBody>
          <a:bodyPr/>
          <a:lstStyle/>
          <a:p>
            <a:endParaRPr lang="en-DE"/>
          </a:p>
        </p:txBody>
      </p:sp>
      <p:sp>
        <p:nvSpPr>
          <p:cNvPr id="9" name="Slide Number Placeholder 8"/>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23786791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B5A1AF7-CAB7-4AE3-8A5D-6F799FB7CD90}" type="datetimeFigureOut">
              <a:rPr lang="en-DE" smtClean="0"/>
              <a:t>03/03/2026</a:t>
            </a:fld>
            <a:endParaRPr lang="en-DE"/>
          </a:p>
        </p:txBody>
      </p:sp>
      <p:sp>
        <p:nvSpPr>
          <p:cNvPr id="4" name="Footer Placeholder 3"/>
          <p:cNvSpPr>
            <a:spLocks noGrp="1"/>
          </p:cNvSpPr>
          <p:nvPr>
            <p:ph type="ftr" sz="quarter" idx="11"/>
          </p:nvPr>
        </p:nvSpPr>
        <p:spPr/>
        <p:txBody>
          <a:bodyPr/>
          <a:lstStyle/>
          <a:p>
            <a:endParaRPr lang="en-DE"/>
          </a:p>
        </p:txBody>
      </p:sp>
      <p:sp>
        <p:nvSpPr>
          <p:cNvPr id="5" name="Slide Number Placeholder 4"/>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4231774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5A1AF7-CAB7-4AE3-8A5D-6F799FB7CD90}" type="datetimeFigureOut">
              <a:rPr lang="en-DE" smtClean="0"/>
              <a:t>03/03/2026</a:t>
            </a:fld>
            <a:endParaRPr lang="en-DE"/>
          </a:p>
        </p:txBody>
      </p:sp>
      <p:sp>
        <p:nvSpPr>
          <p:cNvPr id="3" name="Footer Placeholder 2"/>
          <p:cNvSpPr>
            <a:spLocks noGrp="1"/>
          </p:cNvSpPr>
          <p:nvPr>
            <p:ph type="ftr" sz="quarter" idx="11"/>
          </p:nvPr>
        </p:nvSpPr>
        <p:spPr/>
        <p:txBody>
          <a:bodyPr/>
          <a:lstStyle/>
          <a:p>
            <a:endParaRPr lang="en-DE"/>
          </a:p>
        </p:txBody>
      </p:sp>
      <p:sp>
        <p:nvSpPr>
          <p:cNvPr id="4" name="Slide Number Placeholder 3"/>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3400313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7228" y="609600"/>
            <a:ext cx="3932237" cy="2362200"/>
          </a:xfrm>
        </p:spPr>
        <p:txBody>
          <a:bodyPr anchor="b">
            <a:normAutofit/>
          </a:bodyPr>
          <a:lstStyle>
            <a:lvl1pPr>
              <a:defRPr sz="2800"/>
            </a:lvl1pPr>
          </a:lstStyle>
          <a:p>
            <a:r>
              <a:rPr lang="en-US"/>
              <a:t>Click to edit Master title style</a:t>
            </a:r>
            <a:endParaRPr lang="en-US" dirty="0"/>
          </a:p>
        </p:txBody>
      </p:sp>
      <p:sp>
        <p:nvSpPr>
          <p:cNvPr id="3" name="Content Placeholder 2"/>
          <p:cNvSpPr>
            <a:spLocks noGrp="1"/>
          </p:cNvSpPr>
          <p:nvPr>
            <p:ph idx="1"/>
          </p:nvPr>
        </p:nvSpPr>
        <p:spPr>
          <a:xfrm>
            <a:off x="5078064" y="609600"/>
            <a:ext cx="6189492" cy="518160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7228" y="2971800"/>
            <a:ext cx="3932237" cy="2819399"/>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31766863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7227" y="609600"/>
            <a:ext cx="5929773" cy="2362200"/>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4" y="758881"/>
            <a:ext cx="3255356" cy="4883038"/>
          </a:xfrm>
          <a:no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971800"/>
            <a:ext cx="5934950" cy="2819400"/>
          </a:xfrm>
        </p:spPr>
        <p:txBody>
          <a:bodyPr>
            <a:normAutofit/>
          </a:bodyPr>
          <a:lstStyle>
            <a:lvl1pPr marL="0" indent="0" algn="ctr">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1957592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806" y="4289372"/>
            <a:ext cx="10367564" cy="819355"/>
          </a:xfrm>
        </p:spPr>
        <p:txBody>
          <a:bodyPr anchor="b">
            <a:normAutofit/>
          </a:bodyPr>
          <a:lstStyle>
            <a:lvl1pP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13806" y="621321"/>
            <a:ext cx="10367564" cy="3379735"/>
          </a:xfrm>
          <a:no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65998" cy="682472"/>
          </a:xfrm>
        </p:spPr>
        <p:txBody>
          <a:bodyPr>
            <a:normAutofit/>
          </a:bodyPr>
          <a:lstStyle>
            <a:lvl1pPr marL="0" indent="0" algn="ctr">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40827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3424859"/>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5" y="4204820"/>
            <a:ext cx="10353761" cy="159218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4387589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426812"/>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204821"/>
            <a:ext cx="10353762" cy="1586380"/>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
        <p:nvSpPr>
          <p:cNvPr id="11" name="TextBox 10"/>
          <p:cNvSpPr txBox="1"/>
          <p:nvPr/>
        </p:nvSpPr>
        <p:spPr>
          <a:xfrm>
            <a:off x="836612" y="735241"/>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657956" y="297209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9875780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806" y="2126942"/>
            <a:ext cx="10355327"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650556"/>
            <a:ext cx="10353763"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B5A1AF7-CAB7-4AE3-8A5D-6F799FB7CD90}" type="datetimeFigureOut">
              <a:rPr lang="en-DE" smtClean="0"/>
              <a:t>03/03/2026</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5426167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4" y="609600"/>
            <a:ext cx="10353762"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4" y="2088319"/>
            <a:ext cx="3298956" cy="823305"/>
          </a:xfrm>
        </p:spPr>
        <p:txBody>
          <a:bodyPr anchor="b">
            <a:noAutofit/>
          </a:bodyPr>
          <a:lstStyle>
            <a:lvl1pPr marL="0" indent="0" algn="ctr">
              <a:lnSpc>
                <a:spcPct val="100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4" y="2911624"/>
            <a:ext cx="3298956" cy="2879576"/>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4878" y="2088320"/>
            <a:ext cx="3298558" cy="823304"/>
          </a:xfrm>
        </p:spPr>
        <p:txBody>
          <a:bodyPr anchor="b">
            <a:noAutofit/>
          </a:bodyPr>
          <a:lstStyle>
            <a:lvl1pPr marL="0" indent="0" algn="ctr">
              <a:lnSpc>
                <a:spcPct val="100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4878" y="2911624"/>
            <a:ext cx="3299821" cy="2879576"/>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088320"/>
            <a:ext cx="3291211" cy="823304"/>
          </a:xfrm>
        </p:spPr>
        <p:txBody>
          <a:bodyPr anchor="b">
            <a:noAutofit/>
          </a:bodyPr>
          <a:lstStyle>
            <a:lvl1pPr marL="0" indent="0" algn="ctr">
              <a:lnSpc>
                <a:spcPct val="100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6346" y="2911624"/>
            <a:ext cx="3291211" cy="2879576"/>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B5A1AF7-CAB7-4AE3-8A5D-6F799FB7CD90}" type="datetimeFigureOut">
              <a:rPr lang="en-DE" smtClean="0"/>
              <a:t>03/03/2026</a:t>
            </a:fld>
            <a:endParaRPr lang="en-DE"/>
          </a:p>
        </p:txBody>
      </p:sp>
      <p:sp>
        <p:nvSpPr>
          <p:cNvPr id="4" name="Footer Placeholder 3"/>
          <p:cNvSpPr>
            <a:spLocks noGrp="1"/>
          </p:cNvSpPr>
          <p:nvPr>
            <p:ph type="ftr" sz="quarter" idx="11"/>
          </p:nvPr>
        </p:nvSpPr>
        <p:spPr/>
        <p:txBody>
          <a:bodyPr/>
          <a:lstStyle/>
          <a:p>
            <a:endParaRPr lang="en-DE"/>
          </a:p>
        </p:txBody>
      </p:sp>
      <p:sp>
        <p:nvSpPr>
          <p:cNvPr id="5" name="Slide Number Placeholder 4"/>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6563145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913795" y="609600"/>
            <a:ext cx="10353762"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4195899"/>
            <a:ext cx="3298955" cy="576262"/>
          </a:xfrm>
        </p:spPr>
        <p:txBody>
          <a:bodyPr anchor="b">
            <a:noAutofit/>
          </a:bodyPr>
          <a:lstStyle>
            <a:lvl1pPr marL="0" indent="0" algn="ctr">
              <a:lnSpc>
                <a:spcPct val="100000"/>
              </a:lnSpc>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92020" y="2298987"/>
            <a:ext cx="2940050" cy="1524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772161"/>
            <a:ext cx="3298955" cy="101903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01" y="4195899"/>
            <a:ext cx="3298983" cy="576262"/>
          </a:xfrm>
        </p:spPr>
        <p:txBody>
          <a:bodyPr anchor="b">
            <a:noAutofit/>
          </a:bodyPr>
          <a:lstStyle>
            <a:lvl1pPr marL="0" indent="0" algn="ctr">
              <a:lnSpc>
                <a:spcPct val="100000"/>
              </a:lnSpc>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68996" y="2298987"/>
            <a:ext cx="2930525" cy="1524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72160"/>
            <a:ext cx="3300336" cy="101903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423" y="4195899"/>
            <a:ext cx="3289900" cy="576262"/>
          </a:xfrm>
        </p:spPr>
        <p:txBody>
          <a:bodyPr anchor="b">
            <a:noAutofit/>
          </a:bodyPr>
          <a:lstStyle>
            <a:lvl1pPr marL="0" indent="0" algn="ctr">
              <a:lnSpc>
                <a:spcPct val="100000"/>
              </a:lnSpc>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152803" y="2298987"/>
            <a:ext cx="2932113" cy="1524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298" y="4772161"/>
            <a:ext cx="3294258" cy="1019037"/>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B5A1AF7-CAB7-4AE3-8A5D-6F799FB7CD90}" type="datetimeFigureOut">
              <a:rPr lang="en-DE" smtClean="0"/>
              <a:t>03/03/2026</a:t>
            </a:fld>
            <a:endParaRPr lang="en-DE"/>
          </a:p>
        </p:txBody>
      </p:sp>
      <p:sp>
        <p:nvSpPr>
          <p:cNvPr id="4" name="Footer Placeholder 3"/>
          <p:cNvSpPr>
            <a:spLocks noGrp="1"/>
          </p:cNvSpPr>
          <p:nvPr>
            <p:ph type="ftr" sz="quarter" idx="11"/>
          </p:nvPr>
        </p:nvSpPr>
        <p:spPr/>
        <p:txBody>
          <a:bodyPr/>
          <a:lstStyle/>
          <a:p>
            <a:endParaRPr lang="en-DE"/>
          </a:p>
        </p:txBody>
      </p:sp>
      <p:sp>
        <p:nvSpPr>
          <p:cNvPr id="5" name="Slide Number Placeholder 4"/>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35094109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5A1AF7-CAB7-4AE3-8A5D-6F799FB7CD90}" type="datetimeFigureOut">
              <a:rPr lang="en-DE" smtClean="0"/>
              <a:t>03/03/2026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42388879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609599"/>
            <a:ext cx="254265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4" y="609599"/>
            <a:ext cx="7658705"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5A1AF7-CAB7-4AE3-8A5D-6F799FB7CD90}" type="datetimeFigureOut">
              <a:rPr lang="en-DE" smtClean="0"/>
              <a:t>03/03/2026</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630ABF50-B652-401F-B196-8A1022A43325}" type="slidenum">
              <a:rPr lang="en-DE" smtClean="0"/>
              <a:t>‹#›</a:t>
            </a:fld>
            <a:endParaRPr lang="en-DE"/>
          </a:p>
        </p:txBody>
      </p:sp>
    </p:spTree>
    <p:extLst>
      <p:ext uri="{BB962C8B-B14F-4D97-AF65-F5344CB8AC3E}">
        <p14:creationId xmlns:p14="http://schemas.microsoft.com/office/powerpoint/2010/main" val="41414926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57863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1" cy="132632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96064"/>
            <a:ext cx="10353762" cy="36951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tint val="75000"/>
                  </a:schemeClr>
                </a:solidFill>
              </a:defRPr>
            </a:lvl1pPr>
          </a:lstStyle>
          <a:p>
            <a:fld id="{CB5A1AF7-CAB7-4AE3-8A5D-6F799FB7CD90}" type="datetimeFigureOut">
              <a:rPr lang="en-DE" smtClean="0"/>
              <a:t>03/03/2026</a:t>
            </a:fld>
            <a:endParaRPr lang="en-DE"/>
          </a:p>
        </p:txBody>
      </p:sp>
      <p:sp>
        <p:nvSpPr>
          <p:cNvPr id="5" name="Footer Placeholder 4"/>
          <p:cNvSpPr>
            <a:spLocks noGrp="1"/>
          </p:cNvSpPr>
          <p:nvPr>
            <p:ph type="ftr" sz="quarter" idx="3"/>
          </p:nvPr>
        </p:nvSpPr>
        <p:spPr>
          <a:xfrm>
            <a:off x="913794" y="5883275"/>
            <a:ext cx="6672865" cy="365125"/>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DE"/>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tint val="75000"/>
                  </a:schemeClr>
                </a:solidFill>
              </a:defRPr>
            </a:lvl1pPr>
          </a:lstStyle>
          <a:p>
            <a:fld id="{630ABF50-B652-401F-B196-8A1022A43325}" type="slidenum">
              <a:rPr lang="en-DE" smtClean="0"/>
              <a:t>‹#›</a:t>
            </a:fld>
            <a:endParaRPr lang="en-DE"/>
          </a:p>
        </p:txBody>
      </p:sp>
    </p:spTree>
    <p:extLst>
      <p:ext uri="{BB962C8B-B14F-4D97-AF65-F5344CB8AC3E}">
        <p14:creationId xmlns:p14="http://schemas.microsoft.com/office/powerpoint/2010/main" val="3945975777"/>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 id="2147483714" r:id="rId18"/>
  </p:sldLayoutIdLst>
  <p:txStyles>
    <p:title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19456" cy="6858000"/>
          </a:xfrm>
          <a:prstGeom prst="rect">
            <a:avLst/>
          </a:prstGeom>
          <a:solidFill>
            <a:srgbClr val="F7931A"/>
          </a:solidFill>
          <a:ln w="12700">
            <a:solidFill>
              <a:srgbClr val="F7931A"/>
            </a:solidFill>
            <a:prstDash val="solid"/>
          </a:ln>
        </p:spPr>
        <p:txBody>
          <a:bodyPr/>
          <a:lstStyle/>
          <a:p>
            <a:endParaRPr lang="en-DE" sz="2400"/>
          </a:p>
        </p:txBody>
      </p:sp>
      <p:sp>
        <p:nvSpPr>
          <p:cNvPr id="3" name="Shape 1"/>
          <p:cNvSpPr/>
          <p:nvPr/>
        </p:nvSpPr>
        <p:spPr>
          <a:xfrm>
            <a:off x="0" y="5974080"/>
            <a:ext cx="12192000" cy="883920"/>
          </a:xfrm>
          <a:prstGeom prst="rect">
            <a:avLst/>
          </a:prstGeom>
          <a:solidFill>
            <a:srgbClr val="132238"/>
          </a:solidFill>
          <a:ln w="12700">
            <a:solidFill>
              <a:srgbClr val="132238"/>
            </a:solidFill>
            <a:prstDash val="solid"/>
          </a:ln>
        </p:spPr>
        <p:txBody>
          <a:bodyPr/>
          <a:lstStyle/>
          <a:p>
            <a:endParaRPr lang="en-DE" sz="2400"/>
          </a:p>
        </p:txBody>
      </p:sp>
      <p:sp>
        <p:nvSpPr>
          <p:cNvPr id="4" name="Shape 2"/>
          <p:cNvSpPr/>
          <p:nvPr/>
        </p:nvSpPr>
        <p:spPr>
          <a:xfrm>
            <a:off x="7924800" y="-1463040"/>
            <a:ext cx="6705600" cy="6705600"/>
          </a:xfrm>
          <a:prstGeom prst="ellipse">
            <a:avLst/>
          </a:prstGeom>
          <a:solidFill>
            <a:srgbClr val="F7931A">
              <a:alpha val="12000"/>
            </a:srgbClr>
          </a:solidFill>
          <a:ln w="12700">
            <a:solidFill>
              <a:srgbClr val="F7931A"/>
            </a:solidFill>
            <a:prstDash val="solid"/>
          </a:ln>
        </p:spPr>
        <p:txBody>
          <a:bodyPr/>
          <a:lstStyle/>
          <a:p>
            <a:endParaRPr lang="en-DE" sz="2400"/>
          </a:p>
        </p:txBody>
      </p:sp>
      <p:sp>
        <p:nvSpPr>
          <p:cNvPr id="5" name="Shape 3"/>
          <p:cNvSpPr/>
          <p:nvPr/>
        </p:nvSpPr>
        <p:spPr>
          <a:xfrm>
            <a:off x="8778240" y="-609600"/>
            <a:ext cx="4632960" cy="4632960"/>
          </a:xfrm>
          <a:prstGeom prst="ellipse">
            <a:avLst/>
          </a:prstGeom>
          <a:solidFill>
            <a:srgbClr val="F7931A">
              <a:alpha val="18000"/>
            </a:srgbClr>
          </a:solidFill>
          <a:ln w="12700">
            <a:solidFill>
              <a:srgbClr val="F7931A"/>
            </a:solidFill>
            <a:prstDash val="solid"/>
          </a:ln>
        </p:spPr>
        <p:txBody>
          <a:bodyPr/>
          <a:lstStyle/>
          <a:p>
            <a:endParaRPr lang="en-DE" sz="2400"/>
          </a:p>
        </p:txBody>
      </p:sp>
      <p:sp>
        <p:nvSpPr>
          <p:cNvPr id="8" name="Text 6"/>
          <p:cNvSpPr/>
          <p:nvPr/>
        </p:nvSpPr>
        <p:spPr>
          <a:xfrm>
            <a:off x="470452" y="892994"/>
            <a:ext cx="9753600" cy="1341120"/>
          </a:xfrm>
          <a:prstGeom prst="rect">
            <a:avLst/>
          </a:prstGeom>
          <a:noFill/>
          <a:ln/>
        </p:spPr>
        <p:txBody>
          <a:bodyPr wrap="square" rtlCol="0" anchor="ctr"/>
          <a:lstStyle/>
          <a:p>
            <a:r>
              <a:rPr lang="en-US" sz="6933" b="1" dirty="0">
                <a:solidFill>
                  <a:srgbClr val="FFFFFF"/>
                </a:solidFill>
                <a:latin typeface="Calibri" pitchFamily="34" charset="0"/>
                <a:ea typeface="Calibri" pitchFamily="34" charset="-122"/>
                <a:cs typeface="Calibri" pitchFamily="34" charset="-120"/>
              </a:rPr>
              <a:t>CoinTrend AI</a:t>
            </a:r>
            <a:endParaRPr lang="en-US" sz="6933" dirty="0"/>
          </a:p>
        </p:txBody>
      </p:sp>
      <p:sp>
        <p:nvSpPr>
          <p:cNvPr id="9" name="Text 7"/>
          <p:cNvSpPr/>
          <p:nvPr/>
        </p:nvSpPr>
        <p:spPr>
          <a:xfrm>
            <a:off x="636650" y="4023360"/>
            <a:ext cx="3239611" cy="535883"/>
          </a:xfrm>
          <a:prstGeom prst="rect">
            <a:avLst/>
          </a:prstGeom>
          <a:noFill/>
          <a:ln/>
        </p:spPr>
        <p:txBody>
          <a:bodyPr wrap="square" rtlCol="0" anchor="ctr"/>
          <a:lstStyle/>
          <a:p>
            <a:r>
              <a:rPr lang="en-US" sz="1600" dirty="0">
                <a:solidFill>
                  <a:srgbClr val="CBD5E1"/>
                </a:solidFill>
                <a:latin typeface="Calibri" pitchFamily="34" charset="0"/>
                <a:ea typeface="Calibri" pitchFamily="34" charset="-122"/>
                <a:cs typeface="Calibri" pitchFamily="34" charset="-120"/>
              </a:rPr>
              <a:t>AI-Powered Cryptocurrency Market</a:t>
            </a:r>
            <a:endParaRPr lang="en-US" sz="1600" dirty="0"/>
          </a:p>
          <a:p>
            <a:r>
              <a:rPr lang="en-US" sz="1600" dirty="0">
                <a:solidFill>
                  <a:srgbClr val="CBD5E1"/>
                </a:solidFill>
                <a:latin typeface="Calibri" pitchFamily="34" charset="0"/>
                <a:ea typeface="Calibri" pitchFamily="34" charset="-122"/>
                <a:cs typeface="Calibri" pitchFamily="34" charset="-120"/>
              </a:rPr>
              <a:t>Analysis &amp; Decision Support System</a:t>
            </a:r>
            <a:endParaRPr lang="en-US" sz="1600" dirty="0"/>
          </a:p>
        </p:txBody>
      </p:sp>
      <p:sp>
        <p:nvSpPr>
          <p:cNvPr id="10" name="Text 8"/>
          <p:cNvSpPr/>
          <p:nvPr/>
        </p:nvSpPr>
        <p:spPr>
          <a:xfrm>
            <a:off x="548640" y="6096000"/>
            <a:ext cx="10972800" cy="48768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Maryem Tlili</a:t>
            </a:r>
            <a:r>
              <a:rPr lang="en-US" sz="1600" dirty="0">
                <a:solidFill>
                  <a:srgbClr val="94A3B8"/>
                </a:solidFill>
                <a:latin typeface="Calibri" pitchFamily="34" charset="0"/>
                <a:ea typeface="Calibri" pitchFamily="34" charset="-122"/>
                <a:cs typeface="Calibri" pitchFamily="34" charset="-120"/>
              </a:rPr>
              <a:t>   |   Data Science &amp; Machine Learning | 2026</a:t>
            </a:r>
            <a:endParaRPr lang="en-US" sz="1600" dirty="0"/>
          </a:p>
        </p:txBody>
      </p:sp>
      <p:sp>
        <p:nvSpPr>
          <p:cNvPr id="11" name="Text 7">
            <a:extLst>
              <a:ext uri="{FF2B5EF4-FFF2-40B4-BE49-F238E27FC236}">
                <a16:creationId xmlns:a16="http://schemas.microsoft.com/office/drawing/2014/main" id="{E52F1476-AC3D-5277-F8AE-4888F95ADC69}"/>
              </a:ext>
            </a:extLst>
          </p:cNvPr>
          <p:cNvSpPr/>
          <p:nvPr/>
        </p:nvSpPr>
        <p:spPr>
          <a:xfrm>
            <a:off x="3163512" y="1880777"/>
            <a:ext cx="2114614" cy="203820"/>
          </a:xfrm>
          <a:prstGeom prst="rect">
            <a:avLst/>
          </a:prstGeom>
          <a:noFill/>
          <a:ln/>
        </p:spPr>
        <p:txBody>
          <a:bodyPr wrap="square" rtlCol="0" anchor="ctr"/>
          <a:lstStyle/>
          <a:p>
            <a:r>
              <a:rPr lang="en-US" sz="1200" dirty="0">
                <a:solidFill>
                  <a:srgbClr val="CBD5E1"/>
                </a:solidFill>
                <a:latin typeface="Calibri" pitchFamily="34" charset="0"/>
                <a:ea typeface="Calibri" pitchFamily="34" charset="-122"/>
                <a:cs typeface="Calibri" pitchFamily="34" charset="-120"/>
              </a:rPr>
              <a:t>One Step Ahead Of The Market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87680" y="755904"/>
            <a:ext cx="11216640" cy="731520"/>
          </a:xfrm>
          <a:prstGeom prst="rect">
            <a:avLst/>
          </a:prstGeom>
          <a:noFill/>
          <a:ln/>
        </p:spPr>
        <p:txBody>
          <a:bodyPr wrap="square" rtlCol="0" anchor="ctr"/>
          <a:lstStyle/>
          <a:p>
            <a:r>
              <a:rPr lang="en-US" sz="3733" b="1" dirty="0">
                <a:solidFill>
                  <a:srgbClr val="FFFFFF"/>
                </a:solidFill>
                <a:latin typeface="Calibri" pitchFamily="34" charset="0"/>
                <a:ea typeface="Calibri" pitchFamily="34" charset="-122"/>
                <a:cs typeface="Calibri" pitchFamily="34" charset="-120"/>
              </a:rPr>
              <a:t>What We Will Cover</a:t>
            </a:r>
            <a:endParaRPr lang="en-US" sz="3733" dirty="0"/>
          </a:p>
        </p:txBody>
      </p:sp>
      <p:sp>
        <p:nvSpPr>
          <p:cNvPr id="5" name="Shape 3"/>
          <p:cNvSpPr/>
          <p:nvPr/>
        </p:nvSpPr>
        <p:spPr>
          <a:xfrm>
            <a:off x="426720" y="1731264"/>
            <a:ext cx="2682240"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a:p>
        </p:txBody>
      </p:sp>
      <p:sp>
        <p:nvSpPr>
          <p:cNvPr id="6" name="Shape 4"/>
          <p:cNvSpPr/>
          <p:nvPr/>
        </p:nvSpPr>
        <p:spPr>
          <a:xfrm>
            <a:off x="426720" y="1731264"/>
            <a:ext cx="73152" cy="1194816"/>
          </a:xfrm>
          <a:prstGeom prst="rect">
            <a:avLst/>
          </a:prstGeom>
          <a:solidFill>
            <a:srgbClr val="F7931A"/>
          </a:solidFill>
          <a:ln w="12700">
            <a:solidFill>
              <a:srgbClr val="F7931A"/>
            </a:solidFill>
            <a:prstDash val="solid"/>
          </a:ln>
        </p:spPr>
        <p:txBody>
          <a:bodyPr/>
          <a:lstStyle/>
          <a:p>
            <a:endParaRPr lang="en-DE" sz="2400"/>
          </a:p>
        </p:txBody>
      </p:sp>
      <p:sp>
        <p:nvSpPr>
          <p:cNvPr id="7" name="Text 5"/>
          <p:cNvSpPr/>
          <p:nvPr/>
        </p:nvSpPr>
        <p:spPr>
          <a:xfrm>
            <a:off x="609600" y="1804416"/>
            <a:ext cx="609600" cy="365760"/>
          </a:xfrm>
          <a:prstGeom prst="rect">
            <a:avLst/>
          </a:prstGeom>
          <a:noFill/>
          <a:ln/>
        </p:spPr>
        <p:txBody>
          <a:bodyPr wrap="square" rtlCol="0" anchor="ctr"/>
          <a:lstStyle/>
          <a:p>
            <a:r>
              <a:rPr lang="en-US" sz="1867" b="1" dirty="0">
                <a:solidFill>
                  <a:srgbClr val="F7931A"/>
                </a:solidFill>
                <a:latin typeface="Calibri" pitchFamily="34" charset="0"/>
                <a:ea typeface="Calibri" pitchFamily="34" charset="-122"/>
                <a:cs typeface="Calibri" pitchFamily="34" charset="-120"/>
              </a:rPr>
              <a:t>01</a:t>
            </a:r>
            <a:endParaRPr lang="en-US" sz="1867" dirty="0"/>
          </a:p>
        </p:txBody>
      </p:sp>
      <p:sp>
        <p:nvSpPr>
          <p:cNvPr id="8" name="Text 6"/>
          <p:cNvSpPr/>
          <p:nvPr/>
        </p:nvSpPr>
        <p:spPr>
          <a:xfrm>
            <a:off x="609600" y="2133600"/>
            <a:ext cx="237744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Why </a:t>
            </a:r>
            <a:r>
              <a:rPr lang="en-US" sz="1600" b="1" dirty="0" err="1">
                <a:solidFill>
                  <a:srgbClr val="FFFFFF"/>
                </a:solidFill>
                <a:latin typeface="Calibri" pitchFamily="34" charset="0"/>
                <a:ea typeface="Calibri" pitchFamily="34" charset="-122"/>
                <a:cs typeface="Calibri" pitchFamily="34" charset="-120"/>
              </a:rPr>
              <a:t>CoinTrend</a:t>
            </a:r>
            <a:r>
              <a:rPr lang="en-US" sz="1600" b="1" dirty="0">
                <a:solidFill>
                  <a:srgbClr val="FFFFFF"/>
                </a:solidFill>
                <a:latin typeface="Calibri" pitchFamily="34" charset="0"/>
                <a:ea typeface="Calibri" pitchFamily="34" charset="-122"/>
                <a:cs typeface="Calibri" pitchFamily="34" charset="-120"/>
              </a:rPr>
              <a:t> ? </a:t>
            </a:r>
            <a:endParaRPr lang="en-US" sz="1600" dirty="0"/>
          </a:p>
        </p:txBody>
      </p:sp>
      <p:sp>
        <p:nvSpPr>
          <p:cNvPr id="9" name="Text 7"/>
          <p:cNvSpPr/>
          <p:nvPr/>
        </p:nvSpPr>
        <p:spPr>
          <a:xfrm>
            <a:off x="609600" y="2462784"/>
            <a:ext cx="237744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Which problem do we solve?</a:t>
            </a:r>
            <a:endParaRPr lang="en-US" sz="1200" dirty="0"/>
          </a:p>
        </p:txBody>
      </p:sp>
      <p:sp>
        <p:nvSpPr>
          <p:cNvPr id="10" name="Shape 8"/>
          <p:cNvSpPr/>
          <p:nvPr/>
        </p:nvSpPr>
        <p:spPr>
          <a:xfrm>
            <a:off x="3291840" y="1731264"/>
            <a:ext cx="2682240"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a:p>
        </p:txBody>
      </p:sp>
      <p:sp>
        <p:nvSpPr>
          <p:cNvPr id="11" name="Shape 9"/>
          <p:cNvSpPr/>
          <p:nvPr/>
        </p:nvSpPr>
        <p:spPr>
          <a:xfrm>
            <a:off x="3291840" y="1731264"/>
            <a:ext cx="73152" cy="1194816"/>
          </a:xfrm>
          <a:prstGeom prst="rect">
            <a:avLst/>
          </a:prstGeom>
          <a:solidFill>
            <a:srgbClr val="F7931A"/>
          </a:solidFill>
          <a:ln w="12700">
            <a:solidFill>
              <a:srgbClr val="F7931A"/>
            </a:solidFill>
            <a:prstDash val="solid"/>
          </a:ln>
        </p:spPr>
        <p:txBody>
          <a:bodyPr/>
          <a:lstStyle/>
          <a:p>
            <a:endParaRPr lang="en-DE" sz="2400"/>
          </a:p>
        </p:txBody>
      </p:sp>
      <p:sp>
        <p:nvSpPr>
          <p:cNvPr id="12" name="Text 10"/>
          <p:cNvSpPr/>
          <p:nvPr/>
        </p:nvSpPr>
        <p:spPr>
          <a:xfrm>
            <a:off x="3474720" y="1804416"/>
            <a:ext cx="609600" cy="365760"/>
          </a:xfrm>
          <a:prstGeom prst="rect">
            <a:avLst/>
          </a:prstGeom>
          <a:noFill/>
          <a:ln/>
        </p:spPr>
        <p:txBody>
          <a:bodyPr wrap="square" rtlCol="0" anchor="ctr"/>
          <a:lstStyle/>
          <a:p>
            <a:r>
              <a:rPr lang="en-US" sz="1867" b="1" dirty="0">
                <a:solidFill>
                  <a:srgbClr val="F7931A"/>
                </a:solidFill>
                <a:latin typeface="Calibri" pitchFamily="34" charset="0"/>
                <a:ea typeface="Calibri" pitchFamily="34" charset="-122"/>
                <a:cs typeface="Calibri" pitchFamily="34" charset="-120"/>
              </a:rPr>
              <a:t>02</a:t>
            </a:r>
            <a:endParaRPr lang="en-US" sz="1867" dirty="0"/>
          </a:p>
        </p:txBody>
      </p:sp>
      <p:sp>
        <p:nvSpPr>
          <p:cNvPr id="13" name="Text 11"/>
          <p:cNvSpPr/>
          <p:nvPr/>
        </p:nvSpPr>
        <p:spPr>
          <a:xfrm>
            <a:off x="3474720" y="2133600"/>
            <a:ext cx="237744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System Architecture </a:t>
            </a:r>
            <a:endParaRPr lang="en-US" sz="1600" dirty="0"/>
          </a:p>
        </p:txBody>
      </p:sp>
      <p:sp>
        <p:nvSpPr>
          <p:cNvPr id="14" name="Text 12"/>
          <p:cNvSpPr/>
          <p:nvPr/>
        </p:nvSpPr>
        <p:spPr>
          <a:xfrm>
            <a:off x="3474720" y="2462784"/>
            <a:ext cx="237744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Big picture workflow</a:t>
            </a:r>
            <a:endParaRPr lang="en-US" sz="1200" dirty="0"/>
          </a:p>
        </p:txBody>
      </p:sp>
      <p:sp>
        <p:nvSpPr>
          <p:cNvPr id="15" name="Shape 13"/>
          <p:cNvSpPr/>
          <p:nvPr/>
        </p:nvSpPr>
        <p:spPr>
          <a:xfrm>
            <a:off x="6156960" y="1731264"/>
            <a:ext cx="2682240"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a:p>
        </p:txBody>
      </p:sp>
      <p:sp>
        <p:nvSpPr>
          <p:cNvPr id="16" name="Shape 14"/>
          <p:cNvSpPr/>
          <p:nvPr/>
        </p:nvSpPr>
        <p:spPr>
          <a:xfrm>
            <a:off x="6156960" y="1731264"/>
            <a:ext cx="73152" cy="1194816"/>
          </a:xfrm>
          <a:prstGeom prst="rect">
            <a:avLst/>
          </a:prstGeom>
          <a:solidFill>
            <a:srgbClr val="00D4AA"/>
          </a:solidFill>
          <a:ln w="12700">
            <a:solidFill>
              <a:srgbClr val="00D4AA"/>
            </a:solidFill>
            <a:prstDash val="solid"/>
          </a:ln>
        </p:spPr>
        <p:txBody>
          <a:bodyPr/>
          <a:lstStyle/>
          <a:p>
            <a:endParaRPr lang="en-DE" sz="2400"/>
          </a:p>
        </p:txBody>
      </p:sp>
      <p:sp>
        <p:nvSpPr>
          <p:cNvPr id="17" name="Text 15"/>
          <p:cNvSpPr/>
          <p:nvPr/>
        </p:nvSpPr>
        <p:spPr>
          <a:xfrm>
            <a:off x="6339840" y="1804416"/>
            <a:ext cx="609600" cy="365760"/>
          </a:xfrm>
          <a:prstGeom prst="rect">
            <a:avLst/>
          </a:prstGeom>
          <a:noFill/>
          <a:ln/>
        </p:spPr>
        <p:txBody>
          <a:bodyPr wrap="square" rtlCol="0" anchor="ctr"/>
          <a:lstStyle/>
          <a:p>
            <a:r>
              <a:rPr lang="en-US" sz="1867" b="1" dirty="0">
                <a:solidFill>
                  <a:srgbClr val="00D4AA"/>
                </a:solidFill>
                <a:latin typeface="Calibri" pitchFamily="34" charset="0"/>
                <a:ea typeface="Calibri" pitchFamily="34" charset="-122"/>
                <a:cs typeface="Calibri" pitchFamily="34" charset="-120"/>
              </a:rPr>
              <a:t>03</a:t>
            </a:r>
            <a:endParaRPr lang="en-US" sz="1867" dirty="0"/>
          </a:p>
        </p:txBody>
      </p:sp>
      <p:sp>
        <p:nvSpPr>
          <p:cNvPr id="18" name="Text 16"/>
          <p:cNvSpPr/>
          <p:nvPr/>
        </p:nvSpPr>
        <p:spPr>
          <a:xfrm>
            <a:off x="6339840" y="2133600"/>
            <a:ext cx="237744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Data &amp; EDA</a:t>
            </a:r>
            <a:endParaRPr lang="en-US" sz="1600" dirty="0"/>
          </a:p>
        </p:txBody>
      </p:sp>
      <p:sp>
        <p:nvSpPr>
          <p:cNvPr id="19" name="Text 17"/>
          <p:cNvSpPr/>
          <p:nvPr/>
        </p:nvSpPr>
        <p:spPr>
          <a:xfrm>
            <a:off x="6339840" y="2462784"/>
            <a:ext cx="237744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Sources, pipeline, insights</a:t>
            </a:r>
            <a:endParaRPr lang="en-US" sz="1200" dirty="0"/>
          </a:p>
        </p:txBody>
      </p:sp>
      <p:sp>
        <p:nvSpPr>
          <p:cNvPr id="20" name="Shape 18"/>
          <p:cNvSpPr/>
          <p:nvPr/>
        </p:nvSpPr>
        <p:spPr>
          <a:xfrm>
            <a:off x="9022080" y="1731264"/>
            <a:ext cx="2682240"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a:p>
        </p:txBody>
      </p:sp>
      <p:sp>
        <p:nvSpPr>
          <p:cNvPr id="21" name="Shape 19"/>
          <p:cNvSpPr/>
          <p:nvPr/>
        </p:nvSpPr>
        <p:spPr>
          <a:xfrm>
            <a:off x="9022080" y="1731264"/>
            <a:ext cx="73152" cy="1194816"/>
          </a:xfrm>
          <a:prstGeom prst="rect">
            <a:avLst/>
          </a:prstGeom>
          <a:solidFill>
            <a:srgbClr val="00D4AA"/>
          </a:solidFill>
          <a:ln w="12700">
            <a:solidFill>
              <a:srgbClr val="00D4AA"/>
            </a:solidFill>
            <a:prstDash val="solid"/>
          </a:ln>
        </p:spPr>
        <p:txBody>
          <a:bodyPr/>
          <a:lstStyle/>
          <a:p>
            <a:endParaRPr lang="en-DE" sz="2400"/>
          </a:p>
        </p:txBody>
      </p:sp>
      <p:sp>
        <p:nvSpPr>
          <p:cNvPr id="22" name="Text 20"/>
          <p:cNvSpPr/>
          <p:nvPr/>
        </p:nvSpPr>
        <p:spPr>
          <a:xfrm>
            <a:off x="9204960" y="1804416"/>
            <a:ext cx="609600" cy="365760"/>
          </a:xfrm>
          <a:prstGeom prst="rect">
            <a:avLst/>
          </a:prstGeom>
          <a:noFill/>
          <a:ln/>
        </p:spPr>
        <p:txBody>
          <a:bodyPr wrap="square" rtlCol="0" anchor="ctr"/>
          <a:lstStyle/>
          <a:p>
            <a:r>
              <a:rPr lang="en-US" sz="1867" b="1" dirty="0">
                <a:solidFill>
                  <a:srgbClr val="00D4AA"/>
                </a:solidFill>
                <a:latin typeface="Calibri" pitchFamily="34" charset="0"/>
                <a:ea typeface="Calibri" pitchFamily="34" charset="-122"/>
                <a:cs typeface="Calibri" pitchFamily="34" charset="-120"/>
              </a:rPr>
              <a:t>04</a:t>
            </a:r>
            <a:endParaRPr lang="en-US" sz="1867" dirty="0"/>
          </a:p>
        </p:txBody>
      </p:sp>
      <p:sp>
        <p:nvSpPr>
          <p:cNvPr id="23" name="Text 21"/>
          <p:cNvSpPr/>
          <p:nvPr/>
        </p:nvSpPr>
        <p:spPr>
          <a:xfrm>
            <a:off x="9204960" y="2133600"/>
            <a:ext cx="237744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ML Models</a:t>
            </a:r>
            <a:endParaRPr lang="en-US" sz="1600" dirty="0"/>
          </a:p>
        </p:txBody>
      </p:sp>
      <p:sp>
        <p:nvSpPr>
          <p:cNvPr id="24" name="Text 22"/>
          <p:cNvSpPr/>
          <p:nvPr/>
        </p:nvSpPr>
        <p:spPr>
          <a:xfrm>
            <a:off x="9204960" y="2462784"/>
            <a:ext cx="249936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Experiments, models and evaluation</a:t>
            </a:r>
            <a:endParaRPr lang="en-US" sz="1200" dirty="0"/>
          </a:p>
        </p:txBody>
      </p:sp>
      <p:sp>
        <p:nvSpPr>
          <p:cNvPr id="25" name="Shape 23"/>
          <p:cNvSpPr/>
          <p:nvPr/>
        </p:nvSpPr>
        <p:spPr>
          <a:xfrm>
            <a:off x="426720" y="3145536"/>
            <a:ext cx="3535680"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dirty="0"/>
          </a:p>
        </p:txBody>
      </p:sp>
      <p:sp>
        <p:nvSpPr>
          <p:cNvPr id="26" name="Shape 24"/>
          <p:cNvSpPr/>
          <p:nvPr/>
        </p:nvSpPr>
        <p:spPr>
          <a:xfrm>
            <a:off x="426720" y="3145536"/>
            <a:ext cx="73152" cy="1194816"/>
          </a:xfrm>
          <a:prstGeom prst="rect">
            <a:avLst/>
          </a:prstGeom>
          <a:solidFill>
            <a:srgbClr val="627EEA"/>
          </a:solidFill>
          <a:ln w="12700">
            <a:solidFill>
              <a:srgbClr val="627EEA"/>
            </a:solidFill>
            <a:prstDash val="solid"/>
          </a:ln>
        </p:spPr>
        <p:txBody>
          <a:bodyPr/>
          <a:lstStyle/>
          <a:p>
            <a:endParaRPr lang="en-DE" sz="2400"/>
          </a:p>
        </p:txBody>
      </p:sp>
      <p:sp>
        <p:nvSpPr>
          <p:cNvPr id="27" name="Text 25"/>
          <p:cNvSpPr/>
          <p:nvPr/>
        </p:nvSpPr>
        <p:spPr>
          <a:xfrm>
            <a:off x="609600" y="3218688"/>
            <a:ext cx="609600" cy="365760"/>
          </a:xfrm>
          <a:prstGeom prst="rect">
            <a:avLst/>
          </a:prstGeom>
          <a:noFill/>
          <a:ln/>
        </p:spPr>
        <p:txBody>
          <a:bodyPr wrap="square" rtlCol="0" anchor="ctr"/>
          <a:lstStyle/>
          <a:p>
            <a:r>
              <a:rPr lang="en-US" sz="1867" b="1" dirty="0">
                <a:solidFill>
                  <a:srgbClr val="627EEA"/>
                </a:solidFill>
                <a:latin typeface="Calibri" pitchFamily="34" charset="0"/>
                <a:ea typeface="Calibri" pitchFamily="34" charset="-122"/>
                <a:cs typeface="Calibri" pitchFamily="34" charset="-120"/>
              </a:rPr>
              <a:t>05</a:t>
            </a:r>
            <a:endParaRPr lang="en-US" sz="1867" dirty="0"/>
          </a:p>
        </p:txBody>
      </p:sp>
      <p:sp>
        <p:nvSpPr>
          <p:cNvPr id="28" name="Text 26"/>
          <p:cNvSpPr/>
          <p:nvPr/>
        </p:nvSpPr>
        <p:spPr>
          <a:xfrm>
            <a:off x="609600" y="3535680"/>
            <a:ext cx="316992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Performance Tracking system</a:t>
            </a:r>
            <a:endParaRPr lang="en-US" sz="1600" dirty="0"/>
          </a:p>
        </p:txBody>
      </p:sp>
      <p:sp>
        <p:nvSpPr>
          <p:cNvPr id="29" name="Text 27"/>
          <p:cNvSpPr/>
          <p:nvPr/>
        </p:nvSpPr>
        <p:spPr>
          <a:xfrm>
            <a:off x="609600" y="3864864"/>
            <a:ext cx="316992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Monitoring, Drift detection and auto retraining</a:t>
            </a:r>
            <a:endParaRPr lang="en-US" sz="1200" dirty="0"/>
          </a:p>
        </p:txBody>
      </p:sp>
      <p:sp>
        <p:nvSpPr>
          <p:cNvPr id="30" name="Shape 28"/>
          <p:cNvSpPr/>
          <p:nvPr/>
        </p:nvSpPr>
        <p:spPr>
          <a:xfrm>
            <a:off x="4230624" y="3145536"/>
            <a:ext cx="3535680"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a:p>
        </p:txBody>
      </p:sp>
      <p:sp>
        <p:nvSpPr>
          <p:cNvPr id="31" name="Shape 29"/>
          <p:cNvSpPr/>
          <p:nvPr/>
        </p:nvSpPr>
        <p:spPr>
          <a:xfrm>
            <a:off x="4230624" y="3145536"/>
            <a:ext cx="73152" cy="1194816"/>
          </a:xfrm>
          <a:prstGeom prst="rect">
            <a:avLst/>
          </a:prstGeom>
          <a:solidFill>
            <a:srgbClr val="627EEA"/>
          </a:solidFill>
          <a:ln w="12700">
            <a:solidFill>
              <a:srgbClr val="627EEA"/>
            </a:solidFill>
            <a:prstDash val="solid"/>
          </a:ln>
        </p:spPr>
        <p:txBody>
          <a:bodyPr/>
          <a:lstStyle/>
          <a:p>
            <a:endParaRPr lang="en-DE" sz="2400"/>
          </a:p>
        </p:txBody>
      </p:sp>
      <p:sp>
        <p:nvSpPr>
          <p:cNvPr id="32" name="Text 30"/>
          <p:cNvSpPr/>
          <p:nvPr/>
        </p:nvSpPr>
        <p:spPr>
          <a:xfrm>
            <a:off x="4413504" y="3218688"/>
            <a:ext cx="609600" cy="365760"/>
          </a:xfrm>
          <a:prstGeom prst="rect">
            <a:avLst/>
          </a:prstGeom>
          <a:noFill/>
          <a:ln/>
        </p:spPr>
        <p:txBody>
          <a:bodyPr wrap="square" rtlCol="0" anchor="ctr"/>
          <a:lstStyle/>
          <a:p>
            <a:r>
              <a:rPr lang="en-US" sz="1867" b="1" dirty="0">
                <a:solidFill>
                  <a:srgbClr val="627EEA"/>
                </a:solidFill>
                <a:latin typeface="Calibri" pitchFamily="34" charset="0"/>
                <a:ea typeface="Calibri" pitchFamily="34" charset="-122"/>
                <a:cs typeface="Calibri" pitchFamily="34" charset="-120"/>
              </a:rPr>
              <a:t>06</a:t>
            </a:r>
            <a:endParaRPr lang="en-US" sz="1867" dirty="0"/>
          </a:p>
        </p:txBody>
      </p:sp>
      <p:sp>
        <p:nvSpPr>
          <p:cNvPr id="33" name="Text 31"/>
          <p:cNvSpPr/>
          <p:nvPr/>
        </p:nvSpPr>
        <p:spPr>
          <a:xfrm>
            <a:off x="4413504" y="3535680"/>
            <a:ext cx="316992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RAG + </a:t>
            </a:r>
            <a:r>
              <a:rPr lang="en-US" sz="1600" b="1" dirty="0" err="1">
                <a:solidFill>
                  <a:srgbClr val="FFFFFF"/>
                </a:solidFill>
                <a:latin typeface="Calibri" pitchFamily="34" charset="0"/>
                <a:ea typeface="Calibri" pitchFamily="34" charset="-122"/>
                <a:cs typeface="Calibri" pitchFamily="34" charset="-120"/>
              </a:rPr>
              <a:t>Tavily</a:t>
            </a:r>
            <a:r>
              <a:rPr lang="en-US" sz="1600" b="1" dirty="0">
                <a:solidFill>
                  <a:srgbClr val="FFFFFF"/>
                </a:solidFill>
                <a:latin typeface="Calibri" pitchFamily="34" charset="0"/>
                <a:ea typeface="Calibri" pitchFamily="34" charset="-122"/>
                <a:cs typeface="Calibri" pitchFamily="34" charset="-120"/>
              </a:rPr>
              <a:t> + </a:t>
            </a:r>
            <a:r>
              <a:rPr lang="en-US" sz="1600" b="1" dirty="0" err="1">
                <a:solidFill>
                  <a:srgbClr val="FFFFFF"/>
                </a:solidFill>
                <a:latin typeface="Calibri" pitchFamily="34" charset="0"/>
                <a:ea typeface="Calibri" pitchFamily="34" charset="-122"/>
                <a:cs typeface="Calibri" pitchFamily="34" charset="-120"/>
              </a:rPr>
              <a:t>LLm</a:t>
            </a:r>
            <a:r>
              <a:rPr lang="en-US" sz="1600" b="1" dirty="0">
                <a:solidFill>
                  <a:srgbClr val="FFFFFF"/>
                </a:solidFill>
                <a:latin typeface="Calibri" pitchFamily="34" charset="0"/>
                <a:ea typeface="Calibri" pitchFamily="34" charset="-122"/>
                <a:cs typeface="Calibri" pitchFamily="34" charset="-120"/>
              </a:rPr>
              <a:t> + Chatbot</a:t>
            </a:r>
            <a:endParaRPr lang="en-US" sz="1600" dirty="0"/>
          </a:p>
        </p:txBody>
      </p:sp>
      <p:sp>
        <p:nvSpPr>
          <p:cNvPr id="34" name="Text 32"/>
          <p:cNvSpPr/>
          <p:nvPr/>
        </p:nvSpPr>
        <p:spPr>
          <a:xfrm>
            <a:off x="4413504" y="3864864"/>
            <a:ext cx="316992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 News retrieval and AI reasoning layer </a:t>
            </a:r>
            <a:endParaRPr lang="en-US" sz="1200" dirty="0"/>
          </a:p>
        </p:txBody>
      </p:sp>
      <p:sp>
        <p:nvSpPr>
          <p:cNvPr id="35" name="Shape 33"/>
          <p:cNvSpPr/>
          <p:nvPr/>
        </p:nvSpPr>
        <p:spPr>
          <a:xfrm>
            <a:off x="8034528" y="3145536"/>
            <a:ext cx="3669792" cy="1194816"/>
          </a:xfrm>
          <a:prstGeom prst="rect">
            <a:avLst/>
          </a:prstGeom>
          <a:solidFill>
            <a:srgbClr val="132238"/>
          </a:solidFill>
          <a:ln w="12700">
            <a:solidFill>
              <a:srgbClr val="1E3A5F"/>
            </a:solidFill>
            <a:prstDash val="solid"/>
          </a:ln>
          <a:effectLst>
            <a:outerShdw blurRad="101600" dist="38100" dir="8100000" algn="bl" rotWithShape="0">
              <a:srgbClr val="000000">
                <a:alpha val="18000"/>
              </a:srgbClr>
            </a:outerShdw>
          </a:effectLst>
        </p:spPr>
        <p:txBody>
          <a:bodyPr/>
          <a:lstStyle/>
          <a:p>
            <a:endParaRPr lang="en-DE" sz="2400"/>
          </a:p>
        </p:txBody>
      </p:sp>
      <p:sp>
        <p:nvSpPr>
          <p:cNvPr id="36" name="Shape 34"/>
          <p:cNvSpPr/>
          <p:nvPr/>
        </p:nvSpPr>
        <p:spPr>
          <a:xfrm>
            <a:off x="8034528" y="3145536"/>
            <a:ext cx="73152" cy="1194816"/>
          </a:xfrm>
          <a:prstGeom prst="rect">
            <a:avLst/>
          </a:prstGeom>
          <a:solidFill>
            <a:srgbClr val="F7931A"/>
          </a:solidFill>
          <a:ln w="12700">
            <a:solidFill>
              <a:srgbClr val="F7931A"/>
            </a:solidFill>
            <a:prstDash val="solid"/>
          </a:ln>
        </p:spPr>
        <p:txBody>
          <a:bodyPr/>
          <a:lstStyle/>
          <a:p>
            <a:endParaRPr lang="en-DE" sz="2400"/>
          </a:p>
        </p:txBody>
      </p:sp>
      <p:sp>
        <p:nvSpPr>
          <p:cNvPr id="37" name="Text 35"/>
          <p:cNvSpPr/>
          <p:nvPr/>
        </p:nvSpPr>
        <p:spPr>
          <a:xfrm>
            <a:off x="8217408" y="3218688"/>
            <a:ext cx="609600" cy="365760"/>
          </a:xfrm>
          <a:prstGeom prst="rect">
            <a:avLst/>
          </a:prstGeom>
          <a:noFill/>
          <a:ln/>
        </p:spPr>
        <p:txBody>
          <a:bodyPr wrap="square" rtlCol="0" anchor="ctr"/>
          <a:lstStyle/>
          <a:p>
            <a:r>
              <a:rPr lang="en-US" sz="1867" b="1" dirty="0">
                <a:solidFill>
                  <a:srgbClr val="F7931A"/>
                </a:solidFill>
                <a:latin typeface="Calibri" pitchFamily="34" charset="0"/>
                <a:ea typeface="Calibri" pitchFamily="34" charset="-122"/>
                <a:cs typeface="Calibri" pitchFamily="34" charset="-120"/>
              </a:rPr>
              <a:t>07</a:t>
            </a:r>
            <a:endParaRPr lang="en-US" sz="1867" dirty="0"/>
          </a:p>
        </p:txBody>
      </p:sp>
      <p:sp>
        <p:nvSpPr>
          <p:cNvPr id="38" name="Text 36"/>
          <p:cNvSpPr/>
          <p:nvPr/>
        </p:nvSpPr>
        <p:spPr>
          <a:xfrm>
            <a:off x="8217408" y="3535680"/>
            <a:ext cx="3169920" cy="365760"/>
          </a:xfrm>
          <a:prstGeom prst="rect">
            <a:avLst/>
          </a:prstGeom>
          <a:noFill/>
          <a:ln/>
        </p:spPr>
        <p:txBody>
          <a:bodyPr wrap="square" rtlCol="0" anchor="ctr"/>
          <a:lstStyle/>
          <a:p>
            <a:r>
              <a:rPr lang="en-US" sz="1600" b="1" dirty="0">
                <a:solidFill>
                  <a:srgbClr val="FFFFFF"/>
                </a:solidFill>
                <a:latin typeface="Calibri" pitchFamily="34" charset="0"/>
                <a:ea typeface="Calibri" pitchFamily="34" charset="-122"/>
                <a:cs typeface="Calibri" pitchFamily="34" charset="-120"/>
              </a:rPr>
              <a:t>Live Demo</a:t>
            </a:r>
            <a:endParaRPr lang="en-US" sz="1600" dirty="0"/>
          </a:p>
        </p:txBody>
      </p:sp>
      <p:sp>
        <p:nvSpPr>
          <p:cNvPr id="39" name="Text 37"/>
          <p:cNvSpPr/>
          <p:nvPr/>
        </p:nvSpPr>
        <p:spPr>
          <a:xfrm>
            <a:off x="8217408" y="3864864"/>
            <a:ext cx="3169920" cy="365760"/>
          </a:xfrm>
          <a:prstGeom prst="rect">
            <a:avLst/>
          </a:prstGeom>
          <a:noFill/>
          <a:ln/>
        </p:spPr>
        <p:txBody>
          <a:bodyPr wrap="square" rtlCol="0" anchor="ctr"/>
          <a:lstStyle/>
          <a:p>
            <a:r>
              <a:rPr lang="en-US" sz="1200" dirty="0">
                <a:solidFill>
                  <a:srgbClr val="94A3B8"/>
                </a:solidFill>
                <a:latin typeface="Calibri" pitchFamily="34" charset="0"/>
                <a:ea typeface="Calibri" pitchFamily="34" charset="-122"/>
                <a:cs typeface="Calibri" pitchFamily="34" charset="-120"/>
              </a:rPr>
              <a:t>Streamlit dashboard and chatbot walkthrough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 1"/>
          <p:cNvSpPr/>
          <p:nvPr/>
        </p:nvSpPr>
        <p:spPr>
          <a:xfrm>
            <a:off x="487680" y="268224"/>
            <a:ext cx="685137" cy="341376"/>
          </a:xfrm>
          <a:prstGeom prst="rect">
            <a:avLst/>
          </a:prstGeom>
          <a:noFill/>
          <a:ln/>
        </p:spPr>
        <p:txBody>
          <a:bodyPr wrap="square" lIns="0" tIns="0" rIns="0" bIns="0" rtlCol="0" anchor="ctr"/>
          <a:lstStyle/>
          <a:p>
            <a:pPr algn="ctr"/>
            <a:r>
              <a:rPr lang="en-US" sz="1067" b="1" dirty="0">
                <a:solidFill>
                  <a:srgbClr val="FFFFFF"/>
                </a:solidFill>
              </a:rPr>
              <a:t>O1</a:t>
            </a:r>
            <a:endParaRPr lang="en-US" sz="1067" dirty="0"/>
          </a:p>
        </p:txBody>
      </p:sp>
      <p:sp>
        <p:nvSpPr>
          <p:cNvPr id="4" name="Text 2"/>
          <p:cNvSpPr/>
          <p:nvPr/>
        </p:nvSpPr>
        <p:spPr>
          <a:xfrm>
            <a:off x="322580" y="70104"/>
            <a:ext cx="11216640" cy="731520"/>
          </a:xfrm>
          <a:prstGeom prst="rect">
            <a:avLst/>
          </a:prstGeom>
          <a:noFill/>
          <a:ln/>
        </p:spPr>
        <p:txBody>
          <a:bodyPr wrap="square" rtlCol="0" anchor="ctr"/>
          <a:lstStyle/>
          <a:p>
            <a:pPr algn="ctr"/>
            <a:r>
              <a:rPr lang="en-US" sz="3733" b="1" dirty="0">
                <a:solidFill>
                  <a:srgbClr val="1E293B"/>
                </a:solidFill>
                <a:latin typeface="Calibri" pitchFamily="34" charset="0"/>
                <a:ea typeface="Calibri" pitchFamily="34" charset="-122"/>
                <a:cs typeface="Calibri" pitchFamily="34" charset="-120"/>
              </a:rPr>
              <a:t>Why Does the Crypto Market Need Intelligence?</a:t>
            </a:r>
          </a:p>
        </p:txBody>
      </p:sp>
      <p:grpSp>
        <p:nvGrpSpPr>
          <p:cNvPr id="44" name="Group 43">
            <a:extLst>
              <a:ext uri="{FF2B5EF4-FFF2-40B4-BE49-F238E27FC236}">
                <a16:creationId xmlns:a16="http://schemas.microsoft.com/office/drawing/2014/main" id="{EEA6E07B-26F2-E393-2E0C-68B75B6E7860}"/>
              </a:ext>
            </a:extLst>
          </p:cNvPr>
          <p:cNvGrpSpPr/>
          <p:nvPr/>
        </p:nvGrpSpPr>
        <p:grpSpPr>
          <a:xfrm>
            <a:off x="7082028" y="2647696"/>
            <a:ext cx="3535680" cy="1767840"/>
            <a:chOff x="7082028" y="2647696"/>
            <a:chExt cx="3535680" cy="1767840"/>
          </a:xfrm>
        </p:grpSpPr>
        <p:sp>
          <p:nvSpPr>
            <p:cNvPr id="13" name="Shape 11"/>
            <p:cNvSpPr/>
            <p:nvPr/>
          </p:nvSpPr>
          <p:spPr>
            <a:xfrm>
              <a:off x="7082028" y="2647696"/>
              <a:ext cx="3535680" cy="17678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DE" sz="1600"/>
            </a:p>
          </p:txBody>
        </p:sp>
        <p:sp>
          <p:nvSpPr>
            <p:cNvPr id="14" name="Shape 12"/>
            <p:cNvSpPr/>
            <p:nvPr/>
          </p:nvSpPr>
          <p:spPr>
            <a:xfrm>
              <a:off x="7082028" y="2647696"/>
              <a:ext cx="73152" cy="1767840"/>
            </a:xfrm>
            <a:prstGeom prst="rect">
              <a:avLst/>
            </a:prstGeom>
            <a:solidFill>
              <a:srgbClr val="00D4AA"/>
            </a:solidFill>
            <a:ln w="12700">
              <a:solidFill>
                <a:srgbClr val="00D4AA"/>
              </a:solidFill>
              <a:prstDash val="solid"/>
            </a:ln>
          </p:spPr>
          <p:txBody>
            <a:bodyPr/>
            <a:lstStyle/>
            <a:p>
              <a:endParaRPr lang="en-DE" sz="1600"/>
            </a:p>
          </p:txBody>
        </p:sp>
        <p:sp>
          <p:nvSpPr>
            <p:cNvPr id="15" name="Text 13"/>
            <p:cNvSpPr/>
            <p:nvPr/>
          </p:nvSpPr>
          <p:spPr>
            <a:xfrm>
              <a:off x="7301484" y="2769616"/>
              <a:ext cx="3108960" cy="463296"/>
            </a:xfrm>
            <a:prstGeom prst="rect">
              <a:avLst/>
            </a:prstGeom>
            <a:noFill/>
            <a:ln/>
          </p:spPr>
          <p:txBody>
            <a:bodyPr wrap="square" rtlCol="0" anchor="ctr"/>
            <a:lstStyle/>
            <a:p>
              <a:r>
                <a:rPr lang="en-US" sz="1600" b="1" dirty="0">
                  <a:solidFill>
                    <a:srgbClr val="1E293B"/>
                  </a:solidFill>
                  <a:latin typeface="Calibri" pitchFamily="34" charset="0"/>
                  <a:ea typeface="Calibri" pitchFamily="34" charset="-122"/>
                  <a:cs typeface="Calibri" pitchFamily="34" charset="-120"/>
                </a:rPr>
                <a:t>😨  Market Sentiment</a:t>
              </a:r>
              <a:endParaRPr lang="en-US" sz="1600" dirty="0"/>
            </a:p>
          </p:txBody>
        </p:sp>
        <p:sp>
          <p:nvSpPr>
            <p:cNvPr id="16" name="Text 14"/>
            <p:cNvSpPr/>
            <p:nvPr/>
          </p:nvSpPr>
          <p:spPr>
            <a:xfrm>
              <a:off x="7301484" y="3232912"/>
              <a:ext cx="3108960" cy="1036320"/>
            </a:xfrm>
            <a:prstGeom prst="rect">
              <a:avLst/>
            </a:prstGeom>
            <a:noFill/>
            <a:ln/>
          </p:spPr>
          <p:txBody>
            <a:bodyPr wrap="square" rtlCol="0" anchor="ctr"/>
            <a:lstStyle/>
            <a:p>
              <a:r>
                <a:rPr lang="en-US" sz="1600" dirty="0">
                  <a:solidFill>
                    <a:srgbClr val="475569"/>
                  </a:solidFill>
                  <a:latin typeface="Calibri" pitchFamily="34" charset="0"/>
                  <a:ea typeface="Calibri" pitchFamily="34" charset="-122"/>
                  <a:cs typeface="Calibri" pitchFamily="34" charset="-120"/>
                </a:rPr>
                <a:t>Fear driven selling or greed driven buying can amplify price swings.</a:t>
              </a:r>
            </a:p>
          </p:txBody>
        </p:sp>
      </p:grpSp>
      <p:grpSp>
        <p:nvGrpSpPr>
          <p:cNvPr id="46" name="Group 45">
            <a:extLst>
              <a:ext uri="{FF2B5EF4-FFF2-40B4-BE49-F238E27FC236}">
                <a16:creationId xmlns:a16="http://schemas.microsoft.com/office/drawing/2014/main" id="{FB7EFC92-62B8-B280-22CB-F1340F636D4F}"/>
              </a:ext>
            </a:extLst>
          </p:cNvPr>
          <p:cNvGrpSpPr/>
          <p:nvPr/>
        </p:nvGrpSpPr>
        <p:grpSpPr>
          <a:xfrm>
            <a:off x="1430020" y="4659376"/>
            <a:ext cx="3535680" cy="1767840"/>
            <a:chOff x="1430020" y="4659376"/>
            <a:chExt cx="3535680" cy="1767840"/>
          </a:xfrm>
        </p:grpSpPr>
        <p:sp>
          <p:nvSpPr>
            <p:cNvPr id="17" name="Shape 15"/>
            <p:cNvSpPr/>
            <p:nvPr/>
          </p:nvSpPr>
          <p:spPr>
            <a:xfrm>
              <a:off x="1430020" y="4659376"/>
              <a:ext cx="3535680" cy="17678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DE" sz="1600"/>
            </a:p>
          </p:txBody>
        </p:sp>
        <p:sp>
          <p:nvSpPr>
            <p:cNvPr id="18" name="Shape 16"/>
            <p:cNvSpPr/>
            <p:nvPr/>
          </p:nvSpPr>
          <p:spPr>
            <a:xfrm>
              <a:off x="1430020" y="4659376"/>
              <a:ext cx="73152" cy="1767840"/>
            </a:xfrm>
            <a:prstGeom prst="rect">
              <a:avLst/>
            </a:prstGeom>
            <a:solidFill>
              <a:srgbClr val="E11D48"/>
            </a:solidFill>
            <a:ln w="12700">
              <a:solidFill>
                <a:srgbClr val="E11D48"/>
              </a:solidFill>
              <a:prstDash val="solid"/>
            </a:ln>
          </p:spPr>
          <p:txBody>
            <a:bodyPr/>
            <a:lstStyle/>
            <a:p>
              <a:endParaRPr lang="en-DE" sz="1600"/>
            </a:p>
          </p:txBody>
        </p:sp>
        <p:sp>
          <p:nvSpPr>
            <p:cNvPr id="19" name="Text 17"/>
            <p:cNvSpPr/>
            <p:nvPr/>
          </p:nvSpPr>
          <p:spPr>
            <a:xfrm>
              <a:off x="1649476" y="4781296"/>
              <a:ext cx="3108960" cy="463296"/>
            </a:xfrm>
            <a:prstGeom prst="rect">
              <a:avLst/>
            </a:prstGeom>
            <a:noFill/>
            <a:ln/>
          </p:spPr>
          <p:txBody>
            <a:bodyPr wrap="square" rtlCol="0" anchor="ctr"/>
            <a:lstStyle/>
            <a:p>
              <a:r>
                <a:rPr lang="en-US" sz="1600" b="1" dirty="0">
                  <a:solidFill>
                    <a:srgbClr val="1E293B"/>
                  </a:solidFill>
                  <a:latin typeface="Calibri" pitchFamily="34" charset="0"/>
                  <a:ea typeface="Calibri" pitchFamily="34" charset="-122"/>
                  <a:cs typeface="Calibri" pitchFamily="34" charset="-120"/>
                </a:rPr>
                <a:t>📊  Technical Signals</a:t>
              </a:r>
              <a:endParaRPr lang="en-US" sz="1600" dirty="0"/>
            </a:p>
          </p:txBody>
        </p:sp>
        <p:sp>
          <p:nvSpPr>
            <p:cNvPr id="20" name="Text 18"/>
            <p:cNvSpPr/>
            <p:nvPr/>
          </p:nvSpPr>
          <p:spPr>
            <a:xfrm>
              <a:off x="1649476" y="5244592"/>
              <a:ext cx="3108960" cy="1036320"/>
            </a:xfrm>
            <a:prstGeom prst="rect">
              <a:avLst/>
            </a:prstGeom>
            <a:noFill/>
            <a:ln/>
          </p:spPr>
          <p:txBody>
            <a:bodyPr wrap="square" rtlCol="0" anchor="ctr"/>
            <a:lstStyle/>
            <a:p>
              <a:r>
                <a:rPr lang="en-US" sz="1600" dirty="0">
                  <a:solidFill>
                    <a:srgbClr val="475569"/>
                  </a:solidFill>
                  <a:latin typeface="Calibri" pitchFamily="34" charset="0"/>
                  <a:ea typeface="Calibri" pitchFamily="34" charset="-122"/>
                  <a:cs typeface="Calibri" pitchFamily="34" charset="-120"/>
                </a:rPr>
                <a:t>Price trends and momentum shifts that traders try to interpret.</a:t>
              </a:r>
            </a:p>
          </p:txBody>
        </p:sp>
      </p:grpSp>
      <p:grpSp>
        <p:nvGrpSpPr>
          <p:cNvPr id="45" name="Group 44">
            <a:extLst>
              <a:ext uri="{FF2B5EF4-FFF2-40B4-BE49-F238E27FC236}">
                <a16:creationId xmlns:a16="http://schemas.microsoft.com/office/drawing/2014/main" id="{B1782DB8-8596-4EE0-20B9-76835322BC89}"/>
              </a:ext>
            </a:extLst>
          </p:cNvPr>
          <p:cNvGrpSpPr/>
          <p:nvPr/>
        </p:nvGrpSpPr>
        <p:grpSpPr>
          <a:xfrm>
            <a:off x="7082028" y="4659376"/>
            <a:ext cx="3535680" cy="1767840"/>
            <a:chOff x="7082028" y="4659376"/>
            <a:chExt cx="3535680" cy="1767840"/>
          </a:xfrm>
        </p:grpSpPr>
        <p:sp>
          <p:nvSpPr>
            <p:cNvPr id="25" name="Shape 23"/>
            <p:cNvSpPr/>
            <p:nvPr/>
          </p:nvSpPr>
          <p:spPr>
            <a:xfrm>
              <a:off x="7082028" y="4659376"/>
              <a:ext cx="3535680" cy="17678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r>
                <a:rPr lang="en-US" sz="1600" dirty="0"/>
                <a:t>Crypto moves in lo</a:t>
              </a:r>
              <a:endParaRPr lang="en-DE" sz="1600" dirty="0">
                <a:solidFill>
                  <a:srgbClr val="475569"/>
                </a:solidFill>
                <a:latin typeface="Calibri" pitchFamily="34" charset="0"/>
                <a:ea typeface="Calibri" pitchFamily="34" charset="-122"/>
                <a:cs typeface="Calibri" pitchFamily="34" charset="-120"/>
              </a:endParaRPr>
            </a:p>
          </p:txBody>
        </p:sp>
        <p:sp>
          <p:nvSpPr>
            <p:cNvPr id="26" name="Shape 24"/>
            <p:cNvSpPr/>
            <p:nvPr/>
          </p:nvSpPr>
          <p:spPr>
            <a:xfrm>
              <a:off x="7082028" y="4659376"/>
              <a:ext cx="73152" cy="1767840"/>
            </a:xfrm>
            <a:prstGeom prst="rect">
              <a:avLst/>
            </a:prstGeom>
            <a:solidFill>
              <a:srgbClr val="627EEA"/>
            </a:solidFill>
            <a:ln w="12700">
              <a:solidFill>
                <a:srgbClr val="627EEA"/>
              </a:solidFill>
              <a:prstDash val="solid"/>
            </a:ln>
          </p:spPr>
          <p:txBody>
            <a:bodyPr/>
            <a:lstStyle/>
            <a:p>
              <a:endParaRPr lang="en-DE" sz="1600"/>
            </a:p>
          </p:txBody>
        </p:sp>
        <p:sp>
          <p:nvSpPr>
            <p:cNvPr id="27" name="Text 25"/>
            <p:cNvSpPr/>
            <p:nvPr/>
          </p:nvSpPr>
          <p:spPr>
            <a:xfrm>
              <a:off x="7301484" y="4781296"/>
              <a:ext cx="3108960" cy="463296"/>
            </a:xfrm>
            <a:prstGeom prst="rect">
              <a:avLst/>
            </a:prstGeom>
            <a:noFill/>
            <a:ln/>
          </p:spPr>
          <p:txBody>
            <a:bodyPr wrap="square" rtlCol="0" anchor="ctr"/>
            <a:lstStyle/>
            <a:p>
              <a:r>
                <a:rPr lang="en-US" sz="1600" b="1" dirty="0">
                  <a:solidFill>
                    <a:srgbClr val="1E293B"/>
                  </a:solidFill>
                  <a:latin typeface="Calibri" pitchFamily="34" charset="0"/>
                  <a:ea typeface="Calibri" pitchFamily="34" charset="-122"/>
                  <a:cs typeface="Calibri" pitchFamily="34" charset="-120"/>
                </a:rPr>
                <a:t>⏰  Market Cycles</a:t>
              </a:r>
              <a:endParaRPr lang="en-US" sz="1600" dirty="0"/>
            </a:p>
          </p:txBody>
        </p:sp>
        <p:sp>
          <p:nvSpPr>
            <p:cNvPr id="28" name="Text 26"/>
            <p:cNvSpPr/>
            <p:nvPr/>
          </p:nvSpPr>
          <p:spPr>
            <a:xfrm>
              <a:off x="7301484" y="5244592"/>
              <a:ext cx="3108960" cy="1036320"/>
            </a:xfrm>
            <a:prstGeom prst="rect">
              <a:avLst/>
            </a:prstGeom>
            <a:noFill/>
            <a:ln/>
          </p:spPr>
          <p:txBody>
            <a:bodyPr wrap="square" rtlCol="0" anchor="ctr"/>
            <a:lstStyle/>
            <a:p>
              <a:r>
                <a:rPr lang="en-US" sz="1600" dirty="0">
                  <a:solidFill>
                    <a:srgbClr val="475569"/>
                  </a:solidFill>
                  <a:latin typeface="Calibri" pitchFamily="34" charset="0"/>
                  <a:ea typeface="Calibri" pitchFamily="34" charset="-122"/>
                  <a:cs typeface="Calibri" pitchFamily="34" charset="-120"/>
                </a:rPr>
                <a:t>Crypto moves in long bull and bear cycles.</a:t>
              </a:r>
              <a:br>
                <a:rPr lang="en-US" sz="1600" dirty="0">
                  <a:solidFill>
                    <a:srgbClr val="475569"/>
                  </a:solidFill>
                  <a:latin typeface="Calibri" pitchFamily="34" charset="0"/>
                  <a:ea typeface="Calibri" pitchFamily="34" charset="-122"/>
                  <a:cs typeface="Calibri" pitchFamily="34" charset="-120"/>
                </a:rPr>
              </a:br>
              <a:r>
                <a:rPr lang="en-US" sz="1600" dirty="0">
                  <a:solidFill>
                    <a:srgbClr val="475569"/>
                  </a:solidFill>
                  <a:latin typeface="Calibri" pitchFamily="34" charset="0"/>
                  <a:ea typeface="Calibri" pitchFamily="34" charset="-122"/>
                  <a:cs typeface="Calibri" pitchFamily="34" charset="-120"/>
                </a:rPr>
                <a:t>Strategies that work in one phase often fail in another.</a:t>
              </a:r>
            </a:p>
          </p:txBody>
        </p:sp>
      </p:grpSp>
      <p:sp>
        <p:nvSpPr>
          <p:cNvPr id="30" name="TextBox 29">
            <a:extLst>
              <a:ext uri="{FF2B5EF4-FFF2-40B4-BE49-F238E27FC236}">
                <a16:creationId xmlns:a16="http://schemas.microsoft.com/office/drawing/2014/main" id="{D7363A4D-DBCD-42A2-95AE-DEE24680A66B}"/>
              </a:ext>
            </a:extLst>
          </p:cNvPr>
          <p:cNvSpPr txBox="1"/>
          <p:nvPr/>
        </p:nvSpPr>
        <p:spPr>
          <a:xfrm>
            <a:off x="-165100" y="1324112"/>
            <a:ext cx="12192000" cy="584775"/>
          </a:xfrm>
          <a:prstGeom prst="rect">
            <a:avLst/>
          </a:prstGeom>
          <a:noFill/>
        </p:spPr>
        <p:txBody>
          <a:bodyPr wrap="square">
            <a:spAutoFit/>
          </a:bodyPr>
          <a:lstStyle/>
          <a:p>
            <a:pPr algn="ctr"/>
            <a:r>
              <a:rPr lang="en-US" sz="1600" dirty="0">
                <a:solidFill>
                  <a:srgbClr val="475569"/>
                </a:solidFill>
                <a:latin typeface="Calibri" pitchFamily="34" charset="0"/>
                <a:ea typeface="Calibri" pitchFamily="34" charset="-122"/>
                <a:cs typeface="Calibri" pitchFamily="34" charset="-120"/>
              </a:rPr>
              <a:t>Cryptocurrencies are digital assets traded globally 24/7, with no central authority. </a:t>
            </a:r>
          </a:p>
          <a:p>
            <a:pPr algn="ctr"/>
            <a:r>
              <a:rPr lang="en-US" sz="1600" dirty="0">
                <a:solidFill>
                  <a:srgbClr val="475569"/>
                </a:solidFill>
                <a:latin typeface="Calibri" pitchFamily="34" charset="0"/>
                <a:ea typeface="Calibri" pitchFamily="34" charset="-122"/>
                <a:cs typeface="Calibri" pitchFamily="34" charset="-120"/>
              </a:rPr>
              <a:t>The crypto market exceeds 2 trillions in total value and attracts retail investors, institutions, and governments.</a:t>
            </a:r>
          </a:p>
        </p:txBody>
      </p:sp>
      <p:grpSp>
        <p:nvGrpSpPr>
          <p:cNvPr id="37" name="Group 36">
            <a:extLst>
              <a:ext uri="{FF2B5EF4-FFF2-40B4-BE49-F238E27FC236}">
                <a16:creationId xmlns:a16="http://schemas.microsoft.com/office/drawing/2014/main" id="{52B851A9-97CA-8D87-77DE-E8AA016FF788}"/>
              </a:ext>
            </a:extLst>
          </p:cNvPr>
          <p:cNvGrpSpPr/>
          <p:nvPr/>
        </p:nvGrpSpPr>
        <p:grpSpPr>
          <a:xfrm>
            <a:off x="1423924" y="2602738"/>
            <a:ext cx="3535680" cy="1774444"/>
            <a:chOff x="1423924" y="2602738"/>
            <a:chExt cx="3535680" cy="1774444"/>
          </a:xfrm>
        </p:grpSpPr>
        <p:sp>
          <p:nvSpPr>
            <p:cNvPr id="31" name="Shape 7">
              <a:extLst>
                <a:ext uri="{FF2B5EF4-FFF2-40B4-BE49-F238E27FC236}">
                  <a16:creationId xmlns:a16="http://schemas.microsoft.com/office/drawing/2014/main" id="{620478CA-4C09-B86A-16CA-F73AEE8FE9EA}"/>
                </a:ext>
              </a:extLst>
            </p:cNvPr>
            <p:cNvSpPr/>
            <p:nvPr/>
          </p:nvSpPr>
          <p:spPr>
            <a:xfrm>
              <a:off x="1423924" y="2602738"/>
              <a:ext cx="3535680" cy="176784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DE" sz="1600"/>
            </a:p>
          </p:txBody>
        </p:sp>
        <p:sp>
          <p:nvSpPr>
            <p:cNvPr id="32" name="Shape 8">
              <a:extLst>
                <a:ext uri="{FF2B5EF4-FFF2-40B4-BE49-F238E27FC236}">
                  <a16:creationId xmlns:a16="http://schemas.microsoft.com/office/drawing/2014/main" id="{E1C5961C-F8D6-919D-5D6C-0BBC33D217FE}"/>
                </a:ext>
              </a:extLst>
            </p:cNvPr>
            <p:cNvSpPr/>
            <p:nvPr/>
          </p:nvSpPr>
          <p:spPr>
            <a:xfrm>
              <a:off x="1423924" y="2609342"/>
              <a:ext cx="73152" cy="1767840"/>
            </a:xfrm>
            <a:prstGeom prst="rect">
              <a:avLst/>
            </a:prstGeom>
            <a:solidFill>
              <a:srgbClr val="627EEA"/>
            </a:solidFill>
            <a:ln w="12700">
              <a:solidFill>
                <a:srgbClr val="627EEA"/>
              </a:solidFill>
              <a:prstDash val="solid"/>
            </a:ln>
          </p:spPr>
          <p:txBody>
            <a:bodyPr/>
            <a:lstStyle/>
            <a:p>
              <a:endParaRPr lang="en-DE" sz="1600" dirty="0"/>
            </a:p>
          </p:txBody>
        </p:sp>
        <p:sp>
          <p:nvSpPr>
            <p:cNvPr id="33" name="Text 9">
              <a:extLst>
                <a:ext uri="{FF2B5EF4-FFF2-40B4-BE49-F238E27FC236}">
                  <a16:creationId xmlns:a16="http://schemas.microsoft.com/office/drawing/2014/main" id="{17669F31-5E88-077B-8BC1-6C7CBF3D37EF}"/>
                </a:ext>
              </a:extLst>
            </p:cNvPr>
            <p:cNvSpPr/>
            <p:nvPr/>
          </p:nvSpPr>
          <p:spPr>
            <a:xfrm>
              <a:off x="1643380" y="2743962"/>
              <a:ext cx="3108960" cy="463296"/>
            </a:xfrm>
            <a:prstGeom prst="rect">
              <a:avLst/>
            </a:prstGeom>
            <a:noFill/>
            <a:ln/>
          </p:spPr>
          <p:txBody>
            <a:bodyPr wrap="square" rtlCol="0" anchor="ctr"/>
            <a:lstStyle/>
            <a:p>
              <a:r>
                <a:rPr lang="en-US" sz="1600" b="1" dirty="0">
                  <a:solidFill>
                    <a:srgbClr val="1E293B"/>
                  </a:solidFill>
                  <a:latin typeface="Calibri" pitchFamily="34" charset="0"/>
                  <a:ea typeface="Calibri" pitchFamily="34" charset="-122"/>
                  <a:cs typeface="Calibri" pitchFamily="34" charset="-120"/>
                </a:rPr>
                <a:t>🌍  News and Macro Economy</a:t>
              </a:r>
              <a:endParaRPr lang="en-US" sz="1600" dirty="0"/>
            </a:p>
          </p:txBody>
        </p:sp>
        <p:sp>
          <p:nvSpPr>
            <p:cNvPr id="34" name="Text 10">
              <a:extLst>
                <a:ext uri="{FF2B5EF4-FFF2-40B4-BE49-F238E27FC236}">
                  <a16:creationId xmlns:a16="http://schemas.microsoft.com/office/drawing/2014/main" id="{ABDCDD62-376B-B1B6-013E-7B9B50E5AE64}"/>
                </a:ext>
              </a:extLst>
            </p:cNvPr>
            <p:cNvSpPr/>
            <p:nvPr/>
          </p:nvSpPr>
          <p:spPr>
            <a:xfrm>
              <a:off x="1643380" y="3207258"/>
              <a:ext cx="3108960" cy="1036320"/>
            </a:xfrm>
            <a:prstGeom prst="rect">
              <a:avLst/>
            </a:prstGeom>
            <a:noFill/>
            <a:ln/>
          </p:spPr>
          <p:txBody>
            <a:bodyPr wrap="square" rtlCol="0" anchor="ctr"/>
            <a:lstStyle/>
            <a:p>
              <a:r>
                <a:rPr lang="en-US" sz="1600" dirty="0">
                  <a:solidFill>
                    <a:srgbClr val="475569"/>
                  </a:solidFill>
                  <a:latin typeface="Calibri" pitchFamily="34" charset="0"/>
                  <a:ea typeface="Calibri" pitchFamily="34" charset="-122"/>
                  <a:cs typeface="Calibri" pitchFamily="34" charset="-120"/>
                </a:rPr>
                <a:t>Interest rate cut ,inflation ,the strength of the US dollar , countries taxing strategies and wars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fade">
                                      <p:cBhvr>
                                        <p:cTn id="12" dur="500"/>
                                        <p:tgtEl>
                                          <p:spTgt spid="4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6"/>
                                        </p:tgtEl>
                                        <p:attrNameLst>
                                          <p:attrName>style.visibility</p:attrName>
                                        </p:attrNameLst>
                                      </p:cBhvr>
                                      <p:to>
                                        <p:strVal val="visible"/>
                                      </p:to>
                                    </p:set>
                                    <p:animEffect transition="in" filter="fade">
                                      <p:cBhvr>
                                        <p:cTn id="17" dur="500"/>
                                        <p:tgtEl>
                                          <p:spTgt spid="4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32238"/>
        </a:solidFill>
        <a:effectLst/>
      </p:bgPr>
    </p:bg>
    <p:spTree>
      <p:nvGrpSpPr>
        <p:cNvPr id="1" name=""/>
        <p:cNvGrpSpPr/>
        <p:nvPr/>
      </p:nvGrpSpPr>
      <p:grpSpPr>
        <a:xfrm>
          <a:off x="0" y="0"/>
          <a:ext cx="0" cy="0"/>
          <a:chOff x="0" y="0"/>
          <a:chExt cx="0" cy="0"/>
        </a:xfrm>
      </p:grpSpPr>
      <p:sp>
        <p:nvSpPr>
          <p:cNvPr id="2" name="Text 0"/>
          <p:cNvSpPr/>
          <p:nvPr/>
        </p:nvSpPr>
        <p:spPr>
          <a:xfrm>
            <a:off x="0" y="121920"/>
            <a:ext cx="12192000" cy="536448"/>
          </a:xfrm>
          <a:prstGeom prst="rect">
            <a:avLst/>
          </a:prstGeom>
          <a:noFill/>
          <a:ln/>
        </p:spPr>
        <p:txBody>
          <a:bodyPr wrap="square" lIns="0" tIns="0" rIns="0" bIns="0" rtlCol="0" anchor="ctr"/>
          <a:lstStyle/>
          <a:p>
            <a:pPr algn="ctr"/>
            <a:r>
              <a:rPr lang="en-US" sz="2667" dirty="0" err="1">
                <a:solidFill>
                  <a:srgbClr val="FFFFFF"/>
                </a:solidFill>
                <a:latin typeface="Calibri" pitchFamily="34" charset="0"/>
                <a:ea typeface="Calibri" pitchFamily="34" charset="-122"/>
                <a:cs typeface="Calibri" pitchFamily="34" charset="-120"/>
              </a:rPr>
              <a:t>CoinTrend</a:t>
            </a:r>
            <a:r>
              <a:rPr lang="en-US" sz="2667" dirty="0">
                <a:solidFill>
                  <a:srgbClr val="FFFFFF"/>
                </a:solidFill>
                <a:latin typeface="Calibri" pitchFamily="34" charset="0"/>
                <a:ea typeface="Calibri" pitchFamily="34" charset="-122"/>
                <a:cs typeface="Calibri" pitchFamily="34" charset="-120"/>
              </a:rPr>
              <a:t> System Architecture</a:t>
            </a:r>
            <a:endParaRPr lang="en-US" sz="2667" dirty="0"/>
          </a:p>
        </p:txBody>
      </p:sp>
      <p:grpSp>
        <p:nvGrpSpPr>
          <p:cNvPr id="62" name="Group 61">
            <a:extLst>
              <a:ext uri="{FF2B5EF4-FFF2-40B4-BE49-F238E27FC236}">
                <a16:creationId xmlns:a16="http://schemas.microsoft.com/office/drawing/2014/main" id="{2058064A-DEF7-10E7-48A4-492F6AC7A75B}"/>
              </a:ext>
            </a:extLst>
          </p:cNvPr>
          <p:cNvGrpSpPr/>
          <p:nvPr/>
        </p:nvGrpSpPr>
        <p:grpSpPr>
          <a:xfrm>
            <a:off x="182880" y="1072896"/>
            <a:ext cx="1682496" cy="4047744"/>
            <a:chOff x="182880" y="1072896"/>
            <a:chExt cx="1682496" cy="4047744"/>
          </a:xfrm>
        </p:grpSpPr>
        <p:sp>
          <p:nvSpPr>
            <p:cNvPr id="5" name="Shape 3"/>
            <p:cNvSpPr/>
            <p:nvPr/>
          </p:nvSpPr>
          <p:spPr>
            <a:xfrm>
              <a:off x="182880" y="1072896"/>
              <a:ext cx="1682496" cy="4047744"/>
            </a:xfrm>
            <a:prstGeom prst="rect">
              <a:avLst/>
            </a:prstGeom>
            <a:solidFill>
              <a:srgbClr val="1E3A5F"/>
            </a:solidFill>
            <a:ln w="19050">
              <a:solidFill>
                <a:srgbClr val="F7931A"/>
              </a:solidFill>
              <a:prstDash val="solid"/>
            </a:ln>
          </p:spPr>
          <p:txBody>
            <a:bodyPr/>
            <a:lstStyle/>
            <a:p>
              <a:endParaRPr lang="en-DE" sz="1200" dirty="0"/>
            </a:p>
          </p:txBody>
        </p:sp>
        <p:sp>
          <p:nvSpPr>
            <p:cNvPr id="6" name="Shape 4"/>
            <p:cNvSpPr/>
            <p:nvPr/>
          </p:nvSpPr>
          <p:spPr>
            <a:xfrm>
              <a:off x="182880" y="1072896"/>
              <a:ext cx="1682496" cy="73152"/>
            </a:xfrm>
            <a:prstGeom prst="rect">
              <a:avLst/>
            </a:prstGeom>
            <a:solidFill>
              <a:srgbClr val="F7931A"/>
            </a:solidFill>
            <a:ln w="12700">
              <a:solidFill>
                <a:srgbClr val="F7931A"/>
              </a:solidFill>
              <a:prstDash val="solid"/>
            </a:ln>
          </p:spPr>
          <p:txBody>
            <a:bodyPr/>
            <a:lstStyle/>
            <a:p>
              <a:endParaRPr lang="en-DE" sz="1200"/>
            </a:p>
          </p:txBody>
        </p:sp>
        <p:sp>
          <p:nvSpPr>
            <p:cNvPr id="7" name="Text 5"/>
            <p:cNvSpPr/>
            <p:nvPr/>
          </p:nvSpPr>
          <p:spPr>
            <a:xfrm>
              <a:off x="280416" y="1194816"/>
              <a:ext cx="1487424" cy="268224"/>
            </a:xfrm>
            <a:prstGeom prst="rect">
              <a:avLst/>
            </a:prstGeom>
            <a:noFill/>
            <a:ln/>
          </p:spPr>
          <p:txBody>
            <a:bodyPr wrap="square" lIns="0" tIns="0" rIns="0" bIns="0" rtlCol="0" anchor="ctr"/>
            <a:lstStyle/>
            <a:p>
              <a:r>
                <a:rPr lang="en-US" sz="1200" b="1" dirty="0">
                  <a:solidFill>
                    <a:srgbClr val="F7931A"/>
                  </a:solidFill>
                  <a:latin typeface="Calibri" pitchFamily="34" charset="0"/>
                  <a:ea typeface="Calibri" pitchFamily="34" charset="-122"/>
                  <a:cs typeface="Calibri" pitchFamily="34" charset="-120"/>
                </a:rPr>
                <a:t>LIVE MARKET DATA</a:t>
              </a:r>
              <a:endParaRPr lang="en-US" sz="1200" dirty="0"/>
            </a:p>
          </p:txBody>
        </p:sp>
        <p:sp>
          <p:nvSpPr>
            <p:cNvPr id="8" name="Text 6"/>
            <p:cNvSpPr/>
            <p:nvPr/>
          </p:nvSpPr>
          <p:spPr>
            <a:xfrm>
              <a:off x="280416" y="1536192"/>
              <a:ext cx="1487424" cy="3462528"/>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 </a:t>
              </a:r>
            </a:p>
            <a:p>
              <a:endParaRPr lang="en-US" sz="1200" dirty="0"/>
            </a:p>
            <a:p>
              <a:r>
                <a:rPr lang="en-US" sz="1200" dirty="0">
                  <a:solidFill>
                    <a:srgbClr val="CBD5E1"/>
                  </a:solidFill>
                  <a:latin typeface="Calibri" pitchFamily="34" charset="0"/>
                  <a:ea typeface="Calibri" pitchFamily="34" charset="-122"/>
                  <a:cs typeface="Calibri" pitchFamily="34" charset="-120"/>
                </a:rPr>
                <a:t>📈 Crypto prices  </a:t>
              </a:r>
            </a:p>
            <a:p>
              <a:r>
                <a:rPr lang="en-US" sz="1200" dirty="0">
                  <a:solidFill>
                    <a:srgbClr val="CBD5E1"/>
                  </a:solidFill>
                  <a:latin typeface="Calibri" pitchFamily="34" charset="0"/>
                  <a:ea typeface="Calibri" pitchFamily="34" charset="-122"/>
                  <a:cs typeface="Calibri" pitchFamily="34" charset="-120"/>
                </a:rPr>
                <a:t>😨 Fear &amp; Greed</a:t>
              </a:r>
              <a:endParaRPr lang="en-US" sz="1200" dirty="0"/>
            </a:p>
            <a:p>
              <a:r>
                <a:rPr lang="en-US" sz="1200" dirty="0">
                  <a:solidFill>
                    <a:srgbClr val="CBD5E1"/>
                  </a:solidFill>
                  <a:latin typeface="Calibri" pitchFamily="34" charset="0"/>
                  <a:ea typeface="Calibri" pitchFamily="34" charset="-122"/>
                  <a:cs typeface="Calibri" pitchFamily="34" charset="-120"/>
                </a:rPr>
                <a:t>       Global indicators</a:t>
              </a:r>
              <a:br>
                <a:rPr lang="en-US" sz="1200" dirty="0">
                  <a:solidFill>
                    <a:srgbClr val="CBD5E1"/>
                  </a:solidFill>
                  <a:latin typeface="Calibri" pitchFamily="34" charset="0"/>
                  <a:ea typeface="Calibri" pitchFamily="34" charset="-122"/>
                  <a:cs typeface="Calibri" pitchFamily="34" charset="-120"/>
                </a:rPr>
              </a:br>
              <a:r>
                <a:rPr lang="en-US" sz="1200" dirty="0">
                  <a:solidFill>
                    <a:srgbClr val="CBD5E1"/>
                  </a:solidFill>
                  <a:latin typeface="Calibri" pitchFamily="34" charset="0"/>
                  <a:ea typeface="Calibri" pitchFamily="34" charset="-122"/>
                  <a:cs typeface="Calibri" pitchFamily="34" charset="-120"/>
                </a:rPr>
                <a:t> </a:t>
              </a:r>
            </a:p>
            <a:p>
              <a:endParaRPr lang="en-US" sz="1200" dirty="0">
                <a:solidFill>
                  <a:srgbClr val="CBD5E1"/>
                </a:solidFill>
                <a:latin typeface="Calibri" pitchFamily="34" charset="0"/>
                <a:ea typeface="Calibri" pitchFamily="34" charset="-122"/>
                <a:cs typeface="Calibri" pitchFamily="34" charset="-120"/>
              </a:endParaRPr>
            </a:p>
            <a:p>
              <a:endParaRPr lang="en-US" sz="1200" dirty="0"/>
            </a:p>
            <a:p>
              <a:r>
                <a:rPr lang="en-US" sz="1200" dirty="0">
                  <a:solidFill>
                    <a:srgbClr val="CBD5E1"/>
                  </a:solidFill>
                  <a:latin typeface="Calibri" pitchFamily="34" charset="0"/>
                  <a:ea typeface="Calibri" pitchFamily="34" charset="-122"/>
                  <a:cs typeface="Calibri" pitchFamily="34" charset="-120"/>
                </a:rPr>
                <a:t>Source :</a:t>
              </a:r>
              <a:r>
                <a:rPr lang="en-US" sz="1200" dirty="0" err="1">
                  <a:solidFill>
                    <a:srgbClr val="CBD5E1"/>
                  </a:solidFill>
                  <a:latin typeface="Calibri" pitchFamily="34" charset="0"/>
                  <a:ea typeface="Calibri" pitchFamily="34" charset="-122"/>
                  <a:cs typeface="Calibri" pitchFamily="34" charset="-120"/>
                </a:rPr>
                <a:t>yahoofinance</a:t>
              </a:r>
              <a:r>
                <a:rPr lang="en-US" sz="1200" dirty="0">
                  <a:solidFill>
                    <a:srgbClr val="CBD5E1"/>
                  </a:solidFill>
                  <a:latin typeface="Calibri" pitchFamily="34" charset="0"/>
                  <a:ea typeface="Calibri" pitchFamily="34" charset="-122"/>
                  <a:cs typeface="Calibri" pitchFamily="34" charset="-120"/>
                </a:rPr>
                <a:t> /  alt.me</a:t>
              </a:r>
            </a:p>
            <a:p>
              <a:endParaRPr lang="en-US" sz="1200" dirty="0">
                <a:solidFill>
                  <a:srgbClr val="CBD5E1"/>
                </a:solidFill>
                <a:latin typeface="Calibri" pitchFamily="34" charset="0"/>
                <a:ea typeface="Calibri" pitchFamily="34" charset="-122"/>
                <a:cs typeface="Calibri" pitchFamily="34" charset="-120"/>
              </a:endParaRPr>
            </a:p>
            <a:p>
              <a:endParaRPr lang="en-US" sz="1200" dirty="0">
                <a:solidFill>
                  <a:srgbClr val="CBD5E1"/>
                </a:solidFill>
                <a:latin typeface="Calibri" pitchFamily="34" charset="0"/>
                <a:ea typeface="Calibri" pitchFamily="34" charset="-122"/>
                <a:cs typeface="Calibri" pitchFamily="34" charset="-120"/>
              </a:endParaRPr>
            </a:p>
            <a:p>
              <a:endParaRPr lang="en-US" sz="1200" dirty="0">
                <a:solidFill>
                  <a:srgbClr val="CBD5E1"/>
                </a:solidFill>
                <a:latin typeface="Calibri" pitchFamily="34" charset="0"/>
                <a:ea typeface="Calibri" pitchFamily="34" charset="-122"/>
                <a:cs typeface="Calibri" pitchFamily="34" charset="-120"/>
              </a:endParaRPr>
            </a:p>
            <a:p>
              <a:r>
                <a:rPr lang="en-US" sz="1200" dirty="0">
                  <a:solidFill>
                    <a:srgbClr val="CBD5E1"/>
                  </a:solidFill>
                  <a:latin typeface="Calibri" pitchFamily="34" charset="0"/>
                  <a:ea typeface="Calibri" pitchFamily="34" charset="-122"/>
                  <a:cs typeface="Calibri" pitchFamily="34" charset="-120"/>
                </a:rPr>
                <a:t>Automated fetch daily at 00:30 AM</a:t>
              </a:r>
            </a:p>
          </p:txBody>
        </p:sp>
      </p:grpSp>
      <p:grpSp>
        <p:nvGrpSpPr>
          <p:cNvPr id="63" name="Group 62">
            <a:extLst>
              <a:ext uri="{FF2B5EF4-FFF2-40B4-BE49-F238E27FC236}">
                <a16:creationId xmlns:a16="http://schemas.microsoft.com/office/drawing/2014/main" id="{F345FE1D-AAAD-BAFE-92BF-1F9BF5C37452}"/>
              </a:ext>
            </a:extLst>
          </p:cNvPr>
          <p:cNvGrpSpPr/>
          <p:nvPr/>
        </p:nvGrpSpPr>
        <p:grpSpPr>
          <a:xfrm>
            <a:off x="2109216" y="755904"/>
            <a:ext cx="1621536" cy="2121408"/>
            <a:chOff x="2109216" y="755904"/>
            <a:chExt cx="1621536" cy="2121408"/>
          </a:xfrm>
        </p:grpSpPr>
        <p:sp>
          <p:nvSpPr>
            <p:cNvPr id="3" name="Text 1"/>
            <p:cNvSpPr/>
            <p:nvPr/>
          </p:nvSpPr>
          <p:spPr>
            <a:xfrm>
              <a:off x="2109216" y="755904"/>
              <a:ext cx="1285834" cy="243840"/>
            </a:xfrm>
            <a:prstGeom prst="rect">
              <a:avLst/>
            </a:prstGeom>
            <a:noFill/>
            <a:ln/>
          </p:spPr>
          <p:txBody>
            <a:bodyPr wrap="square" lIns="0" tIns="0" rIns="0" bIns="0" rtlCol="0" anchor="ctr"/>
            <a:lstStyle/>
            <a:p>
              <a:r>
                <a:rPr lang="en-US" sz="1200" b="1" dirty="0">
                  <a:solidFill>
                    <a:srgbClr val="F7931A"/>
                  </a:solidFill>
                  <a:latin typeface="Calibri" pitchFamily="34" charset="0"/>
                  <a:ea typeface="Calibri" pitchFamily="34" charset="-122"/>
                  <a:cs typeface="Calibri" pitchFamily="34" charset="-120"/>
                </a:rPr>
                <a:t>▶   ML PIPELINE</a:t>
              </a:r>
              <a:endParaRPr lang="en-US" sz="1200" dirty="0"/>
            </a:p>
          </p:txBody>
        </p:sp>
        <p:sp>
          <p:nvSpPr>
            <p:cNvPr id="9" name="Shape 7"/>
            <p:cNvSpPr/>
            <p:nvPr/>
          </p:nvSpPr>
          <p:spPr>
            <a:xfrm>
              <a:off x="2109216" y="1072896"/>
              <a:ext cx="1621536" cy="1804416"/>
            </a:xfrm>
            <a:prstGeom prst="rect">
              <a:avLst/>
            </a:prstGeom>
            <a:solidFill>
              <a:srgbClr val="1E3A5F"/>
            </a:solidFill>
            <a:ln w="19050">
              <a:solidFill>
                <a:srgbClr val="00D4AA"/>
              </a:solidFill>
              <a:prstDash val="solid"/>
            </a:ln>
          </p:spPr>
          <p:txBody>
            <a:bodyPr/>
            <a:lstStyle/>
            <a:p>
              <a:endParaRPr lang="en-DE" sz="1200"/>
            </a:p>
          </p:txBody>
        </p:sp>
        <p:sp>
          <p:nvSpPr>
            <p:cNvPr id="10" name="Shape 8"/>
            <p:cNvSpPr/>
            <p:nvPr/>
          </p:nvSpPr>
          <p:spPr>
            <a:xfrm>
              <a:off x="2109216" y="1072896"/>
              <a:ext cx="1621536" cy="73152"/>
            </a:xfrm>
            <a:prstGeom prst="rect">
              <a:avLst/>
            </a:prstGeom>
            <a:solidFill>
              <a:srgbClr val="00D4AA"/>
            </a:solidFill>
            <a:ln w="12700">
              <a:solidFill>
                <a:srgbClr val="00D4AA"/>
              </a:solidFill>
              <a:prstDash val="solid"/>
            </a:ln>
          </p:spPr>
          <p:txBody>
            <a:bodyPr/>
            <a:lstStyle/>
            <a:p>
              <a:endParaRPr lang="en-DE" sz="1200"/>
            </a:p>
          </p:txBody>
        </p:sp>
        <p:sp>
          <p:nvSpPr>
            <p:cNvPr id="11" name="Text 9"/>
            <p:cNvSpPr/>
            <p:nvPr/>
          </p:nvSpPr>
          <p:spPr>
            <a:xfrm>
              <a:off x="2206752" y="1194816"/>
              <a:ext cx="1426464" cy="268224"/>
            </a:xfrm>
            <a:prstGeom prst="rect">
              <a:avLst/>
            </a:prstGeom>
            <a:noFill/>
            <a:ln/>
          </p:spPr>
          <p:txBody>
            <a:bodyPr wrap="square" lIns="0" tIns="0" rIns="0" bIns="0" rtlCol="0" anchor="ctr"/>
            <a:lstStyle/>
            <a:p>
              <a:r>
                <a:rPr lang="en-US" sz="1200" b="1" dirty="0">
                  <a:solidFill>
                    <a:srgbClr val="00D4AA"/>
                  </a:solidFill>
                  <a:latin typeface="Calibri" pitchFamily="34" charset="0"/>
                  <a:ea typeface="Calibri" pitchFamily="34" charset="-122"/>
                  <a:cs typeface="Calibri" pitchFamily="34" charset="-120"/>
                </a:rPr>
                <a:t>FEATURE ENGINEERING</a:t>
              </a:r>
              <a:endParaRPr lang="en-US" sz="1200" dirty="0"/>
            </a:p>
          </p:txBody>
        </p:sp>
        <p:sp>
          <p:nvSpPr>
            <p:cNvPr id="12" name="Text 10"/>
            <p:cNvSpPr/>
            <p:nvPr/>
          </p:nvSpPr>
          <p:spPr>
            <a:xfrm>
              <a:off x="2206752" y="1536192"/>
              <a:ext cx="1426464" cy="1219200"/>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Structured signals</a:t>
              </a:r>
              <a:br>
                <a:rPr lang="en-US" sz="1200" dirty="0">
                  <a:solidFill>
                    <a:srgbClr val="CBD5E1"/>
                  </a:solidFill>
                  <a:latin typeface="Calibri" pitchFamily="34" charset="0"/>
                  <a:ea typeface="Calibri" pitchFamily="34" charset="-122"/>
                  <a:cs typeface="Calibri" pitchFamily="34" charset="-120"/>
                </a:rPr>
              </a:br>
              <a:r>
                <a:rPr lang="en-US" sz="1200" dirty="0">
                  <a:solidFill>
                    <a:srgbClr val="CBD5E1"/>
                  </a:solidFill>
                  <a:latin typeface="Calibri" pitchFamily="34" charset="0"/>
                  <a:ea typeface="Calibri" pitchFamily="34" charset="-122"/>
                  <a:cs typeface="Calibri" pitchFamily="34" charset="-120"/>
                </a:rPr>
                <a:t>Capturing trend, volatility &amp; sentiment</a:t>
              </a:r>
            </a:p>
          </p:txBody>
        </p:sp>
      </p:grpSp>
      <p:grpSp>
        <p:nvGrpSpPr>
          <p:cNvPr id="64" name="Group 63">
            <a:extLst>
              <a:ext uri="{FF2B5EF4-FFF2-40B4-BE49-F238E27FC236}">
                <a16:creationId xmlns:a16="http://schemas.microsoft.com/office/drawing/2014/main" id="{586FEF4A-7DF1-0713-50F0-54B8DAB1969A}"/>
              </a:ext>
            </a:extLst>
          </p:cNvPr>
          <p:cNvGrpSpPr/>
          <p:nvPr/>
        </p:nvGrpSpPr>
        <p:grpSpPr>
          <a:xfrm>
            <a:off x="3974592" y="1072896"/>
            <a:ext cx="1621536" cy="1804416"/>
            <a:chOff x="3974592" y="1072896"/>
            <a:chExt cx="1621536" cy="1804416"/>
          </a:xfrm>
        </p:grpSpPr>
        <p:sp>
          <p:nvSpPr>
            <p:cNvPr id="17" name="Shape 15"/>
            <p:cNvSpPr/>
            <p:nvPr/>
          </p:nvSpPr>
          <p:spPr>
            <a:xfrm>
              <a:off x="3974592" y="1072896"/>
              <a:ext cx="1621536" cy="1804416"/>
            </a:xfrm>
            <a:prstGeom prst="rect">
              <a:avLst/>
            </a:prstGeom>
            <a:solidFill>
              <a:srgbClr val="1E3A5F"/>
            </a:solidFill>
            <a:ln w="19050">
              <a:solidFill>
                <a:srgbClr val="F7931A"/>
              </a:solidFill>
              <a:prstDash val="solid"/>
            </a:ln>
          </p:spPr>
          <p:txBody>
            <a:bodyPr/>
            <a:lstStyle/>
            <a:p>
              <a:endParaRPr lang="en-DE" sz="1200"/>
            </a:p>
          </p:txBody>
        </p:sp>
        <p:sp>
          <p:nvSpPr>
            <p:cNvPr id="18" name="Shape 16"/>
            <p:cNvSpPr/>
            <p:nvPr/>
          </p:nvSpPr>
          <p:spPr>
            <a:xfrm>
              <a:off x="3974592" y="1072896"/>
              <a:ext cx="1621536" cy="73152"/>
            </a:xfrm>
            <a:prstGeom prst="rect">
              <a:avLst/>
            </a:prstGeom>
            <a:solidFill>
              <a:srgbClr val="F7931A"/>
            </a:solidFill>
            <a:ln w="12700">
              <a:solidFill>
                <a:srgbClr val="F7931A"/>
              </a:solidFill>
              <a:prstDash val="solid"/>
            </a:ln>
          </p:spPr>
          <p:txBody>
            <a:bodyPr/>
            <a:lstStyle/>
            <a:p>
              <a:endParaRPr lang="en-DE" sz="1200"/>
            </a:p>
          </p:txBody>
        </p:sp>
        <p:sp>
          <p:nvSpPr>
            <p:cNvPr id="19" name="Text 17"/>
            <p:cNvSpPr/>
            <p:nvPr/>
          </p:nvSpPr>
          <p:spPr>
            <a:xfrm>
              <a:off x="4072128" y="1194816"/>
              <a:ext cx="1426464" cy="268224"/>
            </a:xfrm>
            <a:prstGeom prst="rect">
              <a:avLst/>
            </a:prstGeom>
            <a:noFill/>
            <a:ln/>
          </p:spPr>
          <p:txBody>
            <a:bodyPr wrap="square" lIns="0" tIns="0" rIns="0" bIns="0" rtlCol="0" anchor="ctr"/>
            <a:lstStyle/>
            <a:p>
              <a:r>
                <a:rPr lang="en-US" sz="1200" b="1" dirty="0">
                  <a:solidFill>
                    <a:srgbClr val="F7931A"/>
                  </a:solidFill>
                  <a:latin typeface="Calibri" pitchFamily="34" charset="0"/>
                  <a:ea typeface="Calibri" pitchFamily="34" charset="-122"/>
                  <a:cs typeface="Calibri" pitchFamily="34" charset="-120"/>
                </a:rPr>
                <a:t>ML MODELS</a:t>
              </a:r>
              <a:endParaRPr lang="en-US" sz="1200" dirty="0"/>
            </a:p>
          </p:txBody>
        </p:sp>
        <p:sp>
          <p:nvSpPr>
            <p:cNvPr id="20" name="Text 18"/>
            <p:cNvSpPr/>
            <p:nvPr/>
          </p:nvSpPr>
          <p:spPr>
            <a:xfrm>
              <a:off x="4072128" y="1536192"/>
              <a:ext cx="1426464" cy="1219200"/>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Trained on 9 years historical regimes</a:t>
              </a:r>
            </a:p>
            <a:p>
              <a:br>
                <a:rPr lang="en-US" sz="1200" dirty="0">
                  <a:solidFill>
                    <a:srgbClr val="CBD5E1"/>
                  </a:solidFill>
                  <a:latin typeface="Calibri" pitchFamily="34" charset="0"/>
                  <a:ea typeface="Calibri" pitchFamily="34" charset="-122"/>
                  <a:cs typeface="Calibri" pitchFamily="34" charset="-120"/>
                </a:rPr>
              </a:br>
              <a:r>
                <a:rPr lang="en-US" sz="1200" dirty="0">
                  <a:solidFill>
                    <a:srgbClr val="CBD5E1"/>
                  </a:solidFill>
                  <a:latin typeface="Calibri" pitchFamily="34" charset="0"/>
                  <a:ea typeface="Calibri" pitchFamily="34" charset="-122"/>
                  <a:cs typeface="Calibri" pitchFamily="34" charset="-120"/>
                </a:rPr>
                <a:t>Learning price direction patterns</a:t>
              </a:r>
            </a:p>
          </p:txBody>
        </p:sp>
      </p:grpSp>
      <p:grpSp>
        <p:nvGrpSpPr>
          <p:cNvPr id="74" name="Group 73">
            <a:extLst>
              <a:ext uri="{FF2B5EF4-FFF2-40B4-BE49-F238E27FC236}">
                <a16:creationId xmlns:a16="http://schemas.microsoft.com/office/drawing/2014/main" id="{3EE38812-E9A3-0A2E-1C94-B47474802BA7}"/>
              </a:ext>
            </a:extLst>
          </p:cNvPr>
          <p:cNvGrpSpPr/>
          <p:nvPr/>
        </p:nvGrpSpPr>
        <p:grpSpPr>
          <a:xfrm>
            <a:off x="3974592" y="3316224"/>
            <a:ext cx="1621536" cy="1804416"/>
            <a:chOff x="3974592" y="3316224"/>
            <a:chExt cx="1621536" cy="1804416"/>
          </a:xfrm>
        </p:grpSpPr>
        <p:sp>
          <p:nvSpPr>
            <p:cNvPr id="21" name="Shape 19"/>
            <p:cNvSpPr/>
            <p:nvPr/>
          </p:nvSpPr>
          <p:spPr>
            <a:xfrm>
              <a:off x="3974592" y="3316224"/>
              <a:ext cx="1621536" cy="1804416"/>
            </a:xfrm>
            <a:prstGeom prst="rect">
              <a:avLst/>
            </a:prstGeom>
            <a:solidFill>
              <a:srgbClr val="1E3A5F"/>
            </a:solidFill>
            <a:ln w="19050">
              <a:solidFill>
                <a:srgbClr val="00D4AA"/>
              </a:solidFill>
              <a:prstDash val="solid"/>
            </a:ln>
          </p:spPr>
          <p:txBody>
            <a:bodyPr/>
            <a:lstStyle/>
            <a:p>
              <a:endParaRPr lang="en-DE" sz="1200"/>
            </a:p>
          </p:txBody>
        </p:sp>
        <p:sp>
          <p:nvSpPr>
            <p:cNvPr id="22" name="Shape 20"/>
            <p:cNvSpPr/>
            <p:nvPr/>
          </p:nvSpPr>
          <p:spPr>
            <a:xfrm>
              <a:off x="3974592" y="3316224"/>
              <a:ext cx="1621536" cy="73152"/>
            </a:xfrm>
            <a:prstGeom prst="rect">
              <a:avLst/>
            </a:prstGeom>
            <a:solidFill>
              <a:srgbClr val="00D4AA"/>
            </a:solidFill>
            <a:ln w="12700">
              <a:solidFill>
                <a:srgbClr val="00D4AA"/>
              </a:solidFill>
              <a:prstDash val="solid"/>
            </a:ln>
          </p:spPr>
          <p:txBody>
            <a:bodyPr/>
            <a:lstStyle/>
            <a:p>
              <a:endParaRPr lang="en-DE" sz="1200"/>
            </a:p>
          </p:txBody>
        </p:sp>
        <p:sp>
          <p:nvSpPr>
            <p:cNvPr id="23" name="Text 21"/>
            <p:cNvSpPr/>
            <p:nvPr/>
          </p:nvSpPr>
          <p:spPr>
            <a:xfrm>
              <a:off x="4072128" y="3438144"/>
              <a:ext cx="1426464" cy="268224"/>
            </a:xfrm>
            <a:prstGeom prst="rect">
              <a:avLst/>
            </a:prstGeom>
            <a:noFill/>
            <a:ln/>
          </p:spPr>
          <p:txBody>
            <a:bodyPr wrap="square" lIns="0" tIns="0" rIns="0" bIns="0" rtlCol="0" anchor="ctr"/>
            <a:lstStyle/>
            <a:p>
              <a:r>
                <a:rPr lang="en-US" sz="1200" b="1" dirty="0">
                  <a:solidFill>
                    <a:srgbClr val="00D4AA"/>
                  </a:solidFill>
                  <a:latin typeface="Calibri" pitchFamily="34" charset="0"/>
                  <a:ea typeface="Calibri" pitchFamily="34" charset="-122"/>
                  <a:cs typeface="Calibri" pitchFamily="34" charset="-120"/>
                </a:rPr>
                <a:t>RAG </a:t>
              </a:r>
              <a:endParaRPr lang="en-US" sz="1200" dirty="0"/>
            </a:p>
          </p:txBody>
        </p:sp>
        <p:sp>
          <p:nvSpPr>
            <p:cNvPr id="24" name="Text 22"/>
            <p:cNvSpPr/>
            <p:nvPr/>
          </p:nvSpPr>
          <p:spPr>
            <a:xfrm>
              <a:off x="4072128" y="3779520"/>
              <a:ext cx="1426464" cy="1219200"/>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Selecting the most impactful articles </a:t>
              </a:r>
            </a:p>
            <a:p>
              <a:endParaRPr lang="en-US" sz="1200" dirty="0">
                <a:solidFill>
                  <a:srgbClr val="CBD5E1"/>
                </a:solidFill>
                <a:latin typeface="Calibri" pitchFamily="34" charset="0"/>
                <a:ea typeface="Calibri" pitchFamily="34" charset="-122"/>
                <a:cs typeface="Calibri" pitchFamily="34" charset="-120"/>
              </a:endParaRPr>
            </a:p>
          </p:txBody>
        </p:sp>
      </p:grpSp>
      <p:grpSp>
        <p:nvGrpSpPr>
          <p:cNvPr id="65" name="Group 64">
            <a:extLst>
              <a:ext uri="{FF2B5EF4-FFF2-40B4-BE49-F238E27FC236}">
                <a16:creationId xmlns:a16="http://schemas.microsoft.com/office/drawing/2014/main" id="{7328CD8F-65D4-BDB5-34FA-16A67C47DC69}"/>
              </a:ext>
            </a:extLst>
          </p:cNvPr>
          <p:cNvGrpSpPr/>
          <p:nvPr/>
        </p:nvGrpSpPr>
        <p:grpSpPr>
          <a:xfrm>
            <a:off x="5839968" y="1072896"/>
            <a:ext cx="1341120" cy="1804416"/>
            <a:chOff x="5839968" y="1072896"/>
            <a:chExt cx="1341120" cy="1804416"/>
          </a:xfrm>
        </p:grpSpPr>
        <p:sp>
          <p:nvSpPr>
            <p:cNvPr id="25" name="Shape 23"/>
            <p:cNvSpPr/>
            <p:nvPr/>
          </p:nvSpPr>
          <p:spPr>
            <a:xfrm>
              <a:off x="5839968" y="1072896"/>
              <a:ext cx="1341120" cy="1804416"/>
            </a:xfrm>
            <a:prstGeom prst="rect">
              <a:avLst/>
            </a:prstGeom>
            <a:solidFill>
              <a:srgbClr val="1E3A5F"/>
            </a:solidFill>
            <a:ln w="19050">
              <a:solidFill>
                <a:srgbClr val="22C55E"/>
              </a:solidFill>
              <a:prstDash val="solid"/>
            </a:ln>
          </p:spPr>
          <p:txBody>
            <a:bodyPr/>
            <a:lstStyle/>
            <a:p>
              <a:endParaRPr lang="en-DE" sz="1200"/>
            </a:p>
          </p:txBody>
        </p:sp>
        <p:sp>
          <p:nvSpPr>
            <p:cNvPr id="26" name="Shape 24"/>
            <p:cNvSpPr/>
            <p:nvPr/>
          </p:nvSpPr>
          <p:spPr>
            <a:xfrm>
              <a:off x="5839968" y="1072896"/>
              <a:ext cx="1341120" cy="73152"/>
            </a:xfrm>
            <a:prstGeom prst="rect">
              <a:avLst/>
            </a:prstGeom>
            <a:solidFill>
              <a:srgbClr val="22C55E"/>
            </a:solidFill>
            <a:ln w="12700">
              <a:solidFill>
                <a:srgbClr val="22C55E"/>
              </a:solidFill>
              <a:prstDash val="solid"/>
            </a:ln>
          </p:spPr>
          <p:txBody>
            <a:bodyPr/>
            <a:lstStyle/>
            <a:p>
              <a:endParaRPr lang="en-DE" sz="1200"/>
            </a:p>
          </p:txBody>
        </p:sp>
        <p:sp>
          <p:nvSpPr>
            <p:cNvPr id="27" name="Text 25"/>
            <p:cNvSpPr/>
            <p:nvPr/>
          </p:nvSpPr>
          <p:spPr>
            <a:xfrm>
              <a:off x="5937504" y="1194816"/>
              <a:ext cx="1146048" cy="268224"/>
            </a:xfrm>
            <a:prstGeom prst="rect">
              <a:avLst/>
            </a:prstGeom>
            <a:noFill/>
            <a:ln/>
          </p:spPr>
          <p:txBody>
            <a:bodyPr wrap="square" lIns="0" tIns="0" rIns="0" bIns="0" rtlCol="0" anchor="ctr"/>
            <a:lstStyle/>
            <a:p>
              <a:r>
                <a:rPr lang="en-US" sz="1200" b="1" dirty="0">
                  <a:solidFill>
                    <a:srgbClr val="22C55E"/>
                  </a:solidFill>
                  <a:latin typeface="Calibri" pitchFamily="34" charset="0"/>
                  <a:ea typeface="Calibri" pitchFamily="34" charset="-122"/>
                  <a:cs typeface="Calibri" pitchFamily="34" charset="-120"/>
                </a:rPr>
                <a:t>PREDICTION</a:t>
              </a:r>
              <a:endParaRPr lang="en-US" sz="1200" dirty="0"/>
            </a:p>
          </p:txBody>
        </p:sp>
        <p:sp>
          <p:nvSpPr>
            <p:cNvPr id="28" name="Text 26"/>
            <p:cNvSpPr/>
            <p:nvPr/>
          </p:nvSpPr>
          <p:spPr>
            <a:xfrm>
              <a:off x="5937504" y="1536192"/>
              <a:ext cx="1146048" cy="1219200"/>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Next day price direction: up/down</a:t>
              </a:r>
            </a:p>
            <a:p>
              <a:endParaRPr lang="en-US" sz="1200" dirty="0">
                <a:solidFill>
                  <a:srgbClr val="CBD5E1"/>
                </a:solidFill>
                <a:latin typeface="Calibri" pitchFamily="34" charset="0"/>
                <a:ea typeface="Calibri" pitchFamily="34" charset="-122"/>
                <a:cs typeface="Calibri" pitchFamily="34" charset="-120"/>
              </a:endParaRPr>
            </a:p>
          </p:txBody>
        </p:sp>
      </p:grpSp>
      <p:grpSp>
        <p:nvGrpSpPr>
          <p:cNvPr id="72" name="Group 71">
            <a:extLst>
              <a:ext uri="{FF2B5EF4-FFF2-40B4-BE49-F238E27FC236}">
                <a16:creationId xmlns:a16="http://schemas.microsoft.com/office/drawing/2014/main" id="{854B7BB5-484B-9E10-B988-F85E2F450374}"/>
              </a:ext>
            </a:extLst>
          </p:cNvPr>
          <p:cNvGrpSpPr/>
          <p:nvPr/>
        </p:nvGrpSpPr>
        <p:grpSpPr>
          <a:xfrm>
            <a:off x="5839968" y="3316224"/>
            <a:ext cx="1341120" cy="1804416"/>
            <a:chOff x="5839968" y="3316224"/>
            <a:chExt cx="1341120" cy="1804416"/>
          </a:xfrm>
        </p:grpSpPr>
        <p:sp>
          <p:nvSpPr>
            <p:cNvPr id="29" name="Shape 27"/>
            <p:cNvSpPr/>
            <p:nvPr/>
          </p:nvSpPr>
          <p:spPr>
            <a:xfrm>
              <a:off x="5839968" y="3316224"/>
              <a:ext cx="1341120" cy="1804416"/>
            </a:xfrm>
            <a:prstGeom prst="rect">
              <a:avLst/>
            </a:prstGeom>
            <a:solidFill>
              <a:srgbClr val="1E3A5F"/>
            </a:solidFill>
            <a:ln w="19050">
              <a:solidFill>
                <a:srgbClr val="627EEA"/>
              </a:solidFill>
              <a:prstDash val="solid"/>
            </a:ln>
          </p:spPr>
          <p:txBody>
            <a:bodyPr/>
            <a:lstStyle/>
            <a:p>
              <a:endParaRPr lang="en-DE" sz="1200" dirty="0"/>
            </a:p>
          </p:txBody>
        </p:sp>
        <p:sp>
          <p:nvSpPr>
            <p:cNvPr id="30" name="Shape 28"/>
            <p:cNvSpPr/>
            <p:nvPr/>
          </p:nvSpPr>
          <p:spPr>
            <a:xfrm>
              <a:off x="5839968" y="3316224"/>
              <a:ext cx="1341120" cy="73152"/>
            </a:xfrm>
            <a:prstGeom prst="rect">
              <a:avLst/>
            </a:prstGeom>
            <a:solidFill>
              <a:srgbClr val="627EEA"/>
            </a:solidFill>
            <a:ln w="12700">
              <a:solidFill>
                <a:srgbClr val="627EEA"/>
              </a:solidFill>
              <a:prstDash val="solid"/>
            </a:ln>
          </p:spPr>
          <p:txBody>
            <a:bodyPr/>
            <a:lstStyle/>
            <a:p>
              <a:endParaRPr lang="en-DE" sz="1200"/>
            </a:p>
          </p:txBody>
        </p:sp>
        <p:sp>
          <p:nvSpPr>
            <p:cNvPr id="31" name="Text 29"/>
            <p:cNvSpPr/>
            <p:nvPr/>
          </p:nvSpPr>
          <p:spPr>
            <a:xfrm>
              <a:off x="5937504" y="3438144"/>
              <a:ext cx="1146048" cy="268224"/>
            </a:xfrm>
            <a:prstGeom prst="rect">
              <a:avLst/>
            </a:prstGeom>
            <a:noFill/>
            <a:ln/>
          </p:spPr>
          <p:txBody>
            <a:bodyPr wrap="square" lIns="0" tIns="0" rIns="0" bIns="0" rtlCol="0" anchor="ctr"/>
            <a:lstStyle/>
            <a:p>
              <a:r>
                <a:rPr lang="en-US" sz="1200" b="1" dirty="0">
                  <a:solidFill>
                    <a:srgbClr val="627EEA"/>
                  </a:solidFill>
                  <a:latin typeface="Calibri" pitchFamily="34" charset="0"/>
                  <a:ea typeface="Calibri" pitchFamily="34" charset="-122"/>
                  <a:cs typeface="Calibri" pitchFamily="34" charset="-120"/>
                </a:rPr>
                <a:t>LLM</a:t>
              </a:r>
              <a:endParaRPr lang="en-US" sz="1200" dirty="0"/>
            </a:p>
          </p:txBody>
        </p:sp>
        <p:sp>
          <p:nvSpPr>
            <p:cNvPr id="32" name="Text 30"/>
            <p:cNvSpPr/>
            <p:nvPr/>
          </p:nvSpPr>
          <p:spPr>
            <a:xfrm>
              <a:off x="5937504" y="3779520"/>
              <a:ext cx="1146048" cy="1219200"/>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ML +  RAG </a:t>
              </a:r>
            </a:p>
            <a:p>
              <a:endParaRPr lang="en-US" sz="1200" dirty="0">
                <a:solidFill>
                  <a:srgbClr val="CBD5E1"/>
                </a:solidFill>
                <a:latin typeface="Calibri" pitchFamily="34" charset="0"/>
                <a:ea typeface="Calibri" pitchFamily="34" charset="-122"/>
                <a:cs typeface="Calibri" pitchFamily="34" charset="-120"/>
              </a:endParaRPr>
            </a:p>
            <a:p>
              <a:r>
                <a:rPr lang="en-US" sz="1200" dirty="0">
                  <a:solidFill>
                    <a:srgbClr val="CBD5E1"/>
                  </a:solidFill>
                  <a:latin typeface="Calibri" pitchFamily="34" charset="0"/>
                  <a:ea typeface="Calibri" pitchFamily="34" charset="-122"/>
                  <a:cs typeface="Calibri" pitchFamily="34" charset="-120"/>
                </a:rPr>
                <a:t>Analyses the full context and generates a structured, market report</a:t>
              </a:r>
            </a:p>
            <a:p>
              <a:endParaRPr lang="en-US" sz="1200" dirty="0"/>
            </a:p>
          </p:txBody>
        </p:sp>
      </p:grpSp>
      <p:grpSp>
        <p:nvGrpSpPr>
          <p:cNvPr id="67" name="Group 66">
            <a:extLst>
              <a:ext uri="{FF2B5EF4-FFF2-40B4-BE49-F238E27FC236}">
                <a16:creationId xmlns:a16="http://schemas.microsoft.com/office/drawing/2014/main" id="{044CAA29-C1A8-9E4D-E44F-BF68E7294227}"/>
              </a:ext>
            </a:extLst>
          </p:cNvPr>
          <p:cNvGrpSpPr/>
          <p:nvPr/>
        </p:nvGrpSpPr>
        <p:grpSpPr>
          <a:xfrm>
            <a:off x="7424928" y="1072896"/>
            <a:ext cx="1341120" cy="4047744"/>
            <a:chOff x="7424928" y="1072896"/>
            <a:chExt cx="1341120" cy="4047744"/>
          </a:xfrm>
        </p:grpSpPr>
        <p:sp>
          <p:nvSpPr>
            <p:cNvPr id="33" name="Shape 31"/>
            <p:cNvSpPr/>
            <p:nvPr/>
          </p:nvSpPr>
          <p:spPr>
            <a:xfrm>
              <a:off x="7424928" y="1072896"/>
              <a:ext cx="1341120" cy="4047744"/>
            </a:xfrm>
            <a:prstGeom prst="rect">
              <a:avLst/>
            </a:prstGeom>
            <a:solidFill>
              <a:srgbClr val="1E3A5F"/>
            </a:solidFill>
            <a:ln w="19050">
              <a:solidFill>
                <a:srgbClr val="00D4AA"/>
              </a:solidFill>
              <a:prstDash val="solid"/>
            </a:ln>
          </p:spPr>
          <p:txBody>
            <a:bodyPr/>
            <a:lstStyle/>
            <a:p>
              <a:endParaRPr lang="en-DE" sz="1200"/>
            </a:p>
          </p:txBody>
        </p:sp>
        <p:grpSp>
          <p:nvGrpSpPr>
            <p:cNvPr id="66" name="Group 65">
              <a:extLst>
                <a:ext uri="{FF2B5EF4-FFF2-40B4-BE49-F238E27FC236}">
                  <a16:creationId xmlns:a16="http://schemas.microsoft.com/office/drawing/2014/main" id="{397DE4EC-DD5B-802A-BBF1-9A0B06253507}"/>
                </a:ext>
              </a:extLst>
            </p:cNvPr>
            <p:cNvGrpSpPr/>
            <p:nvPr/>
          </p:nvGrpSpPr>
          <p:grpSpPr>
            <a:xfrm>
              <a:off x="7424928" y="1072896"/>
              <a:ext cx="1341120" cy="3767328"/>
              <a:chOff x="7424928" y="1072896"/>
              <a:chExt cx="1341120" cy="3767328"/>
            </a:xfrm>
          </p:grpSpPr>
          <p:sp>
            <p:nvSpPr>
              <p:cNvPr id="34" name="Shape 32"/>
              <p:cNvSpPr/>
              <p:nvPr/>
            </p:nvSpPr>
            <p:spPr>
              <a:xfrm>
                <a:off x="7424928" y="1072896"/>
                <a:ext cx="1341120" cy="73152"/>
              </a:xfrm>
              <a:prstGeom prst="rect">
                <a:avLst/>
              </a:prstGeom>
              <a:solidFill>
                <a:srgbClr val="00D4AA"/>
              </a:solidFill>
              <a:ln w="12700">
                <a:solidFill>
                  <a:srgbClr val="00D4AA"/>
                </a:solidFill>
                <a:prstDash val="solid"/>
              </a:ln>
            </p:spPr>
            <p:txBody>
              <a:bodyPr/>
              <a:lstStyle/>
              <a:p>
                <a:endParaRPr lang="en-DE" sz="1200"/>
              </a:p>
            </p:txBody>
          </p:sp>
          <p:sp>
            <p:nvSpPr>
              <p:cNvPr id="35" name="Text 33"/>
              <p:cNvSpPr/>
              <p:nvPr/>
            </p:nvSpPr>
            <p:spPr>
              <a:xfrm>
                <a:off x="7510272" y="1194816"/>
                <a:ext cx="1170432" cy="268224"/>
              </a:xfrm>
              <a:prstGeom prst="rect">
                <a:avLst/>
              </a:prstGeom>
              <a:noFill/>
              <a:ln/>
            </p:spPr>
            <p:txBody>
              <a:bodyPr wrap="square" lIns="0" tIns="0" rIns="0" bIns="0" rtlCol="0" anchor="ctr"/>
              <a:lstStyle/>
              <a:p>
                <a:r>
                  <a:rPr lang="en-US" sz="1200" b="1" dirty="0">
                    <a:solidFill>
                      <a:srgbClr val="00D4AA"/>
                    </a:solidFill>
                    <a:latin typeface="Calibri" pitchFamily="34" charset="0"/>
                    <a:ea typeface="Calibri" pitchFamily="34" charset="-122"/>
                    <a:cs typeface="Calibri" pitchFamily="34" charset="-120"/>
                  </a:rPr>
                  <a:t>DASHBOARD</a:t>
                </a:r>
                <a:endParaRPr lang="en-US" sz="1200" dirty="0"/>
              </a:p>
            </p:txBody>
          </p:sp>
          <p:sp>
            <p:nvSpPr>
              <p:cNvPr id="36" name="Text 34"/>
              <p:cNvSpPr/>
              <p:nvPr/>
            </p:nvSpPr>
            <p:spPr>
              <a:xfrm>
                <a:off x="7510272" y="1511808"/>
                <a:ext cx="1170432" cy="1341120"/>
              </a:xfrm>
              <a:prstGeom prst="rect">
                <a:avLst/>
              </a:prstGeom>
              <a:noFill/>
              <a:ln/>
            </p:spPr>
            <p:txBody>
              <a:bodyPr wrap="square" lIns="0" tIns="0" rIns="0" bIns="0" rtlCol="0" anchor="t"/>
              <a:lstStyle/>
              <a:p>
                <a:r>
                  <a:rPr lang="en-US" sz="1200" dirty="0">
                    <a:solidFill>
                      <a:srgbClr val="CBD5E1"/>
                    </a:solidFill>
                    <a:latin typeface="Calibri" pitchFamily="34" charset="0"/>
                    <a:ea typeface="Calibri" pitchFamily="34" charset="-122"/>
                    <a:cs typeface="Calibri" pitchFamily="34" charset="-120"/>
                  </a:rPr>
                  <a:t>Live price prediction with Technical signals and charts</a:t>
                </a:r>
              </a:p>
            </p:txBody>
          </p:sp>
          <p:sp>
            <p:nvSpPr>
              <p:cNvPr id="38" name="Text 36"/>
              <p:cNvSpPr/>
              <p:nvPr/>
            </p:nvSpPr>
            <p:spPr>
              <a:xfrm>
                <a:off x="7510272" y="3386659"/>
                <a:ext cx="1170432" cy="316992"/>
              </a:xfrm>
              <a:prstGeom prst="rect">
                <a:avLst/>
              </a:prstGeom>
              <a:noFill/>
              <a:ln/>
            </p:spPr>
            <p:txBody>
              <a:bodyPr wrap="square" lIns="0" tIns="0" rIns="0" bIns="0" rtlCol="0" anchor="ctr"/>
              <a:lstStyle/>
              <a:p>
                <a:r>
                  <a:rPr lang="en-US" sz="1200" b="1" dirty="0">
                    <a:solidFill>
                      <a:srgbClr val="F7931A"/>
                    </a:solidFill>
                    <a:latin typeface="Calibri" pitchFamily="34" charset="0"/>
                    <a:ea typeface="Calibri" pitchFamily="34" charset="-122"/>
                    <a:cs typeface="Calibri" pitchFamily="34" charset="-120"/>
                  </a:rPr>
                  <a:t>AI CHATBOT</a:t>
                </a:r>
                <a:endParaRPr lang="en-US" sz="1200" dirty="0"/>
              </a:p>
            </p:txBody>
          </p:sp>
          <p:sp>
            <p:nvSpPr>
              <p:cNvPr id="39" name="Text 37"/>
              <p:cNvSpPr/>
              <p:nvPr/>
            </p:nvSpPr>
            <p:spPr>
              <a:xfrm>
                <a:off x="7510272" y="3616960"/>
                <a:ext cx="1170432" cy="1223264"/>
              </a:xfrm>
              <a:prstGeom prst="rect">
                <a:avLst/>
              </a:prstGeom>
              <a:noFill/>
              <a:ln/>
            </p:spPr>
            <p:txBody>
              <a:bodyPr wrap="square" lIns="0" tIns="0" rIns="0" bIns="0" rtlCol="0" anchor="t"/>
              <a:lstStyle/>
              <a:p>
                <a:endParaRPr lang="en-US" sz="1200" dirty="0">
                  <a:solidFill>
                    <a:srgbClr val="CBD5E1"/>
                  </a:solidFill>
                  <a:latin typeface="Calibri" pitchFamily="34" charset="0"/>
                  <a:ea typeface="Calibri" pitchFamily="34" charset="-122"/>
                  <a:cs typeface="Calibri" pitchFamily="34" charset="-120"/>
                </a:endParaRPr>
              </a:p>
              <a:p>
                <a:r>
                  <a:rPr lang="en-US" sz="1200" dirty="0">
                    <a:solidFill>
                      <a:srgbClr val="CBD5E1"/>
                    </a:solidFill>
                    <a:latin typeface="Calibri" pitchFamily="34" charset="0"/>
                    <a:ea typeface="Calibri" pitchFamily="34" charset="-122"/>
                    <a:cs typeface="Calibri" pitchFamily="34" charset="-120"/>
                  </a:rPr>
                  <a:t>Answers any crypto question</a:t>
                </a:r>
              </a:p>
            </p:txBody>
          </p:sp>
        </p:grpSp>
      </p:grpSp>
      <p:grpSp>
        <p:nvGrpSpPr>
          <p:cNvPr id="73" name="Group 72">
            <a:extLst>
              <a:ext uri="{FF2B5EF4-FFF2-40B4-BE49-F238E27FC236}">
                <a16:creationId xmlns:a16="http://schemas.microsoft.com/office/drawing/2014/main" id="{48CC9A61-9D5A-4D96-64C3-B2815C69D2F9}"/>
              </a:ext>
            </a:extLst>
          </p:cNvPr>
          <p:cNvGrpSpPr/>
          <p:nvPr/>
        </p:nvGrpSpPr>
        <p:grpSpPr>
          <a:xfrm>
            <a:off x="9009888" y="1072896"/>
            <a:ext cx="2999232" cy="4047744"/>
            <a:chOff x="9009888" y="1072896"/>
            <a:chExt cx="2999232" cy="4047744"/>
          </a:xfrm>
        </p:grpSpPr>
        <p:sp>
          <p:nvSpPr>
            <p:cNvPr id="40" name="Shape 38"/>
            <p:cNvSpPr/>
            <p:nvPr/>
          </p:nvSpPr>
          <p:spPr>
            <a:xfrm>
              <a:off x="9009888" y="1072896"/>
              <a:ext cx="2999232" cy="4047744"/>
            </a:xfrm>
            <a:prstGeom prst="rect">
              <a:avLst/>
            </a:prstGeom>
            <a:solidFill>
              <a:srgbClr val="1E3A5F"/>
            </a:solidFill>
            <a:ln w="19050">
              <a:solidFill>
                <a:srgbClr val="F7931A"/>
              </a:solidFill>
              <a:prstDash val="solid"/>
            </a:ln>
          </p:spPr>
          <p:txBody>
            <a:bodyPr/>
            <a:lstStyle/>
            <a:p>
              <a:endParaRPr lang="en-DE" sz="1200"/>
            </a:p>
          </p:txBody>
        </p:sp>
        <p:sp>
          <p:nvSpPr>
            <p:cNvPr id="41" name="Shape 39"/>
            <p:cNvSpPr/>
            <p:nvPr/>
          </p:nvSpPr>
          <p:spPr>
            <a:xfrm>
              <a:off x="9009888" y="1072896"/>
              <a:ext cx="2999232" cy="73152"/>
            </a:xfrm>
            <a:prstGeom prst="rect">
              <a:avLst/>
            </a:prstGeom>
            <a:solidFill>
              <a:srgbClr val="F7931A"/>
            </a:solidFill>
            <a:ln w="12700">
              <a:solidFill>
                <a:srgbClr val="F7931A"/>
              </a:solidFill>
              <a:prstDash val="solid"/>
            </a:ln>
          </p:spPr>
          <p:txBody>
            <a:bodyPr/>
            <a:lstStyle/>
            <a:p>
              <a:endParaRPr lang="en-DE" sz="1200"/>
            </a:p>
          </p:txBody>
        </p:sp>
        <p:sp>
          <p:nvSpPr>
            <p:cNvPr id="42" name="Text 40"/>
            <p:cNvSpPr/>
            <p:nvPr/>
          </p:nvSpPr>
          <p:spPr>
            <a:xfrm>
              <a:off x="9119616" y="1194816"/>
              <a:ext cx="2779776" cy="268224"/>
            </a:xfrm>
            <a:prstGeom prst="rect">
              <a:avLst/>
            </a:prstGeom>
            <a:noFill/>
            <a:ln/>
          </p:spPr>
          <p:txBody>
            <a:bodyPr wrap="square" lIns="0" tIns="0" rIns="0" bIns="0" rtlCol="0" anchor="ctr"/>
            <a:lstStyle/>
            <a:p>
              <a:r>
                <a:rPr lang="en-US" sz="1200" b="1" dirty="0">
                  <a:solidFill>
                    <a:srgbClr val="F7931A"/>
                  </a:solidFill>
                  <a:latin typeface="Calibri" pitchFamily="34" charset="0"/>
                  <a:ea typeface="Calibri" pitchFamily="34" charset="-122"/>
                  <a:cs typeface="Calibri" pitchFamily="34" charset="-120"/>
                </a:rPr>
                <a:t>STREAMLIT OUTPUT</a:t>
              </a:r>
              <a:endParaRPr lang="en-US" sz="1200" dirty="0"/>
            </a:p>
          </p:txBody>
        </p:sp>
        <p:pic>
          <p:nvPicPr>
            <p:cNvPr id="43" name="Image 0" descr="preencoded.png"/>
            <p:cNvPicPr>
              <a:picLocks noChangeAspect="1"/>
            </p:cNvPicPr>
            <p:nvPr/>
          </p:nvPicPr>
          <p:blipFill>
            <a:blip r:embed="rId3"/>
            <a:stretch>
              <a:fillRect/>
            </a:stretch>
          </p:blipFill>
          <p:spPr>
            <a:xfrm>
              <a:off x="9119616" y="1524000"/>
              <a:ext cx="2779776" cy="1524000"/>
            </a:xfrm>
            <a:prstGeom prst="rect">
              <a:avLst/>
            </a:prstGeom>
          </p:spPr>
        </p:pic>
        <p:sp>
          <p:nvSpPr>
            <p:cNvPr id="44" name="Text 41"/>
            <p:cNvSpPr/>
            <p:nvPr/>
          </p:nvSpPr>
          <p:spPr>
            <a:xfrm>
              <a:off x="9119616" y="3108960"/>
              <a:ext cx="2779776" cy="243840"/>
            </a:xfrm>
            <a:prstGeom prst="rect">
              <a:avLst/>
            </a:prstGeom>
            <a:noFill/>
            <a:ln/>
          </p:spPr>
          <p:txBody>
            <a:bodyPr wrap="square" lIns="0" tIns="0" rIns="0" bIns="0" rtlCol="0" anchor="ctr"/>
            <a:lstStyle/>
            <a:p>
              <a:r>
                <a:rPr lang="en-US" sz="1200" dirty="0">
                  <a:solidFill>
                    <a:srgbClr val="CBD5E1"/>
                  </a:solidFill>
                  <a:latin typeface="Calibri" pitchFamily="34" charset="0"/>
                  <a:ea typeface="Calibri" pitchFamily="34" charset="-122"/>
                  <a:cs typeface="Calibri" pitchFamily="34" charset="-120"/>
                </a:rPr>
                <a:t>📊  Dashboard — AI Verdict, Charts, Signals</a:t>
              </a:r>
              <a:endParaRPr lang="en-US" sz="1200" dirty="0"/>
            </a:p>
          </p:txBody>
        </p:sp>
        <p:pic>
          <p:nvPicPr>
            <p:cNvPr id="45" name="Image 1" descr="preencoded.png"/>
            <p:cNvPicPr>
              <a:picLocks noChangeAspect="1"/>
            </p:cNvPicPr>
            <p:nvPr/>
          </p:nvPicPr>
          <p:blipFill>
            <a:blip r:embed="rId4"/>
            <a:stretch>
              <a:fillRect/>
            </a:stretch>
          </p:blipFill>
          <p:spPr>
            <a:xfrm>
              <a:off x="9119616" y="3413760"/>
              <a:ext cx="2779776" cy="1243584"/>
            </a:xfrm>
            <a:prstGeom prst="rect">
              <a:avLst/>
            </a:prstGeom>
          </p:spPr>
        </p:pic>
        <p:sp>
          <p:nvSpPr>
            <p:cNvPr id="46" name="Text 42"/>
            <p:cNvSpPr/>
            <p:nvPr/>
          </p:nvSpPr>
          <p:spPr>
            <a:xfrm>
              <a:off x="9119616" y="4718304"/>
              <a:ext cx="2779776" cy="243840"/>
            </a:xfrm>
            <a:prstGeom prst="rect">
              <a:avLst/>
            </a:prstGeom>
            <a:noFill/>
            <a:ln/>
          </p:spPr>
          <p:txBody>
            <a:bodyPr wrap="square" lIns="0" tIns="0" rIns="0" bIns="0" rtlCol="0" anchor="ctr"/>
            <a:lstStyle/>
            <a:p>
              <a:r>
                <a:rPr lang="en-US" sz="1200" dirty="0">
                  <a:solidFill>
                    <a:srgbClr val="CBD5E1"/>
                  </a:solidFill>
                  <a:latin typeface="Calibri" pitchFamily="34" charset="0"/>
                  <a:ea typeface="Calibri" pitchFamily="34" charset="-122"/>
                  <a:cs typeface="Calibri" pitchFamily="34" charset="-120"/>
                </a:rPr>
                <a:t>🤖  AI Chatbot — Natural language market analysis</a:t>
              </a:r>
              <a:endParaRPr lang="en-US" sz="1200" dirty="0"/>
            </a:p>
          </p:txBody>
        </p:sp>
      </p:grpSp>
      <p:sp>
        <p:nvSpPr>
          <p:cNvPr id="47" name="Shape 43"/>
          <p:cNvSpPr/>
          <p:nvPr/>
        </p:nvSpPr>
        <p:spPr>
          <a:xfrm>
            <a:off x="1865376" y="1975104"/>
            <a:ext cx="243840" cy="0"/>
          </a:xfrm>
          <a:prstGeom prst="line">
            <a:avLst/>
          </a:prstGeom>
          <a:noFill/>
          <a:ln w="19050">
            <a:solidFill>
              <a:srgbClr val="94A3B8"/>
            </a:solidFill>
            <a:prstDash val="solid"/>
            <a:tailEnd type="arrow"/>
          </a:ln>
        </p:spPr>
        <p:txBody>
          <a:bodyPr/>
          <a:lstStyle/>
          <a:p>
            <a:endParaRPr lang="en-DE"/>
          </a:p>
        </p:txBody>
      </p:sp>
      <p:sp>
        <p:nvSpPr>
          <p:cNvPr id="48" name="Shape 44"/>
          <p:cNvSpPr/>
          <p:nvPr/>
        </p:nvSpPr>
        <p:spPr>
          <a:xfrm>
            <a:off x="1865376" y="4218432"/>
            <a:ext cx="243840" cy="0"/>
          </a:xfrm>
          <a:prstGeom prst="line">
            <a:avLst/>
          </a:prstGeom>
          <a:noFill/>
          <a:ln w="19050">
            <a:solidFill>
              <a:srgbClr val="94A3B8"/>
            </a:solidFill>
            <a:prstDash val="solid"/>
            <a:tailEnd type="arrow"/>
          </a:ln>
        </p:spPr>
        <p:txBody>
          <a:bodyPr/>
          <a:lstStyle/>
          <a:p>
            <a:endParaRPr lang="en-DE"/>
          </a:p>
        </p:txBody>
      </p:sp>
      <p:sp>
        <p:nvSpPr>
          <p:cNvPr id="49" name="Shape 45"/>
          <p:cNvSpPr/>
          <p:nvPr/>
        </p:nvSpPr>
        <p:spPr>
          <a:xfrm>
            <a:off x="3730752" y="1975104"/>
            <a:ext cx="243840" cy="0"/>
          </a:xfrm>
          <a:prstGeom prst="line">
            <a:avLst/>
          </a:prstGeom>
          <a:noFill/>
          <a:ln w="19050">
            <a:solidFill>
              <a:srgbClr val="94A3B8"/>
            </a:solidFill>
            <a:prstDash val="solid"/>
            <a:tailEnd type="arrow"/>
          </a:ln>
        </p:spPr>
        <p:txBody>
          <a:bodyPr/>
          <a:lstStyle/>
          <a:p>
            <a:endParaRPr lang="en-DE"/>
          </a:p>
        </p:txBody>
      </p:sp>
      <p:sp>
        <p:nvSpPr>
          <p:cNvPr id="50" name="Shape 46"/>
          <p:cNvSpPr/>
          <p:nvPr/>
        </p:nvSpPr>
        <p:spPr>
          <a:xfrm>
            <a:off x="3730752" y="4218432"/>
            <a:ext cx="243840" cy="0"/>
          </a:xfrm>
          <a:prstGeom prst="line">
            <a:avLst/>
          </a:prstGeom>
          <a:noFill/>
          <a:ln w="19050">
            <a:solidFill>
              <a:srgbClr val="94A3B8"/>
            </a:solidFill>
            <a:prstDash val="solid"/>
            <a:tailEnd type="arrow"/>
          </a:ln>
        </p:spPr>
        <p:txBody>
          <a:bodyPr/>
          <a:lstStyle/>
          <a:p>
            <a:endParaRPr lang="en-DE"/>
          </a:p>
        </p:txBody>
      </p:sp>
      <p:sp>
        <p:nvSpPr>
          <p:cNvPr id="51" name="Shape 47"/>
          <p:cNvSpPr/>
          <p:nvPr/>
        </p:nvSpPr>
        <p:spPr>
          <a:xfrm>
            <a:off x="5596128" y="1975104"/>
            <a:ext cx="243840" cy="0"/>
          </a:xfrm>
          <a:prstGeom prst="line">
            <a:avLst/>
          </a:prstGeom>
          <a:noFill/>
          <a:ln w="19050">
            <a:solidFill>
              <a:srgbClr val="94A3B8"/>
            </a:solidFill>
            <a:prstDash val="solid"/>
            <a:tailEnd type="arrow"/>
          </a:ln>
        </p:spPr>
        <p:txBody>
          <a:bodyPr/>
          <a:lstStyle/>
          <a:p>
            <a:endParaRPr lang="en-DE"/>
          </a:p>
        </p:txBody>
      </p:sp>
      <p:sp>
        <p:nvSpPr>
          <p:cNvPr id="52" name="Shape 48"/>
          <p:cNvSpPr/>
          <p:nvPr/>
        </p:nvSpPr>
        <p:spPr>
          <a:xfrm>
            <a:off x="5596128" y="4218432"/>
            <a:ext cx="243840" cy="0"/>
          </a:xfrm>
          <a:prstGeom prst="line">
            <a:avLst/>
          </a:prstGeom>
          <a:noFill/>
          <a:ln w="19050">
            <a:solidFill>
              <a:srgbClr val="94A3B8"/>
            </a:solidFill>
            <a:prstDash val="solid"/>
            <a:tailEnd type="arrow"/>
          </a:ln>
        </p:spPr>
        <p:txBody>
          <a:bodyPr/>
          <a:lstStyle/>
          <a:p>
            <a:endParaRPr lang="en-DE" dirty="0"/>
          </a:p>
        </p:txBody>
      </p:sp>
      <p:sp>
        <p:nvSpPr>
          <p:cNvPr id="53" name="Shape 49"/>
          <p:cNvSpPr/>
          <p:nvPr/>
        </p:nvSpPr>
        <p:spPr>
          <a:xfrm>
            <a:off x="7181088" y="1975104"/>
            <a:ext cx="243840" cy="0"/>
          </a:xfrm>
          <a:prstGeom prst="line">
            <a:avLst/>
          </a:prstGeom>
          <a:noFill/>
          <a:ln w="19050">
            <a:solidFill>
              <a:srgbClr val="94A3B8"/>
            </a:solidFill>
            <a:prstDash val="solid"/>
            <a:tailEnd type="arrow"/>
          </a:ln>
        </p:spPr>
        <p:txBody>
          <a:bodyPr/>
          <a:lstStyle/>
          <a:p>
            <a:endParaRPr lang="en-DE"/>
          </a:p>
        </p:txBody>
      </p:sp>
      <p:sp>
        <p:nvSpPr>
          <p:cNvPr id="54" name="Shape 50"/>
          <p:cNvSpPr/>
          <p:nvPr/>
        </p:nvSpPr>
        <p:spPr>
          <a:xfrm>
            <a:off x="7181088" y="4218432"/>
            <a:ext cx="243840" cy="0"/>
          </a:xfrm>
          <a:prstGeom prst="line">
            <a:avLst/>
          </a:prstGeom>
          <a:noFill/>
          <a:ln w="19050">
            <a:solidFill>
              <a:srgbClr val="94A3B8"/>
            </a:solidFill>
            <a:prstDash val="solid"/>
            <a:tailEnd type="arrow"/>
          </a:ln>
        </p:spPr>
        <p:txBody>
          <a:bodyPr/>
          <a:lstStyle/>
          <a:p>
            <a:endParaRPr lang="en-DE"/>
          </a:p>
        </p:txBody>
      </p:sp>
      <p:sp>
        <p:nvSpPr>
          <p:cNvPr id="55" name="Shape 51"/>
          <p:cNvSpPr/>
          <p:nvPr/>
        </p:nvSpPr>
        <p:spPr>
          <a:xfrm>
            <a:off x="8766048" y="3096768"/>
            <a:ext cx="243840" cy="0"/>
          </a:xfrm>
          <a:prstGeom prst="line">
            <a:avLst/>
          </a:prstGeom>
          <a:noFill/>
          <a:ln w="19050">
            <a:solidFill>
              <a:srgbClr val="94A3B8"/>
            </a:solidFill>
            <a:prstDash val="solid"/>
            <a:tailEnd type="arrow"/>
          </a:ln>
        </p:spPr>
        <p:txBody>
          <a:bodyPr/>
          <a:lstStyle/>
          <a:p>
            <a:endParaRPr lang="en-DE"/>
          </a:p>
        </p:txBody>
      </p:sp>
      <p:sp>
        <p:nvSpPr>
          <p:cNvPr id="61" name="Shape 49">
            <a:extLst>
              <a:ext uri="{FF2B5EF4-FFF2-40B4-BE49-F238E27FC236}">
                <a16:creationId xmlns:a16="http://schemas.microsoft.com/office/drawing/2014/main" id="{88BFD360-73C3-C9FE-38F9-8EDF2A6967A5}"/>
              </a:ext>
            </a:extLst>
          </p:cNvPr>
          <p:cNvSpPr/>
          <p:nvPr/>
        </p:nvSpPr>
        <p:spPr>
          <a:xfrm>
            <a:off x="6510528" y="2878668"/>
            <a:ext cx="5419" cy="437556"/>
          </a:xfrm>
          <a:prstGeom prst="line">
            <a:avLst/>
          </a:prstGeom>
          <a:noFill/>
          <a:ln w="19050">
            <a:solidFill>
              <a:srgbClr val="94A3B8"/>
            </a:solidFill>
            <a:prstDash val="solid"/>
            <a:tailEnd type="arrow"/>
          </a:ln>
        </p:spPr>
        <p:txBody>
          <a:bodyPr/>
          <a:lstStyle/>
          <a:p>
            <a:endParaRPr lang="en-DE"/>
          </a:p>
        </p:txBody>
      </p:sp>
      <p:grpSp>
        <p:nvGrpSpPr>
          <p:cNvPr id="76" name="Group 75">
            <a:extLst>
              <a:ext uri="{FF2B5EF4-FFF2-40B4-BE49-F238E27FC236}">
                <a16:creationId xmlns:a16="http://schemas.microsoft.com/office/drawing/2014/main" id="{ADFD493B-EC6D-7C8E-FDC0-2AAB7C736B95}"/>
              </a:ext>
            </a:extLst>
          </p:cNvPr>
          <p:cNvGrpSpPr/>
          <p:nvPr/>
        </p:nvGrpSpPr>
        <p:grpSpPr>
          <a:xfrm>
            <a:off x="2100409" y="3048000"/>
            <a:ext cx="1623570" cy="2075339"/>
            <a:chOff x="2100409" y="3048000"/>
            <a:chExt cx="1623570" cy="2075339"/>
          </a:xfrm>
        </p:grpSpPr>
        <p:grpSp>
          <p:nvGrpSpPr>
            <p:cNvPr id="69" name="Group 68">
              <a:extLst>
                <a:ext uri="{FF2B5EF4-FFF2-40B4-BE49-F238E27FC236}">
                  <a16:creationId xmlns:a16="http://schemas.microsoft.com/office/drawing/2014/main" id="{08A6B1FD-206C-0542-D37F-836048CF0504}"/>
                </a:ext>
              </a:extLst>
            </p:cNvPr>
            <p:cNvGrpSpPr/>
            <p:nvPr/>
          </p:nvGrpSpPr>
          <p:grpSpPr>
            <a:xfrm>
              <a:off x="2100409" y="3048000"/>
              <a:ext cx="1621536" cy="2075339"/>
              <a:chOff x="2066544" y="3048000"/>
              <a:chExt cx="1621536" cy="2075339"/>
            </a:xfrm>
          </p:grpSpPr>
          <p:sp>
            <p:nvSpPr>
              <p:cNvPr id="13" name="Shape 11"/>
              <p:cNvSpPr/>
              <p:nvPr/>
            </p:nvSpPr>
            <p:spPr>
              <a:xfrm>
                <a:off x="2066544" y="3318923"/>
                <a:ext cx="1621536" cy="1804416"/>
              </a:xfrm>
              <a:prstGeom prst="rect">
                <a:avLst/>
              </a:prstGeom>
              <a:solidFill>
                <a:srgbClr val="1E3A5F"/>
              </a:solidFill>
              <a:ln w="19050">
                <a:solidFill>
                  <a:srgbClr val="627EEA"/>
                </a:solidFill>
                <a:prstDash val="solid"/>
              </a:ln>
            </p:spPr>
            <p:txBody>
              <a:bodyPr/>
              <a:lstStyle/>
              <a:p>
                <a:endParaRPr lang="en-DE" sz="1200"/>
              </a:p>
            </p:txBody>
          </p:sp>
          <p:grpSp>
            <p:nvGrpSpPr>
              <p:cNvPr id="68" name="Group 67">
                <a:extLst>
                  <a:ext uri="{FF2B5EF4-FFF2-40B4-BE49-F238E27FC236}">
                    <a16:creationId xmlns:a16="http://schemas.microsoft.com/office/drawing/2014/main" id="{C303147B-930E-C95B-F2C9-C98D7331558D}"/>
                  </a:ext>
                </a:extLst>
              </p:cNvPr>
              <p:cNvGrpSpPr/>
              <p:nvPr/>
            </p:nvGrpSpPr>
            <p:grpSpPr>
              <a:xfrm>
                <a:off x="2109216" y="3048000"/>
                <a:ext cx="1524000" cy="1950720"/>
                <a:chOff x="2109216" y="3048000"/>
                <a:chExt cx="1524000" cy="1950720"/>
              </a:xfrm>
            </p:grpSpPr>
            <p:sp>
              <p:nvSpPr>
                <p:cNvPr id="4" name="Text 2"/>
                <p:cNvSpPr/>
                <p:nvPr/>
              </p:nvSpPr>
              <p:spPr>
                <a:xfrm>
                  <a:off x="2109216" y="3048000"/>
                  <a:ext cx="1518581" cy="243840"/>
                </a:xfrm>
                <a:prstGeom prst="rect">
                  <a:avLst/>
                </a:prstGeom>
                <a:noFill/>
                <a:ln/>
              </p:spPr>
              <p:txBody>
                <a:bodyPr wrap="square" lIns="0" tIns="0" rIns="0" bIns="0" rtlCol="0" anchor="ctr"/>
                <a:lstStyle/>
                <a:p>
                  <a:r>
                    <a:rPr lang="en-US" sz="1200" b="1" dirty="0">
                      <a:solidFill>
                        <a:srgbClr val="00D4AA"/>
                      </a:solidFill>
                      <a:latin typeface="Calibri" pitchFamily="34" charset="0"/>
                      <a:ea typeface="Calibri" pitchFamily="34" charset="-122"/>
                      <a:cs typeface="Calibri" pitchFamily="34" charset="-120"/>
                    </a:rPr>
                    <a:t>▶   RAG + LLM PIPELINE</a:t>
                  </a:r>
                  <a:endParaRPr lang="en-US" sz="1200" dirty="0"/>
                </a:p>
              </p:txBody>
            </p:sp>
            <p:sp>
              <p:nvSpPr>
                <p:cNvPr id="15" name="Text 13"/>
                <p:cNvSpPr/>
                <p:nvPr/>
              </p:nvSpPr>
              <p:spPr>
                <a:xfrm>
                  <a:off x="2206752" y="3438144"/>
                  <a:ext cx="1426464" cy="268224"/>
                </a:xfrm>
                <a:prstGeom prst="rect">
                  <a:avLst/>
                </a:prstGeom>
                <a:noFill/>
                <a:ln/>
              </p:spPr>
              <p:txBody>
                <a:bodyPr wrap="square" lIns="0" tIns="0" rIns="0" bIns="0" rtlCol="0" anchor="ctr"/>
                <a:lstStyle/>
                <a:p>
                  <a:r>
                    <a:rPr lang="en-US" sz="1200" b="1" dirty="0">
                      <a:solidFill>
                        <a:srgbClr val="627EEA"/>
                      </a:solidFill>
                      <a:latin typeface="Calibri" pitchFamily="34" charset="0"/>
                      <a:ea typeface="Calibri" pitchFamily="34" charset="-122"/>
                      <a:cs typeface="Calibri" pitchFamily="34" charset="-120"/>
                    </a:rPr>
                    <a:t>TAVILY  NEWS</a:t>
                  </a:r>
                  <a:endParaRPr lang="en-US" sz="1200" dirty="0"/>
                </a:p>
              </p:txBody>
            </p:sp>
            <p:sp>
              <p:nvSpPr>
                <p:cNvPr id="16" name="Text 14"/>
                <p:cNvSpPr/>
                <p:nvPr/>
              </p:nvSpPr>
              <p:spPr>
                <a:xfrm>
                  <a:off x="2206752" y="3779520"/>
                  <a:ext cx="1426464" cy="1219200"/>
                </a:xfrm>
                <a:prstGeom prst="rect">
                  <a:avLst/>
                </a:prstGeom>
                <a:noFill/>
                <a:ln/>
              </p:spPr>
              <p:txBody>
                <a:bodyPr wrap="square" lIns="0" tIns="0" rIns="0" bIns="0" rtlCol="0" anchor="t"/>
                <a:lstStyle/>
                <a:p>
                  <a:r>
                    <a:rPr lang="de-DE" sz="1200" dirty="0">
                      <a:solidFill>
                        <a:srgbClr val="CBD5E1"/>
                      </a:solidFill>
                      <a:latin typeface="Calibri" pitchFamily="34" charset="0"/>
                      <a:ea typeface="Calibri" pitchFamily="34" charset="-122"/>
                      <a:cs typeface="Calibri" pitchFamily="34" charset="-120"/>
                    </a:rPr>
                    <a:t>Real-time crypto &amp; macro headlines retrieval</a:t>
                  </a:r>
                  <a:endParaRPr lang="en-US" sz="1200" dirty="0">
                    <a:solidFill>
                      <a:srgbClr val="CBD5E1"/>
                    </a:solidFill>
                    <a:latin typeface="Calibri" pitchFamily="34" charset="0"/>
                    <a:ea typeface="Calibri" pitchFamily="34" charset="-122"/>
                    <a:cs typeface="Calibri" pitchFamily="34" charset="-120"/>
                  </a:endParaRPr>
                </a:p>
              </p:txBody>
            </p:sp>
          </p:grpSp>
        </p:grpSp>
        <p:sp>
          <p:nvSpPr>
            <p:cNvPr id="75" name="Shape 12"/>
            <p:cNvSpPr/>
            <p:nvPr/>
          </p:nvSpPr>
          <p:spPr>
            <a:xfrm>
              <a:off x="2102443" y="3322997"/>
              <a:ext cx="1621536" cy="73152"/>
            </a:xfrm>
            <a:prstGeom prst="rect">
              <a:avLst/>
            </a:prstGeom>
            <a:solidFill>
              <a:srgbClr val="627EEA"/>
            </a:solidFill>
            <a:ln w="12700">
              <a:solidFill>
                <a:srgbClr val="627EEA"/>
              </a:solidFill>
              <a:prstDash val="solid"/>
            </a:ln>
          </p:spPr>
          <p:txBody>
            <a:bodyPr/>
            <a:lstStyle/>
            <a:p>
              <a:endParaRPr lang="en-DE" sz="1200"/>
            </a:p>
          </p:txBody>
        </p:sp>
      </p:grpSp>
      <p:sp>
        <p:nvSpPr>
          <p:cNvPr id="37" name="TIc20">
            <a:extLst>
              <a:ext uri="{FF2B5EF4-FFF2-40B4-BE49-F238E27FC236}">
                <a16:creationId xmlns:a16="http://schemas.microsoft.com/office/drawing/2014/main" id="{254484A3-CBED-1986-EEC5-08F7CD1AA013}"/>
              </a:ext>
            </a:extLst>
          </p:cNvPr>
          <p:cNvSpPr/>
          <p:nvPr/>
        </p:nvSpPr>
        <p:spPr>
          <a:xfrm>
            <a:off x="272239" y="2191774"/>
            <a:ext cx="174851" cy="188452"/>
          </a:xfrm>
          <a:prstGeom prst="rect">
            <a:avLst/>
          </a:prstGeom>
          <a:noFill/>
          <a:ln>
            <a:noFill/>
          </a:ln>
        </p:spPr>
        <p:txBody>
          <a:bodyPr wrap="square" lIns="0" tIns="0" rIns="0" bIns="0" rtlCol="0" anchor="ctr"/>
          <a:lstStyle/>
          <a:p>
            <a:pPr algn="ctr"/>
            <a:r>
              <a:rPr lang="en-US" sz="1500" dirty="0">
                <a:latin typeface="Segoe UI Emoj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5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7"/>
                                        </p:tgtEl>
                                        <p:attrNameLst>
                                          <p:attrName>style.visibility</p:attrName>
                                        </p:attrNameLst>
                                      </p:cBhvr>
                                      <p:to>
                                        <p:strVal val="visible"/>
                                      </p:to>
                                    </p:set>
                                    <p:animEffect transition="in" filter="fade">
                                      <p:cBhvr>
                                        <p:cTn id="12" dur="500"/>
                                        <p:tgtEl>
                                          <p:spTgt spid="47"/>
                                        </p:tgtEl>
                                      </p:cBhvr>
                                    </p:animEffect>
                                  </p:childTnLst>
                                </p:cTn>
                              </p:par>
                              <p:par>
                                <p:cTn id="13" presetID="10" presetClass="entr" presetSubtype="0" fill="hold" nodeType="with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500"/>
                                        <p:tgtEl>
                                          <p:spTgt spid="6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fade">
                                      <p:cBhvr>
                                        <p:cTn id="20" dur="500"/>
                                        <p:tgtEl>
                                          <p:spTgt spid="49"/>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fade">
                                      <p:cBhvr>
                                        <p:cTn id="28" dur="500"/>
                                        <p:tgtEl>
                                          <p:spTgt spid="51"/>
                                        </p:tgtEl>
                                      </p:cBhvr>
                                    </p:animEffect>
                                  </p:childTnLst>
                                </p:cTn>
                              </p:par>
                              <p:par>
                                <p:cTn id="29" presetID="10" presetClass="entr" presetSubtype="0" fill="hold" nodeType="withEffect">
                                  <p:stCondLst>
                                    <p:cond delay="0"/>
                                  </p:stCondLst>
                                  <p:childTnLst>
                                    <p:set>
                                      <p:cBhvr>
                                        <p:cTn id="30" dur="1" fill="hold">
                                          <p:stCondLst>
                                            <p:cond delay="0"/>
                                          </p:stCondLst>
                                        </p:cTn>
                                        <p:tgtEl>
                                          <p:spTgt spid="65"/>
                                        </p:tgtEl>
                                        <p:attrNameLst>
                                          <p:attrName>style.visibility</p:attrName>
                                        </p:attrNameLst>
                                      </p:cBhvr>
                                      <p:to>
                                        <p:strVal val="visible"/>
                                      </p:to>
                                    </p:set>
                                    <p:animEffect transition="in" filter="fade">
                                      <p:cBhvr>
                                        <p:cTn id="31" dur="500"/>
                                        <p:tgtEl>
                                          <p:spTgt spid="6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8"/>
                                        </p:tgtEl>
                                        <p:attrNameLst>
                                          <p:attrName>style.visibility</p:attrName>
                                        </p:attrNameLst>
                                      </p:cBhvr>
                                      <p:to>
                                        <p:strVal val="visible"/>
                                      </p:to>
                                    </p:set>
                                    <p:animEffect transition="in" filter="fade">
                                      <p:cBhvr>
                                        <p:cTn id="36" dur="500"/>
                                        <p:tgtEl>
                                          <p:spTgt spid="48"/>
                                        </p:tgtEl>
                                      </p:cBhvr>
                                    </p:animEffect>
                                  </p:childTnLst>
                                </p:cTn>
                              </p:par>
                              <p:par>
                                <p:cTn id="37" presetID="10" presetClass="entr" presetSubtype="0" fill="hold" nodeType="withEffect">
                                  <p:stCondLst>
                                    <p:cond delay="0"/>
                                  </p:stCondLst>
                                  <p:childTnLst>
                                    <p:set>
                                      <p:cBhvr>
                                        <p:cTn id="38" dur="1" fill="hold">
                                          <p:stCondLst>
                                            <p:cond delay="0"/>
                                          </p:stCondLst>
                                        </p:cTn>
                                        <p:tgtEl>
                                          <p:spTgt spid="76"/>
                                        </p:tgtEl>
                                        <p:attrNameLst>
                                          <p:attrName>style.visibility</p:attrName>
                                        </p:attrNameLst>
                                      </p:cBhvr>
                                      <p:to>
                                        <p:strVal val="visible"/>
                                      </p:to>
                                    </p:set>
                                    <p:animEffect transition="in" filter="fade">
                                      <p:cBhvr>
                                        <p:cTn id="39" dur="500"/>
                                        <p:tgtEl>
                                          <p:spTgt spid="7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50"/>
                                        </p:tgtEl>
                                        <p:attrNameLst>
                                          <p:attrName>style.visibility</p:attrName>
                                        </p:attrNameLst>
                                      </p:cBhvr>
                                      <p:to>
                                        <p:strVal val="visible"/>
                                      </p:to>
                                    </p:set>
                                    <p:animEffect transition="in" filter="fade">
                                      <p:cBhvr>
                                        <p:cTn id="44" dur="500"/>
                                        <p:tgtEl>
                                          <p:spTgt spid="50"/>
                                        </p:tgtEl>
                                      </p:cBhvr>
                                    </p:animEffect>
                                  </p:childTnLst>
                                </p:cTn>
                              </p:par>
                              <p:par>
                                <p:cTn id="45" presetID="10" presetClass="entr" presetSubtype="0" fill="hold" nodeType="withEffect">
                                  <p:stCondLst>
                                    <p:cond delay="0"/>
                                  </p:stCondLst>
                                  <p:childTnLst>
                                    <p:set>
                                      <p:cBhvr>
                                        <p:cTn id="46" dur="1" fill="hold">
                                          <p:stCondLst>
                                            <p:cond delay="0"/>
                                          </p:stCondLst>
                                        </p:cTn>
                                        <p:tgtEl>
                                          <p:spTgt spid="74"/>
                                        </p:tgtEl>
                                        <p:attrNameLst>
                                          <p:attrName>style.visibility</p:attrName>
                                        </p:attrNameLst>
                                      </p:cBhvr>
                                      <p:to>
                                        <p:strVal val="visible"/>
                                      </p:to>
                                    </p:set>
                                    <p:animEffect transition="in" filter="fade">
                                      <p:cBhvr>
                                        <p:cTn id="47" dur="500"/>
                                        <p:tgtEl>
                                          <p:spTgt spid="7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500"/>
                                        <p:tgtEl>
                                          <p:spTgt spid="52"/>
                                        </p:tgtEl>
                                      </p:cBhvr>
                                    </p:animEffect>
                                  </p:childTnLst>
                                </p:cTn>
                              </p:par>
                              <p:par>
                                <p:cTn id="53" presetID="10" presetClass="entr" presetSubtype="0" fill="hold" nodeType="withEffect">
                                  <p:stCondLst>
                                    <p:cond delay="0"/>
                                  </p:stCondLst>
                                  <p:childTnLst>
                                    <p:set>
                                      <p:cBhvr>
                                        <p:cTn id="54" dur="1" fill="hold">
                                          <p:stCondLst>
                                            <p:cond delay="0"/>
                                          </p:stCondLst>
                                        </p:cTn>
                                        <p:tgtEl>
                                          <p:spTgt spid="72"/>
                                        </p:tgtEl>
                                        <p:attrNameLst>
                                          <p:attrName>style.visibility</p:attrName>
                                        </p:attrNameLst>
                                      </p:cBhvr>
                                      <p:to>
                                        <p:strVal val="visible"/>
                                      </p:to>
                                    </p:set>
                                    <p:animEffect transition="in" filter="fade">
                                      <p:cBhvr>
                                        <p:cTn id="55" dur="500"/>
                                        <p:tgtEl>
                                          <p:spTgt spid="7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61"/>
                                        </p:tgtEl>
                                        <p:attrNameLst>
                                          <p:attrName>style.visibility</p:attrName>
                                        </p:attrNameLst>
                                      </p:cBhvr>
                                      <p:to>
                                        <p:strVal val="visible"/>
                                      </p:to>
                                    </p:set>
                                    <p:animEffect transition="in" filter="fade">
                                      <p:cBhvr>
                                        <p:cTn id="58" dur="500"/>
                                        <p:tgtEl>
                                          <p:spTgt spid="6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5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4"/>
                                        </p:tgtEl>
                                        <p:attrNameLst>
                                          <p:attrName>style.visibility</p:attrName>
                                        </p:attrNameLst>
                                      </p:cBhvr>
                                      <p:to>
                                        <p:strVal val="visible"/>
                                      </p:to>
                                    </p:set>
                                    <p:animEffect transition="in" filter="fade">
                                      <p:cBhvr>
                                        <p:cTn id="66" dur="500"/>
                                        <p:tgtEl>
                                          <p:spTgt spid="54"/>
                                        </p:tgtEl>
                                      </p:cBhvr>
                                    </p:animEffect>
                                  </p:childTnLst>
                                </p:cTn>
                              </p:par>
                              <p:par>
                                <p:cTn id="67" presetID="10" presetClass="entr" presetSubtype="0" fill="hold" nodeType="withEffect">
                                  <p:stCondLst>
                                    <p:cond delay="0"/>
                                  </p:stCondLst>
                                  <p:childTnLst>
                                    <p:set>
                                      <p:cBhvr>
                                        <p:cTn id="68" dur="1" fill="hold">
                                          <p:stCondLst>
                                            <p:cond delay="0"/>
                                          </p:stCondLst>
                                        </p:cTn>
                                        <p:tgtEl>
                                          <p:spTgt spid="67"/>
                                        </p:tgtEl>
                                        <p:attrNameLst>
                                          <p:attrName>style.visibility</p:attrName>
                                        </p:attrNameLst>
                                      </p:cBhvr>
                                      <p:to>
                                        <p:strVal val="visible"/>
                                      </p:to>
                                    </p:set>
                                    <p:animEffect transition="in" filter="fade">
                                      <p:cBhvr>
                                        <p:cTn id="69" dur="500"/>
                                        <p:tgtEl>
                                          <p:spTgt spid="67"/>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55"/>
                                        </p:tgtEl>
                                        <p:attrNameLst>
                                          <p:attrName>style.visibility</p:attrName>
                                        </p:attrNameLst>
                                      </p:cBhvr>
                                      <p:to>
                                        <p:strVal val="visible"/>
                                      </p:to>
                                    </p:set>
                                    <p:animEffect transition="in" filter="fade">
                                      <p:cBhvr>
                                        <p:cTn id="74" dur="500"/>
                                        <p:tgtEl>
                                          <p:spTgt spid="55"/>
                                        </p:tgtEl>
                                      </p:cBhvr>
                                    </p:animEffect>
                                  </p:childTnLst>
                                </p:cTn>
                              </p:par>
                              <p:par>
                                <p:cTn id="75" presetID="10" presetClass="entr" presetSubtype="0" fill="hold" nodeType="with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5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animBg="1"/>
      <p:bldP spid="50" grpId="0" animBg="1"/>
      <p:bldP spid="51" grpId="0" animBg="1"/>
      <p:bldP spid="52" grpId="0" animBg="1"/>
      <p:bldP spid="53" grpId="0" animBg="1"/>
      <p:bldP spid="54" grpId="0" animBg="1"/>
      <p:bldP spid="55"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365760" y="121920"/>
            <a:ext cx="11460480" cy="487680"/>
          </a:xfrm>
          <a:prstGeom prst="rect">
            <a:avLst/>
          </a:prstGeom>
          <a:noFill/>
          <a:ln/>
        </p:spPr>
        <p:txBody>
          <a:bodyPr wrap="square" lIns="0" tIns="0" rIns="0" bIns="0" rtlCol="0" anchor="ctr"/>
          <a:lstStyle/>
          <a:p>
            <a:pPr algn="ctr"/>
            <a:r>
              <a:rPr lang="en-US" sz="2667" dirty="0">
                <a:solidFill>
                  <a:srgbClr val="132238"/>
                </a:solidFill>
                <a:latin typeface="Calibri" pitchFamily="34" charset="0"/>
                <a:ea typeface="Calibri" pitchFamily="34" charset="-122"/>
                <a:cs typeface="Calibri" pitchFamily="34" charset="-120"/>
              </a:rPr>
              <a:t>Raw Dataset</a:t>
            </a:r>
            <a:endParaRPr lang="en-US" sz="2667" dirty="0"/>
          </a:p>
        </p:txBody>
      </p:sp>
      <p:sp>
        <p:nvSpPr>
          <p:cNvPr id="4" name="Text 2"/>
          <p:cNvSpPr/>
          <p:nvPr/>
        </p:nvSpPr>
        <p:spPr>
          <a:xfrm>
            <a:off x="365760" y="731520"/>
            <a:ext cx="2560320" cy="243840"/>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DATASET AT A GLANCE</a:t>
            </a:r>
            <a:endParaRPr lang="en-US" sz="1133" dirty="0"/>
          </a:p>
        </p:txBody>
      </p:sp>
      <p:grpSp>
        <p:nvGrpSpPr>
          <p:cNvPr id="38" name="Group 37">
            <a:extLst>
              <a:ext uri="{FF2B5EF4-FFF2-40B4-BE49-F238E27FC236}">
                <a16:creationId xmlns:a16="http://schemas.microsoft.com/office/drawing/2014/main" id="{1792249A-AADF-21B4-7AD6-8BA93916551A}"/>
              </a:ext>
            </a:extLst>
          </p:cNvPr>
          <p:cNvGrpSpPr/>
          <p:nvPr/>
        </p:nvGrpSpPr>
        <p:grpSpPr>
          <a:xfrm>
            <a:off x="365760" y="1011936"/>
            <a:ext cx="2682240" cy="1146048"/>
            <a:chOff x="365760" y="1011936"/>
            <a:chExt cx="2682240" cy="1146048"/>
          </a:xfrm>
        </p:grpSpPr>
        <p:sp>
          <p:nvSpPr>
            <p:cNvPr id="5" name="Shape 3"/>
            <p:cNvSpPr/>
            <p:nvPr/>
          </p:nvSpPr>
          <p:spPr>
            <a:xfrm>
              <a:off x="365760" y="1011936"/>
              <a:ext cx="2682240" cy="1097280"/>
            </a:xfrm>
            <a:prstGeom prst="rect">
              <a:avLst/>
            </a:prstGeom>
            <a:solidFill>
              <a:srgbClr val="F1F5F9"/>
            </a:solidFill>
            <a:ln w="15240">
              <a:solidFill>
                <a:srgbClr val="F7931A"/>
              </a:solidFill>
              <a:prstDash val="solid"/>
            </a:ln>
          </p:spPr>
          <p:txBody>
            <a:bodyPr/>
            <a:lstStyle/>
            <a:p>
              <a:endParaRPr lang="en-DE" sz="2400"/>
            </a:p>
          </p:txBody>
        </p:sp>
        <p:sp>
          <p:nvSpPr>
            <p:cNvPr id="6" name="Shape 4"/>
            <p:cNvSpPr/>
            <p:nvPr/>
          </p:nvSpPr>
          <p:spPr>
            <a:xfrm>
              <a:off x="365760" y="1011936"/>
              <a:ext cx="2682240" cy="60960"/>
            </a:xfrm>
            <a:prstGeom prst="rect">
              <a:avLst/>
            </a:prstGeom>
            <a:solidFill>
              <a:srgbClr val="F7931A"/>
            </a:solidFill>
            <a:ln w="12700">
              <a:solidFill>
                <a:srgbClr val="F7931A"/>
              </a:solidFill>
              <a:prstDash val="solid"/>
            </a:ln>
          </p:spPr>
          <p:txBody>
            <a:bodyPr/>
            <a:lstStyle/>
            <a:p>
              <a:endParaRPr lang="en-DE" sz="2400"/>
            </a:p>
          </p:txBody>
        </p:sp>
        <p:sp>
          <p:nvSpPr>
            <p:cNvPr id="7" name="Text 5"/>
            <p:cNvSpPr/>
            <p:nvPr/>
          </p:nvSpPr>
          <p:spPr>
            <a:xfrm>
              <a:off x="487680" y="1085088"/>
              <a:ext cx="2438400" cy="512064"/>
            </a:xfrm>
            <a:prstGeom prst="rect">
              <a:avLst/>
            </a:prstGeom>
            <a:noFill/>
            <a:ln/>
          </p:spPr>
          <p:txBody>
            <a:bodyPr wrap="square" lIns="0" tIns="0" rIns="0" bIns="0" rtlCol="0" anchor="ctr"/>
            <a:lstStyle/>
            <a:p>
              <a:pPr algn="ctr"/>
              <a:r>
                <a:rPr lang="en-US" sz="3200" b="1" dirty="0">
                  <a:solidFill>
                    <a:srgbClr val="F7931A"/>
                  </a:solidFill>
                  <a:latin typeface="Calibri" pitchFamily="34" charset="0"/>
                  <a:ea typeface="Calibri" pitchFamily="34" charset="-122"/>
                  <a:cs typeface="Calibri" pitchFamily="34" charset="-120"/>
                </a:rPr>
                <a:t>6,346</a:t>
              </a:r>
              <a:endParaRPr lang="en-US" sz="3200" dirty="0"/>
            </a:p>
          </p:txBody>
        </p:sp>
        <p:sp>
          <p:nvSpPr>
            <p:cNvPr id="8" name="Text 6"/>
            <p:cNvSpPr/>
            <p:nvPr/>
          </p:nvSpPr>
          <p:spPr>
            <a:xfrm>
              <a:off x="487680" y="1621536"/>
              <a:ext cx="2438400" cy="268224"/>
            </a:xfrm>
            <a:prstGeom prst="rect">
              <a:avLst/>
            </a:prstGeom>
            <a:noFill/>
            <a:ln/>
          </p:spPr>
          <p:txBody>
            <a:bodyPr wrap="square" lIns="0" tIns="0" rIns="0" bIns="0" rtlCol="0" anchor="ctr"/>
            <a:lstStyle/>
            <a:p>
              <a:pPr algn="ctr"/>
              <a:r>
                <a:rPr lang="en-US" sz="1200" b="1" dirty="0">
                  <a:solidFill>
                    <a:srgbClr val="1E293B"/>
                  </a:solidFill>
                  <a:latin typeface="Calibri" pitchFamily="34" charset="0"/>
                  <a:ea typeface="Calibri" pitchFamily="34" charset="-122"/>
                  <a:cs typeface="Calibri" pitchFamily="34" charset="-120"/>
                </a:rPr>
                <a:t>Total rows</a:t>
              </a:r>
              <a:endParaRPr lang="en-US" sz="1200" dirty="0"/>
            </a:p>
          </p:txBody>
        </p:sp>
        <p:sp>
          <p:nvSpPr>
            <p:cNvPr id="9" name="Text 7"/>
            <p:cNvSpPr/>
            <p:nvPr/>
          </p:nvSpPr>
          <p:spPr>
            <a:xfrm>
              <a:off x="487680" y="1889760"/>
              <a:ext cx="2438400" cy="268224"/>
            </a:xfrm>
            <a:prstGeom prst="rect">
              <a:avLst/>
            </a:prstGeom>
            <a:noFill/>
            <a:ln/>
          </p:spPr>
          <p:txBody>
            <a:bodyPr wrap="square" lIns="0" tIns="0" rIns="0" bIns="0" rtlCol="0" anchor="ctr"/>
            <a:lstStyle/>
            <a:p>
              <a:pPr algn="ctr"/>
              <a:r>
                <a:rPr lang="en-US" sz="1000" i="1" dirty="0">
                  <a:solidFill>
                    <a:srgbClr val="94A3B8"/>
                  </a:solidFill>
                  <a:latin typeface="Calibri" pitchFamily="34" charset="0"/>
                  <a:ea typeface="Calibri" pitchFamily="34" charset="-122"/>
                  <a:cs typeface="Calibri" pitchFamily="34" charset="-120"/>
                </a:rPr>
                <a:t>BTC + ETH combined</a:t>
              </a:r>
              <a:endParaRPr lang="en-US" sz="1000" dirty="0"/>
            </a:p>
          </p:txBody>
        </p:sp>
      </p:grpSp>
      <p:grpSp>
        <p:nvGrpSpPr>
          <p:cNvPr id="51" name="Group 50">
            <a:extLst>
              <a:ext uri="{FF2B5EF4-FFF2-40B4-BE49-F238E27FC236}">
                <a16:creationId xmlns:a16="http://schemas.microsoft.com/office/drawing/2014/main" id="{55DEAB63-67FF-FFFE-74FC-44A12EC7BC1D}"/>
              </a:ext>
            </a:extLst>
          </p:cNvPr>
          <p:cNvGrpSpPr/>
          <p:nvPr/>
        </p:nvGrpSpPr>
        <p:grpSpPr>
          <a:xfrm>
            <a:off x="3206496" y="1011936"/>
            <a:ext cx="2682240" cy="1146048"/>
            <a:chOff x="3206496" y="1011936"/>
            <a:chExt cx="2682240" cy="1146048"/>
          </a:xfrm>
        </p:grpSpPr>
        <p:sp>
          <p:nvSpPr>
            <p:cNvPr id="10" name="Shape 8"/>
            <p:cNvSpPr/>
            <p:nvPr/>
          </p:nvSpPr>
          <p:spPr>
            <a:xfrm>
              <a:off x="3206496" y="1011936"/>
              <a:ext cx="2682240" cy="1097280"/>
            </a:xfrm>
            <a:prstGeom prst="rect">
              <a:avLst/>
            </a:prstGeom>
            <a:solidFill>
              <a:srgbClr val="F1F5F9"/>
            </a:solidFill>
            <a:ln w="15240">
              <a:solidFill>
                <a:srgbClr val="627EEA"/>
              </a:solidFill>
              <a:prstDash val="solid"/>
            </a:ln>
          </p:spPr>
          <p:txBody>
            <a:bodyPr/>
            <a:lstStyle/>
            <a:p>
              <a:endParaRPr lang="en-DE" sz="2400"/>
            </a:p>
          </p:txBody>
        </p:sp>
        <p:sp>
          <p:nvSpPr>
            <p:cNvPr id="11" name="Shape 9"/>
            <p:cNvSpPr/>
            <p:nvPr/>
          </p:nvSpPr>
          <p:spPr>
            <a:xfrm>
              <a:off x="3206496" y="1011936"/>
              <a:ext cx="2682240" cy="60960"/>
            </a:xfrm>
            <a:prstGeom prst="rect">
              <a:avLst/>
            </a:prstGeom>
            <a:solidFill>
              <a:srgbClr val="627EEA"/>
            </a:solidFill>
            <a:ln w="12700">
              <a:solidFill>
                <a:srgbClr val="627EEA"/>
              </a:solidFill>
              <a:prstDash val="solid"/>
            </a:ln>
          </p:spPr>
          <p:txBody>
            <a:bodyPr/>
            <a:lstStyle/>
            <a:p>
              <a:endParaRPr lang="en-DE" sz="2400"/>
            </a:p>
          </p:txBody>
        </p:sp>
        <p:sp>
          <p:nvSpPr>
            <p:cNvPr id="12" name="Text 10"/>
            <p:cNvSpPr/>
            <p:nvPr/>
          </p:nvSpPr>
          <p:spPr>
            <a:xfrm>
              <a:off x="3328416" y="1085088"/>
              <a:ext cx="2438400" cy="512064"/>
            </a:xfrm>
            <a:prstGeom prst="rect">
              <a:avLst/>
            </a:prstGeom>
            <a:noFill/>
            <a:ln/>
          </p:spPr>
          <p:txBody>
            <a:bodyPr wrap="square" lIns="0" tIns="0" rIns="0" bIns="0" rtlCol="0" anchor="ctr"/>
            <a:lstStyle/>
            <a:p>
              <a:pPr algn="ctr"/>
              <a:r>
                <a:rPr lang="en-US" sz="3200" b="1" dirty="0">
                  <a:solidFill>
                    <a:srgbClr val="627EEA"/>
                  </a:solidFill>
                  <a:latin typeface="Calibri" pitchFamily="34" charset="0"/>
                  <a:ea typeface="Calibri" pitchFamily="34" charset="-122"/>
                  <a:cs typeface="Calibri" pitchFamily="34" charset="-120"/>
                </a:rPr>
                <a:t>9</a:t>
              </a:r>
              <a:endParaRPr lang="en-US" sz="3200" dirty="0"/>
            </a:p>
          </p:txBody>
        </p:sp>
        <p:sp>
          <p:nvSpPr>
            <p:cNvPr id="13" name="Text 11"/>
            <p:cNvSpPr/>
            <p:nvPr/>
          </p:nvSpPr>
          <p:spPr>
            <a:xfrm>
              <a:off x="3328416" y="1621536"/>
              <a:ext cx="2438400" cy="268224"/>
            </a:xfrm>
            <a:prstGeom prst="rect">
              <a:avLst/>
            </a:prstGeom>
            <a:noFill/>
            <a:ln/>
          </p:spPr>
          <p:txBody>
            <a:bodyPr wrap="square" lIns="0" tIns="0" rIns="0" bIns="0" rtlCol="0" anchor="ctr"/>
            <a:lstStyle/>
            <a:p>
              <a:pPr algn="ctr"/>
              <a:r>
                <a:rPr lang="en-US" sz="1200" b="1" dirty="0">
                  <a:solidFill>
                    <a:srgbClr val="1E293B"/>
                  </a:solidFill>
                  <a:latin typeface="Calibri" pitchFamily="34" charset="0"/>
                  <a:ea typeface="Calibri" pitchFamily="34" charset="-122"/>
                  <a:cs typeface="Calibri" pitchFamily="34" charset="-120"/>
                </a:rPr>
                <a:t>Raw columns</a:t>
              </a:r>
              <a:endParaRPr lang="en-US" sz="1200" dirty="0"/>
            </a:p>
          </p:txBody>
        </p:sp>
        <p:sp>
          <p:nvSpPr>
            <p:cNvPr id="14" name="Text 12"/>
            <p:cNvSpPr/>
            <p:nvPr/>
          </p:nvSpPr>
          <p:spPr>
            <a:xfrm>
              <a:off x="3328416" y="1889760"/>
              <a:ext cx="2438400" cy="268224"/>
            </a:xfrm>
            <a:prstGeom prst="rect">
              <a:avLst/>
            </a:prstGeom>
            <a:noFill/>
            <a:ln/>
          </p:spPr>
          <p:txBody>
            <a:bodyPr wrap="square" lIns="0" tIns="0" rIns="0" bIns="0" rtlCol="0" anchor="ctr"/>
            <a:lstStyle/>
            <a:p>
              <a:pPr algn="ctr"/>
              <a:r>
                <a:rPr lang="en-US" sz="1000" i="1" dirty="0">
                  <a:solidFill>
                    <a:srgbClr val="94A3B8"/>
                  </a:solidFill>
                  <a:latin typeface="Calibri" pitchFamily="34" charset="0"/>
                  <a:ea typeface="Calibri" pitchFamily="34" charset="-122"/>
                  <a:cs typeface="Calibri" pitchFamily="34" charset="-120"/>
                </a:rPr>
                <a:t>Price · Macro · Sentiment</a:t>
              </a:r>
              <a:endParaRPr lang="en-US" sz="1000" dirty="0"/>
            </a:p>
          </p:txBody>
        </p:sp>
      </p:grpSp>
      <p:grpSp>
        <p:nvGrpSpPr>
          <p:cNvPr id="58" name="Group 57">
            <a:extLst>
              <a:ext uri="{FF2B5EF4-FFF2-40B4-BE49-F238E27FC236}">
                <a16:creationId xmlns:a16="http://schemas.microsoft.com/office/drawing/2014/main" id="{3FF1D28D-C698-AA82-81D7-504CAC354282}"/>
              </a:ext>
            </a:extLst>
          </p:cNvPr>
          <p:cNvGrpSpPr/>
          <p:nvPr/>
        </p:nvGrpSpPr>
        <p:grpSpPr>
          <a:xfrm>
            <a:off x="6047232" y="1011936"/>
            <a:ext cx="2682240" cy="1146048"/>
            <a:chOff x="6047232" y="1011936"/>
            <a:chExt cx="2682240" cy="1146048"/>
          </a:xfrm>
        </p:grpSpPr>
        <p:sp>
          <p:nvSpPr>
            <p:cNvPr id="15" name="Shape 13"/>
            <p:cNvSpPr/>
            <p:nvPr/>
          </p:nvSpPr>
          <p:spPr>
            <a:xfrm>
              <a:off x="6047232" y="1011936"/>
              <a:ext cx="2682240" cy="1097280"/>
            </a:xfrm>
            <a:prstGeom prst="rect">
              <a:avLst/>
            </a:prstGeom>
            <a:solidFill>
              <a:srgbClr val="F1F5F9"/>
            </a:solidFill>
            <a:ln w="15240">
              <a:solidFill>
                <a:srgbClr val="00D4AA"/>
              </a:solidFill>
              <a:prstDash val="solid"/>
            </a:ln>
          </p:spPr>
          <p:txBody>
            <a:bodyPr/>
            <a:lstStyle/>
            <a:p>
              <a:endParaRPr lang="en-DE" sz="2400"/>
            </a:p>
          </p:txBody>
        </p:sp>
        <p:sp>
          <p:nvSpPr>
            <p:cNvPr id="16" name="Shape 14"/>
            <p:cNvSpPr/>
            <p:nvPr/>
          </p:nvSpPr>
          <p:spPr>
            <a:xfrm>
              <a:off x="6047232" y="1011936"/>
              <a:ext cx="2682240" cy="60960"/>
            </a:xfrm>
            <a:prstGeom prst="rect">
              <a:avLst/>
            </a:prstGeom>
            <a:solidFill>
              <a:srgbClr val="00D4AA"/>
            </a:solidFill>
            <a:ln w="12700">
              <a:solidFill>
                <a:srgbClr val="00D4AA"/>
              </a:solidFill>
              <a:prstDash val="solid"/>
            </a:ln>
          </p:spPr>
          <p:txBody>
            <a:bodyPr/>
            <a:lstStyle/>
            <a:p>
              <a:endParaRPr lang="en-DE" sz="2400"/>
            </a:p>
          </p:txBody>
        </p:sp>
        <p:sp>
          <p:nvSpPr>
            <p:cNvPr id="17" name="Text 15"/>
            <p:cNvSpPr/>
            <p:nvPr/>
          </p:nvSpPr>
          <p:spPr>
            <a:xfrm>
              <a:off x="6169152" y="1085088"/>
              <a:ext cx="2438400" cy="512064"/>
            </a:xfrm>
            <a:prstGeom prst="rect">
              <a:avLst/>
            </a:prstGeom>
            <a:noFill/>
            <a:ln/>
          </p:spPr>
          <p:txBody>
            <a:bodyPr wrap="square" lIns="0" tIns="0" rIns="0" bIns="0" rtlCol="0" anchor="ctr"/>
            <a:lstStyle/>
            <a:p>
              <a:pPr algn="ctr"/>
              <a:r>
                <a:rPr lang="en-US" sz="3200" b="1" dirty="0">
                  <a:solidFill>
                    <a:srgbClr val="00D4AA"/>
                  </a:solidFill>
                  <a:latin typeface="Calibri" pitchFamily="34" charset="0"/>
                  <a:ea typeface="Calibri" pitchFamily="34" charset="-122"/>
                  <a:cs typeface="Calibri" pitchFamily="34" charset="-120"/>
                </a:rPr>
                <a:t>9 Years</a:t>
              </a:r>
              <a:endParaRPr lang="en-US" sz="3200" dirty="0"/>
            </a:p>
          </p:txBody>
        </p:sp>
        <p:sp>
          <p:nvSpPr>
            <p:cNvPr id="18" name="Text 16"/>
            <p:cNvSpPr/>
            <p:nvPr/>
          </p:nvSpPr>
          <p:spPr>
            <a:xfrm>
              <a:off x="6169152" y="1621536"/>
              <a:ext cx="2438400" cy="268224"/>
            </a:xfrm>
            <a:prstGeom prst="rect">
              <a:avLst/>
            </a:prstGeom>
            <a:noFill/>
            <a:ln/>
          </p:spPr>
          <p:txBody>
            <a:bodyPr wrap="square" lIns="0" tIns="0" rIns="0" bIns="0" rtlCol="0" anchor="ctr"/>
            <a:lstStyle/>
            <a:p>
              <a:pPr algn="ctr"/>
              <a:r>
                <a:rPr lang="en-US" sz="1200" b="1" dirty="0">
                  <a:solidFill>
                    <a:srgbClr val="1E293B"/>
                  </a:solidFill>
                  <a:latin typeface="Calibri" pitchFamily="34" charset="0"/>
                  <a:ea typeface="Calibri" pitchFamily="34" charset="-122"/>
                  <a:cs typeface="Calibri" pitchFamily="34" charset="-120"/>
                </a:rPr>
                <a:t>Date range</a:t>
              </a:r>
              <a:endParaRPr lang="en-US" sz="1200" dirty="0"/>
            </a:p>
          </p:txBody>
        </p:sp>
        <p:sp>
          <p:nvSpPr>
            <p:cNvPr id="19" name="Text 17"/>
            <p:cNvSpPr/>
            <p:nvPr/>
          </p:nvSpPr>
          <p:spPr>
            <a:xfrm>
              <a:off x="6169152" y="1889760"/>
              <a:ext cx="2438400" cy="268224"/>
            </a:xfrm>
            <a:prstGeom prst="rect">
              <a:avLst/>
            </a:prstGeom>
            <a:noFill/>
            <a:ln/>
          </p:spPr>
          <p:txBody>
            <a:bodyPr wrap="square" lIns="0" tIns="0" rIns="0" bIns="0" rtlCol="0" anchor="ctr"/>
            <a:lstStyle/>
            <a:p>
              <a:pPr algn="ctr"/>
              <a:r>
                <a:rPr lang="en-US" sz="1000" i="1" dirty="0">
                  <a:solidFill>
                    <a:srgbClr val="94A3B8"/>
                  </a:solidFill>
                  <a:latin typeface="Calibri" pitchFamily="34" charset="0"/>
                  <a:ea typeface="Calibri" pitchFamily="34" charset="-122"/>
                  <a:cs typeface="Calibri" pitchFamily="34" charset="-120"/>
                </a:rPr>
                <a:t>Jan 2017 → Feb 2026</a:t>
              </a:r>
              <a:endParaRPr lang="en-US" sz="1000" dirty="0"/>
            </a:p>
          </p:txBody>
        </p:sp>
      </p:grpSp>
      <p:grpSp>
        <p:nvGrpSpPr>
          <p:cNvPr id="60" name="Group 59">
            <a:extLst>
              <a:ext uri="{FF2B5EF4-FFF2-40B4-BE49-F238E27FC236}">
                <a16:creationId xmlns:a16="http://schemas.microsoft.com/office/drawing/2014/main" id="{BD55058C-288B-5600-AFE8-E921E9CC282E}"/>
              </a:ext>
            </a:extLst>
          </p:cNvPr>
          <p:cNvGrpSpPr/>
          <p:nvPr/>
        </p:nvGrpSpPr>
        <p:grpSpPr>
          <a:xfrm>
            <a:off x="8887968" y="1011936"/>
            <a:ext cx="2682240" cy="1146048"/>
            <a:chOff x="8887968" y="1011936"/>
            <a:chExt cx="2682240" cy="1146048"/>
          </a:xfrm>
        </p:grpSpPr>
        <p:sp>
          <p:nvSpPr>
            <p:cNvPr id="20" name="Shape 18"/>
            <p:cNvSpPr/>
            <p:nvPr/>
          </p:nvSpPr>
          <p:spPr>
            <a:xfrm>
              <a:off x="8887968" y="1011936"/>
              <a:ext cx="2682240" cy="1097280"/>
            </a:xfrm>
            <a:prstGeom prst="rect">
              <a:avLst/>
            </a:prstGeom>
            <a:solidFill>
              <a:srgbClr val="F1F5F9"/>
            </a:solidFill>
            <a:ln w="15240">
              <a:solidFill>
                <a:srgbClr val="2563EB"/>
              </a:solidFill>
              <a:prstDash val="solid"/>
            </a:ln>
          </p:spPr>
          <p:txBody>
            <a:bodyPr/>
            <a:lstStyle/>
            <a:p>
              <a:endParaRPr lang="en-DE" sz="2400"/>
            </a:p>
          </p:txBody>
        </p:sp>
        <p:grpSp>
          <p:nvGrpSpPr>
            <p:cNvPr id="59" name="Group 58">
              <a:extLst>
                <a:ext uri="{FF2B5EF4-FFF2-40B4-BE49-F238E27FC236}">
                  <a16:creationId xmlns:a16="http://schemas.microsoft.com/office/drawing/2014/main" id="{4FF71174-DA43-87E7-8DFF-348C0D32A8D8}"/>
                </a:ext>
              </a:extLst>
            </p:cNvPr>
            <p:cNvGrpSpPr/>
            <p:nvPr/>
          </p:nvGrpSpPr>
          <p:grpSpPr>
            <a:xfrm>
              <a:off x="8887968" y="1011936"/>
              <a:ext cx="2682240" cy="1146048"/>
              <a:chOff x="8887968" y="1011936"/>
              <a:chExt cx="2682240" cy="1146048"/>
            </a:xfrm>
          </p:grpSpPr>
          <p:sp>
            <p:nvSpPr>
              <p:cNvPr id="21" name="Shape 19"/>
              <p:cNvSpPr/>
              <p:nvPr/>
            </p:nvSpPr>
            <p:spPr>
              <a:xfrm>
                <a:off x="8887968" y="1011936"/>
                <a:ext cx="2682240" cy="60960"/>
              </a:xfrm>
              <a:prstGeom prst="rect">
                <a:avLst/>
              </a:prstGeom>
              <a:solidFill>
                <a:srgbClr val="2563EB"/>
              </a:solidFill>
              <a:ln w="12700">
                <a:solidFill>
                  <a:srgbClr val="2563EB"/>
                </a:solidFill>
                <a:prstDash val="solid"/>
              </a:ln>
            </p:spPr>
            <p:txBody>
              <a:bodyPr/>
              <a:lstStyle/>
              <a:p>
                <a:endParaRPr lang="en-DE" sz="2400"/>
              </a:p>
            </p:txBody>
          </p:sp>
          <p:sp>
            <p:nvSpPr>
              <p:cNvPr id="22" name="Text 20"/>
              <p:cNvSpPr/>
              <p:nvPr/>
            </p:nvSpPr>
            <p:spPr>
              <a:xfrm>
                <a:off x="9009888" y="1085088"/>
                <a:ext cx="2438400" cy="512064"/>
              </a:xfrm>
              <a:prstGeom prst="rect">
                <a:avLst/>
              </a:prstGeom>
              <a:noFill/>
              <a:ln/>
            </p:spPr>
            <p:txBody>
              <a:bodyPr wrap="square" lIns="0" tIns="0" rIns="0" bIns="0" rtlCol="0" anchor="ctr"/>
              <a:lstStyle/>
              <a:p>
                <a:pPr algn="ctr"/>
                <a:r>
                  <a:rPr lang="en-US" sz="3200" b="1" dirty="0">
                    <a:solidFill>
                      <a:srgbClr val="2563EB"/>
                    </a:solidFill>
                    <a:latin typeface="Calibri" pitchFamily="34" charset="0"/>
                    <a:ea typeface="Calibri" pitchFamily="34" charset="-122"/>
                    <a:cs typeface="Calibri" pitchFamily="34" charset="-120"/>
                  </a:rPr>
                  <a:t>2 Coins</a:t>
                </a:r>
                <a:endParaRPr lang="en-US" sz="3200" dirty="0"/>
              </a:p>
            </p:txBody>
          </p:sp>
          <p:sp>
            <p:nvSpPr>
              <p:cNvPr id="23" name="Text 21"/>
              <p:cNvSpPr/>
              <p:nvPr/>
            </p:nvSpPr>
            <p:spPr>
              <a:xfrm>
                <a:off x="9009888" y="1621536"/>
                <a:ext cx="2438400" cy="268224"/>
              </a:xfrm>
              <a:prstGeom prst="rect">
                <a:avLst/>
              </a:prstGeom>
              <a:noFill/>
              <a:ln/>
            </p:spPr>
            <p:txBody>
              <a:bodyPr wrap="square" lIns="0" tIns="0" rIns="0" bIns="0" rtlCol="0" anchor="ctr"/>
              <a:lstStyle/>
              <a:p>
                <a:pPr algn="ctr"/>
                <a:r>
                  <a:rPr lang="en-US" sz="1200" b="1" dirty="0">
                    <a:solidFill>
                      <a:srgbClr val="1E293B"/>
                    </a:solidFill>
                    <a:latin typeface="Calibri" pitchFamily="34" charset="0"/>
                    <a:ea typeface="Calibri" pitchFamily="34" charset="-122"/>
                    <a:cs typeface="Calibri" pitchFamily="34" charset="-120"/>
                  </a:rPr>
                  <a:t>BTC + ETH</a:t>
                </a:r>
                <a:endParaRPr lang="en-US" sz="1200" dirty="0"/>
              </a:p>
            </p:txBody>
          </p:sp>
          <p:sp>
            <p:nvSpPr>
              <p:cNvPr id="24" name="Text 22"/>
              <p:cNvSpPr/>
              <p:nvPr/>
            </p:nvSpPr>
            <p:spPr>
              <a:xfrm>
                <a:off x="9009888" y="1889760"/>
                <a:ext cx="2438400" cy="268224"/>
              </a:xfrm>
              <a:prstGeom prst="rect">
                <a:avLst/>
              </a:prstGeom>
              <a:noFill/>
              <a:ln/>
            </p:spPr>
            <p:txBody>
              <a:bodyPr wrap="square" lIns="0" tIns="0" rIns="0" bIns="0" rtlCol="0" anchor="ctr"/>
              <a:lstStyle/>
              <a:p>
                <a:pPr algn="ctr"/>
                <a:r>
                  <a:rPr lang="en-US" sz="1000" i="1" dirty="0">
                    <a:solidFill>
                      <a:srgbClr val="94A3B8"/>
                    </a:solidFill>
                    <a:latin typeface="Calibri" pitchFamily="34" charset="0"/>
                    <a:ea typeface="Calibri" pitchFamily="34" charset="-122"/>
                    <a:cs typeface="Calibri" pitchFamily="34" charset="-120"/>
                  </a:rPr>
                  <a:t>3,329 BTC · 3,017 ETH</a:t>
                </a:r>
                <a:endParaRPr lang="en-US" sz="1000" dirty="0"/>
              </a:p>
            </p:txBody>
          </p:sp>
        </p:grpSp>
      </p:grpSp>
      <p:sp>
        <p:nvSpPr>
          <p:cNvPr id="25" name="Text 23"/>
          <p:cNvSpPr/>
          <p:nvPr/>
        </p:nvSpPr>
        <p:spPr>
          <a:xfrm>
            <a:off x="365760" y="2243328"/>
            <a:ext cx="2363893" cy="243840"/>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RAW COLUMNS</a:t>
            </a:r>
            <a:endParaRPr lang="en-US" sz="1133" dirty="0"/>
          </a:p>
        </p:txBody>
      </p:sp>
      <p:sp>
        <p:nvSpPr>
          <p:cNvPr id="26" name="Text 24"/>
          <p:cNvSpPr/>
          <p:nvPr/>
        </p:nvSpPr>
        <p:spPr>
          <a:xfrm>
            <a:off x="6217920" y="2243328"/>
            <a:ext cx="2221653" cy="243840"/>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KEY STATISTICS</a:t>
            </a:r>
            <a:endParaRPr lang="en-US" sz="1133" dirty="0"/>
          </a:p>
        </p:txBody>
      </p:sp>
      <p:graphicFrame>
        <p:nvGraphicFramePr>
          <p:cNvPr id="27" name="Table 0"/>
          <p:cNvGraphicFramePr>
            <a:graphicFrameLocks noGrp="1"/>
          </p:cNvGraphicFramePr>
          <p:nvPr/>
        </p:nvGraphicFramePr>
        <p:xfrm>
          <a:off x="365760" y="2511552"/>
          <a:ext cx="5608320" cy="2611120"/>
        </p:xfrm>
        <a:graphic>
          <a:graphicData uri="http://schemas.openxmlformats.org/drawingml/2006/table">
            <a:tbl>
              <a:tblPr/>
              <a:tblGrid>
                <a:gridCol w="15849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29464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32238"/>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What is it ? </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32238"/>
                    </a:solidFill>
                  </a:tcPr>
                </a:tc>
                <a:extLst>
                  <a:ext uri="{0D108BD9-81ED-4DB2-BD59-A6C34878D82A}">
                    <a16:rowId xmlns:a16="http://schemas.microsoft.com/office/drawing/2014/main" val="10000"/>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timestamp</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Date of observation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BTC or ETH closing price that day</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volume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Total units traded that day</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coin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BTC or ETH identifier</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spy_return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US stock market daily return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dxy_return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US dollar daily return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vix / vix_change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Global fear level + daily change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4480">
                <a:tc>
                  <a:txBody>
                    <a:bodyPr/>
                    <a:lstStyle/>
                    <a:p>
                      <a:pPr marL="0" indent="0" algn="l">
                        <a:buNone/>
                      </a:pPr>
                      <a:r>
                        <a:rPr lang="en-US" sz="1100" dirty="0">
                          <a:solidFill>
                            <a:srgbClr val="132238"/>
                          </a:solidFill>
                          <a:latin typeface="Calibri" pitchFamily="34" charset="0"/>
                          <a:ea typeface="Calibri" pitchFamily="34" charset="-122"/>
                          <a:cs typeface="Calibri" pitchFamily="34" charset="-120"/>
                        </a:rPr>
                        <a:t>fear_greed</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475569"/>
                          </a:solidFill>
                          <a:latin typeface="Calibri" pitchFamily="34" charset="0"/>
                          <a:ea typeface="Calibri" pitchFamily="34" charset="-122"/>
                          <a:cs typeface="Calibri" pitchFamily="34" charset="-120"/>
                        </a:rPr>
                        <a:t>Investor sentiment score  (0 = panic · 100 = greed)</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8"/>
                  </a:ext>
                </a:extLst>
              </a:tr>
            </a:tbl>
          </a:graphicData>
        </a:graphic>
      </p:graphicFrame>
      <p:grpSp>
        <p:nvGrpSpPr>
          <p:cNvPr id="62" name="Group 61">
            <a:extLst>
              <a:ext uri="{FF2B5EF4-FFF2-40B4-BE49-F238E27FC236}">
                <a16:creationId xmlns:a16="http://schemas.microsoft.com/office/drawing/2014/main" id="{7689D424-2E80-5B57-5EBA-1D6CCA56DBE4}"/>
              </a:ext>
            </a:extLst>
          </p:cNvPr>
          <p:cNvGrpSpPr/>
          <p:nvPr/>
        </p:nvGrpSpPr>
        <p:grpSpPr>
          <a:xfrm>
            <a:off x="6217920" y="2511552"/>
            <a:ext cx="5608320" cy="566928"/>
            <a:chOff x="6217920" y="2511552"/>
            <a:chExt cx="5608320" cy="566928"/>
          </a:xfrm>
        </p:grpSpPr>
        <p:sp>
          <p:nvSpPr>
            <p:cNvPr id="28" name="Shape 25"/>
            <p:cNvSpPr/>
            <p:nvPr/>
          </p:nvSpPr>
          <p:spPr>
            <a:xfrm>
              <a:off x="6217920" y="2511552"/>
              <a:ext cx="5608320" cy="566928"/>
            </a:xfrm>
            <a:prstGeom prst="rect">
              <a:avLst/>
            </a:prstGeom>
            <a:solidFill>
              <a:srgbClr val="F1F5F9"/>
            </a:solidFill>
            <a:ln w="12700">
              <a:solidFill>
                <a:srgbClr val="DC2626"/>
              </a:solidFill>
              <a:prstDash val="solid"/>
            </a:ln>
          </p:spPr>
          <p:txBody>
            <a:bodyPr/>
            <a:lstStyle/>
            <a:p>
              <a:endParaRPr lang="en-DE" sz="2400"/>
            </a:p>
          </p:txBody>
        </p:sp>
        <p:sp>
          <p:nvSpPr>
            <p:cNvPr id="29" name="Shape 26"/>
            <p:cNvSpPr/>
            <p:nvPr/>
          </p:nvSpPr>
          <p:spPr>
            <a:xfrm>
              <a:off x="6217920" y="2511552"/>
              <a:ext cx="54864" cy="566928"/>
            </a:xfrm>
            <a:prstGeom prst="rect">
              <a:avLst/>
            </a:prstGeom>
            <a:solidFill>
              <a:srgbClr val="DC2626"/>
            </a:solidFill>
            <a:ln w="12700">
              <a:solidFill>
                <a:srgbClr val="DC2626"/>
              </a:solidFill>
              <a:prstDash val="solid"/>
            </a:ln>
          </p:spPr>
          <p:txBody>
            <a:bodyPr/>
            <a:lstStyle/>
            <a:p>
              <a:endParaRPr lang="en-DE" sz="2400" dirty="0"/>
            </a:p>
          </p:txBody>
        </p:sp>
        <p:sp>
          <p:nvSpPr>
            <p:cNvPr id="30" name="Text 27"/>
            <p:cNvSpPr/>
            <p:nvPr/>
          </p:nvSpPr>
          <p:spPr>
            <a:xfrm>
              <a:off x="6364224" y="2535936"/>
              <a:ext cx="5364480" cy="243840"/>
            </a:xfrm>
            <a:prstGeom prst="rect">
              <a:avLst/>
            </a:prstGeom>
            <a:noFill/>
            <a:ln/>
          </p:spPr>
          <p:txBody>
            <a:bodyPr wrap="square" lIns="0" tIns="0" rIns="0" bIns="0" rtlCol="0" anchor="ctr"/>
            <a:lstStyle/>
            <a:p>
              <a:r>
                <a:rPr lang="en-US" sz="1133" b="1" dirty="0">
                  <a:solidFill>
                    <a:srgbClr val="1E293B"/>
                  </a:solidFill>
                  <a:latin typeface="Calibri" pitchFamily="34" charset="0"/>
                  <a:ea typeface="Calibri" pitchFamily="34" charset="-122"/>
                  <a:cs typeface="Calibri" pitchFamily="34" charset="-120"/>
                </a:rPr>
                <a:t>Price : highly skewed</a:t>
              </a:r>
              <a:endParaRPr lang="en-US" sz="1133" dirty="0"/>
            </a:p>
          </p:txBody>
        </p:sp>
        <p:sp>
          <p:nvSpPr>
            <p:cNvPr id="31" name="Text 28"/>
            <p:cNvSpPr/>
            <p:nvPr/>
          </p:nvSpPr>
          <p:spPr>
            <a:xfrm>
              <a:off x="6364224" y="2791968"/>
              <a:ext cx="5364480" cy="268224"/>
            </a:xfrm>
            <a:prstGeom prst="rect">
              <a:avLst/>
            </a:prstGeom>
            <a:noFill/>
            <a:ln/>
          </p:spPr>
          <p:txBody>
            <a:bodyPr wrap="square" lIns="0" tIns="0" rIns="0" bIns="0" rtlCol="0" anchor="ctr"/>
            <a:lstStyle/>
            <a:p>
              <a:r>
                <a:rPr lang="en-US" sz="1000" dirty="0">
                  <a:solidFill>
                    <a:srgbClr val="475569"/>
                  </a:solidFill>
                  <a:latin typeface="Calibri" pitchFamily="34" charset="0"/>
                  <a:ea typeface="Calibri" pitchFamily="34" charset="-122"/>
                  <a:cs typeface="Calibri" pitchFamily="34" charset="-120"/>
                </a:rPr>
                <a:t>$84 → $124,000 range · std of $28,604</a:t>
              </a:r>
              <a:endParaRPr lang="en-US" sz="1000" dirty="0"/>
            </a:p>
          </p:txBody>
        </p:sp>
      </p:grpSp>
      <p:grpSp>
        <p:nvGrpSpPr>
          <p:cNvPr id="61" name="Group 60">
            <a:extLst>
              <a:ext uri="{FF2B5EF4-FFF2-40B4-BE49-F238E27FC236}">
                <a16:creationId xmlns:a16="http://schemas.microsoft.com/office/drawing/2014/main" id="{A19C6127-0D9D-1F86-6228-BB2DF0C84921}"/>
              </a:ext>
            </a:extLst>
          </p:cNvPr>
          <p:cNvGrpSpPr/>
          <p:nvPr/>
        </p:nvGrpSpPr>
        <p:grpSpPr>
          <a:xfrm>
            <a:off x="6217920" y="3482402"/>
            <a:ext cx="5608320" cy="566928"/>
            <a:chOff x="6217920" y="3482402"/>
            <a:chExt cx="5608320" cy="566928"/>
          </a:xfrm>
        </p:grpSpPr>
        <p:sp>
          <p:nvSpPr>
            <p:cNvPr id="32" name="Shape 29"/>
            <p:cNvSpPr/>
            <p:nvPr/>
          </p:nvSpPr>
          <p:spPr>
            <a:xfrm>
              <a:off x="6217920" y="3482402"/>
              <a:ext cx="5608320" cy="566928"/>
            </a:xfrm>
            <a:prstGeom prst="rect">
              <a:avLst/>
            </a:prstGeom>
            <a:solidFill>
              <a:srgbClr val="F1F5F9"/>
            </a:solidFill>
            <a:ln w="12700">
              <a:solidFill>
                <a:srgbClr val="F59E0B"/>
              </a:solidFill>
              <a:prstDash val="solid"/>
            </a:ln>
          </p:spPr>
          <p:txBody>
            <a:bodyPr/>
            <a:lstStyle/>
            <a:p>
              <a:endParaRPr lang="en-DE" sz="2400"/>
            </a:p>
          </p:txBody>
        </p:sp>
        <p:sp>
          <p:nvSpPr>
            <p:cNvPr id="33" name="Shape 30"/>
            <p:cNvSpPr/>
            <p:nvPr/>
          </p:nvSpPr>
          <p:spPr>
            <a:xfrm>
              <a:off x="6217920" y="3482402"/>
              <a:ext cx="54864" cy="566928"/>
            </a:xfrm>
            <a:prstGeom prst="rect">
              <a:avLst/>
            </a:prstGeom>
            <a:solidFill>
              <a:srgbClr val="F59E0B"/>
            </a:solidFill>
            <a:ln w="12700">
              <a:solidFill>
                <a:srgbClr val="F59E0B"/>
              </a:solidFill>
              <a:prstDash val="solid"/>
            </a:ln>
          </p:spPr>
          <p:txBody>
            <a:bodyPr/>
            <a:lstStyle/>
            <a:p>
              <a:endParaRPr lang="en-DE" sz="2400"/>
            </a:p>
          </p:txBody>
        </p:sp>
        <p:sp>
          <p:nvSpPr>
            <p:cNvPr id="34" name="Text 31"/>
            <p:cNvSpPr/>
            <p:nvPr/>
          </p:nvSpPr>
          <p:spPr>
            <a:xfrm>
              <a:off x="6364224" y="3506786"/>
              <a:ext cx="5364480" cy="243840"/>
            </a:xfrm>
            <a:prstGeom prst="rect">
              <a:avLst/>
            </a:prstGeom>
            <a:noFill/>
            <a:ln/>
          </p:spPr>
          <p:txBody>
            <a:bodyPr wrap="square" lIns="0" tIns="0" rIns="0" bIns="0" rtlCol="0" anchor="ctr"/>
            <a:lstStyle/>
            <a:p>
              <a:r>
                <a:rPr lang="en-US" sz="1133" b="1" dirty="0">
                  <a:solidFill>
                    <a:srgbClr val="1E293B"/>
                  </a:solidFill>
                  <a:latin typeface="Calibri" pitchFamily="34" charset="0"/>
                  <a:ea typeface="Calibri" pitchFamily="34" charset="-122"/>
                  <a:cs typeface="Calibri" pitchFamily="34" charset="-120"/>
                </a:rPr>
                <a:t>VIX : fat tails</a:t>
              </a:r>
              <a:endParaRPr lang="en-US" sz="1133" dirty="0"/>
            </a:p>
          </p:txBody>
        </p:sp>
        <p:sp>
          <p:nvSpPr>
            <p:cNvPr id="35" name="Text 32"/>
            <p:cNvSpPr/>
            <p:nvPr/>
          </p:nvSpPr>
          <p:spPr>
            <a:xfrm>
              <a:off x="6364224" y="3762818"/>
              <a:ext cx="5364480" cy="268224"/>
            </a:xfrm>
            <a:prstGeom prst="rect">
              <a:avLst/>
            </a:prstGeom>
            <a:noFill/>
            <a:ln/>
          </p:spPr>
          <p:txBody>
            <a:bodyPr wrap="square" lIns="0" tIns="0" rIns="0" bIns="0" rtlCol="0" anchor="ctr"/>
            <a:lstStyle/>
            <a:p>
              <a:r>
                <a:rPr lang="en-US" sz="1000" dirty="0">
                  <a:solidFill>
                    <a:srgbClr val="475569"/>
                  </a:solidFill>
                  <a:latin typeface="Calibri" pitchFamily="34" charset="0"/>
                  <a:ea typeface="Calibri" pitchFamily="34" charset="-122"/>
                  <a:cs typeface="Calibri" pitchFamily="34" charset="-120"/>
                </a:rPr>
                <a:t>Mean 19 · peaked at 82 during COVID</a:t>
              </a:r>
            </a:p>
            <a:p>
              <a:r>
                <a:rPr lang="en-US" sz="1000" dirty="0">
                  <a:solidFill>
                    <a:srgbClr val="475569"/>
                  </a:solidFill>
                  <a:latin typeface="Calibri" pitchFamily="34" charset="0"/>
                  <a:ea typeface="Calibri" pitchFamily="34" charset="-122"/>
                  <a:cs typeface="Calibri" pitchFamily="34" charset="-120"/>
                </a:rPr>
                <a:t>Presence of outliers </a:t>
              </a:r>
              <a:endParaRPr lang="en-US" sz="1000" dirty="0"/>
            </a:p>
          </p:txBody>
        </p:sp>
      </p:grpSp>
      <p:grpSp>
        <p:nvGrpSpPr>
          <p:cNvPr id="63" name="Group 62">
            <a:extLst>
              <a:ext uri="{FF2B5EF4-FFF2-40B4-BE49-F238E27FC236}">
                <a16:creationId xmlns:a16="http://schemas.microsoft.com/office/drawing/2014/main" id="{AF986730-47D7-AE70-B751-9F64D979C7AB}"/>
              </a:ext>
            </a:extLst>
          </p:cNvPr>
          <p:cNvGrpSpPr/>
          <p:nvPr/>
        </p:nvGrpSpPr>
        <p:grpSpPr>
          <a:xfrm>
            <a:off x="6217920" y="4443307"/>
            <a:ext cx="5608320" cy="573701"/>
            <a:chOff x="6217920" y="4443307"/>
            <a:chExt cx="5608320" cy="573701"/>
          </a:xfrm>
        </p:grpSpPr>
        <p:sp>
          <p:nvSpPr>
            <p:cNvPr id="40" name="Shape 37"/>
            <p:cNvSpPr/>
            <p:nvPr/>
          </p:nvSpPr>
          <p:spPr>
            <a:xfrm>
              <a:off x="6217920" y="4443307"/>
              <a:ext cx="5608320" cy="566928"/>
            </a:xfrm>
            <a:prstGeom prst="rect">
              <a:avLst/>
            </a:prstGeom>
            <a:solidFill>
              <a:srgbClr val="F1F5F9"/>
            </a:solidFill>
            <a:ln w="12700">
              <a:solidFill>
                <a:srgbClr val="00D4AA"/>
              </a:solidFill>
              <a:prstDash val="solid"/>
            </a:ln>
          </p:spPr>
          <p:txBody>
            <a:bodyPr/>
            <a:lstStyle/>
            <a:p>
              <a:endParaRPr lang="en-DE" sz="2400"/>
            </a:p>
          </p:txBody>
        </p:sp>
        <p:sp>
          <p:nvSpPr>
            <p:cNvPr id="41" name="Shape 38"/>
            <p:cNvSpPr/>
            <p:nvPr/>
          </p:nvSpPr>
          <p:spPr>
            <a:xfrm>
              <a:off x="6217920" y="4450080"/>
              <a:ext cx="54864" cy="566928"/>
            </a:xfrm>
            <a:prstGeom prst="rect">
              <a:avLst/>
            </a:prstGeom>
            <a:solidFill>
              <a:srgbClr val="00D4AA"/>
            </a:solidFill>
            <a:ln w="12700">
              <a:solidFill>
                <a:srgbClr val="00D4AA"/>
              </a:solidFill>
              <a:prstDash val="solid"/>
            </a:ln>
          </p:spPr>
          <p:txBody>
            <a:bodyPr/>
            <a:lstStyle/>
            <a:p>
              <a:endParaRPr lang="en-DE" sz="2400"/>
            </a:p>
          </p:txBody>
        </p:sp>
        <p:sp>
          <p:nvSpPr>
            <p:cNvPr id="42" name="Text 39"/>
            <p:cNvSpPr/>
            <p:nvPr/>
          </p:nvSpPr>
          <p:spPr>
            <a:xfrm>
              <a:off x="6364224" y="4474464"/>
              <a:ext cx="5364480" cy="243840"/>
            </a:xfrm>
            <a:prstGeom prst="rect">
              <a:avLst/>
            </a:prstGeom>
            <a:noFill/>
            <a:ln/>
          </p:spPr>
          <p:txBody>
            <a:bodyPr wrap="square" lIns="0" tIns="0" rIns="0" bIns="0" rtlCol="0" anchor="ctr"/>
            <a:lstStyle/>
            <a:p>
              <a:r>
                <a:rPr lang="en-US" sz="1133" b="1" dirty="0">
                  <a:solidFill>
                    <a:srgbClr val="1E293B"/>
                  </a:solidFill>
                  <a:latin typeface="Calibri" pitchFamily="34" charset="0"/>
                  <a:ea typeface="Calibri" pitchFamily="34" charset="-122"/>
                  <a:cs typeface="Calibri" pitchFamily="34" charset="-120"/>
                </a:rPr>
                <a:t>Fear &amp; Greed — healthy</a:t>
              </a:r>
              <a:endParaRPr lang="en-US" sz="1133" dirty="0"/>
            </a:p>
          </p:txBody>
        </p:sp>
        <p:sp>
          <p:nvSpPr>
            <p:cNvPr id="43" name="Text 40"/>
            <p:cNvSpPr/>
            <p:nvPr/>
          </p:nvSpPr>
          <p:spPr>
            <a:xfrm>
              <a:off x="6364224" y="4730496"/>
              <a:ext cx="5364480" cy="268224"/>
            </a:xfrm>
            <a:prstGeom prst="rect">
              <a:avLst/>
            </a:prstGeom>
            <a:noFill/>
            <a:ln/>
          </p:spPr>
          <p:txBody>
            <a:bodyPr wrap="square" lIns="0" tIns="0" rIns="0" bIns="0" rtlCol="0" anchor="ctr"/>
            <a:lstStyle/>
            <a:p>
              <a:r>
                <a:rPr lang="en-US" sz="1000" dirty="0">
                  <a:solidFill>
                    <a:srgbClr val="475569"/>
                  </a:solidFill>
                  <a:latin typeface="Calibri" pitchFamily="34" charset="0"/>
                  <a:ea typeface="Calibri" pitchFamily="34" charset="-122"/>
                  <a:cs typeface="Calibri" pitchFamily="34" charset="-120"/>
                </a:rPr>
                <a:t>Mean 47 · full range 5 → 95 used</a:t>
              </a:r>
              <a:endParaRPr lang="en-US" sz="1000" dirty="0"/>
            </a:p>
            <a:p>
              <a:r>
                <a:rPr lang="en-US" sz="1000" dirty="0">
                  <a:solidFill>
                    <a:srgbClr val="475569"/>
                  </a:solidFill>
                  <a:latin typeface="Calibri" pitchFamily="34" charset="0"/>
                  <a:ea typeface="Calibri" pitchFamily="34" charset="-122"/>
                  <a:cs typeface="Calibri" pitchFamily="34" charset="-120"/>
                </a:rPr>
                <a:t>Slightly fear-leaning on average</a:t>
              </a:r>
              <a:endParaRPr lang="en-US" sz="1000" dirty="0"/>
            </a:p>
          </p:txBody>
        </p:sp>
      </p:grpSp>
      <p:sp>
        <p:nvSpPr>
          <p:cNvPr id="44" name="Text 41"/>
          <p:cNvSpPr/>
          <p:nvPr/>
        </p:nvSpPr>
        <p:spPr>
          <a:xfrm>
            <a:off x="365760" y="5242560"/>
            <a:ext cx="11460480" cy="243840"/>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MISSING DATA</a:t>
            </a:r>
            <a:endParaRPr lang="en-US" sz="1133" dirty="0"/>
          </a:p>
        </p:txBody>
      </p:sp>
      <p:grpSp>
        <p:nvGrpSpPr>
          <p:cNvPr id="39" name="Group 38">
            <a:extLst>
              <a:ext uri="{FF2B5EF4-FFF2-40B4-BE49-F238E27FC236}">
                <a16:creationId xmlns:a16="http://schemas.microsoft.com/office/drawing/2014/main" id="{185D525A-83A2-C766-2829-A5623D72ACFE}"/>
              </a:ext>
            </a:extLst>
          </p:cNvPr>
          <p:cNvGrpSpPr/>
          <p:nvPr/>
        </p:nvGrpSpPr>
        <p:grpSpPr>
          <a:xfrm>
            <a:off x="365760" y="5510784"/>
            <a:ext cx="11436096" cy="755904"/>
            <a:chOff x="365760" y="5510784"/>
            <a:chExt cx="11436096" cy="755904"/>
          </a:xfrm>
        </p:grpSpPr>
        <p:sp>
          <p:nvSpPr>
            <p:cNvPr id="45" name="Shape 42"/>
            <p:cNvSpPr/>
            <p:nvPr/>
          </p:nvSpPr>
          <p:spPr>
            <a:xfrm>
              <a:off x="365760" y="5510784"/>
              <a:ext cx="5608320" cy="755904"/>
            </a:xfrm>
            <a:prstGeom prst="rect">
              <a:avLst/>
            </a:prstGeom>
            <a:solidFill>
              <a:srgbClr val="F1F5F9"/>
            </a:solidFill>
            <a:ln w="15240">
              <a:solidFill>
                <a:srgbClr val="627EEA"/>
              </a:solidFill>
              <a:prstDash val="solid"/>
            </a:ln>
          </p:spPr>
          <p:txBody>
            <a:bodyPr/>
            <a:lstStyle/>
            <a:p>
              <a:endParaRPr lang="en-DE" sz="2400"/>
            </a:p>
          </p:txBody>
        </p:sp>
        <p:sp>
          <p:nvSpPr>
            <p:cNvPr id="46" name="Shape 43"/>
            <p:cNvSpPr/>
            <p:nvPr/>
          </p:nvSpPr>
          <p:spPr>
            <a:xfrm>
              <a:off x="365760" y="5510784"/>
              <a:ext cx="5608320" cy="60960"/>
            </a:xfrm>
            <a:prstGeom prst="rect">
              <a:avLst/>
            </a:prstGeom>
            <a:solidFill>
              <a:srgbClr val="627EEA"/>
            </a:solidFill>
            <a:ln w="12700">
              <a:solidFill>
                <a:srgbClr val="627EEA"/>
              </a:solidFill>
              <a:prstDash val="solid"/>
            </a:ln>
          </p:spPr>
          <p:txBody>
            <a:bodyPr/>
            <a:lstStyle/>
            <a:p>
              <a:endParaRPr lang="en-DE" sz="2400"/>
            </a:p>
          </p:txBody>
        </p:sp>
        <p:sp>
          <p:nvSpPr>
            <p:cNvPr id="47" name="Shape 44"/>
            <p:cNvSpPr/>
            <p:nvPr/>
          </p:nvSpPr>
          <p:spPr>
            <a:xfrm>
              <a:off x="487680" y="5632704"/>
              <a:ext cx="682752" cy="512064"/>
            </a:xfrm>
            <a:prstGeom prst="rect">
              <a:avLst/>
            </a:prstGeom>
            <a:solidFill>
              <a:srgbClr val="627EEA"/>
            </a:solidFill>
            <a:ln w="12700">
              <a:solidFill>
                <a:srgbClr val="627EEA"/>
              </a:solidFill>
              <a:prstDash val="solid"/>
            </a:ln>
          </p:spPr>
          <p:txBody>
            <a:bodyPr/>
            <a:lstStyle/>
            <a:p>
              <a:endParaRPr lang="en-DE" sz="2400"/>
            </a:p>
          </p:txBody>
        </p:sp>
        <p:sp>
          <p:nvSpPr>
            <p:cNvPr id="48" name="Text 45"/>
            <p:cNvSpPr/>
            <p:nvPr/>
          </p:nvSpPr>
          <p:spPr>
            <a:xfrm>
              <a:off x="487680" y="5632704"/>
              <a:ext cx="682752" cy="512064"/>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31%</a:t>
              </a:r>
              <a:endParaRPr lang="en-US" sz="1867" dirty="0"/>
            </a:p>
          </p:txBody>
        </p:sp>
        <p:sp>
          <p:nvSpPr>
            <p:cNvPr id="49" name="Text 46"/>
            <p:cNvSpPr/>
            <p:nvPr/>
          </p:nvSpPr>
          <p:spPr>
            <a:xfrm>
              <a:off x="1267968" y="5608320"/>
              <a:ext cx="4608576" cy="268224"/>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SPY · DXY · VIX</a:t>
              </a:r>
              <a:endParaRPr lang="en-US" sz="1200" dirty="0"/>
            </a:p>
          </p:txBody>
        </p:sp>
        <p:sp>
          <p:nvSpPr>
            <p:cNvPr id="50" name="Text 47"/>
            <p:cNvSpPr/>
            <p:nvPr/>
          </p:nvSpPr>
          <p:spPr>
            <a:xfrm>
              <a:off x="1267968" y="5876544"/>
              <a:ext cx="4608576" cy="195072"/>
            </a:xfrm>
            <a:prstGeom prst="rect">
              <a:avLst/>
            </a:prstGeom>
            <a:noFill/>
            <a:ln/>
          </p:spPr>
          <p:txBody>
            <a:bodyPr wrap="square" lIns="0" tIns="0" rIns="0" bIns="0" rtlCol="0" anchor="t"/>
            <a:lstStyle/>
            <a:p>
              <a:r>
                <a:rPr lang="en-US" sz="1000" dirty="0">
                  <a:solidFill>
                    <a:srgbClr val="475569"/>
                  </a:solidFill>
                  <a:latin typeface="Calibri" pitchFamily="34" charset="0"/>
                  <a:ea typeface="Calibri" pitchFamily="34" charset="-122"/>
                  <a:cs typeface="Calibri" pitchFamily="34" charset="-120"/>
                </a:rPr>
                <a:t>Why: No stock market data on weekends &amp; holidays purely structural gap</a:t>
              </a:r>
              <a:endParaRPr lang="en-US" sz="1000" dirty="0"/>
            </a:p>
          </p:txBody>
        </p:sp>
        <p:sp>
          <p:nvSpPr>
            <p:cNvPr id="52" name="Shape 49"/>
            <p:cNvSpPr/>
            <p:nvPr/>
          </p:nvSpPr>
          <p:spPr>
            <a:xfrm>
              <a:off x="6193536" y="5510784"/>
              <a:ext cx="5608320" cy="755904"/>
            </a:xfrm>
            <a:prstGeom prst="rect">
              <a:avLst/>
            </a:prstGeom>
            <a:solidFill>
              <a:srgbClr val="F1F5F9"/>
            </a:solidFill>
            <a:ln w="15240">
              <a:solidFill>
                <a:srgbClr val="00D4AA"/>
              </a:solidFill>
              <a:prstDash val="solid"/>
            </a:ln>
          </p:spPr>
          <p:txBody>
            <a:bodyPr/>
            <a:lstStyle/>
            <a:p>
              <a:endParaRPr lang="en-DE" sz="2400"/>
            </a:p>
          </p:txBody>
        </p:sp>
        <p:sp>
          <p:nvSpPr>
            <p:cNvPr id="53" name="Shape 50"/>
            <p:cNvSpPr/>
            <p:nvPr/>
          </p:nvSpPr>
          <p:spPr>
            <a:xfrm>
              <a:off x="6193536" y="5510784"/>
              <a:ext cx="5608320" cy="60960"/>
            </a:xfrm>
            <a:prstGeom prst="rect">
              <a:avLst/>
            </a:prstGeom>
            <a:solidFill>
              <a:srgbClr val="00D4AA"/>
            </a:solidFill>
            <a:ln w="12700">
              <a:solidFill>
                <a:srgbClr val="00D4AA"/>
              </a:solidFill>
              <a:prstDash val="solid"/>
            </a:ln>
          </p:spPr>
          <p:txBody>
            <a:bodyPr/>
            <a:lstStyle/>
            <a:p>
              <a:endParaRPr lang="en-DE" sz="2400"/>
            </a:p>
          </p:txBody>
        </p:sp>
        <p:sp>
          <p:nvSpPr>
            <p:cNvPr id="54" name="Shape 51"/>
            <p:cNvSpPr/>
            <p:nvPr/>
          </p:nvSpPr>
          <p:spPr>
            <a:xfrm>
              <a:off x="6315456" y="5632704"/>
              <a:ext cx="682752" cy="512064"/>
            </a:xfrm>
            <a:prstGeom prst="rect">
              <a:avLst/>
            </a:prstGeom>
            <a:solidFill>
              <a:srgbClr val="00D4AA"/>
            </a:solidFill>
            <a:ln w="12700">
              <a:solidFill>
                <a:srgbClr val="00D4AA"/>
              </a:solidFill>
              <a:prstDash val="solid"/>
            </a:ln>
          </p:spPr>
          <p:txBody>
            <a:bodyPr/>
            <a:lstStyle/>
            <a:p>
              <a:endParaRPr lang="en-DE" sz="2400"/>
            </a:p>
          </p:txBody>
        </p:sp>
        <p:sp>
          <p:nvSpPr>
            <p:cNvPr id="55" name="Text 52"/>
            <p:cNvSpPr/>
            <p:nvPr/>
          </p:nvSpPr>
          <p:spPr>
            <a:xfrm>
              <a:off x="6315456" y="5632704"/>
              <a:ext cx="682752" cy="512064"/>
            </a:xfrm>
            <a:prstGeom prst="rect">
              <a:avLst/>
            </a:prstGeom>
            <a:noFill/>
            <a:ln/>
          </p:spPr>
          <p:txBody>
            <a:bodyPr wrap="square" lIns="0" tIns="0" rIns="0" bIns="0" rtlCol="0" anchor="ctr"/>
            <a:lstStyle/>
            <a:p>
              <a:pPr algn="ctr"/>
              <a:r>
                <a:rPr lang="en-US" sz="1867" b="1" dirty="0">
                  <a:solidFill>
                    <a:srgbClr val="FFFFFF"/>
                  </a:solidFill>
                  <a:latin typeface="Calibri" pitchFamily="34" charset="0"/>
                  <a:ea typeface="Calibri" pitchFamily="34" charset="-122"/>
                  <a:cs typeface="Calibri" pitchFamily="34" charset="-120"/>
                </a:rPr>
                <a:t>7.7%</a:t>
              </a:r>
              <a:endParaRPr lang="en-US" sz="1867" dirty="0"/>
            </a:p>
          </p:txBody>
        </p:sp>
        <p:sp>
          <p:nvSpPr>
            <p:cNvPr id="56" name="Text 53"/>
            <p:cNvSpPr/>
            <p:nvPr/>
          </p:nvSpPr>
          <p:spPr>
            <a:xfrm>
              <a:off x="7095744" y="5608320"/>
              <a:ext cx="4608576" cy="268224"/>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Fear &amp; Greed</a:t>
              </a:r>
              <a:endParaRPr lang="en-US" sz="1200" dirty="0"/>
            </a:p>
          </p:txBody>
        </p:sp>
        <p:sp>
          <p:nvSpPr>
            <p:cNvPr id="57" name="Text 54"/>
            <p:cNvSpPr/>
            <p:nvPr/>
          </p:nvSpPr>
          <p:spPr>
            <a:xfrm>
              <a:off x="7095744" y="5876544"/>
              <a:ext cx="4608576" cy="195072"/>
            </a:xfrm>
            <a:prstGeom prst="rect">
              <a:avLst/>
            </a:prstGeom>
            <a:noFill/>
            <a:ln/>
          </p:spPr>
          <p:txBody>
            <a:bodyPr wrap="square" lIns="0" tIns="0" rIns="0" bIns="0" rtlCol="0" anchor="t"/>
            <a:lstStyle/>
            <a:p>
              <a:r>
                <a:rPr lang="en-US" sz="1000" dirty="0">
                  <a:solidFill>
                    <a:srgbClr val="475569"/>
                  </a:solidFill>
                  <a:latin typeface="Calibri" pitchFamily="34" charset="0"/>
                  <a:ea typeface="Calibri" pitchFamily="34" charset="-122"/>
                  <a:cs typeface="Calibri" pitchFamily="34" charset="-120"/>
                </a:rPr>
                <a:t>Why: Index only starts in February 2018  nothing missing after that</a:t>
              </a:r>
              <a:endParaRPr lang="en-US" sz="10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par>
                                <p:cTn id="11" presetID="10" presetClass="entr" presetSubtype="0" fill="hold"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500"/>
                                        <p:tgtEl>
                                          <p:spTgt spid="51"/>
                                        </p:tgtEl>
                                      </p:cBhvr>
                                    </p:animEffect>
                                  </p:childTnLst>
                                </p:cTn>
                              </p:par>
                              <p:par>
                                <p:cTn id="14" presetID="10" presetClass="entr" presetSubtype="0" fill="hold" nodeType="with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500"/>
                                        <p:tgtEl>
                                          <p:spTgt spid="58"/>
                                        </p:tgtEl>
                                      </p:cBhvr>
                                    </p:animEffect>
                                  </p:childTnLst>
                                </p:cTn>
                              </p:par>
                              <p:par>
                                <p:cTn id="17" presetID="10" presetClass="entr" presetSubtype="0"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500"/>
                                        <p:tgtEl>
                                          <p:spTgt spid="6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5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par>
                                <p:cTn id="33" presetID="10" presetClass="entr" presetSubtype="0" fill="hold" nodeType="withEffect">
                                  <p:stCondLst>
                                    <p:cond delay="0"/>
                                  </p:stCondLst>
                                  <p:childTnLst>
                                    <p:set>
                                      <p:cBhvr>
                                        <p:cTn id="34" dur="1" fill="hold">
                                          <p:stCondLst>
                                            <p:cond delay="0"/>
                                          </p:stCondLst>
                                        </p:cTn>
                                        <p:tgtEl>
                                          <p:spTgt spid="62"/>
                                        </p:tgtEl>
                                        <p:attrNameLst>
                                          <p:attrName>style.visibility</p:attrName>
                                        </p:attrNameLst>
                                      </p:cBhvr>
                                      <p:to>
                                        <p:strVal val="visible"/>
                                      </p:to>
                                    </p:set>
                                    <p:animEffect transition="in" filter="fade">
                                      <p:cBhvr>
                                        <p:cTn id="35" dur="500"/>
                                        <p:tgtEl>
                                          <p:spTgt spid="62"/>
                                        </p:tgtEl>
                                      </p:cBhvr>
                                    </p:animEffect>
                                  </p:childTnLst>
                                </p:cTn>
                              </p:par>
                              <p:par>
                                <p:cTn id="36" presetID="10" presetClass="entr" presetSubtype="0" fill="hold" nodeType="withEffect">
                                  <p:stCondLst>
                                    <p:cond delay="0"/>
                                  </p:stCondLst>
                                  <p:childTnLst>
                                    <p:set>
                                      <p:cBhvr>
                                        <p:cTn id="37" dur="1" fill="hold">
                                          <p:stCondLst>
                                            <p:cond delay="0"/>
                                          </p:stCondLst>
                                        </p:cTn>
                                        <p:tgtEl>
                                          <p:spTgt spid="61"/>
                                        </p:tgtEl>
                                        <p:attrNameLst>
                                          <p:attrName>style.visibility</p:attrName>
                                        </p:attrNameLst>
                                      </p:cBhvr>
                                      <p:to>
                                        <p:strVal val="visible"/>
                                      </p:to>
                                    </p:set>
                                    <p:animEffect transition="in" filter="fade">
                                      <p:cBhvr>
                                        <p:cTn id="38" dur="500"/>
                                        <p:tgtEl>
                                          <p:spTgt spid="61"/>
                                        </p:tgtEl>
                                      </p:cBhvr>
                                    </p:animEffect>
                                  </p:childTnLst>
                                </p:cTn>
                              </p:par>
                              <p:par>
                                <p:cTn id="39" presetID="10" presetClass="entr" presetSubtype="0" fill="hold" nodeType="withEffect">
                                  <p:stCondLst>
                                    <p:cond delay="0"/>
                                  </p:stCondLst>
                                  <p:childTnLst>
                                    <p:set>
                                      <p:cBhvr>
                                        <p:cTn id="40" dur="1" fill="hold">
                                          <p:stCondLst>
                                            <p:cond delay="0"/>
                                          </p:stCondLst>
                                        </p:cTn>
                                        <p:tgtEl>
                                          <p:spTgt spid="63"/>
                                        </p:tgtEl>
                                        <p:attrNameLst>
                                          <p:attrName>style.visibility</p:attrName>
                                        </p:attrNameLst>
                                      </p:cBhvr>
                                      <p:to>
                                        <p:strVal val="visible"/>
                                      </p:to>
                                    </p:set>
                                    <p:animEffect transition="in" filter="fade">
                                      <p:cBhvr>
                                        <p:cTn id="41" dur="500"/>
                                        <p:tgtEl>
                                          <p:spTgt spid="63"/>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5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animEffect transition="in" filter="fade">
                                      <p:cBhvr>
                                        <p:cTn id="49"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5" grpId="0" animBg="1"/>
      <p:bldP spid="26" grpId="0" animBg="1"/>
      <p:bldP spid="4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0BC23194-EDE7-C14D-FD0E-20BDE2194F9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2926F56-BC10-FA8A-5B16-259F43157E3D}"/>
              </a:ext>
            </a:extLst>
          </p:cNvPr>
          <p:cNvSpPr/>
          <p:nvPr/>
        </p:nvSpPr>
        <p:spPr>
          <a:xfrm>
            <a:off x="365760" y="121920"/>
            <a:ext cx="11460480" cy="536448"/>
          </a:xfrm>
          <a:prstGeom prst="rect">
            <a:avLst/>
          </a:prstGeom>
          <a:noFill/>
          <a:ln/>
        </p:spPr>
        <p:txBody>
          <a:bodyPr wrap="square" lIns="0" tIns="0" rIns="0" bIns="0" rtlCol="0" anchor="ctr"/>
          <a:lstStyle/>
          <a:p>
            <a:pPr algn="ctr"/>
            <a:r>
              <a:rPr lang="en-US" sz="2667" dirty="0">
                <a:solidFill>
                  <a:srgbClr val="132238"/>
                </a:solidFill>
                <a:latin typeface="Calibri" pitchFamily="34" charset="0"/>
                <a:ea typeface="Calibri" pitchFamily="34" charset="-122"/>
                <a:cs typeface="Calibri" pitchFamily="34" charset="-120"/>
              </a:rPr>
              <a:t>Data Sources, Preprocessing and Feature Engineering</a:t>
            </a:r>
            <a:endParaRPr lang="en-US" sz="2667" dirty="0"/>
          </a:p>
        </p:txBody>
      </p:sp>
      <p:sp>
        <p:nvSpPr>
          <p:cNvPr id="4" name="Text 2">
            <a:extLst>
              <a:ext uri="{FF2B5EF4-FFF2-40B4-BE49-F238E27FC236}">
                <a16:creationId xmlns:a16="http://schemas.microsoft.com/office/drawing/2014/main" id="{59FF81DA-C0E1-F1D9-A258-389F0C2DDAE3}"/>
              </a:ext>
            </a:extLst>
          </p:cNvPr>
          <p:cNvSpPr/>
          <p:nvPr/>
        </p:nvSpPr>
        <p:spPr>
          <a:xfrm>
            <a:off x="365760" y="792480"/>
            <a:ext cx="4876800" cy="268224"/>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DATA SOURCES</a:t>
            </a:r>
            <a:endParaRPr lang="en-US" sz="1133" dirty="0"/>
          </a:p>
        </p:txBody>
      </p:sp>
      <p:grpSp>
        <p:nvGrpSpPr>
          <p:cNvPr id="53" name="Group 52">
            <a:extLst>
              <a:ext uri="{FF2B5EF4-FFF2-40B4-BE49-F238E27FC236}">
                <a16:creationId xmlns:a16="http://schemas.microsoft.com/office/drawing/2014/main" id="{F43BE430-1BA7-23B2-C37E-6A75708D85B1}"/>
              </a:ext>
            </a:extLst>
          </p:cNvPr>
          <p:cNvGrpSpPr/>
          <p:nvPr/>
        </p:nvGrpSpPr>
        <p:grpSpPr>
          <a:xfrm>
            <a:off x="365760" y="1121664"/>
            <a:ext cx="2779776" cy="1438656"/>
            <a:chOff x="365760" y="1121664"/>
            <a:chExt cx="2779776" cy="1438656"/>
          </a:xfrm>
        </p:grpSpPr>
        <p:sp>
          <p:nvSpPr>
            <p:cNvPr id="5" name="Shape 3">
              <a:extLst>
                <a:ext uri="{FF2B5EF4-FFF2-40B4-BE49-F238E27FC236}">
                  <a16:creationId xmlns:a16="http://schemas.microsoft.com/office/drawing/2014/main" id="{31110D3A-3667-520D-7B52-3C6EB61DA7B7}"/>
                </a:ext>
              </a:extLst>
            </p:cNvPr>
            <p:cNvSpPr/>
            <p:nvPr/>
          </p:nvSpPr>
          <p:spPr>
            <a:xfrm>
              <a:off x="365760" y="1121664"/>
              <a:ext cx="2779776" cy="1438656"/>
            </a:xfrm>
            <a:prstGeom prst="rect">
              <a:avLst/>
            </a:prstGeom>
            <a:solidFill>
              <a:srgbClr val="F1F5F9"/>
            </a:solidFill>
            <a:ln w="15240">
              <a:solidFill>
                <a:srgbClr val="F7931A"/>
              </a:solidFill>
              <a:prstDash val="solid"/>
            </a:ln>
            <a:effectLst>
              <a:outerShdw blurRad="50800" dist="12700" dir="8100000" algn="bl" rotWithShape="0">
                <a:srgbClr val="000000">
                  <a:alpha val="6000"/>
                </a:srgbClr>
              </a:outerShdw>
            </a:effectLst>
          </p:spPr>
          <p:txBody>
            <a:bodyPr/>
            <a:lstStyle/>
            <a:p>
              <a:endParaRPr lang="en-DE" sz="2400"/>
            </a:p>
          </p:txBody>
        </p:sp>
        <p:sp>
          <p:nvSpPr>
            <p:cNvPr id="6" name="Shape 4">
              <a:extLst>
                <a:ext uri="{FF2B5EF4-FFF2-40B4-BE49-F238E27FC236}">
                  <a16:creationId xmlns:a16="http://schemas.microsoft.com/office/drawing/2014/main" id="{CD028B5F-98E2-5A53-CA8D-9E36AD4C2096}"/>
                </a:ext>
              </a:extLst>
            </p:cNvPr>
            <p:cNvSpPr/>
            <p:nvPr/>
          </p:nvSpPr>
          <p:spPr>
            <a:xfrm>
              <a:off x="365760" y="1121664"/>
              <a:ext cx="67056" cy="1438656"/>
            </a:xfrm>
            <a:prstGeom prst="rect">
              <a:avLst/>
            </a:prstGeom>
            <a:solidFill>
              <a:srgbClr val="F7931A"/>
            </a:solidFill>
            <a:ln w="12700">
              <a:solidFill>
                <a:srgbClr val="F7931A"/>
              </a:solidFill>
              <a:prstDash val="solid"/>
            </a:ln>
          </p:spPr>
          <p:txBody>
            <a:bodyPr/>
            <a:lstStyle/>
            <a:p>
              <a:endParaRPr lang="en-DE" sz="2400"/>
            </a:p>
          </p:txBody>
        </p:sp>
        <p:sp>
          <p:nvSpPr>
            <p:cNvPr id="7" name="Text 5">
              <a:extLst>
                <a:ext uri="{FF2B5EF4-FFF2-40B4-BE49-F238E27FC236}">
                  <a16:creationId xmlns:a16="http://schemas.microsoft.com/office/drawing/2014/main" id="{AB675531-F349-70A7-F180-B02C772CCDF9}"/>
                </a:ext>
              </a:extLst>
            </p:cNvPr>
            <p:cNvSpPr/>
            <p:nvPr/>
          </p:nvSpPr>
          <p:spPr>
            <a:xfrm>
              <a:off x="487680" y="1219200"/>
              <a:ext cx="426720" cy="365760"/>
            </a:xfrm>
            <a:prstGeom prst="rect">
              <a:avLst/>
            </a:prstGeom>
            <a:noFill/>
            <a:ln/>
          </p:spPr>
          <p:txBody>
            <a:bodyPr wrap="square" lIns="0" tIns="0" rIns="0" bIns="0" rtlCol="0" anchor="ctr"/>
            <a:lstStyle/>
            <a:p>
              <a:pPr algn="ctr"/>
              <a:r>
                <a:rPr lang="en-US" sz="1867" dirty="0">
                  <a:solidFill>
                    <a:srgbClr val="F7931A"/>
                  </a:solidFill>
                  <a:latin typeface="Calibri" pitchFamily="34" charset="0"/>
                  <a:ea typeface="Calibri" pitchFamily="34" charset="-122"/>
                  <a:cs typeface="Calibri" pitchFamily="34" charset="-120"/>
                </a:rPr>
                <a:t>₿</a:t>
              </a:r>
              <a:endParaRPr lang="en-US" sz="1867" dirty="0"/>
            </a:p>
          </p:txBody>
        </p:sp>
        <p:sp>
          <p:nvSpPr>
            <p:cNvPr id="8" name="Text 6">
              <a:extLst>
                <a:ext uri="{FF2B5EF4-FFF2-40B4-BE49-F238E27FC236}">
                  <a16:creationId xmlns:a16="http://schemas.microsoft.com/office/drawing/2014/main" id="{C6D8ED61-35AF-838D-9158-1F3A0FF61D7F}"/>
                </a:ext>
              </a:extLst>
            </p:cNvPr>
            <p:cNvSpPr/>
            <p:nvPr/>
          </p:nvSpPr>
          <p:spPr>
            <a:xfrm>
              <a:off x="950976" y="1219200"/>
              <a:ext cx="2097024" cy="341376"/>
            </a:xfrm>
            <a:prstGeom prst="rect">
              <a:avLst/>
            </a:prstGeom>
            <a:noFill/>
            <a:ln/>
          </p:spPr>
          <p:txBody>
            <a:bodyPr wrap="square" lIns="0" tIns="0" rIns="0" bIns="0" rtlCol="0" anchor="ctr"/>
            <a:lstStyle/>
            <a:p>
              <a:r>
                <a:rPr lang="en-US" sz="1200" b="1" dirty="0">
                  <a:solidFill>
                    <a:srgbClr val="132238"/>
                  </a:solidFill>
                  <a:latin typeface="Calibri" pitchFamily="34" charset="0"/>
                  <a:ea typeface="Calibri" pitchFamily="34" charset="-122"/>
                  <a:cs typeface="Calibri" pitchFamily="34" charset="-120"/>
                </a:rPr>
                <a:t>yfinance — Prices</a:t>
              </a:r>
              <a:endParaRPr lang="en-US" sz="1200" dirty="0"/>
            </a:p>
          </p:txBody>
        </p:sp>
        <p:sp>
          <p:nvSpPr>
            <p:cNvPr id="9" name="Text 7">
              <a:extLst>
                <a:ext uri="{FF2B5EF4-FFF2-40B4-BE49-F238E27FC236}">
                  <a16:creationId xmlns:a16="http://schemas.microsoft.com/office/drawing/2014/main" id="{D513FEAE-AA13-19F2-89B8-DC742EE73B33}"/>
                </a:ext>
              </a:extLst>
            </p:cNvPr>
            <p:cNvSpPr/>
            <p:nvPr/>
          </p:nvSpPr>
          <p:spPr>
            <a:xfrm>
              <a:off x="487680" y="1633728"/>
              <a:ext cx="2560320" cy="829056"/>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BTC &amp; ETH daily OHLCV prices</a:t>
              </a:r>
              <a:endParaRPr lang="en-US" sz="1067" dirty="0"/>
            </a:p>
            <a:p>
              <a:r>
                <a:rPr lang="en-US" sz="1067" dirty="0">
                  <a:solidFill>
                    <a:srgbClr val="475569"/>
                  </a:solidFill>
                  <a:latin typeface="Calibri" pitchFamily="34" charset="0"/>
                  <a:ea typeface="Calibri" pitchFamily="34" charset="-122"/>
                  <a:cs typeface="Calibri" pitchFamily="34" charset="-120"/>
                </a:rPr>
                <a:t>Volume · History from 2017</a:t>
              </a:r>
              <a:endParaRPr lang="en-US" sz="1067" dirty="0"/>
            </a:p>
            <a:p>
              <a:r>
                <a:rPr lang="en-US" sz="1067" dirty="0">
                  <a:solidFill>
                    <a:srgbClr val="475569"/>
                  </a:solidFill>
                  <a:latin typeface="Calibri" pitchFamily="34" charset="0"/>
                  <a:ea typeface="Calibri" pitchFamily="34" charset="-122"/>
                  <a:cs typeface="Calibri" pitchFamily="34" charset="-120"/>
                </a:rPr>
                <a:t>Updated daily</a:t>
              </a:r>
              <a:endParaRPr lang="en-US" sz="1067" dirty="0"/>
            </a:p>
          </p:txBody>
        </p:sp>
      </p:grpSp>
      <p:grpSp>
        <p:nvGrpSpPr>
          <p:cNvPr id="58" name="Group 57">
            <a:extLst>
              <a:ext uri="{FF2B5EF4-FFF2-40B4-BE49-F238E27FC236}">
                <a16:creationId xmlns:a16="http://schemas.microsoft.com/office/drawing/2014/main" id="{540504D0-A0E1-839E-4045-57EEC6535647}"/>
              </a:ext>
            </a:extLst>
          </p:cNvPr>
          <p:cNvGrpSpPr/>
          <p:nvPr/>
        </p:nvGrpSpPr>
        <p:grpSpPr>
          <a:xfrm>
            <a:off x="3328416" y="1121664"/>
            <a:ext cx="5742432" cy="1438656"/>
            <a:chOff x="3328416" y="1121664"/>
            <a:chExt cx="5742432" cy="1438656"/>
          </a:xfrm>
        </p:grpSpPr>
        <p:grpSp>
          <p:nvGrpSpPr>
            <p:cNvPr id="57" name="Group 56">
              <a:extLst>
                <a:ext uri="{FF2B5EF4-FFF2-40B4-BE49-F238E27FC236}">
                  <a16:creationId xmlns:a16="http://schemas.microsoft.com/office/drawing/2014/main" id="{568E48A8-5E92-1415-D010-DD999A9829FB}"/>
                </a:ext>
              </a:extLst>
            </p:cNvPr>
            <p:cNvGrpSpPr/>
            <p:nvPr/>
          </p:nvGrpSpPr>
          <p:grpSpPr>
            <a:xfrm>
              <a:off x="3328416" y="1121664"/>
              <a:ext cx="2779776" cy="1438656"/>
              <a:chOff x="3328416" y="1121664"/>
              <a:chExt cx="2779776" cy="1438656"/>
            </a:xfrm>
          </p:grpSpPr>
          <p:sp>
            <p:nvSpPr>
              <p:cNvPr id="10" name="Shape 8">
                <a:extLst>
                  <a:ext uri="{FF2B5EF4-FFF2-40B4-BE49-F238E27FC236}">
                    <a16:creationId xmlns:a16="http://schemas.microsoft.com/office/drawing/2014/main" id="{D3165E9B-CD3E-C263-04C8-54F46D7D628D}"/>
                  </a:ext>
                </a:extLst>
              </p:cNvPr>
              <p:cNvSpPr/>
              <p:nvPr/>
            </p:nvSpPr>
            <p:spPr>
              <a:xfrm>
                <a:off x="3328416" y="1121664"/>
                <a:ext cx="2779776" cy="1438656"/>
              </a:xfrm>
              <a:prstGeom prst="rect">
                <a:avLst/>
              </a:prstGeom>
              <a:solidFill>
                <a:srgbClr val="F1F5F9"/>
              </a:solidFill>
              <a:ln w="15240">
                <a:solidFill>
                  <a:srgbClr val="627EEA"/>
                </a:solidFill>
                <a:prstDash val="solid"/>
              </a:ln>
              <a:effectLst>
                <a:outerShdw blurRad="50800" dist="12700" dir="8100000" algn="bl" rotWithShape="0">
                  <a:srgbClr val="000000">
                    <a:alpha val="6000"/>
                  </a:srgbClr>
                </a:outerShdw>
              </a:effectLst>
            </p:spPr>
            <p:txBody>
              <a:bodyPr/>
              <a:lstStyle/>
              <a:p>
                <a:endParaRPr lang="en-DE" sz="2400"/>
              </a:p>
            </p:txBody>
          </p:sp>
          <p:sp>
            <p:nvSpPr>
              <p:cNvPr id="11" name="Shape 9">
                <a:extLst>
                  <a:ext uri="{FF2B5EF4-FFF2-40B4-BE49-F238E27FC236}">
                    <a16:creationId xmlns:a16="http://schemas.microsoft.com/office/drawing/2014/main" id="{778A3BE9-9036-8F95-9F19-C20B6E1C551B}"/>
                  </a:ext>
                </a:extLst>
              </p:cNvPr>
              <p:cNvSpPr/>
              <p:nvPr/>
            </p:nvSpPr>
            <p:spPr>
              <a:xfrm>
                <a:off x="3328416" y="1121664"/>
                <a:ext cx="67056" cy="1438656"/>
              </a:xfrm>
              <a:prstGeom prst="rect">
                <a:avLst/>
              </a:prstGeom>
              <a:solidFill>
                <a:srgbClr val="627EEA"/>
              </a:solidFill>
              <a:ln w="12700">
                <a:solidFill>
                  <a:srgbClr val="627EEA"/>
                </a:solidFill>
                <a:prstDash val="solid"/>
              </a:ln>
            </p:spPr>
            <p:txBody>
              <a:bodyPr/>
              <a:lstStyle/>
              <a:p>
                <a:endParaRPr lang="en-DE" sz="2400"/>
              </a:p>
            </p:txBody>
          </p:sp>
          <p:sp>
            <p:nvSpPr>
              <p:cNvPr id="12" name="Text 10">
                <a:extLst>
                  <a:ext uri="{FF2B5EF4-FFF2-40B4-BE49-F238E27FC236}">
                    <a16:creationId xmlns:a16="http://schemas.microsoft.com/office/drawing/2014/main" id="{3DBAE6E2-F7AB-B992-5B1D-3C0C825AAD3F}"/>
                  </a:ext>
                </a:extLst>
              </p:cNvPr>
              <p:cNvSpPr/>
              <p:nvPr/>
            </p:nvSpPr>
            <p:spPr>
              <a:xfrm>
                <a:off x="3450336" y="1219200"/>
                <a:ext cx="426720" cy="365760"/>
              </a:xfrm>
              <a:prstGeom prst="rect">
                <a:avLst/>
              </a:prstGeom>
              <a:noFill/>
              <a:ln/>
            </p:spPr>
            <p:txBody>
              <a:bodyPr wrap="square" lIns="0" tIns="0" rIns="0" bIns="0" rtlCol="0" anchor="ctr"/>
              <a:lstStyle/>
              <a:p>
                <a:pPr algn="ctr"/>
                <a:r>
                  <a:rPr lang="en-US" sz="1867" dirty="0">
                    <a:solidFill>
                      <a:srgbClr val="627EEA"/>
                    </a:solidFill>
                    <a:latin typeface="Calibri" pitchFamily="34" charset="0"/>
                    <a:ea typeface="Calibri" pitchFamily="34" charset="-122"/>
                    <a:cs typeface="Calibri" pitchFamily="34" charset="-120"/>
                  </a:rPr>
                  <a:t>📈</a:t>
                </a:r>
                <a:endParaRPr lang="en-US" sz="1867" dirty="0"/>
              </a:p>
            </p:txBody>
          </p:sp>
          <p:sp>
            <p:nvSpPr>
              <p:cNvPr id="13" name="Text 11">
                <a:extLst>
                  <a:ext uri="{FF2B5EF4-FFF2-40B4-BE49-F238E27FC236}">
                    <a16:creationId xmlns:a16="http://schemas.microsoft.com/office/drawing/2014/main" id="{604D9CEC-1423-EF06-25DC-44963A65566E}"/>
                  </a:ext>
                </a:extLst>
              </p:cNvPr>
              <p:cNvSpPr/>
              <p:nvPr/>
            </p:nvSpPr>
            <p:spPr>
              <a:xfrm>
                <a:off x="3913632" y="1219200"/>
                <a:ext cx="2097024" cy="341376"/>
              </a:xfrm>
              <a:prstGeom prst="rect">
                <a:avLst/>
              </a:prstGeom>
              <a:noFill/>
              <a:ln/>
            </p:spPr>
            <p:txBody>
              <a:bodyPr wrap="square" lIns="0" tIns="0" rIns="0" bIns="0" rtlCol="0" anchor="ctr"/>
              <a:lstStyle/>
              <a:p>
                <a:r>
                  <a:rPr lang="en-US" sz="1200" b="1" dirty="0">
                    <a:solidFill>
                      <a:srgbClr val="132238"/>
                    </a:solidFill>
                    <a:latin typeface="Calibri" pitchFamily="34" charset="0"/>
                    <a:ea typeface="Calibri" pitchFamily="34" charset="-122"/>
                    <a:cs typeface="Calibri" pitchFamily="34" charset="-120"/>
                  </a:rPr>
                  <a:t>yfinance — Macro</a:t>
                </a:r>
                <a:endParaRPr lang="en-US" sz="1200" dirty="0"/>
              </a:p>
            </p:txBody>
          </p:sp>
          <p:sp>
            <p:nvSpPr>
              <p:cNvPr id="14" name="Text 12">
                <a:extLst>
                  <a:ext uri="{FF2B5EF4-FFF2-40B4-BE49-F238E27FC236}">
                    <a16:creationId xmlns:a16="http://schemas.microsoft.com/office/drawing/2014/main" id="{F2F75A0B-3C4F-7230-6916-2208FCDF56C5}"/>
                  </a:ext>
                </a:extLst>
              </p:cNvPr>
              <p:cNvSpPr/>
              <p:nvPr/>
            </p:nvSpPr>
            <p:spPr>
              <a:xfrm>
                <a:off x="3450336" y="1633728"/>
                <a:ext cx="2560320" cy="829056"/>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SPY : US stock market</a:t>
                </a:r>
                <a:endParaRPr lang="en-US" sz="1067" dirty="0"/>
              </a:p>
              <a:p>
                <a:r>
                  <a:rPr lang="en-US" sz="1067" dirty="0">
                    <a:solidFill>
                      <a:srgbClr val="475569"/>
                    </a:solidFill>
                    <a:latin typeface="Calibri" pitchFamily="34" charset="0"/>
                    <a:ea typeface="Calibri" pitchFamily="34" charset="-122"/>
                    <a:cs typeface="Calibri" pitchFamily="34" charset="-120"/>
                  </a:rPr>
                  <a:t>DXY : Dollar strength</a:t>
                </a:r>
                <a:endParaRPr lang="en-US" sz="1067" dirty="0"/>
              </a:p>
              <a:p>
                <a:r>
                  <a:rPr lang="en-US" sz="1067" dirty="0">
                    <a:solidFill>
                      <a:srgbClr val="475569"/>
                    </a:solidFill>
                    <a:latin typeface="Calibri" pitchFamily="34" charset="0"/>
                    <a:ea typeface="Calibri" pitchFamily="34" charset="-122"/>
                    <a:cs typeface="Calibri" pitchFamily="34" charset="-120"/>
                  </a:rPr>
                  <a:t>VIX : Global fear index</a:t>
                </a:r>
                <a:endParaRPr lang="en-US" sz="1067" dirty="0"/>
              </a:p>
            </p:txBody>
          </p:sp>
        </p:grpSp>
        <p:sp>
          <p:nvSpPr>
            <p:cNvPr id="15" name="Shape 13">
              <a:extLst>
                <a:ext uri="{FF2B5EF4-FFF2-40B4-BE49-F238E27FC236}">
                  <a16:creationId xmlns:a16="http://schemas.microsoft.com/office/drawing/2014/main" id="{728CCFB5-6CA0-DA96-56B9-ABDC678A2D00}"/>
                </a:ext>
              </a:extLst>
            </p:cNvPr>
            <p:cNvSpPr/>
            <p:nvPr/>
          </p:nvSpPr>
          <p:spPr>
            <a:xfrm>
              <a:off x="6291072" y="1121664"/>
              <a:ext cx="2779776" cy="1438656"/>
            </a:xfrm>
            <a:prstGeom prst="rect">
              <a:avLst/>
            </a:prstGeom>
            <a:solidFill>
              <a:srgbClr val="F1F5F9"/>
            </a:solidFill>
            <a:ln w="15240">
              <a:solidFill>
                <a:srgbClr val="00D4AA"/>
              </a:solidFill>
              <a:prstDash val="solid"/>
            </a:ln>
            <a:effectLst>
              <a:outerShdw blurRad="50800" dist="12700" dir="8100000" algn="bl" rotWithShape="0">
                <a:srgbClr val="000000">
                  <a:alpha val="6000"/>
                </a:srgbClr>
              </a:outerShdw>
            </a:effectLst>
          </p:spPr>
          <p:txBody>
            <a:bodyPr/>
            <a:lstStyle/>
            <a:p>
              <a:endParaRPr lang="en-DE" sz="2400"/>
            </a:p>
          </p:txBody>
        </p:sp>
        <p:sp>
          <p:nvSpPr>
            <p:cNvPr id="16" name="Shape 14">
              <a:extLst>
                <a:ext uri="{FF2B5EF4-FFF2-40B4-BE49-F238E27FC236}">
                  <a16:creationId xmlns:a16="http://schemas.microsoft.com/office/drawing/2014/main" id="{40F26F49-6DF8-413A-C8B6-D6DD57E1D797}"/>
                </a:ext>
              </a:extLst>
            </p:cNvPr>
            <p:cNvSpPr/>
            <p:nvPr/>
          </p:nvSpPr>
          <p:spPr>
            <a:xfrm>
              <a:off x="6291072" y="1121664"/>
              <a:ext cx="67056" cy="1438656"/>
            </a:xfrm>
            <a:prstGeom prst="rect">
              <a:avLst/>
            </a:prstGeom>
            <a:solidFill>
              <a:srgbClr val="00D4AA"/>
            </a:solidFill>
            <a:ln w="12700">
              <a:solidFill>
                <a:srgbClr val="00D4AA"/>
              </a:solidFill>
              <a:prstDash val="solid"/>
            </a:ln>
          </p:spPr>
          <p:txBody>
            <a:bodyPr/>
            <a:lstStyle/>
            <a:p>
              <a:endParaRPr lang="en-DE" sz="2400"/>
            </a:p>
          </p:txBody>
        </p:sp>
        <p:sp>
          <p:nvSpPr>
            <p:cNvPr id="17" name="Text 15">
              <a:extLst>
                <a:ext uri="{FF2B5EF4-FFF2-40B4-BE49-F238E27FC236}">
                  <a16:creationId xmlns:a16="http://schemas.microsoft.com/office/drawing/2014/main" id="{14F7539B-22DA-DDFF-5E71-8DB00A9757F1}"/>
                </a:ext>
              </a:extLst>
            </p:cNvPr>
            <p:cNvSpPr/>
            <p:nvPr/>
          </p:nvSpPr>
          <p:spPr>
            <a:xfrm>
              <a:off x="6412992" y="1219200"/>
              <a:ext cx="426720" cy="365760"/>
            </a:xfrm>
            <a:prstGeom prst="rect">
              <a:avLst/>
            </a:prstGeom>
            <a:noFill/>
            <a:ln/>
          </p:spPr>
          <p:txBody>
            <a:bodyPr wrap="square" lIns="0" tIns="0" rIns="0" bIns="0" rtlCol="0" anchor="ctr"/>
            <a:lstStyle/>
            <a:p>
              <a:pPr algn="ctr"/>
              <a:r>
                <a:rPr lang="en-US" sz="1867" dirty="0">
                  <a:solidFill>
                    <a:srgbClr val="00D4AA"/>
                  </a:solidFill>
                  <a:latin typeface="Calibri" pitchFamily="34" charset="0"/>
                  <a:ea typeface="Calibri" pitchFamily="34" charset="-122"/>
                  <a:cs typeface="Calibri" pitchFamily="34" charset="-120"/>
                </a:rPr>
                <a:t>😨</a:t>
              </a:r>
              <a:endParaRPr lang="en-US" sz="1867" dirty="0"/>
            </a:p>
          </p:txBody>
        </p:sp>
        <p:sp>
          <p:nvSpPr>
            <p:cNvPr id="18" name="Text 16">
              <a:extLst>
                <a:ext uri="{FF2B5EF4-FFF2-40B4-BE49-F238E27FC236}">
                  <a16:creationId xmlns:a16="http://schemas.microsoft.com/office/drawing/2014/main" id="{76BC27C9-D9D7-0CBB-C2AF-9DC30DC926BF}"/>
                </a:ext>
              </a:extLst>
            </p:cNvPr>
            <p:cNvSpPr/>
            <p:nvPr/>
          </p:nvSpPr>
          <p:spPr>
            <a:xfrm>
              <a:off x="6876288" y="1219200"/>
              <a:ext cx="2097024" cy="341376"/>
            </a:xfrm>
            <a:prstGeom prst="rect">
              <a:avLst/>
            </a:prstGeom>
            <a:noFill/>
            <a:ln/>
          </p:spPr>
          <p:txBody>
            <a:bodyPr wrap="square" lIns="0" tIns="0" rIns="0" bIns="0" rtlCol="0" anchor="ctr"/>
            <a:lstStyle/>
            <a:p>
              <a:r>
                <a:rPr lang="en-US" sz="1200" b="1" dirty="0">
                  <a:solidFill>
                    <a:srgbClr val="132238"/>
                  </a:solidFill>
                  <a:latin typeface="Calibri" pitchFamily="34" charset="0"/>
                  <a:ea typeface="Calibri" pitchFamily="34" charset="-122"/>
                  <a:cs typeface="Calibri" pitchFamily="34" charset="-120"/>
                </a:rPr>
                <a:t>alternative.me</a:t>
              </a:r>
              <a:endParaRPr lang="en-US" sz="1200" dirty="0"/>
            </a:p>
          </p:txBody>
        </p:sp>
        <p:sp>
          <p:nvSpPr>
            <p:cNvPr id="19" name="Text 17">
              <a:extLst>
                <a:ext uri="{FF2B5EF4-FFF2-40B4-BE49-F238E27FC236}">
                  <a16:creationId xmlns:a16="http://schemas.microsoft.com/office/drawing/2014/main" id="{ED4CED83-FDCB-D83C-B9C8-4C0F90322A3D}"/>
                </a:ext>
              </a:extLst>
            </p:cNvPr>
            <p:cNvSpPr/>
            <p:nvPr/>
          </p:nvSpPr>
          <p:spPr>
            <a:xfrm>
              <a:off x="6412992" y="1633728"/>
              <a:ext cx="2560320" cy="829056"/>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Fear &amp; Greed Index 0–100</a:t>
              </a:r>
              <a:endParaRPr lang="en-US" sz="1067" dirty="0"/>
            </a:p>
            <a:p>
              <a:r>
                <a:rPr lang="en-US" sz="1067" dirty="0">
                  <a:solidFill>
                    <a:srgbClr val="475569"/>
                  </a:solidFill>
                  <a:latin typeface="Calibri" pitchFamily="34" charset="0"/>
                  <a:ea typeface="Calibri" pitchFamily="34" charset="-122"/>
                  <a:cs typeface="Calibri" pitchFamily="34" charset="-120"/>
                </a:rPr>
                <a:t>0 = extreme panic</a:t>
              </a:r>
              <a:endParaRPr lang="en-US" sz="1067" dirty="0"/>
            </a:p>
            <a:p>
              <a:r>
                <a:rPr lang="en-US" sz="1067" dirty="0">
                  <a:solidFill>
                    <a:srgbClr val="475569"/>
                  </a:solidFill>
                  <a:latin typeface="Calibri" pitchFamily="34" charset="0"/>
                  <a:ea typeface="Calibri" pitchFamily="34" charset="-122"/>
                  <a:cs typeface="Calibri" pitchFamily="34" charset="-120"/>
                </a:rPr>
                <a:t>100 = extreme greed</a:t>
              </a:r>
              <a:endParaRPr lang="en-US" sz="1067" dirty="0"/>
            </a:p>
          </p:txBody>
        </p:sp>
      </p:grpSp>
      <p:grpSp>
        <p:nvGrpSpPr>
          <p:cNvPr id="59" name="Group 58">
            <a:extLst>
              <a:ext uri="{FF2B5EF4-FFF2-40B4-BE49-F238E27FC236}">
                <a16:creationId xmlns:a16="http://schemas.microsoft.com/office/drawing/2014/main" id="{B2E93CCE-FBB9-477F-249D-A1EAEBEF57A9}"/>
              </a:ext>
            </a:extLst>
          </p:cNvPr>
          <p:cNvGrpSpPr/>
          <p:nvPr/>
        </p:nvGrpSpPr>
        <p:grpSpPr>
          <a:xfrm>
            <a:off x="9253728" y="1121664"/>
            <a:ext cx="2779776" cy="1438656"/>
            <a:chOff x="9253728" y="1121664"/>
            <a:chExt cx="2779776" cy="1438656"/>
          </a:xfrm>
        </p:grpSpPr>
        <p:sp>
          <p:nvSpPr>
            <p:cNvPr id="20" name="Shape 18">
              <a:extLst>
                <a:ext uri="{FF2B5EF4-FFF2-40B4-BE49-F238E27FC236}">
                  <a16:creationId xmlns:a16="http://schemas.microsoft.com/office/drawing/2014/main" id="{A48B99CE-C0CE-B4BE-712D-021BF06D98ED}"/>
                </a:ext>
              </a:extLst>
            </p:cNvPr>
            <p:cNvSpPr/>
            <p:nvPr/>
          </p:nvSpPr>
          <p:spPr>
            <a:xfrm>
              <a:off x="9253728" y="1121664"/>
              <a:ext cx="2779776" cy="1438656"/>
            </a:xfrm>
            <a:prstGeom prst="rect">
              <a:avLst/>
            </a:prstGeom>
            <a:solidFill>
              <a:srgbClr val="F1F5F9"/>
            </a:solidFill>
            <a:ln w="15240">
              <a:solidFill>
                <a:srgbClr val="10B981"/>
              </a:solidFill>
              <a:prstDash val="solid"/>
            </a:ln>
            <a:effectLst>
              <a:outerShdw blurRad="50800" dist="12700" dir="8100000" algn="bl" rotWithShape="0">
                <a:srgbClr val="000000">
                  <a:alpha val="6000"/>
                </a:srgbClr>
              </a:outerShdw>
            </a:effectLst>
          </p:spPr>
          <p:txBody>
            <a:bodyPr/>
            <a:lstStyle/>
            <a:p>
              <a:endParaRPr lang="en-DE" sz="2400"/>
            </a:p>
          </p:txBody>
        </p:sp>
        <p:sp>
          <p:nvSpPr>
            <p:cNvPr id="21" name="Shape 19">
              <a:extLst>
                <a:ext uri="{FF2B5EF4-FFF2-40B4-BE49-F238E27FC236}">
                  <a16:creationId xmlns:a16="http://schemas.microsoft.com/office/drawing/2014/main" id="{1A996871-1723-D4F6-D093-8BC3CC099824}"/>
                </a:ext>
              </a:extLst>
            </p:cNvPr>
            <p:cNvSpPr/>
            <p:nvPr/>
          </p:nvSpPr>
          <p:spPr>
            <a:xfrm>
              <a:off x="9253728" y="1121664"/>
              <a:ext cx="67056" cy="1438656"/>
            </a:xfrm>
            <a:prstGeom prst="rect">
              <a:avLst/>
            </a:prstGeom>
            <a:solidFill>
              <a:srgbClr val="10B981"/>
            </a:solidFill>
            <a:ln w="12700">
              <a:solidFill>
                <a:srgbClr val="10B981"/>
              </a:solidFill>
              <a:prstDash val="solid"/>
            </a:ln>
          </p:spPr>
          <p:txBody>
            <a:bodyPr/>
            <a:lstStyle/>
            <a:p>
              <a:endParaRPr lang="en-DE" sz="2400"/>
            </a:p>
          </p:txBody>
        </p:sp>
        <p:sp>
          <p:nvSpPr>
            <p:cNvPr id="22" name="Text 20">
              <a:extLst>
                <a:ext uri="{FF2B5EF4-FFF2-40B4-BE49-F238E27FC236}">
                  <a16:creationId xmlns:a16="http://schemas.microsoft.com/office/drawing/2014/main" id="{D37AF3EE-A180-AC12-6413-378581107A55}"/>
                </a:ext>
              </a:extLst>
            </p:cNvPr>
            <p:cNvSpPr/>
            <p:nvPr/>
          </p:nvSpPr>
          <p:spPr>
            <a:xfrm>
              <a:off x="9375648" y="1219200"/>
              <a:ext cx="426720" cy="365760"/>
            </a:xfrm>
            <a:prstGeom prst="rect">
              <a:avLst/>
            </a:prstGeom>
            <a:noFill/>
            <a:ln/>
          </p:spPr>
          <p:txBody>
            <a:bodyPr wrap="square" lIns="0" tIns="0" rIns="0" bIns="0" rtlCol="0" anchor="ctr"/>
            <a:lstStyle/>
            <a:p>
              <a:pPr algn="ctr"/>
              <a:r>
                <a:rPr lang="en-US" sz="1867" dirty="0">
                  <a:solidFill>
                    <a:srgbClr val="10B981"/>
                  </a:solidFill>
                  <a:latin typeface="Calibri" pitchFamily="34" charset="0"/>
                  <a:ea typeface="Calibri" pitchFamily="34" charset="-122"/>
                  <a:cs typeface="Calibri" pitchFamily="34" charset="-120"/>
                </a:rPr>
                <a:t>📰</a:t>
              </a:r>
              <a:endParaRPr lang="en-US" sz="1867" dirty="0"/>
            </a:p>
          </p:txBody>
        </p:sp>
        <p:sp>
          <p:nvSpPr>
            <p:cNvPr id="23" name="Text 21">
              <a:extLst>
                <a:ext uri="{FF2B5EF4-FFF2-40B4-BE49-F238E27FC236}">
                  <a16:creationId xmlns:a16="http://schemas.microsoft.com/office/drawing/2014/main" id="{0DCB0E36-8C00-5AB6-3732-49CF33BEA0C0}"/>
                </a:ext>
              </a:extLst>
            </p:cNvPr>
            <p:cNvSpPr/>
            <p:nvPr/>
          </p:nvSpPr>
          <p:spPr>
            <a:xfrm>
              <a:off x="9838944" y="1219200"/>
              <a:ext cx="2097024" cy="341376"/>
            </a:xfrm>
            <a:prstGeom prst="rect">
              <a:avLst/>
            </a:prstGeom>
            <a:noFill/>
            <a:ln/>
          </p:spPr>
          <p:txBody>
            <a:bodyPr wrap="square" lIns="0" tIns="0" rIns="0" bIns="0" rtlCol="0" anchor="ctr"/>
            <a:lstStyle/>
            <a:p>
              <a:r>
                <a:rPr lang="en-US" sz="1200" b="1" dirty="0">
                  <a:solidFill>
                    <a:srgbClr val="132238"/>
                  </a:solidFill>
                  <a:latin typeface="Calibri" pitchFamily="34" charset="0"/>
                  <a:ea typeface="Calibri" pitchFamily="34" charset="-122"/>
                  <a:cs typeface="Calibri" pitchFamily="34" charset="-120"/>
                </a:rPr>
                <a:t>Tavily API</a:t>
              </a:r>
              <a:endParaRPr lang="en-US" sz="1200" dirty="0"/>
            </a:p>
          </p:txBody>
        </p:sp>
        <p:sp>
          <p:nvSpPr>
            <p:cNvPr id="24" name="Text 22">
              <a:extLst>
                <a:ext uri="{FF2B5EF4-FFF2-40B4-BE49-F238E27FC236}">
                  <a16:creationId xmlns:a16="http://schemas.microsoft.com/office/drawing/2014/main" id="{D0283D5A-4090-6D34-67D3-638768CE72A2}"/>
                </a:ext>
              </a:extLst>
            </p:cNvPr>
            <p:cNvSpPr/>
            <p:nvPr/>
          </p:nvSpPr>
          <p:spPr>
            <a:xfrm>
              <a:off x="9375648" y="1633728"/>
              <a:ext cx="2560320" cy="829056"/>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Live crypto &amp; macro news</a:t>
              </a:r>
              <a:endParaRPr lang="en-US" sz="1067" dirty="0"/>
            </a:p>
            <a:p>
              <a:r>
                <a:rPr lang="en-US" sz="1067" dirty="0">
                  <a:solidFill>
                    <a:srgbClr val="475569"/>
                  </a:solidFill>
                  <a:latin typeface="Calibri" pitchFamily="34" charset="0"/>
                  <a:ea typeface="Calibri" pitchFamily="34" charset="-122"/>
                  <a:cs typeface="Calibri" pitchFamily="34" charset="-120"/>
                </a:rPr>
                <a:t>Real-time retrieval</a:t>
              </a:r>
              <a:endParaRPr lang="en-US" sz="1067" dirty="0"/>
            </a:p>
            <a:p>
              <a:r>
                <a:rPr lang="en-US" sz="1067" dirty="0">
                  <a:solidFill>
                    <a:srgbClr val="475569"/>
                  </a:solidFill>
                  <a:latin typeface="Calibri" pitchFamily="34" charset="0"/>
                  <a:ea typeface="Calibri" pitchFamily="34" charset="-122"/>
                  <a:cs typeface="Calibri" pitchFamily="34" charset="-120"/>
                </a:rPr>
                <a:t>Used by chatbot pipeline</a:t>
              </a:r>
              <a:endParaRPr lang="en-US" sz="1067" dirty="0"/>
            </a:p>
          </p:txBody>
        </p:sp>
      </p:grpSp>
      <p:sp>
        <p:nvSpPr>
          <p:cNvPr id="25" name="Text 23">
            <a:extLst>
              <a:ext uri="{FF2B5EF4-FFF2-40B4-BE49-F238E27FC236}">
                <a16:creationId xmlns:a16="http://schemas.microsoft.com/office/drawing/2014/main" id="{DF572DA9-5540-099E-A21E-000EBBB7337A}"/>
              </a:ext>
            </a:extLst>
          </p:cNvPr>
          <p:cNvSpPr/>
          <p:nvPr/>
        </p:nvSpPr>
        <p:spPr>
          <a:xfrm>
            <a:off x="365760" y="2657856"/>
            <a:ext cx="4876800" cy="268224"/>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DATA PREPARATION</a:t>
            </a:r>
            <a:endParaRPr lang="en-US" sz="1133" dirty="0"/>
          </a:p>
        </p:txBody>
      </p:sp>
      <p:grpSp>
        <p:nvGrpSpPr>
          <p:cNvPr id="3" name="Group 2">
            <a:extLst>
              <a:ext uri="{FF2B5EF4-FFF2-40B4-BE49-F238E27FC236}">
                <a16:creationId xmlns:a16="http://schemas.microsoft.com/office/drawing/2014/main" id="{4E2D9FE7-0351-7C3A-CF7D-45183FEB86E1}"/>
              </a:ext>
            </a:extLst>
          </p:cNvPr>
          <p:cNvGrpSpPr/>
          <p:nvPr/>
        </p:nvGrpSpPr>
        <p:grpSpPr>
          <a:xfrm>
            <a:off x="372386" y="2974848"/>
            <a:ext cx="1682496" cy="670560"/>
            <a:chOff x="365760" y="2974848"/>
            <a:chExt cx="1682496" cy="670560"/>
          </a:xfrm>
        </p:grpSpPr>
        <p:sp>
          <p:nvSpPr>
            <p:cNvPr id="26" name="Shape 24">
              <a:extLst>
                <a:ext uri="{FF2B5EF4-FFF2-40B4-BE49-F238E27FC236}">
                  <a16:creationId xmlns:a16="http://schemas.microsoft.com/office/drawing/2014/main" id="{E15ED2E2-7B8C-B3F7-42CA-8FC319394F21}"/>
                </a:ext>
              </a:extLst>
            </p:cNvPr>
            <p:cNvSpPr/>
            <p:nvPr/>
          </p:nvSpPr>
          <p:spPr>
            <a:xfrm>
              <a:off x="365760" y="2974848"/>
              <a:ext cx="1682496" cy="670560"/>
            </a:xfrm>
            <a:prstGeom prst="rect">
              <a:avLst/>
            </a:prstGeom>
            <a:solidFill>
              <a:srgbClr val="F1F5F9"/>
            </a:solidFill>
            <a:ln w="15240">
              <a:solidFill>
                <a:srgbClr val="F7931A"/>
              </a:solidFill>
              <a:prstDash val="solid"/>
            </a:ln>
          </p:spPr>
          <p:txBody>
            <a:bodyPr/>
            <a:lstStyle/>
            <a:p>
              <a:endParaRPr lang="en-DE" sz="2400"/>
            </a:p>
          </p:txBody>
        </p:sp>
        <p:sp>
          <p:nvSpPr>
            <p:cNvPr id="27" name="Shape 25">
              <a:extLst>
                <a:ext uri="{FF2B5EF4-FFF2-40B4-BE49-F238E27FC236}">
                  <a16:creationId xmlns:a16="http://schemas.microsoft.com/office/drawing/2014/main" id="{F6D5C389-EC7F-B9C2-E4EB-5541050FC6ED}"/>
                </a:ext>
              </a:extLst>
            </p:cNvPr>
            <p:cNvSpPr/>
            <p:nvPr/>
          </p:nvSpPr>
          <p:spPr>
            <a:xfrm>
              <a:off x="365760" y="2974848"/>
              <a:ext cx="1682496" cy="48768"/>
            </a:xfrm>
            <a:prstGeom prst="rect">
              <a:avLst/>
            </a:prstGeom>
            <a:solidFill>
              <a:srgbClr val="F7931A"/>
            </a:solidFill>
            <a:ln w="12700">
              <a:solidFill>
                <a:srgbClr val="F7931A"/>
              </a:solidFill>
              <a:prstDash val="solid"/>
            </a:ln>
          </p:spPr>
          <p:txBody>
            <a:bodyPr/>
            <a:lstStyle/>
            <a:p>
              <a:endParaRPr lang="en-DE" sz="2400"/>
            </a:p>
          </p:txBody>
        </p:sp>
        <p:sp>
          <p:nvSpPr>
            <p:cNvPr id="28" name="Text 26">
              <a:extLst>
                <a:ext uri="{FF2B5EF4-FFF2-40B4-BE49-F238E27FC236}">
                  <a16:creationId xmlns:a16="http://schemas.microsoft.com/office/drawing/2014/main" id="{8B70DE85-8FC5-CBC2-626C-820EC16DE8C4}"/>
                </a:ext>
              </a:extLst>
            </p:cNvPr>
            <p:cNvSpPr/>
            <p:nvPr/>
          </p:nvSpPr>
          <p:spPr>
            <a:xfrm>
              <a:off x="463296" y="3048000"/>
              <a:ext cx="1487424" cy="292608"/>
            </a:xfrm>
            <a:prstGeom prst="rect">
              <a:avLst/>
            </a:prstGeom>
            <a:noFill/>
            <a:ln/>
          </p:spPr>
          <p:txBody>
            <a:bodyPr wrap="square" lIns="0" tIns="0" rIns="0" bIns="0" rtlCol="0" anchor="ctr"/>
            <a:lstStyle/>
            <a:p>
              <a:pPr algn="ctr"/>
              <a:r>
                <a:rPr lang="en-US" sz="1133" b="1" dirty="0">
                  <a:solidFill>
                    <a:srgbClr val="1E293B"/>
                  </a:solidFill>
                  <a:latin typeface="Calibri" pitchFamily="34" charset="0"/>
                  <a:ea typeface="Calibri" pitchFamily="34" charset="-122"/>
                  <a:cs typeface="Calibri" pitchFamily="34" charset="-120"/>
                </a:rPr>
                <a:t>Normalize</a:t>
              </a:r>
              <a:endParaRPr lang="en-US" sz="1133" dirty="0"/>
            </a:p>
          </p:txBody>
        </p:sp>
        <p:sp>
          <p:nvSpPr>
            <p:cNvPr id="29" name="Text 27">
              <a:extLst>
                <a:ext uri="{FF2B5EF4-FFF2-40B4-BE49-F238E27FC236}">
                  <a16:creationId xmlns:a16="http://schemas.microsoft.com/office/drawing/2014/main" id="{A84AE27E-2D8F-5E15-F12D-AC30FF239E9B}"/>
                </a:ext>
              </a:extLst>
            </p:cNvPr>
            <p:cNvSpPr/>
            <p:nvPr/>
          </p:nvSpPr>
          <p:spPr>
            <a:xfrm>
              <a:off x="463296" y="3340608"/>
              <a:ext cx="1487424" cy="243840"/>
            </a:xfrm>
            <a:prstGeom prst="rect">
              <a:avLst/>
            </a:prstGeom>
            <a:noFill/>
            <a:ln/>
          </p:spPr>
          <p:txBody>
            <a:bodyPr wrap="square" lIns="0" tIns="0" rIns="0" bIns="0" rtlCol="0" anchor="ctr"/>
            <a:lstStyle/>
            <a:p>
              <a:pPr algn="ctr"/>
              <a:r>
                <a:rPr lang="en-US" sz="1000" i="1" dirty="0">
                  <a:solidFill>
                    <a:srgbClr val="475569"/>
                  </a:solidFill>
                  <a:latin typeface="Calibri" pitchFamily="34" charset="0"/>
                  <a:ea typeface="Calibri" pitchFamily="34" charset="-122"/>
                  <a:cs typeface="Calibri" pitchFamily="34" charset="-120"/>
                </a:rPr>
                <a:t>Log transformation price and volume</a:t>
              </a:r>
              <a:endParaRPr lang="en-US" sz="1000" dirty="0"/>
            </a:p>
          </p:txBody>
        </p:sp>
      </p:grpSp>
      <p:sp>
        <p:nvSpPr>
          <p:cNvPr id="30" name="Shape 28">
            <a:extLst>
              <a:ext uri="{FF2B5EF4-FFF2-40B4-BE49-F238E27FC236}">
                <a16:creationId xmlns:a16="http://schemas.microsoft.com/office/drawing/2014/main" id="{A15F9D82-76A1-2672-EDA2-8C2386779FE3}"/>
              </a:ext>
            </a:extLst>
          </p:cNvPr>
          <p:cNvSpPr/>
          <p:nvPr/>
        </p:nvSpPr>
        <p:spPr>
          <a:xfrm>
            <a:off x="2079266" y="3310128"/>
            <a:ext cx="219456" cy="0"/>
          </a:xfrm>
          <a:prstGeom prst="line">
            <a:avLst/>
          </a:prstGeom>
          <a:noFill/>
          <a:ln w="15240">
            <a:solidFill>
              <a:srgbClr val="94A3B8"/>
            </a:solidFill>
            <a:prstDash val="solid"/>
            <a:tailEnd type="arrow"/>
          </a:ln>
        </p:spPr>
        <p:txBody>
          <a:bodyPr/>
          <a:lstStyle/>
          <a:p>
            <a:endParaRPr lang="en-DE" sz="2400"/>
          </a:p>
        </p:txBody>
      </p:sp>
      <p:grpSp>
        <p:nvGrpSpPr>
          <p:cNvPr id="45" name="Group 44">
            <a:extLst>
              <a:ext uri="{FF2B5EF4-FFF2-40B4-BE49-F238E27FC236}">
                <a16:creationId xmlns:a16="http://schemas.microsoft.com/office/drawing/2014/main" id="{55AFC38D-9BC1-F828-B7C6-A2DC8B8C3021}"/>
              </a:ext>
            </a:extLst>
          </p:cNvPr>
          <p:cNvGrpSpPr/>
          <p:nvPr/>
        </p:nvGrpSpPr>
        <p:grpSpPr>
          <a:xfrm>
            <a:off x="2298722" y="2974848"/>
            <a:ext cx="1682496" cy="670560"/>
            <a:chOff x="2292096" y="2974848"/>
            <a:chExt cx="1682496" cy="670560"/>
          </a:xfrm>
        </p:grpSpPr>
        <p:sp>
          <p:nvSpPr>
            <p:cNvPr id="31" name="Shape 29">
              <a:extLst>
                <a:ext uri="{FF2B5EF4-FFF2-40B4-BE49-F238E27FC236}">
                  <a16:creationId xmlns:a16="http://schemas.microsoft.com/office/drawing/2014/main" id="{B21C0A41-F499-C614-09B0-2EFCB74C6344}"/>
                </a:ext>
              </a:extLst>
            </p:cNvPr>
            <p:cNvSpPr/>
            <p:nvPr/>
          </p:nvSpPr>
          <p:spPr>
            <a:xfrm>
              <a:off x="2292096" y="2974848"/>
              <a:ext cx="1682496" cy="670560"/>
            </a:xfrm>
            <a:prstGeom prst="rect">
              <a:avLst/>
            </a:prstGeom>
            <a:solidFill>
              <a:srgbClr val="F1F5F9"/>
            </a:solidFill>
            <a:ln w="15240">
              <a:solidFill>
                <a:srgbClr val="627EEA"/>
              </a:solidFill>
              <a:prstDash val="solid"/>
            </a:ln>
          </p:spPr>
          <p:txBody>
            <a:bodyPr/>
            <a:lstStyle/>
            <a:p>
              <a:endParaRPr lang="en-DE" sz="2400"/>
            </a:p>
          </p:txBody>
        </p:sp>
        <p:sp>
          <p:nvSpPr>
            <p:cNvPr id="32" name="Shape 30">
              <a:extLst>
                <a:ext uri="{FF2B5EF4-FFF2-40B4-BE49-F238E27FC236}">
                  <a16:creationId xmlns:a16="http://schemas.microsoft.com/office/drawing/2014/main" id="{2036B651-029B-AB21-DCB1-87463C03E0B2}"/>
                </a:ext>
              </a:extLst>
            </p:cNvPr>
            <p:cNvSpPr/>
            <p:nvPr/>
          </p:nvSpPr>
          <p:spPr>
            <a:xfrm>
              <a:off x="2292096" y="2974848"/>
              <a:ext cx="1682496" cy="48768"/>
            </a:xfrm>
            <a:prstGeom prst="rect">
              <a:avLst/>
            </a:prstGeom>
            <a:solidFill>
              <a:srgbClr val="627EEA"/>
            </a:solidFill>
            <a:ln w="12700">
              <a:solidFill>
                <a:srgbClr val="627EEA"/>
              </a:solidFill>
              <a:prstDash val="solid"/>
            </a:ln>
          </p:spPr>
          <p:txBody>
            <a:bodyPr/>
            <a:lstStyle/>
            <a:p>
              <a:endParaRPr lang="en-DE" sz="2400"/>
            </a:p>
          </p:txBody>
        </p:sp>
        <p:sp>
          <p:nvSpPr>
            <p:cNvPr id="33" name="Text 31">
              <a:extLst>
                <a:ext uri="{FF2B5EF4-FFF2-40B4-BE49-F238E27FC236}">
                  <a16:creationId xmlns:a16="http://schemas.microsoft.com/office/drawing/2014/main" id="{72756A92-0526-8D35-A84B-B23EED9A31E4}"/>
                </a:ext>
              </a:extLst>
            </p:cNvPr>
            <p:cNvSpPr/>
            <p:nvPr/>
          </p:nvSpPr>
          <p:spPr>
            <a:xfrm>
              <a:off x="2389632" y="3048000"/>
              <a:ext cx="1487424" cy="292608"/>
            </a:xfrm>
            <a:prstGeom prst="rect">
              <a:avLst/>
            </a:prstGeom>
            <a:noFill/>
            <a:ln/>
          </p:spPr>
          <p:txBody>
            <a:bodyPr wrap="square" lIns="0" tIns="0" rIns="0" bIns="0" rtlCol="0" anchor="ctr"/>
            <a:lstStyle/>
            <a:p>
              <a:pPr algn="ctr"/>
              <a:r>
                <a:rPr lang="en-US" sz="1133" b="1" dirty="0">
                  <a:solidFill>
                    <a:srgbClr val="1E293B"/>
                  </a:solidFill>
                  <a:latin typeface="Calibri" pitchFamily="34" charset="0"/>
                  <a:ea typeface="Calibri" pitchFamily="34" charset="-122"/>
                  <a:cs typeface="Calibri" pitchFamily="34" charset="-120"/>
                </a:rPr>
                <a:t>Fill Missing Days</a:t>
              </a:r>
              <a:endParaRPr lang="en-US" sz="1133" dirty="0"/>
            </a:p>
          </p:txBody>
        </p:sp>
        <p:sp>
          <p:nvSpPr>
            <p:cNvPr id="34" name="Text 32">
              <a:extLst>
                <a:ext uri="{FF2B5EF4-FFF2-40B4-BE49-F238E27FC236}">
                  <a16:creationId xmlns:a16="http://schemas.microsoft.com/office/drawing/2014/main" id="{97891642-908B-270D-0C48-16AB1BE0353C}"/>
                </a:ext>
              </a:extLst>
            </p:cNvPr>
            <p:cNvSpPr/>
            <p:nvPr/>
          </p:nvSpPr>
          <p:spPr>
            <a:xfrm>
              <a:off x="2389632" y="3340608"/>
              <a:ext cx="1487424" cy="243840"/>
            </a:xfrm>
            <a:prstGeom prst="rect">
              <a:avLst/>
            </a:prstGeom>
            <a:noFill/>
            <a:ln/>
          </p:spPr>
          <p:txBody>
            <a:bodyPr wrap="square" lIns="0" tIns="0" rIns="0" bIns="0" rtlCol="0" anchor="ctr"/>
            <a:lstStyle/>
            <a:p>
              <a:pPr algn="ctr"/>
              <a:r>
                <a:rPr lang="en-US" sz="1000" i="1" dirty="0">
                  <a:solidFill>
                    <a:srgbClr val="475569"/>
                  </a:solidFill>
                  <a:latin typeface="Calibri" pitchFamily="34" charset="0"/>
                  <a:ea typeface="Calibri" pitchFamily="34" charset="-122"/>
                  <a:cs typeface="Calibri" pitchFamily="34" charset="-120"/>
                </a:rPr>
                <a:t>Forward-fill gaps</a:t>
              </a:r>
              <a:endParaRPr lang="en-US" sz="1000" dirty="0"/>
            </a:p>
          </p:txBody>
        </p:sp>
      </p:grpSp>
      <p:sp>
        <p:nvSpPr>
          <p:cNvPr id="35" name="Shape 33">
            <a:extLst>
              <a:ext uri="{FF2B5EF4-FFF2-40B4-BE49-F238E27FC236}">
                <a16:creationId xmlns:a16="http://schemas.microsoft.com/office/drawing/2014/main" id="{C74DE833-43FD-3BB7-3463-684AD00017CC}"/>
              </a:ext>
            </a:extLst>
          </p:cNvPr>
          <p:cNvSpPr/>
          <p:nvPr/>
        </p:nvSpPr>
        <p:spPr>
          <a:xfrm>
            <a:off x="4005602" y="3310128"/>
            <a:ext cx="219456" cy="0"/>
          </a:xfrm>
          <a:prstGeom prst="line">
            <a:avLst/>
          </a:prstGeom>
          <a:noFill/>
          <a:ln w="15240">
            <a:solidFill>
              <a:srgbClr val="94A3B8"/>
            </a:solidFill>
            <a:prstDash val="solid"/>
            <a:tailEnd type="arrow"/>
          </a:ln>
        </p:spPr>
        <p:txBody>
          <a:bodyPr/>
          <a:lstStyle/>
          <a:p>
            <a:endParaRPr lang="en-DE" sz="2400"/>
          </a:p>
        </p:txBody>
      </p:sp>
      <p:grpSp>
        <p:nvGrpSpPr>
          <p:cNvPr id="46" name="Group 45">
            <a:extLst>
              <a:ext uri="{FF2B5EF4-FFF2-40B4-BE49-F238E27FC236}">
                <a16:creationId xmlns:a16="http://schemas.microsoft.com/office/drawing/2014/main" id="{F0351722-D3CC-A306-0F44-9DE0DE896C0F}"/>
              </a:ext>
            </a:extLst>
          </p:cNvPr>
          <p:cNvGrpSpPr/>
          <p:nvPr/>
        </p:nvGrpSpPr>
        <p:grpSpPr>
          <a:xfrm>
            <a:off x="4225058" y="2974848"/>
            <a:ext cx="1682496" cy="670560"/>
            <a:chOff x="4218432" y="2974848"/>
            <a:chExt cx="1682496" cy="670560"/>
          </a:xfrm>
        </p:grpSpPr>
        <p:sp>
          <p:nvSpPr>
            <p:cNvPr id="36" name="Shape 34">
              <a:extLst>
                <a:ext uri="{FF2B5EF4-FFF2-40B4-BE49-F238E27FC236}">
                  <a16:creationId xmlns:a16="http://schemas.microsoft.com/office/drawing/2014/main" id="{86CA3E6F-1631-B5AA-66D6-64D58023F1BC}"/>
                </a:ext>
              </a:extLst>
            </p:cNvPr>
            <p:cNvSpPr/>
            <p:nvPr/>
          </p:nvSpPr>
          <p:spPr>
            <a:xfrm>
              <a:off x="4218432" y="2974848"/>
              <a:ext cx="1682496" cy="670560"/>
            </a:xfrm>
            <a:prstGeom prst="rect">
              <a:avLst/>
            </a:prstGeom>
            <a:solidFill>
              <a:srgbClr val="F1F5F9"/>
            </a:solidFill>
            <a:ln w="15240">
              <a:solidFill>
                <a:srgbClr val="00D4AA"/>
              </a:solidFill>
              <a:prstDash val="solid"/>
            </a:ln>
          </p:spPr>
          <p:txBody>
            <a:bodyPr/>
            <a:lstStyle/>
            <a:p>
              <a:endParaRPr lang="en-DE" sz="2400"/>
            </a:p>
          </p:txBody>
        </p:sp>
        <p:sp>
          <p:nvSpPr>
            <p:cNvPr id="37" name="Shape 35">
              <a:extLst>
                <a:ext uri="{FF2B5EF4-FFF2-40B4-BE49-F238E27FC236}">
                  <a16:creationId xmlns:a16="http://schemas.microsoft.com/office/drawing/2014/main" id="{8D3D23BD-D82F-C7B4-26D3-6F18FD6578A1}"/>
                </a:ext>
              </a:extLst>
            </p:cNvPr>
            <p:cNvSpPr/>
            <p:nvPr/>
          </p:nvSpPr>
          <p:spPr>
            <a:xfrm>
              <a:off x="4218432" y="2974848"/>
              <a:ext cx="1682496" cy="48768"/>
            </a:xfrm>
            <a:prstGeom prst="rect">
              <a:avLst/>
            </a:prstGeom>
            <a:solidFill>
              <a:srgbClr val="00D4AA"/>
            </a:solidFill>
            <a:ln w="12700">
              <a:solidFill>
                <a:srgbClr val="00D4AA"/>
              </a:solidFill>
              <a:prstDash val="solid"/>
            </a:ln>
          </p:spPr>
          <p:txBody>
            <a:bodyPr/>
            <a:lstStyle/>
            <a:p>
              <a:endParaRPr lang="en-DE" sz="2400"/>
            </a:p>
          </p:txBody>
        </p:sp>
        <p:sp>
          <p:nvSpPr>
            <p:cNvPr id="38" name="Text 36">
              <a:extLst>
                <a:ext uri="{FF2B5EF4-FFF2-40B4-BE49-F238E27FC236}">
                  <a16:creationId xmlns:a16="http://schemas.microsoft.com/office/drawing/2014/main" id="{255CE40C-D844-83F4-87E3-A38B9BAAE029}"/>
                </a:ext>
              </a:extLst>
            </p:cNvPr>
            <p:cNvSpPr/>
            <p:nvPr/>
          </p:nvSpPr>
          <p:spPr>
            <a:xfrm>
              <a:off x="4315968" y="3048000"/>
              <a:ext cx="1487424" cy="292608"/>
            </a:xfrm>
            <a:prstGeom prst="rect">
              <a:avLst/>
            </a:prstGeom>
            <a:noFill/>
            <a:ln/>
          </p:spPr>
          <p:txBody>
            <a:bodyPr wrap="square" lIns="0" tIns="0" rIns="0" bIns="0" rtlCol="0" anchor="ctr"/>
            <a:lstStyle/>
            <a:p>
              <a:pPr algn="ctr"/>
              <a:r>
                <a:rPr lang="en-US" sz="1133" b="1" dirty="0">
                  <a:solidFill>
                    <a:srgbClr val="1E293B"/>
                  </a:solidFill>
                  <a:latin typeface="Calibri" pitchFamily="34" charset="0"/>
                  <a:ea typeface="Calibri" pitchFamily="34" charset="-122"/>
                  <a:cs typeface="Calibri" pitchFamily="34" charset="-120"/>
                </a:rPr>
                <a:t>Compute Features</a:t>
              </a:r>
              <a:endParaRPr lang="en-US" sz="1133" dirty="0"/>
            </a:p>
          </p:txBody>
        </p:sp>
        <p:sp>
          <p:nvSpPr>
            <p:cNvPr id="39" name="Text 37">
              <a:extLst>
                <a:ext uri="{FF2B5EF4-FFF2-40B4-BE49-F238E27FC236}">
                  <a16:creationId xmlns:a16="http://schemas.microsoft.com/office/drawing/2014/main" id="{A9231091-4E5B-AB37-0F70-FB3478935794}"/>
                </a:ext>
              </a:extLst>
            </p:cNvPr>
            <p:cNvSpPr/>
            <p:nvPr/>
          </p:nvSpPr>
          <p:spPr>
            <a:xfrm>
              <a:off x="4315968" y="3340608"/>
              <a:ext cx="1487424" cy="243840"/>
            </a:xfrm>
            <a:prstGeom prst="rect">
              <a:avLst/>
            </a:prstGeom>
            <a:noFill/>
            <a:ln/>
          </p:spPr>
          <p:txBody>
            <a:bodyPr wrap="square" lIns="0" tIns="0" rIns="0" bIns="0" rtlCol="0" anchor="ctr"/>
            <a:lstStyle/>
            <a:p>
              <a:pPr algn="ctr"/>
              <a:r>
                <a:rPr lang="en-US" sz="1000" i="1" dirty="0">
                  <a:solidFill>
                    <a:srgbClr val="475569"/>
                  </a:solidFill>
                  <a:latin typeface="Calibri" pitchFamily="34" charset="0"/>
                  <a:ea typeface="Calibri" pitchFamily="34" charset="-122"/>
                  <a:cs typeface="Calibri" pitchFamily="34" charset="-120"/>
                </a:rPr>
                <a:t>21 signals</a:t>
              </a:r>
              <a:endParaRPr lang="en-US" sz="1000" dirty="0"/>
            </a:p>
          </p:txBody>
        </p:sp>
      </p:grpSp>
      <p:sp>
        <p:nvSpPr>
          <p:cNvPr id="40" name="Shape 38">
            <a:extLst>
              <a:ext uri="{FF2B5EF4-FFF2-40B4-BE49-F238E27FC236}">
                <a16:creationId xmlns:a16="http://schemas.microsoft.com/office/drawing/2014/main" id="{55F38D8B-A54E-AF3B-6C9B-334C0FF1B985}"/>
              </a:ext>
            </a:extLst>
          </p:cNvPr>
          <p:cNvSpPr/>
          <p:nvPr/>
        </p:nvSpPr>
        <p:spPr>
          <a:xfrm>
            <a:off x="5931938" y="3310128"/>
            <a:ext cx="219456" cy="0"/>
          </a:xfrm>
          <a:prstGeom prst="line">
            <a:avLst/>
          </a:prstGeom>
          <a:noFill/>
          <a:ln w="15240">
            <a:solidFill>
              <a:srgbClr val="94A3B8"/>
            </a:solidFill>
            <a:prstDash val="solid"/>
            <a:tailEnd type="arrow"/>
          </a:ln>
        </p:spPr>
        <p:txBody>
          <a:bodyPr/>
          <a:lstStyle/>
          <a:p>
            <a:endParaRPr lang="en-DE" sz="2400"/>
          </a:p>
        </p:txBody>
      </p:sp>
      <p:grpSp>
        <p:nvGrpSpPr>
          <p:cNvPr id="47" name="Group 46">
            <a:extLst>
              <a:ext uri="{FF2B5EF4-FFF2-40B4-BE49-F238E27FC236}">
                <a16:creationId xmlns:a16="http://schemas.microsoft.com/office/drawing/2014/main" id="{0ACDCAF4-9ACA-86B2-C109-EBA9E8152068}"/>
              </a:ext>
            </a:extLst>
          </p:cNvPr>
          <p:cNvGrpSpPr/>
          <p:nvPr/>
        </p:nvGrpSpPr>
        <p:grpSpPr>
          <a:xfrm>
            <a:off x="6151394" y="2974848"/>
            <a:ext cx="1682496" cy="670560"/>
            <a:chOff x="6144768" y="2974848"/>
            <a:chExt cx="1682496" cy="670560"/>
          </a:xfrm>
        </p:grpSpPr>
        <p:sp>
          <p:nvSpPr>
            <p:cNvPr id="41" name="Shape 39">
              <a:extLst>
                <a:ext uri="{FF2B5EF4-FFF2-40B4-BE49-F238E27FC236}">
                  <a16:creationId xmlns:a16="http://schemas.microsoft.com/office/drawing/2014/main" id="{2807A071-F49E-2C10-4CDD-50934CF8873B}"/>
                </a:ext>
              </a:extLst>
            </p:cNvPr>
            <p:cNvSpPr/>
            <p:nvPr/>
          </p:nvSpPr>
          <p:spPr>
            <a:xfrm>
              <a:off x="6144768" y="2974848"/>
              <a:ext cx="1682496" cy="670560"/>
            </a:xfrm>
            <a:prstGeom prst="rect">
              <a:avLst/>
            </a:prstGeom>
            <a:solidFill>
              <a:srgbClr val="F1F5F9"/>
            </a:solidFill>
            <a:ln w="15240">
              <a:solidFill>
                <a:srgbClr val="10B981"/>
              </a:solidFill>
              <a:prstDash val="solid"/>
            </a:ln>
          </p:spPr>
          <p:txBody>
            <a:bodyPr/>
            <a:lstStyle/>
            <a:p>
              <a:endParaRPr lang="en-DE" sz="2400"/>
            </a:p>
          </p:txBody>
        </p:sp>
        <p:sp>
          <p:nvSpPr>
            <p:cNvPr id="42" name="Shape 40">
              <a:extLst>
                <a:ext uri="{FF2B5EF4-FFF2-40B4-BE49-F238E27FC236}">
                  <a16:creationId xmlns:a16="http://schemas.microsoft.com/office/drawing/2014/main" id="{86A194CE-F999-5D2C-6AB6-CCFFC6C99B41}"/>
                </a:ext>
              </a:extLst>
            </p:cNvPr>
            <p:cNvSpPr/>
            <p:nvPr/>
          </p:nvSpPr>
          <p:spPr>
            <a:xfrm>
              <a:off x="6144768" y="2974848"/>
              <a:ext cx="1682496" cy="48768"/>
            </a:xfrm>
            <a:prstGeom prst="rect">
              <a:avLst/>
            </a:prstGeom>
            <a:solidFill>
              <a:srgbClr val="10B981"/>
            </a:solidFill>
            <a:ln w="12700">
              <a:solidFill>
                <a:srgbClr val="10B981"/>
              </a:solidFill>
              <a:prstDash val="solid"/>
            </a:ln>
          </p:spPr>
          <p:txBody>
            <a:bodyPr/>
            <a:lstStyle/>
            <a:p>
              <a:endParaRPr lang="en-DE" sz="2400"/>
            </a:p>
          </p:txBody>
        </p:sp>
        <p:sp>
          <p:nvSpPr>
            <p:cNvPr id="43" name="Text 41">
              <a:extLst>
                <a:ext uri="{FF2B5EF4-FFF2-40B4-BE49-F238E27FC236}">
                  <a16:creationId xmlns:a16="http://schemas.microsoft.com/office/drawing/2014/main" id="{0765982A-873E-DC95-A979-8EE8C01CE952}"/>
                </a:ext>
              </a:extLst>
            </p:cNvPr>
            <p:cNvSpPr/>
            <p:nvPr/>
          </p:nvSpPr>
          <p:spPr>
            <a:xfrm>
              <a:off x="6242304" y="3048000"/>
              <a:ext cx="1487424" cy="292608"/>
            </a:xfrm>
            <a:prstGeom prst="rect">
              <a:avLst/>
            </a:prstGeom>
            <a:noFill/>
            <a:ln/>
          </p:spPr>
          <p:txBody>
            <a:bodyPr wrap="square" lIns="0" tIns="0" rIns="0" bIns="0" rtlCol="0" anchor="ctr"/>
            <a:lstStyle/>
            <a:p>
              <a:pPr algn="ctr"/>
              <a:r>
                <a:rPr lang="en-US" sz="1133" b="1" dirty="0">
                  <a:solidFill>
                    <a:srgbClr val="1E293B"/>
                  </a:solidFill>
                  <a:latin typeface="Calibri" pitchFamily="34" charset="0"/>
                  <a:ea typeface="Calibri" pitchFamily="34" charset="-122"/>
                  <a:cs typeface="Calibri" pitchFamily="34" charset="-120"/>
                </a:rPr>
                <a:t>Transform to categorical</a:t>
              </a:r>
              <a:endParaRPr lang="en-US" sz="1133" dirty="0"/>
            </a:p>
          </p:txBody>
        </p:sp>
        <p:sp>
          <p:nvSpPr>
            <p:cNvPr id="44" name="Text 42">
              <a:extLst>
                <a:ext uri="{FF2B5EF4-FFF2-40B4-BE49-F238E27FC236}">
                  <a16:creationId xmlns:a16="http://schemas.microsoft.com/office/drawing/2014/main" id="{FA9A2AFC-0603-D6C8-B8B7-BE66EAE60E3A}"/>
                </a:ext>
              </a:extLst>
            </p:cNvPr>
            <p:cNvSpPr/>
            <p:nvPr/>
          </p:nvSpPr>
          <p:spPr>
            <a:xfrm>
              <a:off x="6242304" y="3340608"/>
              <a:ext cx="1487424" cy="243840"/>
            </a:xfrm>
            <a:prstGeom prst="rect">
              <a:avLst/>
            </a:prstGeom>
            <a:noFill/>
            <a:ln/>
          </p:spPr>
          <p:txBody>
            <a:bodyPr wrap="square" lIns="0" tIns="0" rIns="0" bIns="0" rtlCol="0" anchor="ctr"/>
            <a:lstStyle/>
            <a:p>
              <a:pPr algn="ctr"/>
              <a:r>
                <a:rPr lang="en-US" sz="1000" i="1" dirty="0">
                  <a:solidFill>
                    <a:srgbClr val="475569"/>
                  </a:solidFill>
                  <a:latin typeface="Calibri" pitchFamily="34" charset="0"/>
                  <a:ea typeface="Calibri" pitchFamily="34" charset="-122"/>
                  <a:cs typeface="Calibri" pitchFamily="34" charset="-120"/>
                </a:rPr>
                <a:t>Fear and greed index </a:t>
              </a:r>
              <a:endParaRPr lang="en-US" sz="1000" dirty="0"/>
            </a:p>
          </p:txBody>
        </p:sp>
      </p:grpSp>
      <p:sp>
        <p:nvSpPr>
          <p:cNvPr id="55" name="Text 53">
            <a:extLst>
              <a:ext uri="{FF2B5EF4-FFF2-40B4-BE49-F238E27FC236}">
                <a16:creationId xmlns:a16="http://schemas.microsoft.com/office/drawing/2014/main" id="{5369E62A-ABAB-A73D-335E-BCB02A6CC945}"/>
              </a:ext>
            </a:extLst>
          </p:cNvPr>
          <p:cNvSpPr/>
          <p:nvPr/>
        </p:nvSpPr>
        <p:spPr>
          <a:xfrm>
            <a:off x="365760" y="3779520"/>
            <a:ext cx="11460480" cy="268224"/>
          </a:xfrm>
          <a:prstGeom prst="rect">
            <a:avLst/>
          </a:prstGeom>
          <a:noFill/>
          <a:ln/>
        </p:spPr>
        <p:txBody>
          <a:bodyPr wrap="square" lIns="0" tIns="0" rIns="0" bIns="0" rtlCol="0" anchor="ctr"/>
          <a:lstStyle/>
          <a:p>
            <a:r>
              <a:rPr lang="en-US" sz="1133" b="1" dirty="0">
                <a:solidFill>
                  <a:srgbClr val="475569"/>
                </a:solidFill>
                <a:latin typeface="Calibri" pitchFamily="34" charset="0"/>
                <a:ea typeface="Calibri" pitchFamily="34" charset="-122"/>
                <a:cs typeface="Calibri" pitchFamily="34" charset="-120"/>
              </a:rPr>
              <a:t>📊  ENGINEERED FEATURES  —  21 signals across 6 categories</a:t>
            </a:r>
            <a:endParaRPr lang="en-US" sz="1133" dirty="0"/>
          </a:p>
        </p:txBody>
      </p:sp>
      <p:graphicFrame>
        <p:nvGraphicFramePr>
          <p:cNvPr id="56" name="Table 0">
            <a:extLst>
              <a:ext uri="{FF2B5EF4-FFF2-40B4-BE49-F238E27FC236}">
                <a16:creationId xmlns:a16="http://schemas.microsoft.com/office/drawing/2014/main" id="{94CB9885-3094-A0C1-6C72-51D03E2C8C13}"/>
              </a:ext>
            </a:extLst>
          </p:cNvPr>
          <p:cNvGraphicFramePr>
            <a:graphicFrameLocks noGrp="1"/>
          </p:cNvGraphicFramePr>
          <p:nvPr/>
        </p:nvGraphicFramePr>
        <p:xfrm>
          <a:off x="365760" y="4084320"/>
          <a:ext cx="11460480" cy="2072640"/>
        </p:xfrm>
        <a:graphic>
          <a:graphicData uri="http://schemas.openxmlformats.org/drawingml/2006/table">
            <a:tbl>
              <a:tblPr/>
              <a:tblGrid>
                <a:gridCol w="1341120">
                  <a:extLst>
                    <a:ext uri="{9D8B030D-6E8A-4147-A177-3AD203B41FA5}">
                      <a16:colId xmlns:a16="http://schemas.microsoft.com/office/drawing/2014/main" val="20000"/>
                    </a:ext>
                  </a:extLst>
                </a:gridCol>
                <a:gridCol w="3779520">
                  <a:extLst>
                    <a:ext uri="{9D8B030D-6E8A-4147-A177-3AD203B41FA5}">
                      <a16:colId xmlns:a16="http://schemas.microsoft.com/office/drawing/2014/main" val="20001"/>
                    </a:ext>
                  </a:extLst>
                </a:gridCol>
                <a:gridCol w="6339840">
                  <a:extLst>
                    <a:ext uri="{9D8B030D-6E8A-4147-A177-3AD203B41FA5}">
                      <a16:colId xmlns:a16="http://schemas.microsoft.com/office/drawing/2014/main" val="20002"/>
                    </a:ext>
                  </a:extLst>
                </a:gridCol>
              </a:tblGrid>
              <a:tr h="30480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Category</a:t>
                      </a:r>
                      <a:endParaRPr lang="en-US" sz="12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32238"/>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32238"/>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What it tells the model ?</a:t>
                      </a:r>
                      <a:endParaRPr lang="en-US" sz="12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32238"/>
                    </a:solidFill>
                  </a:tcPr>
                </a:tc>
                <a:extLst>
                  <a:ext uri="{0D108BD9-81ED-4DB2-BD59-A6C34878D82A}">
                    <a16:rowId xmlns:a16="http://schemas.microsoft.com/office/drawing/2014/main" val="10000"/>
                  </a:ext>
                </a:extLst>
              </a:tr>
              <a:tr h="29464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Trend</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7931A"/>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Price vs MA7 · MA30 · MA50</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Is price above or below its short, medium and long-term average?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464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Momentum</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627EEA"/>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RSI 14 · MACD Histogram · Momentum Acceleration</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Is the market overbought? Is buying pressure rising or fading?</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29464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Volatility</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0D4AA"/>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Volatility 7d · 21d · Bollinger Width · Bollinger %B</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How wildly is the price moving, and where is it within its range?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464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Macro</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2563EB"/>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SPY · DXY · VIX (returns, averages &amp; regimes)</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Is the global market rising, the dollar strengthening, fear spiking?</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29464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Sentiment</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0B981"/>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Fear &amp; Greed · Lag1 · Lag7</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What is the investor mood today, yesterday and last week?</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464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Regime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DC2626"/>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Bull/Bear Flag · Volatility Regime</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1100" dirty="0">
                          <a:solidFill>
                            <a:srgbClr val="1E293B"/>
                          </a:solidFill>
                          <a:latin typeface="Calibri" pitchFamily="34" charset="0"/>
                          <a:ea typeface="Calibri" pitchFamily="34" charset="-122"/>
                          <a:cs typeface="Calibri" pitchFamily="34" charset="-120"/>
                        </a:rPr>
                        <a:t>Is the market in an uptrend/downtrend, and is volatility above or bellow normal?</a:t>
                      </a:r>
                      <a:endParaRPr lang="en-US" sz="11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bl>
          </a:graphicData>
        </a:graphic>
      </p:graphicFrame>
      <p:sp>
        <p:nvSpPr>
          <p:cNvPr id="48" name="Shape 38">
            <a:extLst>
              <a:ext uri="{FF2B5EF4-FFF2-40B4-BE49-F238E27FC236}">
                <a16:creationId xmlns:a16="http://schemas.microsoft.com/office/drawing/2014/main" id="{3617AEEB-170F-6C90-46E0-D2E427E76F27}"/>
              </a:ext>
            </a:extLst>
          </p:cNvPr>
          <p:cNvSpPr/>
          <p:nvPr/>
        </p:nvSpPr>
        <p:spPr>
          <a:xfrm>
            <a:off x="7853506" y="3316756"/>
            <a:ext cx="219456" cy="0"/>
          </a:xfrm>
          <a:prstGeom prst="line">
            <a:avLst/>
          </a:prstGeom>
          <a:noFill/>
          <a:ln w="15240">
            <a:solidFill>
              <a:srgbClr val="94A3B8"/>
            </a:solidFill>
            <a:prstDash val="solid"/>
            <a:tailEnd type="arrow"/>
          </a:ln>
        </p:spPr>
        <p:txBody>
          <a:bodyPr/>
          <a:lstStyle/>
          <a:p>
            <a:endParaRPr lang="en-DE" sz="2400"/>
          </a:p>
        </p:txBody>
      </p:sp>
      <p:grpSp>
        <p:nvGrpSpPr>
          <p:cNvPr id="49" name="Group 48">
            <a:extLst>
              <a:ext uri="{FF2B5EF4-FFF2-40B4-BE49-F238E27FC236}">
                <a16:creationId xmlns:a16="http://schemas.microsoft.com/office/drawing/2014/main" id="{0F9857B0-9AE9-3E9A-FB6A-248B3FED1A5D}"/>
              </a:ext>
            </a:extLst>
          </p:cNvPr>
          <p:cNvGrpSpPr/>
          <p:nvPr/>
        </p:nvGrpSpPr>
        <p:grpSpPr>
          <a:xfrm>
            <a:off x="8079586" y="2974850"/>
            <a:ext cx="1682496" cy="670560"/>
            <a:chOff x="6144768" y="2974848"/>
            <a:chExt cx="1682496" cy="670560"/>
          </a:xfrm>
        </p:grpSpPr>
        <p:sp>
          <p:nvSpPr>
            <p:cNvPr id="50" name="Shape 39">
              <a:extLst>
                <a:ext uri="{FF2B5EF4-FFF2-40B4-BE49-F238E27FC236}">
                  <a16:creationId xmlns:a16="http://schemas.microsoft.com/office/drawing/2014/main" id="{1FC35121-29A7-086A-EF1E-FA4378C9883E}"/>
                </a:ext>
              </a:extLst>
            </p:cNvPr>
            <p:cNvSpPr/>
            <p:nvPr/>
          </p:nvSpPr>
          <p:spPr>
            <a:xfrm>
              <a:off x="6144768" y="2974848"/>
              <a:ext cx="1682496" cy="670560"/>
            </a:xfrm>
            <a:prstGeom prst="rect">
              <a:avLst/>
            </a:prstGeom>
            <a:solidFill>
              <a:srgbClr val="F1F5F9"/>
            </a:solidFill>
            <a:ln w="15240">
              <a:solidFill>
                <a:srgbClr val="10B981"/>
              </a:solidFill>
              <a:prstDash val="solid"/>
            </a:ln>
          </p:spPr>
          <p:txBody>
            <a:bodyPr/>
            <a:lstStyle/>
            <a:p>
              <a:endParaRPr lang="en-DE" sz="2400"/>
            </a:p>
          </p:txBody>
        </p:sp>
        <p:sp>
          <p:nvSpPr>
            <p:cNvPr id="51" name="Shape 40">
              <a:extLst>
                <a:ext uri="{FF2B5EF4-FFF2-40B4-BE49-F238E27FC236}">
                  <a16:creationId xmlns:a16="http://schemas.microsoft.com/office/drawing/2014/main" id="{0401CE52-23D1-ACBA-7A98-46DCE654A5EB}"/>
                </a:ext>
              </a:extLst>
            </p:cNvPr>
            <p:cNvSpPr/>
            <p:nvPr/>
          </p:nvSpPr>
          <p:spPr>
            <a:xfrm>
              <a:off x="6144768" y="2974848"/>
              <a:ext cx="1682496" cy="48768"/>
            </a:xfrm>
            <a:prstGeom prst="rect">
              <a:avLst/>
            </a:prstGeom>
            <a:solidFill>
              <a:srgbClr val="10B981"/>
            </a:solidFill>
            <a:ln w="12700">
              <a:solidFill>
                <a:srgbClr val="10B981"/>
              </a:solidFill>
              <a:prstDash val="solid"/>
            </a:ln>
          </p:spPr>
          <p:txBody>
            <a:bodyPr/>
            <a:lstStyle/>
            <a:p>
              <a:endParaRPr lang="en-DE" sz="2400"/>
            </a:p>
          </p:txBody>
        </p:sp>
        <p:sp>
          <p:nvSpPr>
            <p:cNvPr id="52" name="Text 41">
              <a:extLst>
                <a:ext uri="{FF2B5EF4-FFF2-40B4-BE49-F238E27FC236}">
                  <a16:creationId xmlns:a16="http://schemas.microsoft.com/office/drawing/2014/main" id="{3F28D6A9-0D2B-8FF6-0192-E6E2BE1AF8C5}"/>
                </a:ext>
              </a:extLst>
            </p:cNvPr>
            <p:cNvSpPr/>
            <p:nvPr/>
          </p:nvSpPr>
          <p:spPr>
            <a:xfrm>
              <a:off x="6242304" y="3048000"/>
              <a:ext cx="1487424" cy="292608"/>
            </a:xfrm>
            <a:prstGeom prst="rect">
              <a:avLst/>
            </a:prstGeom>
            <a:noFill/>
            <a:ln/>
          </p:spPr>
          <p:txBody>
            <a:bodyPr wrap="square" lIns="0" tIns="0" rIns="0" bIns="0" rtlCol="0" anchor="ctr"/>
            <a:lstStyle/>
            <a:p>
              <a:pPr algn="ctr"/>
              <a:r>
                <a:rPr lang="en-US" sz="1133" b="1" dirty="0">
                  <a:solidFill>
                    <a:srgbClr val="1E293B"/>
                  </a:solidFill>
                  <a:latin typeface="Calibri" pitchFamily="34" charset="0"/>
                  <a:ea typeface="Calibri" pitchFamily="34" charset="-122"/>
                  <a:cs typeface="Calibri" pitchFamily="34" charset="-120"/>
                </a:rPr>
                <a:t>Cap outliers</a:t>
              </a:r>
              <a:endParaRPr lang="en-US" sz="1133" dirty="0"/>
            </a:p>
          </p:txBody>
        </p:sp>
        <p:sp>
          <p:nvSpPr>
            <p:cNvPr id="54" name="Text 42">
              <a:extLst>
                <a:ext uri="{FF2B5EF4-FFF2-40B4-BE49-F238E27FC236}">
                  <a16:creationId xmlns:a16="http://schemas.microsoft.com/office/drawing/2014/main" id="{2848E57D-ACE3-6A7B-C73D-ACA904033252}"/>
                </a:ext>
              </a:extLst>
            </p:cNvPr>
            <p:cNvSpPr/>
            <p:nvPr/>
          </p:nvSpPr>
          <p:spPr>
            <a:xfrm>
              <a:off x="6242304" y="3340608"/>
              <a:ext cx="1487424" cy="243840"/>
            </a:xfrm>
            <a:prstGeom prst="rect">
              <a:avLst/>
            </a:prstGeom>
            <a:noFill/>
            <a:ln/>
          </p:spPr>
          <p:txBody>
            <a:bodyPr wrap="square" lIns="0" tIns="0" rIns="0" bIns="0" rtlCol="0" anchor="ctr"/>
            <a:lstStyle/>
            <a:p>
              <a:pPr algn="ctr"/>
              <a:r>
                <a:rPr lang="en-US" sz="1000" i="1" dirty="0">
                  <a:solidFill>
                    <a:srgbClr val="475569"/>
                  </a:solidFill>
                  <a:latin typeface="Calibri" pitchFamily="34" charset="0"/>
                  <a:ea typeface="Calibri" pitchFamily="34" charset="-122"/>
                  <a:cs typeface="Calibri" pitchFamily="34" charset="-120"/>
                </a:rPr>
                <a:t>Vix extreme values capped to keep the model stable </a:t>
              </a:r>
              <a:endParaRPr lang="en-US" sz="1000" dirty="0"/>
            </a:p>
          </p:txBody>
        </p:sp>
      </p:grpSp>
    </p:spTree>
    <p:extLst>
      <p:ext uri="{BB962C8B-B14F-4D97-AF65-F5344CB8AC3E}">
        <p14:creationId xmlns:p14="http://schemas.microsoft.com/office/powerpoint/2010/main" val="795476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fade">
                                      <p:cBhvr>
                                        <p:cTn id="10" dur="500"/>
                                        <p:tgtEl>
                                          <p:spTgt spid="53"/>
                                        </p:tgtEl>
                                      </p:cBhvr>
                                    </p:animEffect>
                                  </p:childTnLst>
                                </p:cTn>
                              </p:par>
                              <p:par>
                                <p:cTn id="11" presetID="10" presetClass="entr" presetSubtype="0" fill="hold"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500"/>
                                        <p:tgtEl>
                                          <p:spTgt spid="58"/>
                                        </p:tgtEl>
                                      </p:cBhvr>
                                    </p:animEffect>
                                  </p:childTnLst>
                                </p:cTn>
                              </p:par>
                              <p:par>
                                <p:cTn id="14" presetID="10" presetClass="entr" presetSubtype="0" fill="hold" nodeType="withEffect">
                                  <p:stCondLst>
                                    <p:cond delay="0"/>
                                  </p:stCondLst>
                                  <p:childTnLst>
                                    <p:set>
                                      <p:cBhvr>
                                        <p:cTn id="15" dur="1" fill="hold">
                                          <p:stCondLst>
                                            <p:cond delay="0"/>
                                          </p:stCondLst>
                                        </p:cTn>
                                        <p:tgtEl>
                                          <p:spTgt spid="59"/>
                                        </p:tgtEl>
                                        <p:attrNameLst>
                                          <p:attrName>style.visibility</p:attrName>
                                        </p:attrNameLst>
                                      </p:cBhvr>
                                      <p:to>
                                        <p:strVal val="visible"/>
                                      </p:to>
                                    </p:set>
                                    <p:animEffect transition="in" filter="fade">
                                      <p:cBhvr>
                                        <p:cTn id="16" dur="500"/>
                                        <p:tgtEl>
                                          <p:spTgt spid="5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0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par>
                                <p:cTn id="25" presetID="10"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animEffect transition="in" filter="fade">
                                      <p:cBhvr>
                                        <p:cTn id="27" dur="500"/>
                                        <p:tgtEl>
                                          <p:spTgt spid="4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500"/>
                                        <p:tgtEl>
                                          <p:spTgt spid="3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animEffect transition="in" filter="fade">
                                      <p:cBhvr>
                                        <p:cTn id="33" dur="500"/>
                                        <p:tgtEl>
                                          <p:spTgt spid="35"/>
                                        </p:tgtEl>
                                      </p:cBhvr>
                                    </p:animEffect>
                                  </p:childTnLst>
                                </p:cTn>
                              </p:par>
                              <p:par>
                                <p:cTn id="34" presetID="10" presetClass="entr" presetSubtype="0" fill="hold" nodeType="with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500"/>
                                        <p:tgtEl>
                                          <p:spTgt spid="4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animEffect transition="in" filter="fade">
                                      <p:cBhvr>
                                        <p:cTn id="39" dur="500"/>
                                        <p:tgtEl>
                                          <p:spTgt spid="40"/>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500"/>
                                        <p:tgtEl>
                                          <p:spTgt spid="4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8"/>
                                        </p:tgtEl>
                                        <p:attrNameLst>
                                          <p:attrName>style.visibility</p:attrName>
                                        </p:attrNameLst>
                                      </p:cBhvr>
                                      <p:to>
                                        <p:strVal val="visible"/>
                                      </p:to>
                                    </p:set>
                                    <p:animEffect transition="in" filter="fade">
                                      <p:cBhvr>
                                        <p:cTn id="45" dur="500"/>
                                        <p:tgtEl>
                                          <p:spTgt spid="48"/>
                                        </p:tgtEl>
                                      </p:cBhvr>
                                    </p:animEffect>
                                  </p:childTnLst>
                                </p:cTn>
                              </p:par>
                              <p:par>
                                <p:cTn id="46" presetID="10" presetClass="entr" presetSubtype="0" fill="hold" nodeType="withEffect">
                                  <p:stCondLst>
                                    <p:cond delay="0"/>
                                  </p:stCondLst>
                                  <p:childTnLst>
                                    <p:set>
                                      <p:cBhvr>
                                        <p:cTn id="47" dur="1" fill="hold">
                                          <p:stCondLst>
                                            <p:cond delay="0"/>
                                          </p:stCondLst>
                                        </p:cTn>
                                        <p:tgtEl>
                                          <p:spTgt spid="49"/>
                                        </p:tgtEl>
                                        <p:attrNameLst>
                                          <p:attrName>style.visibility</p:attrName>
                                        </p:attrNameLst>
                                      </p:cBhvr>
                                      <p:to>
                                        <p:strVal val="visible"/>
                                      </p:to>
                                    </p:set>
                                    <p:animEffect transition="in" filter="fade">
                                      <p:cBhvr>
                                        <p:cTn id="48" dur="500"/>
                                        <p:tgtEl>
                                          <p:spTgt spid="4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55"/>
                                        </p:tgtEl>
                                        <p:attrNameLst>
                                          <p:attrName>style.visibility</p:attrName>
                                        </p:attrNameLst>
                                      </p:cBhvr>
                                      <p:to>
                                        <p:strVal val="visible"/>
                                      </p:to>
                                    </p:set>
                                    <p:animEffect transition="in" filter="fade">
                                      <p:cBhvr>
                                        <p:cTn id="53" dur="500"/>
                                        <p:tgtEl>
                                          <p:spTgt spid="55"/>
                                        </p:tgtEl>
                                      </p:cBhvr>
                                    </p:animEffect>
                                  </p:childTnLst>
                                </p:cTn>
                              </p:par>
                              <p:par>
                                <p:cTn id="54" presetID="10" presetClass="entr" presetSubtype="0" fill="hold" nodeType="withEffect">
                                  <p:stCondLst>
                                    <p:cond delay="0"/>
                                  </p:stCondLst>
                                  <p:childTnLst>
                                    <p:set>
                                      <p:cBhvr>
                                        <p:cTn id="55" dur="1" fill="hold">
                                          <p:stCondLst>
                                            <p:cond delay="0"/>
                                          </p:stCondLst>
                                        </p:cTn>
                                        <p:tgtEl>
                                          <p:spTgt spid="56"/>
                                        </p:tgtEl>
                                        <p:attrNameLst>
                                          <p:attrName>style.visibility</p:attrName>
                                        </p:attrNameLst>
                                      </p:cBhvr>
                                      <p:to>
                                        <p:strVal val="visible"/>
                                      </p:to>
                                    </p:set>
                                    <p:animEffect transition="in" filter="fade">
                                      <p:cBhvr>
                                        <p:cTn id="56"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5" grpId="0" animBg="1"/>
      <p:bldP spid="30" grpId="0" animBg="1"/>
      <p:bldP spid="35" grpId="0" animBg="1"/>
      <p:bldP spid="40" grpId="0" animBg="1"/>
      <p:bldP spid="55" grpId="0" animBg="1"/>
      <p:bldP spid="4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365760" y="121920"/>
            <a:ext cx="11460480" cy="463296"/>
          </a:xfrm>
          <a:prstGeom prst="rect">
            <a:avLst/>
          </a:prstGeom>
          <a:noFill/>
          <a:ln/>
        </p:spPr>
        <p:txBody>
          <a:bodyPr wrap="square" lIns="0" tIns="0" rIns="0" bIns="0" rtlCol="0" anchor="ctr"/>
          <a:lstStyle/>
          <a:p>
            <a:pPr algn="ctr"/>
            <a:r>
              <a:rPr lang="en-US" sz="2533" dirty="0">
                <a:solidFill>
                  <a:srgbClr val="132238"/>
                </a:solidFill>
                <a:latin typeface="Calibri" pitchFamily="34" charset="0"/>
                <a:ea typeface="Calibri" pitchFamily="34" charset="-122"/>
                <a:cs typeface="Calibri" pitchFamily="34" charset="-120"/>
              </a:rPr>
              <a:t>EDA : Why Markets Can't Be Modeled With a Simple Split ?</a:t>
            </a:r>
            <a:endParaRPr lang="en-US" sz="2533" dirty="0"/>
          </a:p>
        </p:txBody>
      </p:sp>
      <p:grpSp>
        <p:nvGrpSpPr>
          <p:cNvPr id="36" name="Group 35">
            <a:extLst>
              <a:ext uri="{FF2B5EF4-FFF2-40B4-BE49-F238E27FC236}">
                <a16:creationId xmlns:a16="http://schemas.microsoft.com/office/drawing/2014/main" id="{E5E26131-60BC-7840-F26F-C57C9ED48FB2}"/>
              </a:ext>
            </a:extLst>
          </p:cNvPr>
          <p:cNvGrpSpPr/>
          <p:nvPr/>
        </p:nvGrpSpPr>
        <p:grpSpPr>
          <a:xfrm>
            <a:off x="8941148" y="4623954"/>
            <a:ext cx="2866772" cy="1194816"/>
            <a:chOff x="7620000" y="707136"/>
            <a:chExt cx="4206240" cy="1194816"/>
          </a:xfrm>
        </p:grpSpPr>
        <p:sp>
          <p:nvSpPr>
            <p:cNvPr id="5" name="Shape 2"/>
            <p:cNvSpPr/>
            <p:nvPr/>
          </p:nvSpPr>
          <p:spPr>
            <a:xfrm>
              <a:off x="7620000" y="707136"/>
              <a:ext cx="4206240" cy="1170432"/>
            </a:xfrm>
            <a:prstGeom prst="rect">
              <a:avLst/>
            </a:prstGeom>
            <a:solidFill>
              <a:srgbClr val="F1F5F9"/>
            </a:solidFill>
            <a:ln w="15240">
              <a:solidFill>
                <a:srgbClr val="F7931A"/>
              </a:solidFill>
              <a:prstDash val="solid"/>
            </a:ln>
          </p:spPr>
          <p:txBody>
            <a:bodyPr/>
            <a:lstStyle/>
            <a:p>
              <a:endParaRPr lang="en-DE" sz="2400"/>
            </a:p>
          </p:txBody>
        </p:sp>
        <p:sp>
          <p:nvSpPr>
            <p:cNvPr id="6" name="Shape 3"/>
            <p:cNvSpPr/>
            <p:nvPr/>
          </p:nvSpPr>
          <p:spPr>
            <a:xfrm>
              <a:off x="7620000" y="707136"/>
              <a:ext cx="4206240" cy="60960"/>
            </a:xfrm>
            <a:prstGeom prst="rect">
              <a:avLst/>
            </a:prstGeom>
            <a:solidFill>
              <a:srgbClr val="F7931A"/>
            </a:solidFill>
            <a:ln w="12700">
              <a:solidFill>
                <a:srgbClr val="F7931A"/>
              </a:solidFill>
              <a:prstDash val="solid"/>
            </a:ln>
          </p:spPr>
          <p:txBody>
            <a:bodyPr/>
            <a:lstStyle/>
            <a:p>
              <a:endParaRPr lang="en-DE" sz="2400"/>
            </a:p>
          </p:txBody>
        </p:sp>
        <p:sp>
          <p:nvSpPr>
            <p:cNvPr id="7" name="Text 4"/>
            <p:cNvSpPr/>
            <p:nvPr/>
          </p:nvSpPr>
          <p:spPr>
            <a:xfrm>
              <a:off x="7766304" y="804672"/>
              <a:ext cx="3962400" cy="316992"/>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  Price is not stationary</a:t>
              </a:r>
              <a:endParaRPr lang="en-US" sz="1200" dirty="0"/>
            </a:p>
          </p:txBody>
        </p:sp>
        <p:sp>
          <p:nvSpPr>
            <p:cNvPr id="8" name="Text 5"/>
            <p:cNvSpPr/>
            <p:nvPr/>
          </p:nvSpPr>
          <p:spPr>
            <a:xfrm>
              <a:off x="7766304" y="1146048"/>
              <a:ext cx="3962400" cy="755904"/>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BTC moved from $3k to $124k across 8 years  each regime has completely different price levels, trends and volatility.</a:t>
              </a:r>
              <a:endParaRPr lang="en-US" sz="1067" dirty="0"/>
            </a:p>
          </p:txBody>
        </p:sp>
      </p:grpSp>
      <p:grpSp>
        <p:nvGrpSpPr>
          <p:cNvPr id="35" name="Group 34">
            <a:extLst>
              <a:ext uri="{FF2B5EF4-FFF2-40B4-BE49-F238E27FC236}">
                <a16:creationId xmlns:a16="http://schemas.microsoft.com/office/drawing/2014/main" id="{5B9DC4F9-9C25-B17D-E213-26CC9A7CAFD6}"/>
              </a:ext>
            </a:extLst>
          </p:cNvPr>
          <p:cNvGrpSpPr/>
          <p:nvPr/>
        </p:nvGrpSpPr>
        <p:grpSpPr>
          <a:xfrm>
            <a:off x="4727548" y="4623954"/>
            <a:ext cx="2866772" cy="1194816"/>
            <a:chOff x="7620000" y="1938528"/>
            <a:chExt cx="4206240" cy="1194816"/>
          </a:xfrm>
        </p:grpSpPr>
        <p:sp>
          <p:nvSpPr>
            <p:cNvPr id="9" name="Shape 6"/>
            <p:cNvSpPr/>
            <p:nvPr/>
          </p:nvSpPr>
          <p:spPr>
            <a:xfrm>
              <a:off x="7620000" y="1938528"/>
              <a:ext cx="4206240" cy="1170432"/>
            </a:xfrm>
            <a:prstGeom prst="rect">
              <a:avLst/>
            </a:prstGeom>
            <a:solidFill>
              <a:srgbClr val="F1F5F9"/>
            </a:solidFill>
            <a:ln w="15240">
              <a:solidFill>
                <a:srgbClr val="627EEA"/>
              </a:solidFill>
              <a:prstDash val="solid"/>
            </a:ln>
          </p:spPr>
          <p:txBody>
            <a:bodyPr/>
            <a:lstStyle/>
            <a:p>
              <a:endParaRPr lang="en-DE" sz="2400"/>
            </a:p>
          </p:txBody>
        </p:sp>
        <p:sp>
          <p:nvSpPr>
            <p:cNvPr id="10" name="Shape 7"/>
            <p:cNvSpPr/>
            <p:nvPr/>
          </p:nvSpPr>
          <p:spPr>
            <a:xfrm>
              <a:off x="7620000" y="1938528"/>
              <a:ext cx="4206240" cy="60960"/>
            </a:xfrm>
            <a:prstGeom prst="rect">
              <a:avLst/>
            </a:prstGeom>
            <a:solidFill>
              <a:srgbClr val="627EEA"/>
            </a:solidFill>
            <a:ln w="12700">
              <a:solidFill>
                <a:srgbClr val="627EEA"/>
              </a:solidFill>
              <a:prstDash val="solid"/>
            </a:ln>
          </p:spPr>
          <p:txBody>
            <a:bodyPr/>
            <a:lstStyle/>
            <a:p>
              <a:endParaRPr lang="en-DE" sz="2400"/>
            </a:p>
          </p:txBody>
        </p:sp>
        <p:sp>
          <p:nvSpPr>
            <p:cNvPr id="11" name="Text 8"/>
            <p:cNvSpPr/>
            <p:nvPr/>
          </p:nvSpPr>
          <p:spPr>
            <a:xfrm>
              <a:off x="7766304" y="2036064"/>
              <a:ext cx="3962400" cy="316992"/>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  Distinct market regimes</a:t>
              </a:r>
              <a:endParaRPr lang="en-US" sz="1200" dirty="0"/>
            </a:p>
          </p:txBody>
        </p:sp>
        <p:sp>
          <p:nvSpPr>
            <p:cNvPr id="12" name="Text 9"/>
            <p:cNvSpPr/>
            <p:nvPr/>
          </p:nvSpPr>
          <p:spPr>
            <a:xfrm>
              <a:off x="7766304" y="2377440"/>
              <a:ext cx="3962400" cy="755904"/>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Bear crashes, recovery periods, bull runs and institutional phases each behave differently. </a:t>
              </a:r>
            </a:p>
            <a:p>
              <a:r>
                <a:rPr lang="en-US" sz="1067" dirty="0">
                  <a:solidFill>
                    <a:srgbClr val="475569"/>
                  </a:solidFill>
                  <a:latin typeface="Calibri" pitchFamily="34" charset="0"/>
                  <a:ea typeface="Calibri" pitchFamily="34" charset="-122"/>
                  <a:cs typeface="Calibri" pitchFamily="34" charset="-120"/>
                </a:rPr>
                <a:t>A model trained on one regime is essentially blind to the next.</a:t>
              </a:r>
              <a:endParaRPr lang="en-US" sz="1067" dirty="0"/>
            </a:p>
          </p:txBody>
        </p:sp>
      </p:grpSp>
      <p:grpSp>
        <p:nvGrpSpPr>
          <p:cNvPr id="32" name="Group 31">
            <a:extLst>
              <a:ext uri="{FF2B5EF4-FFF2-40B4-BE49-F238E27FC236}">
                <a16:creationId xmlns:a16="http://schemas.microsoft.com/office/drawing/2014/main" id="{7FA370FF-3E4E-ED65-202B-C853AB9D3967}"/>
              </a:ext>
            </a:extLst>
          </p:cNvPr>
          <p:cNvGrpSpPr/>
          <p:nvPr/>
        </p:nvGrpSpPr>
        <p:grpSpPr>
          <a:xfrm>
            <a:off x="272198" y="4629520"/>
            <a:ext cx="2934826" cy="1194816"/>
            <a:chOff x="7620000" y="3169920"/>
            <a:chExt cx="4206240" cy="1194816"/>
          </a:xfrm>
        </p:grpSpPr>
        <p:sp>
          <p:nvSpPr>
            <p:cNvPr id="13" name="Shape 10"/>
            <p:cNvSpPr/>
            <p:nvPr/>
          </p:nvSpPr>
          <p:spPr>
            <a:xfrm>
              <a:off x="7620000" y="3169920"/>
              <a:ext cx="4206240" cy="1170432"/>
            </a:xfrm>
            <a:prstGeom prst="rect">
              <a:avLst/>
            </a:prstGeom>
            <a:solidFill>
              <a:srgbClr val="F1F5F9"/>
            </a:solidFill>
            <a:ln w="15240">
              <a:solidFill>
                <a:srgbClr val="DC2626"/>
              </a:solidFill>
              <a:prstDash val="solid"/>
            </a:ln>
          </p:spPr>
          <p:txBody>
            <a:bodyPr/>
            <a:lstStyle/>
            <a:p>
              <a:endParaRPr lang="en-DE" sz="2400"/>
            </a:p>
          </p:txBody>
        </p:sp>
        <p:sp>
          <p:nvSpPr>
            <p:cNvPr id="14" name="Shape 11"/>
            <p:cNvSpPr/>
            <p:nvPr/>
          </p:nvSpPr>
          <p:spPr>
            <a:xfrm>
              <a:off x="7620000" y="3169920"/>
              <a:ext cx="4206240" cy="60960"/>
            </a:xfrm>
            <a:prstGeom prst="rect">
              <a:avLst/>
            </a:prstGeom>
            <a:solidFill>
              <a:srgbClr val="DC2626"/>
            </a:solidFill>
            <a:ln w="12700">
              <a:solidFill>
                <a:srgbClr val="DC2626"/>
              </a:solidFill>
              <a:prstDash val="solid"/>
            </a:ln>
          </p:spPr>
          <p:txBody>
            <a:bodyPr/>
            <a:lstStyle/>
            <a:p>
              <a:endParaRPr lang="en-DE" sz="2400"/>
            </a:p>
          </p:txBody>
        </p:sp>
        <p:sp>
          <p:nvSpPr>
            <p:cNvPr id="15" name="Text 12"/>
            <p:cNvSpPr/>
            <p:nvPr/>
          </p:nvSpPr>
          <p:spPr>
            <a:xfrm>
              <a:off x="7766304" y="3267456"/>
              <a:ext cx="3962400" cy="316992"/>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  Volatility is not uniform</a:t>
              </a:r>
              <a:endParaRPr lang="en-US" sz="1200" dirty="0"/>
            </a:p>
          </p:txBody>
        </p:sp>
        <p:sp>
          <p:nvSpPr>
            <p:cNvPr id="16" name="Text 13"/>
            <p:cNvSpPr/>
            <p:nvPr/>
          </p:nvSpPr>
          <p:spPr>
            <a:xfrm>
              <a:off x="7766304" y="3608832"/>
              <a:ext cx="3962400" cy="755904"/>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Bear markets produce larger negative spikes. </a:t>
              </a:r>
            </a:p>
            <a:p>
              <a:r>
                <a:rPr lang="en-US" sz="1067" dirty="0">
                  <a:solidFill>
                    <a:srgbClr val="475569"/>
                  </a:solidFill>
                  <a:latin typeface="Calibri" pitchFamily="34" charset="0"/>
                  <a:ea typeface="Calibri" pitchFamily="34" charset="-122"/>
                  <a:cs typeface="Calibri" pitchFamily="34" charset="-120"/>
                </a:rPr>
                <a:t>Bull runs cluster upward moves. </a:t>
              </a:r>
            </a:p>
            <a:p>
              <a:r>
                <a:rPr lang="en-US" sz="1067" dirty="0">
                  <a:solidFill>
                    <a:srgbClr val="475569"/>
                  </a:solidFill>
                  <a:latin typeface="Calibri" pitchFamily="34" charset="0"/>
                  <a:ea typeface="Calibri" pitchFamily="34" charset="-122"/>
                  <a:cs typeface="Calibri" pitchFamily="34" charset="-120"/>
                </a:rPr>
                <a:t>The market structure shifts not just the price level.</a:t>
              </a:r>
              <a:endParaRPr lang="en-US" sz="1067" dirty="0"/>
            </a:p>
          </p:txBody>
        </p:sp>
      </p:grpSp>
      <p:grpSp>
        <p:nvGrpSpPr>
          <p:cNvPr id="3" name="Group 2">
            <a:extLst>
              <a:ext uri="{FF2B5EF4-FFF2-40B4-BE49-F238E27FC236}">
                <a16:creationId xmlns:a16="http://schemas.microsoft.com/office/drawing/2014/main" id="{7FB433E1-8E63-52F5-310F-3164669429B2}"/>
              </a:ext>
            </a:extLst>
          </p:cNvPr>
          <p:cNvGrpSpPr/>
          <p:nvPr/>
        </p:nvGrpSpPr>
        <p:grpSpPr>
          <a:xfrm>
            <a:off x="245694" y="5976731"/>
            <a:ext cx="11582400" cy="705812"/>
            <a:chOff x="245694" y="5976731"/>
            <a:chExt cx="11582400" cy="705812"/>
          </a:xfrm>
        </p:grpSpPr>
        <p:sp>
          <p:nvSpPr>
            <p:cNvPr id="28" name="Shape 25"/>
            <p:cNvSpPr/>
            <p:nvPr/>
          </p:nvSpPr>
          <p:spPr>
            <a:xfrm>
              <a:off x="245694" y="5976731"/>
              <a:ext cx="11582400" cy="705812"/>
            </a:xfrm>
            <a:prstGeom prst="rect">
              <a:avLst/>
            </a:prstGeom>
            <a:solidFill>
              <a:srgbClr val="132238"/>
            </a:solidFill>
            <a:ln w="12700">
              <a:solidFill>
                <a:srgbClr val="132238"/>
              </a:solidFill>
              <a:prstDash val="solid"/>
            </a:ln>
          </p:spPr>
          <p:txBody>
            <a:bodyPr/>
            <a:lstStyle/>
            <a:p>
              <a:endParaRPr lang="en-DE" sz="2400"/>
            </a:p>
          </p:txBody>
        </p:sp>
        <p:sp>
          <p:nvSpPr>
            <p:cNvPr id="29" name="Text 26"/>
            <p:cNvSpPr/>
            <p:nvPr/>
          </p:nvSpPr>
          <p:spPr>
            <a:xfrm>
              <a:off x="2688869" y="6189696"/>
              <a:ext cx="7210508" cy="438912"/>
            </a:xfrm>
            <a:prstGeom prst="rect">
              <a:avLst/>
            </a:prstGeom>
            <a:noFill/>
            <a:ln/>
          </p:spPr>
          <p:txBody>
            <a:bodyPr wrap="square" lIns="0" tIns="0" rIns="0" bIns="0" rtlCol="0" anchor="ctr"/>
            <a:lstStyle/>
            <a:p>
              <a:r>
                <a:rPr lang="en-US" sz="1133" dirty="0">
                  <a:solidFill>
                    <a:srgbClr val="FFFFFF"/>
                  </a:solidFill>
                  <a:latin typeface="Calibri" pitchFamily="34" charset="0"/>
                  <a:ea typeface="Calibri" pitchFamily="34" charset="-122"/>
                  <a:cs typeface="Calibri" pitchFamily="34" charset="-120"/>
                </a:rPr>
                <a:t>💡  A random 80/20 split would mix these regimes  leaking future information into training. We need a chronological split.</a:t>
              </a:r>
            </a:p>
            <a:p>
              <a:r>
                <a:rPr lang="en-US" sz="1133" dirty="0">
                  <a:solidFill>
                    <a:srgbClr val="FFFFFF"/>
                  </a:solidFill>
                  <a:latin typeface="Calibri" pitchFamily="34" charset="0"/>
                  <a:ea typeface="Calibri" pitchFamily="34" charset="-122"/>
                  <a:cs typeface="Calibri" pitchFamily="34" charset="-120"/>
                </a:rPr>
                <a:t>💡  Add regime flags features  (bull/bear + volatility regime)</a:t>
              </a:r>
            </a:p>
            <a:p>
              <a:r>
                <a:rPr lang="en-US" sz="1133" dirty="0">
                  <a:solidFill>
                    <a:srgbClr val="FFFFFF"/>
                  </a:solidFill>
                  <a:latin typeface="Calibri" pitchFamily="34" charset="0"/>
                  <a:ea typeface="Calibri" pitchFamily="34" charset="-122"/>
                  <a:cs typeface="Calibri" pitchFamily="34" charset="-120"/>
                </a:rPr>
                <a:t>💡  Predict up and down tomorrow’s price trend rather than tomorrow’s exact price </a:t>
              </a:r>
            </a:p>
            <a:p>
              <a:endParaRPr lang="en-US" sz="1133" dirty="0">
                <a:solidFill>
                  <a:srgbClr val="FFFFFF"/>
                </a:solidFill>
                <a:latin typeface="Calibri" pitchFamily="34" charset="0"/>
                <a:ea typeface="Calibri" pitchFamily="34" charset="-122"/>
                <a:cs typeface="Calibri" pitchFamily="34" charset="-120"/>
              </a:endParaRPr>
            </a:p>
          </p:txBody>
        </p:sp>
      </p:grpSp>
      <p:pic>
        <p:nvPicPr>
          <p:cNvPr id="31" name="Picture 30">
            <a:extLst>
              <a:ext uri="{FF2B5EF4-FFF2-40B4-BE49-F238E27FC236}">
                <a16:creationId xmlns:a16="http://schemas.microsoft.com/office/drawing/2014/main" id="{035CBAA6-AE06-36EF-B385-FCC5DAC44469}"/>
              </a:ext>
            </a:extLst>
          </p:cNvPr>
          <p:cNvPicPr>
            <a:picLocks noChangeAspect="1"/>
          </p:cNvPicPr>
          <p:nvPr/>
        </p:nvPicPr>
        <p:blipFill>
          <a:blip r:embed="rId3"/>
          <a:stretch>
            <a:fillRect/>
          </a:stretch>
        </p:blipFill>
        <p:spPr>
          <a:xfrm>
            <a:off x="729342" y="1421052"/>
            <a:ext cx="10611395" cy="2521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animEffect transition="in" filter="fade">
                                      <p:cBhvr>
                                        <p:cTn id="13" dur="500"/>
                                        <p:tgtEl>
                                          <p:spTgt spid="35"/>
                                        </p:tgtEl>
                                      </p:cBhvr>
                                    </p:animEffect>
                                  </p:childTnLst>
                                </p:cTn>
                              </p:par>
                              <p:par>
                                <p:cTn id="14" presetID="10" presetClass="entr" presetSubtype="0" fill="hold" nodeType="withEffect">
                                  <p:stCondLst>
                                    <p:cond delay="0"/>
                                  </p:stCondLst>
                                  <p:childTnLst>
                                    <p:set>
                                      <p:cBhvr>
                                        <p:cTn id="15" dur="1" fill="hold">
                                          <p:stCondLst>
                                            <p:cond delay="0"/>
                                          </p:stCondLst>
                                        </p:cTn>
                                        <p:tgtEl>
                                          <p:spTgt spid="36"/>
                                        </p:tgtEl>
                                        <p:attrNameLst>
                                          <p:attrName>style.visibility</p:attrName>
                                        </p:attrNameLst>
                                      </p:cBhvr>
                                      <p:to>
                                        <p:strVal val="visible"/>
                                      </p:to>
                                    </p:set>
                                    <p:animEffect transition="in" filter="fade">
                                      <p:cBhvr>
                                        <p:cTn id="16" dur="500"/>
                                        <p:tgtEl>
                                          <p:spTgt spid="3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6" name="Shape 18">
            <a:extLst>
              <a:ext uri="{FF2B5EF4-FFF2-40B4-BE49-F238E27FC236}">
                <a16:creationId xmlns:a16="http://schemas.microsoft.com/office/drawing/2014/main" id="{F946F24E-353B-65D1-858E-E7325FB6D875}"/>
              </a:ext>
            </a:extLst>
          </p:cNvPr>
          <p:cNvSpPr/>
          <p:nvPr/>
        </p:nvSpPr>
        <p:spPr>
          <a:xfrm>
            <a:off x="243840" y="6150862"/>
            <a:ext cx="11704320" cy="438912"/>
          </a:xfrm>
          <a:prstGeom prst="rect">
            <a:avLst/>
          </a:prstGeom>
          <a:solidFill>
            <a:srgbClr val="132238"/>
          </a:solidFill>
          <a:ln w="12700">
            <a:solidFill>
              <a:srgbClr val="132238"/>
            </a:solidFill>
            <a:prstDash val="solid"/>
          </a:ln>
        </p:spPr>
        <p:txBody>
          <a:bodyPr/>
          <a:lstStyle/>
          <a:p>
            <a:endParaRPr lang="en-DE" sz="2400"/>
          </a:p>
        </p:txBody>
      </p:sp>
      <p:sp>
        <p:nvSpPr>
          <p:cNvPr id="2" name="Text 0"/>
          <p:cNvSpPr/>
          <p:nvPr/>
        </p:nvSpPr>
        <p:spPr>
          <a:xfrm>
            <a:off x="365760" y="121920"/>
            <a:ext cx="11460480" cy="463296"/>
          </a:xfrm>
          <a:prstGeom prst="rect">
            <a:avLst/>
          </a:prstGeom>
          <a:noFill/>
          <a:ln/>
        </p:spPr>
        <p:txBody>
          <a:bodyPr wrap="square" lIns="0" tIns="0" rIns="0" bIns="0" rtlCol="0" anchor="ctr"/>
          <a:lstStyle/>
          <a:p>
            <a:pPr algn="ctr"/>
            <a:r>
              <a:rPr lang="en-US" sz="2533" dirty="0">
                <a:solidFill>
                  <a:srgbClr val="132238"/>
                </a:solidFill>
                <a:latin typeface="Calibri" pitchFamily="34" charset="0"/>
                <a:ea typeface="Calibri" pitchFamily="34" charset="-122"/>
                <a:cs typeface="Calibri" pitchFamily="34" charset="-120"/>
              </a:rPr>
              <a:t> EDA :Daily Log Returns_ ETH vs BTC Volatility</a:t>
            </a:r>
            <a:endParaRPr lang="en-US" sz="2533" dirty="0"/>
          </a:p>
        </p:txBody>
      </p:sp>
      <p:pic>
        <p:nvPicPr>
          <p:cNvPr id="4" name="Image 0" descr="preencoded.png"/>
          <p:cNvPicPr>
            <a:picLocks noChangeAspect="1"/>
          </p:cNvPicPr>
          <p:nvPr/>
        </p:nvPicPr>
        <p:blipFill>
          <a:blip r:embed="rId3"/>
          <a:stretch>
            <a:fillRect/>
          </a:stretch>
        </p:blipFill>
        <p:spPr>
          <a:xfrm>
            <a:off x="243840" y="866160"/>
            <a:ext cx="11704320" cy="3169920"/>
          </a:xfrm>
          <a:prstGeom prst="rect">
            <a:avLst/>
          </a:prstGeom>
        </p:spPr>
      </p:pic>
      <p:grpSp>
        <p:nvGrpSpPr>
          <p:cNvPr id="25" name="Group 24">
            <a:extLst>
              <a:ext uri="{FF2B5EF4-FFF2-40B4-BE49-F238E27FC236}">
                <a16:creationId xmlns:a16="http://schemas.microsoft.com/office/drawing/2014/main" id="{CBBCD22B-5F57-DBD9-CC8B-7199FECC5F25}"/>
              </a:ext>
            </a:extLst>
          </p:cNvPr>
          <p:cNvGrpSpPr/>
          <p:nvPr/>
        </p:nvGrpSpPr>
        <p:grpSpPr>
          <a:xfrm>
            <a:off x="2072411" y="4387059"/>
            <a:ext cx="3730752" cy="1126335"/>
            <a:chOff x="182880" y="2980944"/>
            <a:chExt cx="2798064" cy="1335024"/>
          </a:xfrm>
        </p:grpSpPr>
        <p:sp>
          <p:nvSpPr>
            <p:cNvPr id="5" name="Shape 2"/>
            <p:cNvSpPr/>
            <p:nvPr/>
          </p:nvSpPr>
          <p:spPr>
            <a:xfrm>
              <a:off x="182880" y="2980944"/>
              <a:ext cx="2798064" cy="1335024"/>
            </a:xfrm>
            <a:prstGeom prst="rect">
              <a:avLst/>
            </a:prstGeom>
            <a:solidFill>
              <a:srgbClr val="F1F5F9"/>
            </a:solidFill>
            <a:ln w="15240">
              <a:solidFill>
                <a:srgbClr val="2563EB"/>
              </a:solidFill>
              <a:prstDash val="solid"/>
            </a:ln>
          </p:spPr>
          <p:txBody>
            <a:bodyPr/>
            <a:lstStyle/>
            <a:p>
              <a:endParaRPr lang="en-DE" sz="2400" dirty="0"/>
            </a:p>
          </p:txBody>
        </p:sp>
        <p:sp>
          <p:nvSpPr>
            <p:cNvPr id="6" name="Shape 3"/>
            <p:cNvSpPr/>
            <p:nvPr/>
          </p:nvSpPr>
          <p:spPr>
            <a:xfrm>
              <a:off x="182880" y="2980944"/>
              <a:ext cx="2798064" cy="45720"/>
            </a:xfrm>
            <a:prstGeom prst="rect">
              <a:avLst/>
            </a:prstGeom>
            <a:solidFill>
              <a:srgbClr val="2563EB"/>
            </a:solidFill>
            <a:ln w="12700">
              <a:solidFill>
                <a:srgbClr val="2563EB"/>
              </a:solidFill>
              <a:prstDash val="solid"/>
            </a:ln>
          </p:spPr>
          <p:txBody>
            <a:bodyPr/>
            <a:lstStyle/>
            <a:p>
              <a:endParaRPr lang="en-DE" sz="2400"/>
            </a:p>
          </p:txBody>
        </p:sp>
        <p:sp>
          <p:nvSpPr>
            <p:cNvPr id="7" name="Text 4"/>
            <p:cNvSpPr/>
            <p:nvPr/>
          </p:nvSpPr>
          <p:spPr>
            <a:xfrm>
              <a:off x="292608" y="3063240"/>
              <a:ext cx="2615184" cy="237744"/>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Ξ  ETH is more volatile than BTC</a:t>
              </a:r>
              <a:endParaRPr lang="en-US" sz="1200" dirty="0"/>
            </a:p>
          </p:txBody>
        </p:sp>
        <p:sp>
          <p:nvSpPr>
            <p:cNvPr id="8" name="Text 5"/>
            <p:cNvSpPr/>
            <p:nvPr/>
          </p:nvSpPr>
          <p:spPr>
            <a:xfrm>
              <a:off x="292608" y="3465016"/>
              <a:ext cx="2615184" cy="658369"/>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ETH daily swings regularly reach ±10–15% while BTC stays in a tighter range. They share the same trend direction but ETH amplifies every move.</a:t>
              </a:r>
              <a:endParaRPr lang="en-US" sz="1067" dirty="0"/>
            </a:p>
          </p:txBody>
        </p:sp>
      </p:grpSp>
      <p:grpSp>
        <p:nvGrpSpPr>
          <p:cNvPr id="24" name="Group 23">
            <a:extLst>
              <a:ext uri="{FF2B5EF4-FFF2-40B4-BE49-F238E27FC236}">
                <a16:creationId xmlns:a16="http://schemas.microsoft.com/office/drawing/2014/main" id="{D5189937-58DE-21D7-25E4-837EE662600E}"/>
              </a:ext>
            </a:extLst>
          </p:cNvPr>
          <p:cNvGrpSpPr/>
          <p:nvPr/>
        </p:nvGrpSpPr>
        <p:grpSpPr>
          <a:xfrm>
            <a:off x="6165176" y="4387061"/>
            <a:ext cx="3730752" cy="1126335"/>
            <a:chOff x="3081528" y="2980944"/>
            <a:chExt cx="2798064" cy="1335024"/>
          </a:xfrm>
        </p:grpSpPr>
        <p:sp>
          <p:nvSpPr>
            <p:cNvPr id="11" name="Shape 8"/>
            <p:cNvSpPr/>
            <p:nvPr/>
          </p:nvSpPr>
          <p:spPr>
            <a:xfrm>
              <a:off x="3081528" y="2980944"/>
              <a:ext cx="2798064" cy="1335024"/>
            </a:xfrm>
            <a:prstGeom prst="rect">
              <a:avLst/>
            </a:prstGeom>
            <a:solidFill>
              <a:srgbClr val="F1F5F9"/>
            </a:solidFill>
            <a:ln w="15240">
              <a:solidFill>
                <a:srgbClr val="DC2626"/>
              </a:solidFill>
              <a:prstDash val="solid"/>
            </a:ln>
          </p:spPr>
          <p:txBody>
            <a:bodyPr/>
            <a:lstStyle/>
            <a:p>
              <a:endParaRPr lang="en-DE" sz="2400" dirty="0"/>
            </a:p>
          </p:txBody>
        </p:sp>
        <p:grpSp>
          <p:nvGrpSpPr>
            <p:cNvPr id="23" name="Group 22">
              <a:extLst>
                <a:ext uri="{FF2B5EF4-FFF2-40B4-BE49-F238E27FC236}">
                  <a16:creationId xmlns:a16="http://schemas.microsoft.com/office/drawing/2014/main" id="{505860E9-07D3-BEEA-AD63-FDA8BC91A420}"/>
                </a:ext>
              </a:extLst>
            </p:cNvPr>
            <p:cNvGrpSpPr/>
            <p:nvPr/>
          </p:nvGrpSpPr>
          <p:grpSpPr>
            <a:xfrm>
              <a:off x="3081528" y="2980944"/>
              <a:ext cx="2798064" cy="1177695"/>
              <a:chOff x="3081528" y="2980944"/>
              <a:chExt cx="2798064" cy="1177695"/>
            </a:xfrm>
          </p:grpSpPr>
          <p:sp>
            <p:nvSpPr>
              <p:cNvPr id="12" name="Shape 9"/>
              <p:cNvSpPr/>
              <p:nvPr/>
            </p:nvSpPr>
            <p:spPr>
              <a:xfrm>
                <a:off x="3081528" y="2980944"/>
                <a:ext cx="2798064" cy="45720"/>
              </a:xfrm>
              <a:prstGeom prst="rect">
                <a:avLst/>
              </a:prstGeom>
              <a:solidFill>
                <a:srgbClr val="DC2626"/>
              </a:solidFill>
              <a:ln w="12700">
                <a:solidFill>
                  <a:srgbClr val="DC2626"/>
                </a:solidFill>
                <a:prstDash val="solid"/>
              </a:ln>
            </p:spPr>
            <p:txBody>
              <a:bodyPr/>
              <a:lstStyle/>
              <a:p>
                <a:endParaRPr lang="en-DE" sz="2400"/>
              </a:p>
            </p:txBody>
          </p:sp>
          <p:sp>
            <p:nvSpPr>
              <p:cNvPr id="13" name="Text 10"/>
              <p:cNvSpPr/>
              <p:nvPr/>
            </p:nvSpPr>
            <p:spPr>
              <a:xfrm>
                <a:off x="3191256" y="3063240"/>
                <a:ext cx="2615184" cy="237744"/>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  Rolling volatility captures regime shifts</a:t>
                </a:r>
                <a:endParaRPr lang="en-US" sz="1200" dirty="0"/>
              </a:p>
            </p:txBody>
          </p:sp>
          <p:sp>
            <p:nvSpPr>
              <p:cNvPr id="14" name="Text 11"/>
              <p:cNvSpPr/>
              <p:nvPr/>
            </p:nvSpPr>
            <p:spPr>
              <a:xfrm>
                <a:off x="3191256" y="3458310"/>
                <a:ext cx="2615184" cy="700329"/>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Short windows (7d) catch sudden spikes. Longer windows (21d) smooth the noise and reveal the underlying risk trend. Both together give the model a richer picture.</a:t>
                </a:r>
                <a:endParaRPr lang="en-US" sz="1067" dirty="0"/>
              </a:p>
            </p:txBody>
          </p:sp>
        </p:grpSp>
      </p:grpSp>
      <p:sp>
        <p:nvSpPr>
          <p:cNvPr id="9" name="Text 26">
            <a:extLst>
              <a:ext uri="{FF2B5EF4-FFF2-40B4-BE49-F238E27FC236}">
                <a16:creationId xmlns:a16="http://schemas.microsoft.com/office/drawing/2014/main" id="{B53BCB1F-D5AF-3D35-DAF3-7836A1E50373}"/>
              </a:ext>
            </a:extLst>
          </p:cNvPr>
          <p:cNvSpPr/>
          <p:nvPr/>
        </p:nvSpPr>
        <p:spPr>
          <a:xfrm>
            <a:off x="4581163" y="6228522"/>
            <a:ext cx="3029674" cy="438912"/>
          </a:xfrm>
          <a:prstGeom prst="rect">
            <a:avLst/>
          </a:prstGeom>
          <a:noFill/>
          <a:ln/>
        </p:spPr>
        <p:txBody>
          <a:bodyPr wrap="square" lIns="0" tIns="0" rIns="0" bIns="0" rtlCol="0" anchor="ctr"/>
          <a:lstStyle/>
          <a:p>
            <a:r>
              <a:rPr lang="en-US" sz="1133" dirty="0">
                <a:solidFill>
                  <a:srgbClr val="FFFFFF"/>
                </a:solidFill>
                <a:latin typeface="Calibri" pitchFamily="34" charset="0"/>
                <a:ea typeface="Calibri" pitchFamily="34" charset="-122"/>
                <a:cs typeface="Calibri" pitchFamily="34" charset="-120"/>
              </a:rPr>
              <a:t>💡 Separate models for BTC and ETH </a:t>
            </a:r>
          </a:p>
          <a:p>
            <a:r>
              <a:rPr lang="en-US" sz="1133" dirty="0">
                <a:solidFill>
                  <a:srgbClr val="FFFFFF"/>
                </a:solidFill>
                <a:latin typeface="Calibri" pitchFamily="34" charset="0"/>
                <a:ea typeface="Calibri" pitchFamily="34" charset="-122"/>
                <a:cs typeface="Calibri" pitchFamily="34" charset="-120"/>
              </a:rPr>
              <a:t>💡  Include short/long-term volatility features </a:t>
            </a:r>
          </a:p>
          <a:p>
            <a:endParaRPr lang="en-US" sz="1133" dirty="0">
              <a:solidFill>
                <a:srgbClr val="FFFFFF"/>
              </a:solidFill>
              <a:latin typeface="Calibri" pitchFamily="34" charset="0"/>
              <a:ea typeface="Calibri" pitchFamily="34" charset="-122"/>
              <a:cs typeface="Calibri" pitchFamily="34"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365760" y="121920"/>
            <a:ext cx="11460480" cy="463296"/>
          </a:xfrm>
          <a:prstGeom prst="rect">
            <a:avLst/>
          </a:prstGeom>
          <a:noFill/>
          <a:ln/>
        </p:spPr>
        <p:txBody>
          <a:bodyPr wrap="square" lIns="0" tIns="0" rIns="0" bIns="0" rtlCol="0" anchor="ctr"/>
          <a:lstStyle/>
          <a:p>
            <a:pPr algn="ctr"/>
            <a:r>
              <a:rPr lang="en-US" sz="2533" dirty="0">
                <a:solidFill>
                  <a:srgbClr val="132238"/>
                </a:solidFill>
                <a:latin typeface="Calibri" pitchFamily="34" charset="0"/>
                <a:ea typeface="Calibri" pitchFamily="34" charset="-122"/>
                <a:cs typeface="Calibri" pitchFamily="34" charset="-120"/>
              </a:rPr>
              <a:t>EDA: Price &amp; Moving Averages</a:t>
            </a:r>
            <a:endParaRPr lang="en-US" sz="2533" dirty="0"/>
          </a:p>
        </p:txBody>
      </p:sp>
      <p:pic>
        <p:nvPicPr>
          <p:cNvPr id="4" name="Image 0" descr="preencoded.png"/>
          <p:cNvPicPr>
            <a:picLocks noChangeAspect="1"/>
          </p:cNvPicPr>
          <p:nvPr/>
        </p:nvPicPr>
        <p:blipFill>
          <a:blip r:embed="rId3"/>
          <a:stretch>
            <a:fillRect/>
          </a:stretch>
        </p:blipFill>
        <p:spPr>
          <a:xfrm>
            <a:off x="243840" y="707136"/>
            <a:ext cx="6827520" cy="4974336"/>
          </a:xfrm>
          <a:prstGeom prst="rect">
            <a:avLst/>
          </a:prstGeom>
        </p:spPr>
      </p:pic>
      <p:grpSp>
        <p:nvGrpSpPr>
          <p:cNvPr id="25" name="Group 24">
            <a:extLst>
              <a:ext uri="{FF2B5EF4-FFF2-40B4-BE49-F238E27FC236}">
                <a16:creationId xmlns:a16="http://schemas.microsoft.com/office/drawing/2014/main" id="{70B2E7C3-21FB-2131-900C-12E68F09E198}"/>
              </a:ext>
            </a:extLst>
          </p:cNvPr>
          <p:cNvGrpSpPr/>
          <p:nvPr/>
        </p:nvGrpSpPr>
        <p:grpSpPr>
          <a:xfrm>
            <a:off x="7290816" y="903986"/>
            <a:ext cx="4535424" cy="1072896"/>
            <a:chOff x="7290816" y="707136"/>
            <a:chExt cx="4535424" cy="1072896"/>
          </a:xfrm>
        </p:grpSpPr>
        <p:sp>
          <p:nvSpPr>
            <p:cNvPr id="5" name="Shape 2"/>
            <p:cNvSpPr/>
            <p:nvPr/>
          </p:nvSpPr>
          <p:spPr>
            <a:xfrm>
              <a:off x="7290816" y="707136"/>
              <a:ext cx="4535424" cy="1072896"/>
            </a:xfrm>
            <a:prstGeom prst="rect">
              <a:avLst/>
            </a:prstGeom>
            <a:solidFill>
              <a:srgbClr val="F1F5F9"/>
            </a:solidFill>
            <a:ln w="15240">
              <a:solidFill>
                <a:srgbClr val="DC2626"/>
              </a:solidFill>
              <a:prstDash val="solid"/>
            </a:ln>
          </p:spPr>
          <p:txBody>
            <a:bodyPr/>
            <a:lstStyle/>
            <a:p>
              <a:endParaRPr lang="en-DE" sz="2400" dirty="0"/>
            </a:p>
          </p:txBody>
        </p:sp>
        <p:sp>
          <p:nvSpPr>
            <p:cNvPr id="6" name="Shape 3"/>
            <p:cNvSpPr/>
            <p:nvPr/>
          </p:nvSpPr>
          <p:spPr>
            <a:xfrm>
              <a:off x="7290816" y="707136"/>
              <a:ext cx="60960" cy="1072896"/>
            </a:xfrm>
            <a:prstGeom prst="rect">
              <a:avLst/>
            </a:prstGeom>
            <a:solidFill>
              <a:srgbClr val="DC2626"/>
            </a:solidFill>
            <a:ln w="12700">
              <a:solidFill>
                <a:srgbClr val="DC2626"/>
              </a:solidFill>
              <a:prstDash val="solid"/>
            </a:ln>
          </p:spPr>
          <p:txBody>
            <a:bodyPr/>
            <a:lstStyle/>
            <a:p>
              <a:endParaRPr lang="en-DE" sz="2400"/>
            </a:p>
          </p:txBody>
        </p:sp>
        <p:sp>
          <p:nvSpPr>
            <p:cNvPr id="7" name="Text 4"/>
            <p:cNvSpPr/>
            <p:nvPr/>
          </p:nvSpPr>
          <p:spPr>
            <a:xfrm>
              <a:off x="7437120" y="780288"/>
              <a:ext cx="431596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 Trend direction</a:t>
              </a:r>
              <a:endParaRPr lang="en-US" sz="1200" dirty="0"/>
            </a:p>
          </p:txBody>
        </p:sp>
        <p:sp>
          <p:nvSpPr>
            <p:cNvPr id="8" name="Text 5"/>
            <p:cNvSpPr/>
            <p:nvPr/>
          </p:nvSpPr>
          <p:spPr>
            <a:xfrm>
              <a:off x="7437120" y="1097280"/>
              <a:ext cx="4315968" cy="633984"/>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MA30 (long-term) → Smoothest, shows overall trend direction</a:t>
              </a:r>
            </a:p>
            <a:p>
              <a:r>
                <a:rPr lang="en-US" sz="1067" dirty="0">
                  <a:solidFill>
                    <a:srgbClr val="475569"/>
                  </a:solidFill>
                  <a:latin typeface="Calibri" pitchFamily="34" charset="0"/>
                  <a:ea typeface="Calibri" pitchFamily="34" charset="-122"/>
                  <a:cs typeface="Calibri" pitchFamily="34" charset="-120"/>
                </a:rPr>
                <a:t>MA14 (medium-term) → Less smooth, reacts faster to changes</a:t>
              </a:r>
            </a:p>
            <a:p>
              <a:r>
                <a:rPr lang="en-US" sz="1067" dirty="0">
                  <a:solidFill>
                    <a:srgbClr val="475569"/>
                  </a:solidFill>
                  <a:latin typeface="Calibri" pitchFamily="34" charset="0"/>
                  <a:ea typeface="Calibri" pitchFamily="34" charset="-122"/>
                  <a:cs typeface="Calibri" pitchFamily="34" charset="-120"/>
                </a:rPr>
                <a:t>MA7 (short-term) → Captures short-term volatility and price swings</a:t>
              </a:r>
            </a:p>
          </p:txBody>
        </p:sp>
      </p:grpSp>
      <p:grpSp>
        <p:nvGrpSpPr>
          <p:cNvPr id="26" name="Group 25">
            <a:extLst>
              <a:ext uri="{FF2B5EF4-FFF2-40B4-BE49-F238E27FC236}">
                <a16:creationId xmlns:a16="http://schemas.microsoft.com/office/drawing/2014/main" id="{EFA63B98-976A-7333-2BDB-187F94A2776C}"/>
              </a:ext>
            </a:extLst>
          </p:cNvPr>
          <p:cNvGrpSpPr/>
          <p:nvPr/>
        </p:nvGrpSpPr>
        <p:grpSpPr>
          <a:xfrm>
            <a:off x="7290816" y="2062226"/>
            <a:ext cx="4535424" cy="1072896"/>
            <a:chOff x="7290816" y="1865376"/>
            <a:chExt cx="4535424" cy="1072896"/>
          </a:xfrm>
        </p:grpSpPr>
        <p:sp>
          <p:nvSpPr>
            <p:cNvPr id="9" name="Shape 6"/>
            <p:cNvSpPr/>
            <p:nvPr/>
          </p:nvSpPr>
          <p:spPr>
            <a:xfrm>
              <a:off x="7290816" y="1865376"/>
              <a:ext cx="4535424" cy="1072896"/>
            </a:xfrm>
            <a:prstGeom prst="rect">
              <a:avLst/>
            </a:prstGeom>
            <a:solidFill>
              <a:srgbClr val="F1F5F9"/>
            </a:solidFill>
            <a:ln w="15240">
              <a:solidFill>
                <a:srgbClr val="10B981"/>
              </a:solidFill>
              <a:prstDash val="solid"/>
            </a:ln>
          </p:spPr>
          <p:txBody>
            <a:bodyPr/>
            <a:lstStyle/>
            <a:p>
              <a:endParaRPr lang="en-DE" sz="2400"/>
            </a:p>
          </p:txBody>
        </p:sp>
        <p:sp>
          <p:nvSpPr>
            <p:cNvPr id="10" name="Shape 7"/>
            <p:cNvSpPr/>
            <p:nvPr/>
          </p:nvSpPr>
          <p:spPr>
            <a:xfrm>
              <a:off x="7290816" y="1865376"/>
              <a:ext cx="60960" cy="1072896"/>
            </a:xfrm>
            <a:prstGeom prst="rect">
              <a:avLst/>
            </a:prstGeom>
            <a:solidFill>
              <a:srgbClr val="10B981"/>
            </a:solidFill>
            <a:ln w="12700">
              <a:solidFill>
                <a:srgbClr val="10B981"/>
              </a:solidFill>
              <a:prstDash val="solid"/>
            </a:ln>
          </p:spPr>
          <p:txBody>
            <a:bodyPr/>
            <a:lstStyle/>
            <a:p>
              <a:endParaRPr lang="en-DE" sz="2400"/>
            </a:p>
          </p:txBody>
        </p:sp>
        <p:sp>
          <p:nvSpPr>
            <p:cNvPr id="11" name="Text 8"/>
            <p:cNvSpPr/>
            <p:nvPr/>
          </p:nvSpPr>
          <p:spPr>
            <a:xfrm>
              <a:off x="7437120" y="1938528"/>
              <a:ext cx="431596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Price Position Relative to MAs</a:t>
              </a:r>
            </a:p>
          </p:txBody>
        </p:sp>
        <p:sp>
          <p:nvSpPr>
            <p:cNvPr id="12" name="Text 9"/>
            <p:cNvSpPr/>
            <p:nvPr/>
          </p:nvSpPr>
          <p:spPr>
            <a:xfrm>
              <a:off x="7437120" y="2255520"/>
              <a:ext cx="4315968" cy="633984"/>
            </a:xfrm>
            <a:prstGeom prst="rect">
              <a:avLst/>
            </a:prstGeom>
            <a:noFill/>
            <a:ln/>
          </p:spPr>
          <p:txBody>
            <a:bodyPr wrap="square" lIns="0" tIns="0" rIns="0" bIns="0" rtlCol="0" anchor="t"/>
            <a:lstStyle/>
            <a:p>
              <a:r>
                <a:rPr lang="de-DE" sz="1067" dirty="0">
                  <a:solidFill>
                    <a:srgbClr val="475569"/>
                  </a:solidFill>
                  <a:latin typeface="Calibri" pitchFamily="34" charset="0"/>
                  <a:ea typeface="Calibri" pitchFamily="34" charset="-122"/>
                  <a:cs typeface="Calibri" pitchFamily="34" charset="-120"/>
                </a:rPr>
                <a:t>Above all MAs → Strong uptrend, bullish momentum</a:t>
              </a:r>
            </a:p>
            <a:p>
              <a:r>
                <a:rPr lang="de-DE" sz="1067" dirty="0">
                  <a:solidFill>
                    <a:srgbClr val="475569"/>
                  </a:solidFill>
                  <a:latin typeface="Calibri" pitchFamily="34" charset="0"/>
                  <a:ea typeface="Calibri" pitchFamily="34" charset="-122"/>
                  <a:cs typeface="Calibri" pitchFamily="34" charset="-120"/>
                </a:rPr>
                <a:t>Below all MAs → Strong downtrend, bearish momentum</a:t>
              </a:r>
            </a:p>
            <a:p>
              <a:r>
                <a:rPr lang="de-DE" sz="1067" dirty="0">
                  <a:solidFill>
                    <a:srgbClr val="475569"/>
                  </a:solidFill>
                  <a:latin typeface="Calibri" pitchFamily="34" charset="0"/>
                  <a:ea typeface="Calibri" pitchFamily="34" charset="-122"/>
                  <a:cs typeface="Calibri" pitchFamily="34" charset="-120"/>
                </a:rPr>
                <a:t>Between MAs → Transition/consolidation phase, uncertainty</a:t>
              </a:r>
            </a:p>
            <a:p>
              <a:br>
                <a:rPr lang="de-DE" sz="1067" dirty="0">
                  <a:solidFill>
                    <a:srgbClr val="475569"/>
                  </a:solidFill>
                  <a:latin typeface="Calibri" pitchFamily="34" charset="0"/>
                  <a:ea typeface="Calibri" pitchFamily="34" charset="-122"/>
                  <a:cs typeface="Calibri" pitchFamily="34" charset="-120"/>
                </a:rPr>
              </a:br>
              <a:endParaRPr lang="de-DE" sz="1067" dirty="0">
                <a:solidFill>
                  <a:srgbClr val="475569"/>
                </a:solidFill>
                <a:latin typeface="Calibri" pitchFamily="34" charset="0"/>
                <a:ea typeface="Calibri" pitchFamily="34" charset="-122"/>
                <a:cs typeface="Calibri" pitchFamily="34" charset="-120"/>
              </a:endParaRPr>
            </a:p>
          </p:txBody>
        </p:sp>
      </p:grpSp>
      <p:grpSp>
        <p:nvGrpSpPr>
          <p:cNvPr id="27" name="Group 26">
            <a:extLst>
              <a:ext uri="{FF2B5EF4-FFF2-40B4-BE49-F238E27FC236}">
                <a16:creationId xmlns:a16="http://schemas.microsoft.com/office/drawing/2014/main" id="{6A176260-562D-E952-4CE5-076A7BB3CB76}"/>
              </a:ext>
            </a:extLst>
          </p:cNvPr>
          <p:cNvGrpSpPr/>
          <p:nvPr/>
        </p:nvGrpSpPr>
        <p:grpSpPr>
          <a:xfrm>
            <a:off x="7290816" y="3220466"/>
            <a:ext cx="4535424" cy="1072896"/>
            <a:chOff x="7290816" y="3023616"/>
            <a:chExt cx="4535424" cy="1072896"/>
          </a:xfrm>
        </p:grpSpPr>
        <p:sp>
          <p:nvSpPr>
            <p:cNvPr id="13" name="Shape 10"/>
            <p:cNvSpPr/>
            <p:nvPr/>
          </p:nvSpPr>
          <p:spPr>
            <a:xfrm>
              <a:off x="7290816" y="3023616"/>
              <a:ext cx="4535424" cy="1072896"/>
            </a:xfrm>
            <a:prstGeom prst="rect">
              <a:avLst/>
            </a:prstGeom>
            <a:solidFill>
              <a:srgbClr val="F1F5F9"/>
            </a:solidFill>
            <a:ln w="15240">
              <a:solidFill>
                <a:srgbClr val="F7931A"/>
              </a:solidFill>
              <a:prstDash val="solid"/>
            </a:ln>
          </p:spPr>
          <p:txBody>
            <a:bodyPr/>
            <a:lstStyle/>
            <a:p>
              <a:endParaRPr lang="en-DE" sz="2400"/>
            </a:p>
          </p:txBody>
        </p:sp>
        <p:sp>
          <p:nvSpPr>
            <p:cNvPr id="14" name="Shape 11"/>
            <p:cNvSpPr/>
            <p:nvPr/>
          </p:nvSpPr>
          <p:spPr>
            <a:xfrm>
              <a:off x="7290816" y="3023616"/>
              <a:ext cx="60960" cy="1072896"/>
            </a:xfrm>
            <a:prstGeom prst="rect">
              <a:avLst/>
            </a:prstGeom>
            <a:solidFill>
              <a:srgbClr val="F7931A"/>
            </a:solidFill>
            <a:ln w="12700">
              <a:solidFill>
                <a:srgbClr val="F7931A"/>
              </a:solidFill>
              <a:prstDash val="solid"/>
            </a:ln>
          </p:spPr>
          <p:txBody>
            <a:bodyPr/>
            <a:lstStyle/>
            <a:p>
              <a:endParaRPr lang="en-DE" sz="2400"/>
            </a:p>
          </p:txBody>
        </p:sp>
        <p:sp>
          <p:nvSpPr>
            <p:cNvPr id="15" name="Text 12"/>
            <p:cNvSpPr/>
            <p:nvPr/>
          </p:nvSpPr>
          <p:spPr>
            <a:xfrm>
              <a:off x="7437120" y="3096768"/>
              <a:ext cx="431596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Crossovers</a:t>
              </a:r>
              <a:endParaRPr lang="en-US" sz="1200" dirty="0"/>
            </a:p>
          </p:txBody>
        </p:sp>
        <p:sp>
          <p:nvSpPr>
            <p:cNvPr id="16" name="Text 13"/>
            <p:cNvSpPr/>
            <p:nvPr/>
          </p:nvSpPr>
          <p:spPr>
            <a:xfrm>
              <a:off x="7437120" y="3413760"/>
              <a:ext cx="4315968" cy="633984"/>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MA7 crosses above MA30 → Bullish signal (uptrend starting)</a:t>
              </a:r>
            </a:p>
            <a:p>
              <a:r>
                <a:rPr lang="en-US" sz="1067" dirty="0">
                  <a:solidFill>
                    <a:srgbClr val="475569"/>
                  </a:solidFill>
                  <a:latin typeface="Calibri" pitchFamily="34" charset="0"/>
                  <a:ea typeface="Calibri" pitchFamily="34" charset="-122"/>
                  <a:cs typeface="Calibri" pitchFamily="34" charset="-120"/>
                </a:rPr>
                <a:t>MA7 crosses below MA30 → Bearish signal (downtrend starting)</a:t>
              </a:r>
            </a:p>
          </p:txBody>
        </p:sp>
      </p:grpSp>
      <p:grpSp>
        <p:nvGrpSpPr>
          <p:cNvPr id="28" name="Group 27">
            <a:extLst>
              <a:ext uri="{FF2B5EF4-FFF2-40B4-BE49-F238E27FC236}">
                <a16:creationId xmlns:a16="http://schemas.microsoft.com/office/drawing/2014/main" id="{0AE4233D-B9B2-FC4C-71E7-E5DCC0A94325}"/>
              </a:ext>
            </a:extLst>
          </p:cNvPr>
          <p:cNvGrpSpPr/>
          <p:nvPr/>
        </p:nvGrpSpPr>
        <p:grpSpPr>
          <a:xfrm>
            <a:off x="7290816" y="4378706"/>
            <a:ext cx="4535424" cy="1072896"/>
            <a:chOff x="7290816" y="4181856"/>
            <a:chExt cx="4535424" cy="1072896"/>
          </a:xfrm>
        </p:grpSpPr>
        <p:sp>
          <p:nvSpPr>
            <p:cNvPr id="17" name="Shape 14"/>
            <p:cNvSpPr/>
            <p:nvPr/>
          </p:nvSpPr>
          <p:spPr>
            <a:xfrm>
              <a:off x="7290816" y="4181856"/>
              <a:ext cx="4535424" cy="1072896"/>
            </a:xfrm>
            <a:prstGeom prst="rect">
              <a:avLst/>
            </a:prstGeom>
            <a:solidFill>
              <a:srgbClr val="F1F5F9"/>
            </a:solidFill>
            <a:ln w="15240">
              <a:solidFill>
                <a:srgbClr val="627EEA"/>
              </a:solidFill>
              <a:prstDash val="solid"/>
            </a:ln>
          </p:spPr>
          <p:txBody>
            <a:bodyPr/>
            <a:lstStyle/>
            <a:p>
              <a:endParaRPr lang="en-DE" sz="2400"/>
            </a:p>
          </p:txBody>
        </p:sp>
        <p:sp>
          <p:nvSpPr>
            <p:cNvPr id="18" name="Shape 15"/>
            <p:cNvSpPr/>
            <p:nvPr/>
          </p:nvSpPr>
          <p:spPr>
            <a:xfrm>
              <a:off x="7290816" y="4181856"/>
              <a:ext cx="60960" cy="1072896"/>
            </a:xfrm>
            <a:prstGeom prst="rect">
              <a:avLst/>
            </a:prstGeom>
            <a:solidFill>
              <a:srgbClr val="627EEA"/>
            </a:solidFill>
            <a:ln w="12700">
              <a:solidFill>
                <a:srgbClr val="627EEA"/>
              </a:solidFill>
              <a:prstDash val="solid"/>
            </a:ln>
          </p:spPr>
          <p:txBody>
            <a:bodyPr/>
            <a:lstStyle/>
            <a:p>
              <a:endParaRPr lang="en-DE" sz="2400"/>
            </a:p>
          </p:txBody>
        </p:sp>
        <p:sp>
          <p:nvSpPr>
            <p:cNvPr id="19" name="Text 16"/>
            <p:cNvSpPr/>
            <p:nvPr/>
          </p:nvSpPr>
          <p:spPr>
            <a:xfrm>
              <a:off x="7437120" y="4255008"/>
              <a:ext cx="4315968" cy="292608"/>
            </a:xfrm>
            <a:prstGeom prst="rect">
              <a:avLst/>
            </a:prstGeom>
            <a:noFill/>
            <a:ln/>
          </p:spPr>
          <p:txBody>
            <a:bodyPr wrap="square" lIns="0" tIns="0" rIns="0" bIns="0" rtlCol="0" anchor="ctr"/>
            <a:lstStyle/>
            <a:p>
              <a:r>
                <a:rPr lang="de-DE" sz="1200" b="1" dirty="0">
                  <a:solidFill>
                    <a:srgbClr val="1E293B"/>
                  </a:solidFill>
                  <a:latin typeface="Calibri" pitchFamily="34" charset="0"/>
                  <a:ea typeface="Calibri" pitchFamily="34" charset="-122"/>
                  <a:cs typeface="Calibri" pitchFamily="34" charset="-120"/>
                </a:rPr>
                <a:t>Support/Resistance Levels</a:t>
              </a:r>
            </a:p>
          </p:txBody>
        </p:sp>
        <p:sp>
          <p:nvSpPr>
            <p:cNvPr id="20" name="Text 17"/>
            <p:cNvSpPr/>
            <p:nvPr/>
          </p:nvSpPr>
          <p:spPr>
            <a:xfrm>
              <a:off x="7437120" y="4572000"/>
              <a:ext cx="4315968" cy="633984"/>
            </a:xfrm>
            <a:prstGeom prst="rect">
              <a:avLst/>
            </a:prstGeom>
            <a:noFill/>
            <a:ln/>
          </p:spPr>
          <p:txBody>
            <a:bodyPr wrap="square" lIns="0" tIns="0" rIns="0" bIns="0" rtlCol="0" anchor="t"/>
            <a:lstStyle/>
            <a:p>
              <a:r>
                <a:rPr lang="en-US" sz="1067" dirty="0">
                  <a:solidFill>
                    <a:srgbClr val="475569"/>
                  </a:solidFill>
                  <a:latin typeface="Calibri" pitchFamily="34" charset="0"/>
                  <a:ea typeface="Calibri" pitchFamily="34" charset="-122"/>
                  <a:cs typeface="Calibri" pitchFamily="34" charset="-120"/>
                </a:rPr>
                <a:t>Support during uptrends (price bounces off MA30)</a:t>
              </a:r>
            </a:p>
            <a:p>
              <a:r>
                <a:rPr lang="en-US" sz="1067" dirty="0">
                  <a:solidFill>
                    <a:srgbClr val="475569"/>
                  </a:solidFill>
                  <a:latin typeface="Calibri" pitchFamily="34" charset="0"/>
                  <a:ea typeface="Calibri" pitchFamily="34" charset="-122"/>
                  <a:cs typeface="Calibri" pitchFamily="34" charset="-120"/>
                </a:rPr>
                <a:t>Resistance during downtrends (price struggles to cross above MA30)</a:t>
              </a:r>
            </a:p>
          </p:txBody>
        </p:sp>
      </p:grpSp>
      <p:sp>
        <p:nvSpPr>
          <p:cNvPr id="21" name="Shape 18"/>
          <p:cNvSpPr/>
          <p:nvPr/>
        </p:nvSpPr>
        <p:spPr>
          <a:xfrm>
            <a:off x="243840" y="6205728"/>
            <a:ext cx="11704320" cy="438912"/>
          </a:xfrm>
          <a:prstGeom prst="rect">
            <a:avLst/>
          </a:prstGeom>
          <a:solidFill>
            <a:srgbClr val="132238"/>
          </a:solidFill>
          <a:ln w="12700">
            <a:solidFill>
              <a:srgbClr val="132238"/>
            </a:solidFill>
            <a:prstDash val="solid"/>
          </a:ln>
        </p:spPr>
        <p:txBody>
          <a:bodyPr/>
          <a:lstStyle/>
          <a:p>
            <a:endParaRPr lang="en-DE" sz="2400"/>
          </a:p>
        </p:txBody>
      </p:sp>
      <p:sp>
        <p:nvSpPr>
          <p:cNvPr id="22" name="Text 19"/>
          <p:cNvSpPr/>
          <p:nvPr/>
        </p:nvSpPr>
        <p:spPr>
          <a:xfrm>
            <a:off x="4693920" y="6205728"/>
            <a:ext cx="2804160" cy="438912"/>
          </a:xfrm>
          <a:prstGeom prst="rect">
            <a:avLst/>
          </a:prstGeom>
          <a:noFill/>
          <a:ln/>
        </p:spPr>
        <p:txBody>
          <a:bodyPr wrap="square" lIns="0" tIns="0" rIns="0" bIns="0" rtlCol="0" anchor="ctr"/>
          <a:lstStyle/>
          <a:p>
            <a:r>
              <a:rPr lang="en-US" sz="1133" dirty="0">
                <a:solidFill>
                  <a:srgbClr val="FFFFFF"/>
                </a:solidFill>
                <a:latin typeface="Calibri" pitchFamily="34" charset="0"/>
                <a:ea typeface="Calibri" pitchFamily="34" charset="-122"/>
                <a:cs typeface="Calibri" pitchFamily="34" charset="-120"/>
              </a:rPr>
              <a:t>💡  Include moving average features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365760" y="121920"/>
            <a:ext cx="11460480" cy="463296"/>
          </a:xfrm>
          <a:prstGeom prst="rect">
            <a:avLst/>
          </a:prstGeom>
          <a:noFill/>
          <a:ln/>
        </p:spPr>
        <p:txBody>
          <a:bodyPr wrap="square" lIns="0" tIns="0" rIns="0" bIns="0" rtlCol="0" anchor="ctr"/>
          <a:lstStyle/>
          <a:p>
            <a:pPr algn="ctr"/>
            <a:r>
              <a:rPr lang="en-US" sz="2533" dirty="0">
                <a:solidFill>
                  <a:srgbClr val="132238"/>
                </a:solidFill>
                <a:latin typeface="Calibri" pitchFamily="34" charset="0"/>
                <a:ea typeface="Calibri" pitchFamily="34" charset="-122"/>
                <a:cs typeface="Calibri" pitchFamily="34" charset="-120"/>
              </a:rPr>
              <a:t>EDA :MACD A Leading Momentum Indicator</a:t>
            </a:r>
            <a:endParaRPr lang="en-US" sz="2533" dirty="0"/>
          </a:p>
        </p:txBody>
      </p:sp>
      <p:pic>
        <p:nvPicPr>
          <p:cNvPr id="4" name="Image 0" descr="preencoded.png"/>
          <p:cNvPicPr>
            <a:picLocks noChangeAspect="1"/>
          </p:cNvPicPr>
          <p:nvPr/>
        </p:nvPicPr>
        <p:blipFill>
          <a:blip r:embed="rId3"/>
          <a:stretch>
            <a:fillRect/>
          </a:stretch>
        </p:blipFill>
        <p:spPr>
          <a:xfrm>
            <a:off x="243840" y="834136"/>
            <a:ext cx="7071360" cy="4974336"/>
          </a:xfrm>
          <a:prstGeom prst="rect">
            <a:avLst/>
          </a:prstGeom>
        </p:spPr>
      </p:pic>
      <p:grpSp>
        <p:nvGrpSpPr>
          <p:cNvPr id="26" name="Group 25">
            <a:extLst>
              <a:ext uri="{FF2B5EF4-FFF2-40B4-BE49-F238E27FC236}">
                <a16:creationId xmlns:a16="http://schemas.microsoft.com/office/drawing/2014/main" id="{46D1EAB8-F8AC-7F86-A98E-6C69C71E4F9E}"/>
              </a:ext>
            </a:extLst>
          </p:cNvPr>
          <p:cNvGrpSpPr/>
          <p:nvPr/>
        </p:nvGrpSpPr>
        <p:grpSpPr>
          <a:xfrm>
            <a:off x="7534656" y="999236"/>
            <a:ext cx="4291584" cy="1072896"/>
            <a:chOff x="7534656" y="707136"/>
            <a:chExt cx="4291584" cy="1072896"/>
          </a:xfrm>
        </p:grpSpPr>
        <p:sp>
          <p:nvSpPr>
            <p:cNvPr id="5" name="Shape 2"/>
            <p:cNvSpPr/>
            <p:nvPr/>
          </p:nvSpPr>
          <p:spPr>
            <a:xfrm>
              <a:off x="7534656" y="707136"/>
              <a:ext cx="4291584" cy="1072896"/>
            </a:xfrm>
            <a:prstGeom prst="rect">
              <a:avLst/>
            </a:prstGeom>
            <a:solidFill>
              <a:srgbClr val="F1F5F9"/>
            </a:solidFill>
            <a:ln w="15240">
              <a:solidFill>
                <a:srgbClr val="2563EB"/>
              </a:solidFill>
              <a:prstDash val="solid"/>
            </a:ln>
          </p:spPr>
          <p:txBody>
            <a:bodyPr/>
            <a:lstStyle/>
            <a:p>
              <a:endParaRPr lang="en-DE" sz="2400"/>
            </a:p>
          </p:txBody>
        </p:sp>
        <p:grpSp>
          <p:nvGrpSpPr>
            <p:cNvPr id="3" name="Group 2">
              <a:extLst>
                <a:ext uri="{FF2B5EF4-FFF2-40B4-BE49-F238E27FC236}">
                  <a16:creationId xmlns:a16="http://schemas.microsoft.com/office/drawing/2014/main" id="{56F4528D-9CD2-E0F0-AADA-79CB1A0B3407}"/>
                </a:ext>
              </a:extLst>
            </p:cNvPr>
            <p:cNvGrpSpPr/>
            <p:nvPr/>
          </p:nvGrpSpPr>
          <p:grpSpPr>
            <a:xfrm>
              <a:off x="7534656" y="707136"/>
              <a:ext cx="4218432" cy="1072896"/>
              <a:chOff x="7534656" y="707136"/>
              <a:chExt cx="4218432" cy="1072896"/>
            </a:xfrm>
          </p:grpSpPr>
          <p:sp>
            <p:nvSpPr>
              <p:cNvPr id="6" name="Shape 3"/>
              <p:cNvSpPr/>
              <p:nvPr/>
            </p:nvSpPr>
            <p:spPr>
              <a:xfrm>
                <a:off x="7534656" y="707136"/>
                <a:ext cx="60960" cy="1072896"/>
              </a:xfrm>
              <a:prstGeom prst="rect">
                <a:avLst/>
              </a:prstGeom>
              <a:solidFill>
                <a:srgbClr val="2563EB"/>
              </a:solidFill>
              <a:ln w="12700">
                <a:solidFill>
                  <a:srgbClr val="2563EB"/>
                </a:solidFill>
                <a:prstDash val="solid"/>
              </a:ln>
            </p:spPr>
            <p:txBody>
              <a:bodyPr/>
              <a:lstStyle/>
              <a:p>
                <a:endParaRPr lang="en-DE" sz="2400" dirty="0"/>
              </a:p>
            </p:txBody>
          </p:sp>
          <p:sp>
            <p:nvSpPr>
              <p:cNvPr id="7" name="Text 4"/>
              <p:cNvSpPr/>
              <p:nvPr/>
            </p:nvSpPr>
            <p:spPr>
              <a:xfrm>
                <a:off x="7680960" y="780288"/>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What is MACD and signal line?</a:t>
                </a:r>
                <a:endParaRPr lang="en-US" sz="1200" dirty="0"/>
              </a:p>
            </p:txBody>
          </p:sp>
          <p:sp>
            <p:nvSpPr>
              <p:cNvPr id="8" name="Text 5"/>
              <p:cNvSpPr/>
              <p:nvPr/>
            </p:nvSpPr>
            <p:spPr>
              <a:xfrm>
                <a:off x="7680960" y="1097280"/>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MACD =  measures whether the price movement  is accelerating or decelerating </a:t>
                </a:r>
              </a:p>
              <a:p>
                <a:r>
                  <a:rPr lang="en-US" sz="987" dirty="0">
                    <a:solidFill>
                      <a:srgbClr val="475569"/>
                    </a:solidFill>
                    <a:latin typeface="Calibri" pitchFamily="34" charset="0"/>
                    <a:ea typeface="Calibri" pitchFamily="34" charset="-122"/>
                    <a:cs typeface="Calibri" pitchFamily="34" charset="-120"/>
                  </a:rPr>
                  <a:t>Signal line = smoothed average of the MACD over 9 days</a:t>
                </a:r>
              </a:p>
            </p:txBody>
          </p:sp>
        </p:grpSp>
      </p:grpSp>
      <p:grpSp>
        <p:nvGrpSpPr>
          <p:cNvPr id="23" name="Group 22">
            <a:extLst>
              <a:ext uri="{FF2B5EF4-FFF2-40B4-BE49-F238E27FC236}">
                <a16:creationId xmlns:a16="http://schemas.microsoft.com/office/drawing/2014/main" id="{06477065-C9CC-E823-D345-1CC90EE0D23D}"/>
              </a:ext>
            </a:extLst>
          </p:cNvPr>
          <p:cNvGrpSpPr/>
          <p:nvPr/>
        </p:nvGrpSpPr>
        <p:grpSpPr>
          <a:xfrm>
            <a:off x="7534656" y="2151380"/>
            <a:ext cx="4291584" cy="1072896"/>
            <a:chOff x="7534656" y="1859280"/>
            <a:chExt cx="4291584" cy="1072896"/>
          </a:xfrm>
        </p:grpSpPr>
        <p:sp>
          <p:nvSpPr>
            <p:cNvPr id="9" name="Shape 6"/>
            <p:cNvSpPr/>
            <p:nvPr/>
          </p:nvSpPr>
          <p:spPr>
            <a:xfrm>
              <a:off x="7534656" y="1859280"/>
              <a:ext cx="4291584" cy="1072896"/>
            </a:xfrm>
            <a:prstGeom prst="rect">
              <a:avLst/>
            </a:prstGeom>
            <a:solidFill>
              <a:srgbClr val="F1F5F9"/>
            </a:solidFill>
            <a:ln w="15240">
              <a:solidFill>
                <a:srgbClr val="10B981"/>
              </a:solidFill>
              <a:prstDash val="solid"/>
            </a:ln>
          </p:spPr>
          <p:txBody>
            <a:bodyPr/>
            <a:lstStyle/>
            <a:p>
              <a:endParaRPr lang="en-DE" sz="2400"/>
            </a:p>
          </p:txBody>
        </p:sp>
        <p:sp>
          <p:nvSpPr>
            <p:cNvPr id="10" name="Shape 7"/>
            <p:cNvSpPr/>
            <p:nvPr/>
          </p:nvSpPr>
          <p:spPr>
            <a:xfrm>
              <a:off x="7534656" y="1859280"/>
              <a:ext cx="60960" cy="1072896"/>
            </a:xfrm>
            <a:prstGeom prst="rect">
              <a:avLst/>
            </a:prstGeom>
            <a:solidFill>
              <a:srgbClr val="10B981"/>
            </a:solidFill>
            <a:ln w="12700">
              <a:solidFill>
                <a:srgbClr val="10B981"/>
              </a:solidFill>
              <a:prstDash val="solid"/>
            </a:ln>
          </p:spPr>
          <p:txBody>
            <a:bodyPr/>
            <a:lstStyle/>
            <a:p>
              <a:endParaRPr lang="en-DE" sz="2400"/>
            </a:p>
          </p:txBody>
        </p:sp>
        <p:sp>
          <p:nvSpPr>
            <p:cNvPr id="11" name="Text 8"/>
            <p:cNvSpPr/>
            <p:nvPr/>
          </p:nvSpPr>
          <p:spPr>
            <a:xfrm>
              <a:off x="7680960" y="1932432"/>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Crossovers predict direction</a:t>
              </a:r>
              <a:endParaRPr lang="en-US" sz="1200" dirty="0"/>
            </a:p>
          </p:txBody>
        </p:sp>
        <p:sp>
          <p:nvSpPr>
            <p:cNvPr id="12" name="Text 9"/>
            <p:cNvSpPr/>
            <p:nvPr/>
          </p:nvSpPr>
          <p:spPr>
            <a:xfrm>
              <a:off x="7680960" y="2249424"/>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Blue ( MACD) crosses above red (Signal Line)  → Price tends to go up </a:t>
              </a:r>
            </a:p>
            <a:p>
              <a:r>
                <a:rPr lang="en-US" sz="987" dirty="0">
                  <a:solidFill>
                    <a:srgbClr val="475569"/>
                  </a:solidFill>
                  <a:latin typeface="Calibri" pitchFamily="34" charset="0"/>
                  <a:ea typeface="Calibri" pitchFamily="34" charset="-122"/>
                  <a:cs typeface="Calibri" pitchFamily="34" charset="-120"/>
                </a:rPr>
                <a:t>Blue ( MACD) crosses below red (Signal Line) → Price tends to go down </a:t>
              </a:r>
            </a:p>
            <a:p>
              <a:endParaRPr lang="en-US" sz="987" dirty="0"/>
            </a:p>
          </p:txBody>
        </p:sp>
      </p:grpSp>
      <p:grpSp>
        <p:nvGrpSpPr>
          <p:cNvPr id="24" name="Group 23">
            <a:extLst>
              <a:ext uri="{FF2B5EF4-FFF2-40B4-BE49-F238E27FC236}">
                <a16:creationId xmlns:a16="http://schemas.microsoft.com/office/drawing/2014/main" id="{47496719-15B2-758B-34F4-8EBE9C0E3128}"/>
              </a:ext>
            </a:extLst>
          </p:cNvPr>
          <p:cNvGrpSpPr/>
          <p:nvPr/>
        </p:nvGrpSpPr>
        <p:grpSpPr>
          <a:xfrm>
            <a:off x="7534656" y="3303524"/>
            <a:ext cx="4291584" cy="1072896"/>
            <a:chOff x="7534656" y="3011424"/>
            <a:chExt cx="4291584" cy="1072896"/>
          </a:xfrm>
        </p:grpSpPr>
        <p:sp>
          <p:nvSpPr>
            <p:cNvPr id="13" name="Shape 10"/>
            <p:cNvSpPr/>
            <p:nvPr/>
          </p:nvSpPr>
          <p:spPr>
            <a:xfrm>
              <a:off x="7534656" y="3011424"/>
              <a:ext cx="4291584" cy="1072896"/>
            </a:xfrm>
            <a:prstGeom prst="rect">
              <a:avLst/>
            </a:prstGeom>
            <a:solidFill>
              <a:srgbClr val="F1F5F9"/>
            </a:solidFill>
            <a:ln w="15240">
              <a:solidFill>
                <a:srgbClr val="F7931A"/>
              </a:solidFill>
              <a:prstDash val="solid"/>
            </a:ln>
          </p:spPr>
          <p:txBody>
            <a:bodyPr/>
            <a:lstStyle/>
            <a:p>
              <a:endParaRPr lang="en-DE" sz="2400"/>
            </a:p>
          </p:txBody>
        </p:sp>
        <p:sp>
          <p:nvSpPr>
            <p:cNvPr id="14" name="Shape 11"/>
            <p:cNvSpPr/>
            <p:nvPr/>
          </p:nvSpPr>
          <p:spPr>
            <a:xfrm>
              <a:off x="7534656" y="3011424"/>
              <a:ext cx="60960" cy="1072896"/>
            </a:xfrm>
            <a:prstGeom prst="rect">
              <a:avLst/>
            </a:prstGeom>
            <a:solidFill>
              <a:srgbClr val="F7931A"/>
            </a:solidFill>
            <a:ln w="12700">
              <a:solidFill>
                <a:srgbClr val="F7931A"/>
              </a:solidFill>
              <a:prstDash val="solid"/>
            </a:ln>
          </p:spPr>
          <p:txBody>
            <a:bodyPr/>
            <a:lstStyle/>
            <a:p>
              <a:endParaRPr lang="en-DE" sz="2400"/>
            </a:p>
          </p:txBody>
        </p:sp>
        <p:sp>
          <p:nvSpPr>
            <p:cNvPr id="15" name="Text 12"/>
            <p:cNvSpPr/>
            <p:nvPr/>
          </p:nvSpPr>
          <p:spPr>
            <a:xfrm>
              <a:off x="7680960" y="3084576"/>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Histogram = momentum strength</a:t>
              </a:r>
              <a:endParaRPr lang="en-US" sz="1200" dirty="0"/>
            </a:p>
          </p:txBody>
        </p:sp>
        <p:sp>
          <p:nvSpPr>
            <p:cNvPr id="16" name="Text 13"/>
            <p:cNvSpPr/>
            <p:nvPr/>
          </p:nvSpPr>
          <p:spPr>
            <a:xfrm>
              <a:off x="7680960" y="3401568"/>
              <a:ext cx="4072128" cy="633984"/>
            </a:xfrm>
            <a:prstGeom prst="rect">
              <a:avLst/>
            </a:prstGeom>
            <a:noFill/>
            <a:ln/>
          </p:spPr>
          <p:txBody>
            <a:bodyPr wrap="square" lIns="0" tIns="0" rIns="0" bIns="0" rtlCol="0" anchor="t"/>
            <a:lstStyle/>
            <a:p>
              <a:r>
                <a:rPr lang="de-DE" sz="987" dirty="0">
                  <a:solidFill>
                    <a:srgbClr val="475569"/>
                  </a:solidFill>
                  <a:latin typeface="Calibri" pitchFamily="34" charset="0"/>
                  <a:ea typeface="Calibri" pitchFamily="34" charset="-122"/>
                  <a:cs typeface="Calibri" pitchFamily="34" charset="-120"/>
                </a:rPr>
                <a:t>Green bars getting taller </a:t>
              </a:r>
              <a:r>
                <a:rPr lang="en-US" sz="987" dirty="0">
                  <a:solidFill>
                    <a:srgbClr val="475569"/>
                  </a:solidFill>
                  <a:latin typeface="Calibri" pitchFamily="34" charset="0"/>
                  <a:ea typeface="Calibri" pitchFamily="34" charset="-122"/>
                  <a:cs typeface="Calibri" pitchFamily="34" charset="-120"/>
                </a:rPr>
                <a:t>→</a:t>
              </a:r>
              <a:r>
                <a:rPr lang="de-DE" sz="987" dirty="0">
                  <a:solidFill>
                    <a:srgbClr val="475569"/>
                  </a:solidFill>
                  <a:latin typeface="Calibri" pitchFamily="34" charset="0"/>
                  <a:ea typeface="Calibri" pitchFamily="34" charset="-122"/>
                  <a:cs typeface="Calibri" pitchFamily="34" charset="-120"/>
                </a:rPr>
                <a:t> buying pressure increasing</a:t>
              </a:r>
            </a:p>
            <a:p>
              <a:r>
                <a:rPr lang="de-DE" sz="987" dirty="0">
                  <a:solidFill>
                    <a:srgbClr val="475569"/>
                  </a:solidFill>
                  <a:latin typeface="Calibri" pitchFamily="34" charset="0"/>
                  <a:ea typeface="Calibri" pitchFamily="34" charset="-122"/>
                  <a:cs typeface="Calibri" pitchFamily="34" charset="-120"/>
                </a:rPr>
                <a:t>Peak green bar </a:t>
              </a:r>
              <a:r>
                <a:rPr lang="en-US" sz="987" dirty="0">
                  <a:solidFill>
                    <a:srgbClr val="475569"/>
                  </a:solidFill>
                  <a:latin typeface="Calibri" pitchFamily="34" charset="0"/>
                  <a:ea typeface="Calibri" pitchFamily="34" charset="-122"/>
                  <a:cs typeface="Calibri" pitchFamily="34" charset="-120"/>
                </a:rPr>
                <a:t>→ </a:t>
              </a:r>
              <a:r>
                <a:rPr lang="de-DE" sz="987" dirty="0">
                  <a:solidFill>
                    <a:srgbClr val="475569"/>
                  </a:solidFill>
                  <a:latin typeface="Calibri" pitchFamily="34" charset="0"/>
                  <a:ea typeface="Calibri" pitchFamily="34" charset="-122"/>
                  <a:cs typeface="Calibri" pitchFamily="34" charset="-120"/>
                </a:rPr>
                <a:t>Maximum bullish momentum </a:t>
              </a:r>
              <a:r>
                <a:rPr lang="en-US" sz="987" dirty="0">
                  <a:solidFill>
                    <a:srgbClr val="475569"/>
                  </a:solidFill>
                  <a:latin typeface="Calibri" pitchFamily="34" charset="0"/>
                  <a:ea typeface="Calibri" pitchFamily="34" charset="-122"/>
                  <a:cs typeface="Calibri" pitchFamily="34" charset="-120"/>
                </a:rPr>
                <a:t>→ </a:t>
              </a:r>
              <a:r>
                <a:rPr lang="de-DE" sz="987" dirty="0">
                  <a:solidFill>
                    <a:srgbClr val="475569"/>
                  </a:solidFill>
                  <a:latin typeface="Calibri" pitchFamily="34" charset="0"/>
                  <a:ea typeface="Calibri" pitchFamily="34" charset="-122"/>
                  <a:cs typeface="Calibri" pitchFamily="34" charset="-120"/>
                </a:rPr>
                <a:t>Reversal down coming soon</a:t>
              </a:r>
              <a:r>
                <a:rPr lang="en-US" sz="987" dirty="0">
                  <a:solidFill>
                    <a:srgbClr val="475569"/>
                  </a:solidFill>
                  <a:latin typeface="Calibri" pitchFamily="34" charset="0"/>
                  <a:ea typeface="Calibri" pitchFamily="34" charset="-122"/>
                  <a:cs typeface="Calibri" pitchFamily="34" charset="-120"/>
                </a:rPr>
                <a:t>.</a:t>
              </a:r>
              <a:endParaRPr lang="en-US" sz="987" dirty="0"/>
            </a:p>
            <a:p>
              <a:r>
                <a:rPr lang="de-DE" sz="987" dirty="0">
                  <a:solidFill>
                    <a:srgbClr val="475569"/>
                  </a:solidFill>
                  <a:latin typeface="Calibri" pitchFamily="34" charset="0"/>
                  <a:ea typeface="Calibri" pitchFamily="34" charset="-122"/>
                  <a:cs typeface="Calibri" pitchFamily="34" charset="-120"/>
                </a:rPr>
                <a:t>Red bars getting taller</a:t>
              </a:r>
              <a:r>
                <a:rPr lang="en-US" sz="987" dirty="0">
                  <a:solidFill>
                    <a:srgbClr val="475569"/>
                  </a:solidFill>
                  <a:latin typeface="Calibri" pitchFamily="34" charset="0"/>
                  <a:ea typeface="Calibri" pitchFamily="34" charset="-122"/>
                  <a:cs typeface="Calibri" pitchFamily="34" charset="-120"/>
                </a:rPr>
                <a:t>→ </a:t>
              </a:r>
              <a:r>
                <a:rPr lang="de-DE" sz="987" dirty="0">
                  <a:solidFill>
                    <a:srgbClr val="475569"/>
                  </a:solidFill>
                  <a:latin typeface="Calibri" pitchFamily="34" charset="0"/>
                  <a:ea typeface="Calibri" pitchFamily="34" charset="-122"/>
                  <a:cs typeface="Calibri" pitchFamily="34" charset="-120"/>
                </a:rPr>
                <a:t>selling pressure increasing</a:t>
              </a:r>
            </a:p>
            <a:p>
              <a:r>
                <a:rPr lang="de-DE" sz="987" dirty="0">
                  <a:solidFill>
                    <a:srgbClr val="475569"/>
                  </a:solidFill>
                  <a:latin typeface="Calibri" pitchFamily="34" charset="0"/>
                  <a:ea typeface="Calibri" pitchFamily="34" charset="-122"/>
                  <a:cs typeface="Calibri" pitchFamily="34" charset="-120"/>
                </a:rPr>
                <a:t>Peak red bar </a:t>
              </a:r>
              <a:r>
                <a:rPr lang="en-US" sz="987" dirty="0">
                  <a:solidFill>
                    <a:srgbClr val="475569"/>
                  </a:solidFill>
                  <a:latin typeface="Calibri" pitchFamily="34" charset="0"/>
                  <a:ea typeface="Calibri" pitchFamily="34" charset="-122"/>
                  <a:cs typeface="Calibri" pitchFamily="34" charset="-120"/>
                </a:rPr>
                <a:t>→ </a:t>
              </a:r>
              <a:r>
                <a:rPr lang="de-DE" sz="987" dirty="0">
                  <a:solidFill>
                    <a:srgbClr val="475569"/>
                  </a:solidFill>
                  <a:latin typeface="Calibri" pitchFamily="34" charset="0"/>
                  <a:ea typeface="Calibri" pitchFamily="34" charset="-122"/>
                  <a:cs typeface="Calibri" pitchFamily="34" charset="-120"/>
                </a:rPr>
                <a:t>Maximum bearish momentum </a:t>
              </a:r>
              <a:r>
                <a:rPr lang="en-US" sz="987" dirty="0">
                  <a:solidFill>
                    <a:srgbClr val="475569"/>
                  </a:solidFill>
                  <a:latin typeface="Calibri" pitchFamily="34" charset="0"/>
                  <a:ea typeface="Calibri" pitchFamily="34" charset="-122"/>
                  <a:cs typeface="Calibri" pitchFamily="34" charset="-120"/>
                </a:rPr>
                <a:t>→ </a:t>
              </a:r>
              <a:r>
                <a:rPr lang="de-DE" sz="987" dirty="0">
                  <a:solidFill>
                    <a:srgbClr val="475569"/>
                  </a:solidFill>
                  <a:latin typeface="Calibri" pitchFamily="34" charset="0"/>
                  <a:ea typeface="Calibri" pitchFamily="34" charset="-122"/>
                  <a:cs typeface="Calibri" pitchFamily="34" charset="-120"/>
                </a:rPr>
                <a:t>Reversal up coming soon</a:t>
              </a:r>
              <a:r>
                <a:rPr lang="en-US" sz="987" dirty="0">
                  <a:solidFill>
                    <a:srgbClr val="475569"/>
                  </a:solidFill>
                  <a:latin typeface="Calibri" pitchFamily="34" charset="0"/>
                  <a:ea typeface="Calibri" pitchFamily="34" charset="-122"/>
                  <a:cs typeface="Calibri" pitchFamily="34" charset="-120"/>
                </a:rPr>
                <a:t>.</a:t>
              </a:r>
              <a:endParaRPr lang="en-US" sz="987" dirty="0"/>
            </a:p>
            <a:p>
              <a:endParaRPr lang="de-DE" sz="987" dirty="0">
                <a:solidFill>
                  <a:srgbClr val="475569"/>
                </a:solidFill>
                <a:latin typeface="Calibri" pitchFamily="34" charset="0"/>
                <a:ea typeface="Calibri" pitchFamily="34" charset="-122"/>
                <a:cs typeface="Calibri" pitchFamily="34" charset="-120"/>
              </a:endParaRPr>
            </a:p>
          </p:txBody>
        </p:sp>
      </p:grpSp>
      <p:grpSp>
        <p:nvGrpSpPr>
          <p:cNvPr id="25" name="Group 24">
            <a:extLst>
              <a:ext uri="{FF2B5EF4-FFF2-40B4-BE49-F238E27FC236}">
                <a16:creationId xmlns:a16="http://schemas.microsoft.com/office/drawing/2014/main" id="{BEBEB795-E8C2-65AD-0B0F-3A637D6251EF}"/>
              </a:ext>
            </a:extLst>
          </p:cNvPr>
          <p:cNvGrpSpPr/>
          <p:nvPr/>
        </p:nvGrpSpPr>
        <p:grpSpPr>
          <a:xfrm>
            <a:off x="7534656" y="4455668"/>
            <a:ext cx="4291584" cy="1072896"/>
            <a:chOff x="7534656" y="4163568"/>
            <a:chExt cx="4291584" cy="1072896"/>
          </a:xfrm>
        </p:grpSpPr>
        <p:sp>
          <p:nvSpPr>
            <p:cNvPr id="17" name="Shape 14"/>
            <p:cNvSpPr/>
            <p:nvPr/>
          </p:nvSpPr>
          <p:spPr>
            <a:xfrm>
              <a:off x="7534656" y="4163568"/>
              <a:ext cx="4291584" cy="1072896"/>
            </a:xfrm>
            <a:prstGeom prst="rect">
              <a:avLst/>
            </a:prstGeom>
            <a:solidFill>
              <a:srgbClr val="F1F5F9"/>
            </a:solidFill>
            <a:ln w="15240">
              <a:solidFill>
                <a:srgbClr val="627EEA"/>
              </a:solidFill>
              <a:prstDash val="solid"/>
            </a:ln>
          </p:spPr>
          <p:txBody>
            <a:bodyPr/>
            <a:lstStyle/>
            <a:p>
              <a:endParaRPr lang="en-DE" sz="2400"/>
            </a:p>
          </p:txBody>
        </p:sp>
        <p:sp>
          <p:nvSpPr>
            <p:cNvPr id="18" name="Shape 15"/>
            <p:cNvSpPr/>
            <p:nvPr/>
          </p:nvSpPr>
          <p:spPr>
            <a:xfrm>
              <a:off x="7534656" y="4163568"/>
              <a:ext cx="60960" cy="1072896"/>
            </a:xfrm>
            <a:prstGeom prst="rect">
              <a:avLst/>
            </a:prstGeom>
            <a:solidFill>
              <a:srgbClr val="627EEA"/>
            </a:solidFill>
            <a:ln w="12700">
              <a:solidFill>
                <a:srgbClr val="627EEA"/>
              </a:solidFill>
              <a:prstDash val="solid"/>
            </a:ln>
          </p:spPr>
          <p:txBody>
            <a:bodyPr/>
            <a:lstStyle/>
            <a:p>
              <a:endParaRPr lang="en-DE" sz="2400"/>
            </a:p>
          </p:txBody>
        </p:sp>
        <p:sp>
          <p:nvSpPr>
            <p:cNvPr id="19" name="Text 16"/>
            <p:cNvSpPr/>
            <p:nvPr/>
          </p:nvSpPr>
          <p:spPr>
            <a:xfrm>
              <a:off x="7680960" y="4236720"/>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Why it's a strong model feature</a:t>
              </a:r>
              <a:endParaRPr lang="en-US" sz="1200" dirty="0"/>
            </a:p>
          </p:txBody>
        </p:sp>
        <p:sp>
          <p:nvSpPr>
            <p:cNvPr id="20" name="Text 17"/>
            <p:cNvSpPr/>
            <p:nvPr/>
          </p:nvSpPr>
          <p:spPr>
            <a:xfrm>
              <a:off x="7680960" y="4553712"/>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MACD histogram captures momentum shifts before they appear in price. It's a leading indicator exactly what a prediction model needs.</a:t>
              </a:r>
              <a:endParaRPr lang="en-US" sz="987" dirty="0"/>
            </a:p>
          </p:txBody>
        </p:sp>
      </p:grpSp>
      <p:sp>
        <p:nvSpPr>
          <p:cNvPr id="21" name="Shape 18"/>
          <p:cNvSpPr/>
          <p:nvPr/>
        </p:nvSpPr>
        <p:spPr>
          <a:xfrm>
            <a:off x="243840" y="6266688"/>
            <a:ext cx="11704320" cy="438912"/>
          </a:xfrm>
          <a:prstGeom prst="rect">
            <a:avLst/>
          </a:prstGeom>
          <a:solidFill>
            <a:srgbClr val="132238"/>
          </a:solidFill>
          <a:ln w="12700">
            <a:solidFill>
              <a:srgbClr val="132238"/>
            </a:solidFill>
            <a:prstDash val="solid"/>
          </a:ln>
        </p:spPr>
        <p:txBody>
          <a:bodyPr/>
          <a:lstStyle/>
          <a:p>
            <a:endParaRPr lang="en-DE" sz="2400"/>
          </a:p>
        </p:txBody>
      </p:sp>
      <p:sp>
        <p:nvSpPr>
          <p:cNvPr id="22" name="Text 19"/>
          <p:cNvSpPr/>
          <p:nvPr/>
        </p:nvSpPr>
        <p:spPr>
          <a:xfrm>
            <a:off x="243840" y="6266688"/>
            <a:ext cx="11704320" cy="438912"/>
          </a:xfrm>
          <a:prstGeom prst="rect">
            <a:avLst/>
          </a:prstGeom>
          <a:noFill/>
          <a:ln/>
        </p:spPr>
        <p:txBody>
          <a:bodyPr wrap="square" lIns="0" tIns="0" rIns="0" bIns="0" rtlCol="0" anchor="ctr"/>
          <a:lstStyle/>
          <a:p>
            <a:pPr algn="ctr"/>
            <a:r>
              <a:rPr lang="en-US" sz="1133" dirty="0">
                <a:solidFill>
                  <a:srgbClr val="FFFFFF"/>
                </a:solidFill>
                <a:latin typeface="Calibri" pitchFamily="34" charset="0"/>
                <a:ea typeface="Calibri" pitchFamily="34" charset="-122"/>
                <a:cs typeface="Calibri" pitchFamily="34" charset="-120"/>
              </a:rPr>
              <a:t>💡  Include </a:t>
            </a:r>
            <a:r>
              <a:rPr lang="en-US" sz="1133" dirty="0" err="1">
                <a:solidFill>
                  <a:srgbClr val="FFFFFF"/>
                </a:solidFill>
                <a:latin typeface="Calibri" pitchFamily="34" charset="0"/>
                <a:ea typeface="Calibri" pitchFamily="34" charset="-122"/>
                <a:cs typeface="Calibri" pitchFamily="34" charset="-120"/>
              </a:rPr>
              <a:t>MACD_histogram</a:t>
            </a:r>
            <a:r>
              <a:rPr lang="en-US" sz="1133" dirty="0">
                <a:solidFill>
                  <a:srgbClr val="FFFFFF"/>
                </a:solidFill>
                <a:latin typeface="Calibri" pitchFamily="34" charset="0"/>
                <a:ea typeface="Calibri" pitchFamily="34" charset="-122"/>
                <a:cs typeface="Calibri" pitchFamily="34" charset="-120"/>
              </a:rPr>
              <a:t> features </a:t>
            </a:r>
            <a:endParaRPr lang="en-US" sz="1133"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500"/>
                                        <p:tgtEl>
                                          <p:spTgt spid="26"/>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365760" y="121920"/>
            <a:ext cx="11460480" cy="463296"/>
          </a:xfrm>
          <a:prstGeom prst="rect">
            <a:avLst/>
          </a:prstGeom>
          <a:noFill/>
          <a:ln/>
        </p:spPr>
        <p:txBody>
          <a:bodyPr wrap="square" lIns="0" tIns="0" rIns="0" bIns="0" rtlCol="0" anchor="ctr"/>
          <a:lstStyle/>
          <a:p>
            <a:r>
              <a:rPr lang="en-US" sz="2533" dirty="0">
                <a:solidFill>
                  <a:srgbClr val="132238"/>
                </a:solidFill>
                <a:latin typeface="Calibri" pitchFamily="34" charset="0"/>
                <a:ea typeface="Calibri" pitchFamily="34" charset="-122"/>
                <a:cs typeface="Calibri" pitchFamily="34" charset="-120"/>
              </a:rPr>
              <a:t>EDA: RSI 14, Is the Market Overbought or Oversold?</a:t>
            </a:r>
            <a:endParaRPr lang="en-US" sz="2533" dirty="0"/>
          </a:p>
        </p:txBody>
      </p:sp>
      <p:pic>
        <p:nvPicPr>
          <p:cNvPr id="4" name="Image 0" descr="preencoded.png"/>
          <p:cNvPicPr>
            <a:picLocks noChangeAspect="1"/>
          </p:cNvPicPr>
          <p:nvPr/>
        </p:nvPicPr>
        <p:blipFill>
          <a:blip r:embed="rId3"/>
          <a:stretch>
            <a:fillRect/>
          </a:stretch>
        </p:blipFill>
        <p:spPr>
          <a:xfrm>
            <a:off x="243840" y="707136"/>
            <a:ext cx="7071360" cy="4974336"/>
          </a:xfrm>
          <a:prstGeom prst="rect">
            <a:avLst/>
          </a:prstGeom>
        </p:spPr>
      </p:pic>
      <p:grpSp>
        <p:nvGrpSpPr>
          <p:cNvPr id="3" name="Group 2">
            <a:extLst>
              <a:ext uri="{FF2B5EF4-FFF2-40B4-BE49-F238E27FC236}">
                <a16:creationId xmlns:a16="http://schemas.microsoft.com/office/drawing/2014/main" id="{F9ABBF67-C08B-D17B-3BC3-0DAA21461FB2}"/>
              </a:ext>
            </a:extLst>
          </p:cNvPr>
          <p:cNvGrpSpPr/>
          <p:nvPr/>
        </p:nvGrpSpPr>
        <p:grpSpPr>
          <a:xfrm>
            <a:off x="7534656" y="1086441"/>
            <a:ext cx="4291584" cy="1072896"/>
            <a:chOff x="7534656" y="707136"/>
            <a:chExt cx="4291584" cy="1072896"/>
          </a:xfrm>
        </p:grpSpPr>
        <p:sp>
          <p:nvSpPr>
            <p:cNvPr id="5" name="Shape 2"/>
            <p:cNvSpPr/>
            <p:nvPr/>
          </p:nvSpPr>
          <p:spPr>
            <a:xfrm>
              <a:off x="7534656" y="707136"/>
              <a:ext cx="4291584" cy="1072896"/>
            </a:xfrm>
            <a:prstGeom prst="rect">
              <a:avLst/>
            </a:prstGeom>
            <a:solidFill>
              <a:srgbClr val="F1F5F9"/>
            </a:solidFill>
            <a:ln w="15240">
              <a:solidFill>
                <a:srgbClr val="2563EB"/>
              </a:solidFill>
              <a:prstDash val="solid"/>
            </a:ln>
          </p:spPr>
          <p:txBody>
            <a:bodyPr/>
            <a:lstStyle/>
            <a:p>
              <a:endParaRPr lang="en-DE" sz="2400"/>
            </a:p>
          </p:txBody>
        </p:sp>
        <p:sp>
          <p:nvSpPr>
            <p:cNvPr id="6" name="Shape 3"/>
            <p:cNvSpPr/>
            <p:nvPr/>
          </p:nvSpPr>
          <p:spPr>
            <a:xfrm>
              <a:off x="7534656" y="707136"/>
              <a:ext cx="60960" cy="1072896"/>
            </a:xfrm>
            <a:prstGeom prst="rect">
              <a:avLst/>
            </a:prstGeom>
            <a:solidFill>
              <a:srgbClr val="2563EB"/>
            </a:solidFill>
            <a:ln w="12700">
              <a:solidFill>
                <a:srgbClr val="2563EB"/>
              </a:solidFill>
              <a:prstDash val="solid"/>
            </a:ln>
          </p:spPr>
          <p:txBody>
            <a:bodyPr/>
            <a:lstStyle/>
            <a:p>
              <a:endParaRPr lang="en-DE" sz="2400"/>
            </a:p>
          </p:txBody>
        </p:sp>
        <p:sp>
          <p:nvSpPr>
            <p:cNvPr id="7" name="Text 4"/>
            <p:cNvSpPr/>
            <p:nvPr/>
          </p:nvSpPr>
          <p:spPr>
            <a:xfrm>
              <a:off x="7680960" y="780288"/>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What is RSI?</a:t>
              </a:r>
              <a:endParaRPr lang="en-US" sz="1200" dirty="0"/>
            </a:p>
          </p:txBody>
        </p:sp>
        <p:sp>
          <p:nvSpPr>
            <p:cNvPr id="8" name="Text 5"/>
            <p:cNvSpPr/>
            <p:nvPr/>
          </p:nvSpPr>
          <p:spPr>
            <a:xfrm>
              <a:off x="7680960" y="1097280"/>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RSI measures how fast and how much price has moved in recent days, on a scale of 0 to 100. It tells the model whether the market is exhausted from buying or selling.</a:t>
              </a:r>
              <a:endParaRPr lang="en-US" sz="987" dirty="0"/>
            </a:p>
          </p:txBody>
        </p:sp>
      </p:grpSp>
      <p:grpSp>
        <p:nvGrpSpPr>
          <p:cNvPr id="23" name="Group 22">
            <a:extLst>
              <a:ext uri="{FF2B5EF4-FFF2-40B4-BE49-F238E27FC236}">
                <a16:creationId xmlns:a16="http://schemas.microsoft.com/office/drawing/2014/main" id="{DB5E3524-1D22-FBF0-4CEA-3EA117E0BA1B}"/>
              </a:ext>
            </a:extLst>
          </p:cNvPr>
          <p:cNvGrpSpPr/>
          <p:nvPr/>
        </p:nvGrpSpPr>
        <p:grpSpPr>
          <a:xfrm>
            <a:off x="7534656" y="2238585"/>
            <a:ext cx="4291584" cy="1072896"/>
            <a:chOff x="7534656" y="1859280"/>
            <a:chExt cx="4291584" cy="1072896"/>
          </a:xfrm>
        </p:grpSpPr>
        <p:sp>
          <p:nvSpPr>
            <p:cNvPr id="9" name="Shape 6"/>
            <p:cNvSpPr/>
            <p:nvPr/>
          </p:nvSpPr>
          <p:spPr>
            <a:xfrm>
              <a:off x="7534656" y="1859280"/>
              <a:ext cx="4291584" cy="1072896"/>
            </a:xfrm>
            <a:prstGeom prst="rect">
              <a:avLst/>
            </a:prstGeom>
            <a:solidFill>
              <a:srgbClr val="F1F5F9"/>
            </a:solidFill>
            <a:ln w="15240">
              <a:solidFill>
                <a:srgbClr val="DC2626"/>
              </a:solidFill>
              <a:prstDash val="solid"/>
            </a:ln>
          </p:spPr>
          <p:txBody>
            <a:bodyPr/>
            <a:lstStyle/>
            <a:p>
              <a:endParaRPr lang="en-DE" sz="2400"/>
            </a:p>
          </p:txBody>
        </p:sp>
        <p:sp>
          <p:nvSpPr>
            <p:cNvPr id="10" name="Shape 7"/>
            <p:cNvSpPr/>
            <p:nvPr/>
          </p:nvSpPr>
          <p:spPr>
            <a:xfrm>
              <a:off x="7534656" y="1859280"/>
              <a:ext cx="60960" cy="1072896"/>
            </a:xfrm>
            <a:prstGeom prst="rect">
              <a:avLst/>
            </a:prstGeom>
            <a:solidFill>
              <a:srgbClr val="DC2626"/>
            </a:solidFill>
            <a:ln w="12700">
              <a:solidFill>
                <a:srgbClr val="DC2626"/>
              </a:solidFill>
              <a:prstDash val="solid"/>
            </a:ln>
          </p:spPr>
          <p:txBody>
            <a:bodyPr/>
            <a:lstStyle/>
            <a:p>
              <a:endParaRPr lang="en-DE" sz="2400"/>
            </a:p>
          </p:txBody>
        </p:sp>
        <p:sp>
          <p:nvSpPr>
            <p:cNvPr id="11" name="Text 8"/>
            <p:cNvSpPr/>
            <p:nvPr/>
          </p:nvSpPr>
          <p:spPr>
            <a:xfrm>
              <a:off x="7680960" y="1932432"/>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Overbought &amp; oversold zones</a:t>
              </a:r>
              <a:endParaRPr lang="en-US" sz="1200" dirty="0"/>
            </a:p>
          </p:txBody>
        </p:sp>
        <p:sp>
          <p:nvSpPr>
            <p:cNvPr id="12" name="Text 9"/>
            <p:cNvSpPr/>
            <p:nvPr/>
          </p:nvSpPr>
          <p:spPr>
            <a:xfrm>
              <a:off x="7680960" y="2249424"/>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Above 70 → market is overbought, pullback likely.</a:t>
              </a:r>
              <a:endParaRPr lang="en-US" sz="987" dirty="0"/>
            </a:p>
            <a:p>
              <a:r>
                <a:rPr lang="en-US" sz="987" dirty="0">
                  <a:solidFill>
                    <a:srgbClr val="475569"/>
                  </a:solidFill>
                  <a:latin typeface="Calibri" pitchFamily="34" charset="0"/>
                  <a:ea typeface="Calibri" pitchFamily="34" charset="-122"/>
                  <a:cs typeface="Calibri" pitchFamily="34" charset="-120"/>
                </a:rPr>
                <a:t>Below 30 → market is oversold, bounce likely.</a:t>
              </a:r>
              <a:endParaRPr lang="en-US" sz="987" dirty="0"/>
            </a:p>
            <a:p>
              <a:r>
                <a:rPr lang="en-US" sz="987" dirty="0">
                  <a:solidFill>
                    <a:srgbClr val="475569"/>
                  </a:solidFill>
                  <a:latin typeface="Calibri" pitchFamily="34" charset="0"/>
                  <a:ea typeface="Calibri" pitchFamily="34" charset="-122"/>
                  <a:cs typeface="Calibri" pitchFamily="34" charset="-120"/>
                </a:rPr>
                <a:t>Around 50 → neutral.</a:t>
              </a:r>
              <a:endParaRPr lang="en-US" sz="987" dirty="0"/>
            </a:p>
          </p:txBody>
        </p:sp>
      </p:grpSp>
      <p:grpSp>
        <p:nvGrpSpPr>
          <p:cNvPr id="24" name="Group 23">
            <a:extLst>
              <a:ext uri="{FF2B5EF4-FFF2-40B4-BE49-F238E27FC236}">
                <a16:creationId xmlns:a16="http://schemas.microsoft.com/office/drawing/2014/main" id="{8774044D-1D61-2247-2465-DC477F7D7FAF}"/>
              </a:ext>
            </a:extLst>
          </p:cNvPr>
          <p:cNvGrpSpPr/>
          <p:nvPr/>
        </p:nvGrpSpPr>
        <p:grpSpPr>
          <a:xfrm>
            <a:off x="7534656" y="3390729"/>
            <a:ext cx="4291584" cy="1072896"/>
            <a:chOff x="7534656" y="3011424"/>
            <a:chExt cx="4291584" cy="1072896"/>
          </a:xfrm>
        </p:grpSpPr>
        <p:sp>
          <p:nvSpPr>
            <p:cNvPr id="13" name="Shape 10"/>
            <p:cNvSpPr/>
            <p:nvPr/>
          </p:nvSpPr>
          <p:spPr>
            <a:xfrm>
              <a:off x="7534656" y="3011424"/>
              <a:ext cx="4291584" cy="1072896"/>
            </a:xfrm>
            <a:prstGeom prst="rect">
              <a:avLst/>
            </a:prstGeom>
            <a:solidFill>
              <a:srgbClr val="F1F5F9"/>
            </a:solidFill>
            <a:ln w="15240">
              <a:solidFill>
                <a:srgbClr val="F7931A"/>
              </a:solidFill>
              <a:prstDash val="solid"/>
            </a:ln>
          </p:spPr>
          <p:txBody>
            <a:bodyPr/>
            <a:lstStyle/>
            <a:p>
              <a:endParaRPr lang="en-DE" sz="2400"/>
            </a:p>
          </p:txBody>
        </p:sp>
        <p:sp>
          <p:nvSpPr>
            <p:cNvPr id="14" name="Shape 11"/>
            <p:cNvSpPr/>
            <p:nvPr/>
          </p:nvSpPr>
          <p:spPr>
            <a:xfrm>
              <a:off x="7534656" y="3011424"/>
              <a:ext cx="60960" cy="1072896"/>
            </a:xfrm>
            <a:prstGeom prst="rect">
              <a:avLst/>
            </a:prstGeom>
            <a:solidFill>
              <a:srgbClr val="F7931A"/>
            </a:solidFill>
            <a:ln w="12700">
              <a:solidFill>
                <a:srgbClr val="F7931A"/>
              </a:solidFill>
              <a:prstDash val="solid"/>
            </a:ln>
          </p:spPr>
          <p:txBody>
            <a:bodyPr/>
            <a:lstStyle/>
            <a:p>
              <a:endParaRPr lang="en-DE" sz="2400"/>
            </a:p>
          </p:txBody>
        </p:sp>
        <p:sp>
          <p:nvSpPr>
            <p:cNvPr id="15" name="Text 12"/>
            <p:cNvSpPr/>
            <p:nvPr/>
          </p:nvSpPr>
          <p:spPr>
            <a:xfrm>
              <a:off x="7680960" y="3084576"/>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RSI behavior differs by regime</a:t>
              </a:r>
              <a:endParaRPr lang="en-US" sz="1200" dirty="0"/>
            </a:p>
          </p:txBody>
        </p:sp>
        <p:sp>
          <p:nvSpPr>
            <p:cNvPr id="16" name="Text 13"/>
            <p:cNvSpPr/>
            <p:nvPr/>
          </p:nvSpPr>
          <p:spPr>
            <a:xfrm>
              <a:off x="7680960" y="3401568"/>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Bull markets keep RSI above 50</a:t>
              </a:r>
              <a:endParaRPr lang="en-US" sz="987" dirty="0"/>
            </a:p>
            <a:p>
              <a:r>
                <a:rPr lang="en-US" sz="987" dirty="0">
                  <a:solidFill>
                    <a:srgbClr val="475569"/>
                  </a:solidFill>
                  <a:latin typeface="Calibri" pitchFamily="34" charset="0"/>
                  <a:ea typeface="Calibri" pitchFamily="34" charset="-122"/>
                  <a:cs typeface="Calibri" pitchFamily="34" charset="-120"/>
                </a:rPr>
                <a:t>Bear markets pin RSI below 50 </a:t>
              </a:r>
            </a:p>
            <a:p>
              <a:endParaRPr lang="en-US" sz="987" dirty="0"/>
            </a:p>
          </p:txBody>
        </p:sp>
      </p:grpSp>
      <p:grpSp>
        <p:nvGrpSpPr>
          <p:cNvPr id="25" name="Group 24">
            <a:extLst>
              <a:ext uri="{FF2B5EF4-FFF2-40B4-BE49-F238E27FC236}">
                <a16:creationId xmlns:a16="http://schemas.microsoft.com/office/drawing/2014/main" id="{B292C441-312E-E440-F25C-E88D4BE32DEB}"/>
              </a:ext>
            </a:extLst>
          </p:cNvPr>
          <p:cNvGrpSpPr/>
          <p:nvPr/>
        </p:nvGrpSpPr>
        <p:grpSpPr>
          <a:xfrm>
            <a:off x="7534656" y="4542873"/>
            <a:ext cx="4291584" cy="1072896"/>
            <a:chOff x="7534656" y="4163568"/>
            <a:chExt cx="4291584" cy="1072896"/>
          </a:xfrm>
        </p:grpSpPr>
        <p:sp>
          <p:nvSpPr>
            <p:cNvPr id="17" name="Shape 14"/>
            <p:cNvSpPr/>
            <p:nvPr/>
          </p:nvSpPr>
          <p:spPr>
            <a:xfrm>
              <a:off x="7534656" y="4163568"/>
              <a:ext cx="4291584" cy="1072896"/>
            </a:xfrm>
            <a:prstGeom prst="rect">
              <a:avLst/>
            </a:prstGeom>
            <a:solidFill>
              <a:srgbClr val="F1F5F9"/>
            </a:solidFill>
            <a:ln w="15240">
              <a:solidFill>
                <a:srgbClr val="627EEA"/>
              </a:solidFill>
              <a:prstDash val="solid"/>
            </a:ln>
          </p:spPr>
          <p:txBody>
            <a:bodyPr/>
            <a:lstStyle/>
            <a:p>
              <a:endParaRPr lang="en-DE" sz="2400"/>
            </a:p>
          </p:txBody>
        </p:sp>
        <p:sp>
          <p:nvSpPr>
            <p:cNvPr id="18" name="Shape 15"/>
            <p:cNvSpPr/>
            <p:nvPr/>
          </p:nvSpPr>
          <p:spPr>
            <a:xfrm>
              <a:off x="7534656" y="4163568"/>
              <a:ext cx="60960" cy="1072896"/>
            </a:xfrm>
            <a:prstGeom prst="rect">
              <a:avLst/>
            </a:prstGeom>
            <a:solidFill>
              <a:srgbClr val="627EEA"/>
            </a:solidFill>
            <a:ln w="12700">
              <a:solidFill>
                <a:srgbClr val="627EEA"/>
              </a:solidFill>
              <a:prstDash val="solid"/>
            </a:ln>
          </p:spPr>
          <p:txBody>
            <a:bodyPr/>
            <a:lstStyle/>
            <a:p>
              <a:endParaRPr lang="en-DE" sz="2400"/>
            </a:p>
          </p:txBody>
        </p:sp>
        <p:sp>
          <p:nvSpPr>
            <p:cNvPr id="19" name="Text 16"/>
            <p:cNvSpPr/>
            <p:nvPr/>
          </p:nvSpPr>
          <p:spPr>
            <a:xfrm>
              <a:off x="7680960" y="4236720"/>
              <a:ext cx="4072128" cy="292608"/>
            </a:xfrm>
            <a:prstGeom prst="rect">
              <a:avLst/>
            </a:prstGeom>
            <a:noFill/>
            <a:ln/>
          </p:spPr>
          <p:txBody>
            <a:bodyPr wrap="square" lIns="0" tIns="0" rIns="0" bIns="0" rtlCol="0" anchor="ctr"/>
            <a:lstStyle/>
            <a:p>
              <a:r>
                <a:rPr lang="en-US" sz="1200" b="1" dirty="0">
                  <a:solidFill>
                    <a:srgbClr val="1E293B"/>
                  </a:solidFill>
                  <a:latin typeface="Calibri" pitchFamily="34" charset="0"/>
                  <a:ea typeface="Calibri" pitchFamily="34" charset="-122"/>
                  <a:cs typeface="Calibri" pitchFamily="34" charset="-120"/>
                </a:rPr>
                <a:t>RSI alone is not enough</a:t>
              </a:r>
              <a:endParaRPr lang="en-US" sz="1200" dirty="0"/>
            </a:p>
          </p:txBody>
        </p:sp>
        <p:sp>
          <p:nvSpPr>
            <p:cNvPr id="20" name="Text 17"/>
            <p:cNvSpPr/>
            <p:nvPr/>
          </p:nvSpPr>
          <p:spPr>
            <a:xfrm>
              <a:off x="7680960" y="4553712"/>
              <a:ext cx="4072128" cy="633984"/>
            </a:xfrm>
            <a:prstGeom prst="rect">
              <a:avLst/>
            </a:prstGeom>
            <a:noFill/>
            <a:ln/>
          </p:spPr>
          <p:txBody>
            <a:bodyPr wrap="square" lIns="0" tIns="0" rIns="0" bIns="0" rtlCol="0" anchor="t"/>
            <a:lstStyle/>
            <a:p>
              <a:r>
                <a:rPr lang="en-US" sz="987" dirty="0">
                  <a:solidFill>
                    <a:srgbClr val="475569"/>
                  </a:solidFill>
                  <a:latin typeface="Calibri" pitchFamily="34" charset="0"/>
                  <a:ea typeface="Calibri" pitchFamily="34" charset="-122"/>
                  <a:cs typeface="Calibri" pitchFamily="34" charset="-120"/>
                </a:rPr>
                <a:t>An RSI of 60 means something very different in a bull market vs a bear market. The signal is regime-dependent  which is exactly why bull_bear_flag and volatility_regime are critical context features for the model.</a:t>
              </a:r>
              <a:endParaRPr lang="en-US" sz="987" dirty="0"/>
            </a:p>
          </p:txBody>
        </p:sp>
      </p:grpSp>
      <p:sp>
        <p:nvSpPr>
          <p:cNvPr id="21" name="Shape 18"/>
          <p:cNvSpPr/>
          <p:nvPr/>
        </p:nvSpPr>
        <p:spPr>
          <a:xfrm>
            <a:off x="243840" y="6193536"/>
            <a:ext cx="11704320" cy="438912"/>
          </a:xfrm>
          <a:prstGeom prst="rect">
            <a:avLst/>
          </a:prstGeom>
          <a:solidFill>
            <a:srgbClr val="132238"/>
          </a:solidFill>
          <a:ln w="12700">
            <a:solidFill>
              <a:srgbClr val="132238"/>
            </a:solidFill>
            <a:prstDash val="solid"/>
          </a:ln>
        </p:spPr>
        <p:txBody>
          <a:bodyPr/>
          <a:lstStyle/>
          <a:p>
            <a:endParaRPr lang="en-DE" sz="2400"/>
          </a:p>
        </p:txBody>
      </p:sp>
      <p:sp>
        <p:nvSpPr>
          <p:cNvPr id="22" name="Text 19"/>
          <p:cNvSpPr/>
          <p:nvPr/>
        </p:nvSpPr>
        <p:spPr>
          <a:xfrm>
            <a:off x="243840" y="6193536"/>
            <a:ext cx="11704320" cy="438912"/>
          </a:xfrm>
          <a:prstGeom prst="rect">
            <a:avLst/>
          </a:prstGeom>
          <a:noFill/>
          <a:ln/>
        </p:spPr>
        <p:txBody>
          <a:bodyPr wrap="square" lIns="0" tIns="0" rIns="0" bIns="0" rtlCol="0" anchor="ctr"/>
          <a:lstStyle/>
          <a:p>
            <a:pPr algn="ctr"/>
            <a:r>
              <a:rPr lang="en-US" sz="1133" dirty="0">
                <a:solidFill>
                  <a:srgbClr val="FFFFFF"/>
                </a:solidFill>
                <a:latin typeface="Calibri" pitchFamily="34" charset="0"/>
                <a:ea typeface="Calibri" pitchFamily="34" charset="-122"/>
                <a:cs typeface="Calibri" pitchFamily="34" charset="-120"/>
              </a:rPr>
              <a:t>💡Include RSI features combined with bull_bear_flag &amp; volatility_regime to give the model regime context</a:t>
            </a:r>
            <a:endParaRPr lang="en-US" sz="1133"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365760" y="121920"/>
            <a:ext cx="11460480" cy="463296"/>
          </a:xfrm>
          <a:prstGeom prst="rect">
            <a:avLst/>
          </a:prstGeom>
          <a:noFill/>
          <a:ln/>
        </p:spPr>
        <p:txBody>
          <a:bodyPr wrap="square" lIns="0" tIns="0" rIns="0" bIns="0" rtlCol="0" anchor="ctr"/>
          <a:lstStyle/>
          <a:p>
            <a:pPr algn="ctr"/>
            <a:r>
              <a:rPr lang="en-US" sz="2533" dirty="0">
                <a:solidFill>
                  <a:srgbClr val="132238"/>
                </a:solidFill>
                <a:latin typeface="Calibri" pitchFamily="34" charset="0"/>
                <a:ea typeface="Calibri" pitchFamily="34" charset="-122"/>
                <a:cs typeface="Calibri" pitchFamily="34" charset="-120"/>
              </a:rPr>
              <a:t>EDA: Feature Correlation &amp; Selection</a:t>
            </a:r>
            <a:endParaRPr lang="en-US" sz="2533" dirty="0"/>
          </a:p>
        </p:txBody>
      </p:sp>
      <p:pic>
        <p:nvPicPr>
          <p:cNvPr id="4" name="Image 0" descr="preencoded.png"/>
          <p:cNvPicPr>
            <a:picLocks noChangeAspect="1"/>
          </p:cNvPicPr>
          <p:nvPr/>
        </p:nvPicPr>
        <p:blipFill>
          <a:blip r:embed="rId3"/>
          <a:stretch>
            <a:fillRect/>
          </a:stretch>
        </p:blipFill>
        <p:spPr>
          <a:xfrm>
            <a:off x="243840" y="923036"/>
            <a:ext cx="6379210" cy="5005227"/>
          </a:xfrm>
          <a:prstGeom prst="rect">
            <a:avLst/>
          </a:prstGeom>
        </p:spPr>
      </p:pic>
      <p:sp>
        <p:nvSpPr>
          <p:cNvPr id="12" name="Text 9"/>
          <p:cNvSpPr/>
          <p:nvPr/>
        </p:nvSpPr>
        <p:spPr>
          <a:xfrm>
            <a:off x="7317486" y="1471785"/>
            <a:ext cx="3755390" cy="219456"/>
          </a:xfrm>
          <a:prstGeom prst="rect">
            <a:avLst/>
          </a:prstGeom>
          <a:noFill/>
          <a:ln/>
        </p:spPr>
        <p:txBody>
          <a:bodyPr wrap="square" lIns="0" tIns="0" rIns="0" bIns="0" rtlCol="0" anchor="ctr"/>
          <a:lstStyle/>
          <a:p>
            <a:r>
              <a:rPr lang="en-US" sz="1040" b="1" dirty="0">
                <a:solidFill>
                  <a:srgbClr val="475569"/>
                </a:solidFill>
                <a:latin typeface="Calibri" pitchFamily="34" charset="0"/>
                <a:ea typeface="Calibri" pitchFamily="34" charset="-122"/>
                <a:cs typeface="Calibri" pitchFamily="34" charset="-120"/>
              </a:rPr>
              <a:t>📋  FEATURE SELECTION DECISIONS</a:t>
            </a:r>
            <a:endParaRPr lang="en-US" sz="1040" dirty="0"/>
          </a:p>
        </p:txBody>
      </p:sp>
      <p:graphicFrame>
        <p:nvGraphicFramePr>
          <p:cNvPr id="13" name="Table 0"/>
          <p:cNvGraphicFramePr>
            <a:graphicFrameLocks noGrp="1"/>
          </p:cNvGraphicFramePr>
          <p:nvPr/>
        </p:nvGraphicFramePr>
        <p:xfrm>
          <a:off x="7340600" y="1746105"/>
          <a:ext cx="4330701" cy="2888364"/>
        </p:xfrm>
        <a:graphic>
          <a:graphicData uri="http://schemas.openxmlformats.org/drawingml/2006/table">
            <a:tbl>
              <a:tblPr/>
              <a:tblGrid>
                <a:gridCol w="1186293">
                  <a:extLst>
                    <a:ext uri="{9D8B030D-6E8A-4147-A177-3AD203B41FA5}">
                      <a16:colId xmlns:a16="http://schemas.microsoft.com/office/drawing/2014/main" val="20000"/>
                    </a:ext>
                  </a:extLst>
                </a:gridCol>
                <a:gridCol w="1669597">
                  <a:extLst>
                    <a:ext uri="{9D8B030D-6E8A-4147-A177-3AD203B41FA5}">
                      <a16:colId xmlns:a16="http://schemas.microsoft.com/office/drawing/2014/main" val="20001"/>
                    </a:ext>
                  </a:extLst>
                </a:gridCol>
                <a:gridCol w="1474811">
                  <a:extLst>
                    <a:ext uri="{9D8B030D-6E8A-4147-A177-3AD203B41FA5}">
                      <a16:colId xmlns:a16="http://schemas.microsoft.com/office/drawing/2014/main" val="20002"/>
                    </a:ext>
                  </a:extLst>
                </a:gridCol>
              </a:tblGrid>
              <a:tr h="373764">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Group</a:t>
                      </a:r>
                      <a:endParaRPr lang="en-US" sz="10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32238"/>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 Keep</a:t>
                      </a:r>
                      <a:endParaRPr lang="en-US" sz="10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0B981"/>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 Drop</a:t>
                      </a:r>
                      <a:endParaRPr lang="en-US" sz="10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DC2626"/>
                    </a:solidFill>
                  </a:tcPr>
                </a:tc>
                <a:extLst>
                  <a:ext uri="{0D108BD9-81ED-4DB2-BD59-A6C34878D82A}">
                    <a16:rowId xmlns:a16="http://schemas.microsoft.com/office/drawing/2014/main" val="10000"/>
                  </a:ext>
                </a:extLst>
              </a:tr>
              <a:tr h="373764">
                <a:tc>
                  <a:txBody>
                    <a:bodyPr/>
                    <a:lstStyle/>
                    <a:p>
                      <a:pPr marL="0" indent="0" algn="l">
                        <a:buNone/>
                      </a:pPr>
                      <a:r>
                        <a:rPr lang="en-US" sz="900" dirty="0">
                          <a:solidFill>
                            <a:srgbClr val="132238"/>
                          </a:solidFill>
                          <a:latin typeface="Calibri" pitchFamily="34" charset="0"/>
                          <a:ea typeface="Calibri" pitchFamily="34" charset="-122"/>
                          <a:cs typeface="Calibri" pitchFamily="34" charset="-120"/>
                        </a:rPr>
                        <a:t>Trend</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price_to_ma7 · ma30 · ma50</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ma_7, ma_14, ma_30, ma_50</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3764">
                <a:tc>
                  <a:txBody>
                    <a:bodyPr/>
                    <a:lstStyle/>
                    <a:p>
                      <a:pPr marL="0" indent="0" algn="l">
                        <a:buNone/>
                      </a:pPr>
                      <a:r>
                        <a:rPr lang="en-US" sz="900" dirty="0">
                          <a:solidFill>
                            <a:srgbClr val="132238"/>
                          </a:solidFill>
                          <a:latin typeface="Calibri" pitchFamily="34" charset="0"/>
                          <a:ea typeface="Calibri" pitchFamily="34" charset="-122"/>
                          <a:cs typeface="Calibri" pitchFamily="34" charset="-120"/>
                        </a:rPr>
                        <a:t>Momentum</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rsi_14 · macd_histogram · momentum_acc</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macd, macd_signal, momentum_5d/10d</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r h="373764">
                <a:tc>
                  <a:txBody>
                    <a:bodyPr/>
                    <a:lstStyle/>
                    <a:p>
                      <a:pPr marL="0" indent="0" algn="l">
                        <a:buNone/>
                      </a:pPr>
                      <a:r>
                        <a:rPr lang="en-US" sz="900" dirty="0">
                          <a:solidFill>
                            <a:srgbClr val="132238"/>
                          </a:solidFill>
                          <a:latin typeface="Calibri" pitchFamily="34" charset="0"/>
                          <a:ea typeface="Calibri" pitchFamily="34" charset="-122"/>
                          <a:cs typeface="Calibri" pitchFamily="34" charset="-120"/>
                        </a:rPr>
                        <a:t>Volatility</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vol_7d · vol_21d · bb_width · bb_pct</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volatility_14d</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3764">
                <a:tc>
                  <a:txBody>
                    <a:bodyPr/>
                    <a:lstStyle/>
                    <a:p>
                      <a:pPr marL="0" indent="0" algn="l">
                        <a:buNone/>
                      </a:pPr>
                      <a:r>
                        <a:rPr lang="en-US" sz="900" dirty="0">
                          <a:solidFill>
                            <a:srgbClr val="132238"/>
                          </a:solidFill>
                          <a:latin typeface="Calibri" pitchFamily="34" charset="0"/>
                          <a:ea typeface="Calibri" pitchFamily="34" charset="-122"/>
                          <a:cs typeface="Calibri" pitchFamily="34" charset="-120"/>
                        </a:rPr>
                        <a:t>Macro</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spy_ret · spy_ma7 · spy_std7 · dxy_ma7 · vix_ma14 · vix_regime</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vix, vix_change, dxy_return</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4"/>
                  </a:ext>
                </a:extLst>
              </a:tr>
              <a:tr h="373764">
                <a:tc>
                  <a:txBody>
                    <a:bodyPr/>
                    <a:lstStyle/>
                    <a:p>
                      <a:pPr marL="0" indent="0" algn="l">
                        <a:buNone/>
                      </a:pPr>
                      <a:r>
                        <a:rPr lang="en-US" sz="900" dirty="0">
                          <a:solidFill>
                            <a:srgbClr val="132238"/>
                          </a:solidFill>
                          <a:latin typeface="Calibri" pitchFamily="34" charset="0"/>
                          <a:ea typeface="Calibri" pitchFamily="34" charset="-122"/>
                          <a:cs typeface="Calibri" pitchFamily="34" charset="-120"/>
                        </a:rPr>
                        <a:t>Sentiment</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fg_ma7 · fg_lag1 · fg_lag7</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fear_greed, fear_greed_cat</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3764">
                <a:tc>
                  <a:txBody>
                    <a:bodyPr/>
                    <a:lstStyle/>
                    <a:p>
                      <a:pPr marL="0" indent="0" algn="l">
                        <a:buNone/>
                      </a:pPr>
                      <a:r>
                        <a:rPr lang="en-US" sz="900" dirty="0">
                          <a:solidFill>
                            <a:srgbClr val="132238"/>
                          </a:solidFill>
                          <a:latin typeface="Calibri" pitchFamily="34" charset="0"/>
                          <a:ea typeface="Calibri" pitchFamily="34" charset="-122"/>
                          <a:cs typeface="Calibri" pitchFamily="34" charset="-120"/>
                        </a:rPr>
                        <a:t>Regime</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bull_bear_flag · volatility_regime</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marL="0" indent="0" algn="l">
                        <a:buNone/>
                      </a:pPr>
                      <a:r>
                        <a:rPr lang="en-US" sz="900" dirty="0">
                          <a:solidFill>
                            <a:srgbClr val="475569"/>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121920" marR="121920" marT="60960" marB="6096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extLst>
                  <a:ext uri="{0D108BD9-81ED-4DB2-BD59-A6C34878D82A}">
                    <a16:rowId xmlns:a16="http://schemas.microsoft.com/office/drawing/2014/main" val="10006"/>
                  </a:ext>
                </a:extLst>
              </a:tr>
            </a:tbl>
          </a:graphicData>
        </a:graphic>
      </p:graphicFrame>
      <p:sp>
        <p:nvSpPr>
          <p:cNvPr id="14" name="Shape 10"/>
          <p:cNvSpPr/>
          <p:nvPr/>
        </p:nvSpPr>
        <p:spPr>
          <a:xfrm>
            <a:off x="243840" y="6193536"/>
            <a:ext cx="11704320" cy="438912"/>
          </a:xfrm>
          <a:prstGeom prst="rect">
            <a:avLst/>
          </a:prstGeom>
          <a:solidFill>
            <a:srgbClr val="132238"/>
          </a:solidFill>
          <a:ln w="12700">
            <a:solidFill>
              <a:srgbClr val="132238"/>
            </a:solidFill>
            <a:prstDash val="solid"/>
          </a:ln>
        </p:spPr>
        <p:txBody>
          <a:bodyPr/>
          <a:lstStyle/>
          <a:p>
            <a:endParaRPr lang="en-DE" sz="2400"/>
          </a:p>
        </p:txBody>
      </p:sp>
      <p:sp>
        <p:nvSpPr>
          <p:cNvPr id="15" name="Text 11"/>
          <p:cNvSpPr/>
          <p:nvPr/>
        </p:nvSpPr>
        <p:spPr>
          <a:xfrm>
            <a:off x="243840" y="6199124"/>
            <a:ext cx="11704320" cy="438912"/>
          </a:xfrm>
          <a:prstGeom prst="rect">
            <a:avLst/>
          </a:prstGeom>
          <a:noFill/>
          <a:ln/>
        </p:spPr>
        <p:txBody>
          <a:bodyPr wrap="square" lIns="0" tIns="0" rIns="0" bIns="0" rtlCol="0" anchor="ctr"/>
          <a:lstStyle/>
          <a:p>
            <a:pPr algn="ctr"/>
            <a:r>
              <a:rPr lang="en-US" sz="1133" dirty="0">
                <a:solidFill>
                  <a:srgbClr val="FFFFFF"/>
                </a:solidFill>
                <a:latin typeface="Calibri" pitchFamily="34" charset="0"/>
                <a:ea typeface="Calibri" pitchFamily="34" charset="-122"/>
                <a:cs typeface="Calibri" pitchFamily="34" charset="-120"/>
              </a:rPr>
              <a:t>💡  35 raw candidates → 21 final features , each capturing a distinct, non-redundant dimension of market behavior</a:t>
            </a:r>
            <a:endParaRPr lang="en-US" sz="1133"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07"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08"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09"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10"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a:solidFill>
                  <a:srgbClr val="FFFFFF"/>
                </a:solidFill>
                <a:latin typeface="Arial"/>
                <a:ea typeface="Arial"/>
              </a:rPr>
              <a:t>EXP 1</a:t>
            </a:r>
            <a:endParaRPr lang="en-US" sz="1300" b="0" strike="noStrike" spc="-1">
              <a:solidFill>
                <a:srgbClr val="000000"/>
              </a:solidFill>
              <a:latin typeface="Arial"/>
            </a:endParaRPr>
          </a:p>
        </p:txBody>
      </p:sp>
      <p:sp>
        <p:nvSpPr>
          <p:cNvPr id="511" name="Text 4"/>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a:solidFill>
                  <a:srgbClr val="FFFFFF"/>
                </a:solidFill>
                <a:latin typeface="Arial Black"/>
                <a:ea typeface="Arial Black"/>
              </a:rPr>
              <a:t>Split Strategy : How We Divide Time?</a:t>
            </a:r>
            <a:endParaRPr lang="en-US" sz="2600" b="0" strike="noStrike" spc="-1">
              <a:solidFill>
                <a:srgbClr val="000000"/>
              </a:solidFill>
              <a:latin typeface="Arial"/>
            </a:endParaRPr>
          </a:p>
        </p:txBody>
      </p:sp>
      <p:sp>
        <p:nvSpPr>
          <p:cNvPr id="512"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13"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Model: Random Forest (fixed)</a:t>
            </a:r>
            <a:endParaRPr lang="en-US" sz="1050" b="0" strike="noStrike" spc="-1">
              <a:solidFill>
                <a:srgbClr val="000000"/>
              </a:solidFill>
              <a:latin typeface="Arial"/>
            </a:endParaRPr>
          </a:p>
        </p:txBody>
      </p:sp>
      <p:sp>
        <p:nvSpPr>
          <p:cNvPr id="515"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16"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Features: 21 (fixed)</a:t>
            </a:r>
            <a:endParaRPr lang="en-US" sz="1050" b="0" strike="noStrike" spc="-1">
              <a:solidFill>
                <a:srgbClr val="000000"/>
              </a:solidFill>
              <a:latin typeface="Arial"/>
            </a:endParaRPr>
          </a:p>
        </p:txBody>
      </p:sp>
      <p:sp>
        <p:nvSpPr>
          <p:cNvPr id="518" name="Shape 13"/>
          <p:cNvSpPr/>
          <p:nvPr/>
        </p:nvSpPr>
        <p:spPr>
          <a:xfrm>
            <a:off x="384120" y="2688480"/>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19" name="Text 14"/>
          <p:cNvSpPr/>
          <p:nvPr/>
        </p:nvSpPr>
        <p:spPr>
          <a:xfrm>
            <a:off x="384120" y="268848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a:solidFill>
                  <a:srgbClr val="FFFFFF"/>
                </a:solidFill>
                <a:latin typeface="Calibri"/>
                <a:ea typeface="Calibri"/>
              </a:rPr>
              <a:t>↕  VARIABLE: Split type</a:t>
            </a:r>
            <a:endParaRPr lang="en-US" sz="1150" b="0" strike="noStrike" spc="-1">
              <a:solidFill>
                <a:srgbClr val="000000"/>
              </a:solidFill>
              <a:latin typeface="Arial"/>
            </a:endParaRPr>
          </a:p>
        </p:txBody>
      </p:sp>
      <p:sp>
        <p:nvSpPr>
          <p:cNvPr id="521" name="Shape 16"/>
          <p:cNvSpPr/>
          <p:nvPr/>
        </p:nvSpPr>
        <p:spPr>
          <a:xfrm>
            <a:off x="384120" y="329184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22" name="Text 17"/>
          <p:cNvSpPr/>
          <p:nvPr/>
        </p:nvSpPr>
        <p:spPr>
          <a:xfrm>
            <a:off x="384120" y="329184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132238"/>
                </a:solidFill>
                <a:latin typeface="Calibri"/>
                <a:ea typeface="Calibri"/>
              </a:rPr>
              <a:t>S1 — Fixed Chronological</a:t>
            </a:r>
            <a:endParaRPr lang="en-US" sz="1050" b="0" strike="noStrike" spc="-1">
              <a:solidFill>
                <a:srgbClr val="000000"/>
              </a:solidFill>
              <a:latin typeface="Arial"/>
            </a:endParaRPr>
          </a:p>
        </p:txBody>
      </p:sp>
      <p:sp>
        <p:nvSpPr>
          <p:cNvPr id="524" name="Shape 19"/>
          <p:cNvSpPr/>
          <p:nvPr/>
        </p:nvSpPr>
        <p:spPr>
          <a:xfrm>
            <a:off x="384120" y="3895200"/>
            <a:ext cx="2889000" cy="456840"/>
          </a:xfrm>
          <a:prstGeom prst="roundRect">
            <a:avLst>
              <a:gd name="adj" fmla="val 18000"/>
            </a:avLst>
          </a:prstGeom>
          <a:solidFill>
            <a:srgbClr val="00D4AA"/>
          </a:solidFill>
          <a:ln w="1905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25" name="Text 20"/>
          <p:cNvSpPr/>
          <p:nvPr/>
        </p:nvSpPr>
        <p:spPr>
          <a:xfrm>
            <a:off x="384120" y="38952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1" strike="noStrike" spc="-1">
                <a:solidFill>
                  <a:srgbClr val="FFFFFF"/>
                </a:solidFill>
                <a:latin typeface="Calibri"/>
                <a:ea typeface="Calibri"/>
              </a:rPr>
              <a:t>S2 — Regime-Aware  ✓</a:t>
            </a:r>
            <a:endParaRPr lang="en-US" sz="1050" b="0" strike="noStrike" spc="-1">
              <a:solidFill>
                <a:srgbClr val="000000"/>
              </a:solidFill>
              <a:latin typeface="Arial"/>
            </a:endParaRPr>
          </a:p>
        </p:txBody>
      </p:sp>
      <p:sp>
        <p:nvSpPr>
          <p:cNvPr id="527" name="Shape 22"/>
          <p:cNvSpPr/>
          <p:nvPr/>
        </p:nvSpPr>
        <p:spPr>
          <a:xfrm>
            <a:off x="384120" y="449892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28" name="Text 23"/>
          <p:cNvSpPr/>
          <p:nvPr/>
        </p:nvSpPr>
        <p:spPr>
          <a:xfrm>
            <a:off x="384120" y="449892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132238"/>
                </a:solidFill>
                <a:latin typeface="Calibri"/>
                <a:ea typeface="Calibri"/>
              </a:rPr>
              <a:t>S3 — Walk-Forward CV</a:t>
            </a:r>
            <a:endParaRPr lang="en-US" sz="1050" b="0" strike="noStrike" spc="-1">
              <a:solidFill>
                <a:srgbClr val="000000"/>
              </a:solidFill>
              <a:latin typeface="Arial"/>
            </a:endParaRPr>
          </a:p>
        </p:txBody>
      </p:sp>
      <p:graphicFrame>
        <p:nvGraphicFramePr>
          <p:cNvPr id="529" name="Table 0"/>
          <p:cNvGraphicFramePr/>
          <p:nvPr>
            <p:extLst>
              <p:ext uri="{D42A27DB-BD31-4B8C-83A1-F6EECF244321}">
                <p14:modId xmlns:p14="http://schemas.microsoft.com/office/powerpoint/2010/main" val="4229577226"/>
              </p:ext>
            </p:extLst>
          </p:nvPr>
        </p:nvGraphicFramePr>
        <p:xfrm>
          <a:off x="3502080" y="1482120"/>
          <a:ext cx="5521680" cy="18288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dirty="0">
                          <a:solidFill>
                            <a:srgbClr val="FFFFFF"/>
                          </a:solidFill>
                          <a:latin typeface="Arial"/>
                          <a:ea typeface="Arial"/>
                        </a:rPr>
                        <a:t>Model</a:t>
                      </a:r>
                      <a:endParaRPr lang="en-US" sz="1050" b="0" strike="noStrike" spc="-1" dirty="0">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S2  Regime-Aware</a:t>
                      </a: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69%</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0.38</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72%</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0.45</a:t>
                      </a: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0.</a:t>
                      </a:r>
                      <a:r>
                        <a:rPr lang="en-DE" sz="1000" b="0" strike="noStrike" kern="1200" spc="-1" dirty="0">
                          <a:solidFill>
                            <a:srgbClr val="3A4A5C"/>
                          </a:solidFill>
                          <a:latin typeface="Calibri"/>
                          <a:ea typeface="Calibri"/>
                          <a:cs typeface="+mn-cs"/>
                        </a:rPr>
                        <a:t>8</a:t>
                      </a:r>
                      <a:r>
                        <a:rPr lang="en-US" sz="1000" b="0" strike="noStrike" kern="1200" spc="-1" dirty="0">
                          <a:solidFill>
                            <a:srgbClr val="3A4A5C"/>
                          </a:solidFill>
                          <a:latin typeface="Calibri"/>
                          <a:ea typeface="Calibri"/>
                          <a:cs typeface="+mn-cs"/>
                        </a:rPr>
                        <a:t>0</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0.06</a:t>
                      </a: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0" algn="l"/>
                        </a:tabLst>
                        <a:defRPr/>
                      </a:pPr>
                      <a:r>
                        <a:rPr lang="en-US" sz="1300" b="0"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000" b="1" strike="noStrike" kern="1200" spc="-1" dirty="0">
                          <a:solidFill>
                            <a:srgbClr val="132238"/>
                          </a:solidFill>
                          <a:latin typeface="Calibri"/>
                          <a:ea typeface="Calibri"/>
                          <a:cs typeface="+mn-cs"/>
                        </a:rPr>
                        <a:t>S1 Fixed Chrono</a:t>
                      </a: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68%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0.35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a:solidFill>
                            <a:srgbClr val="132238"/>
                          </a:solidFill>
                          <a:latin typeface="Calibri"/>
                          <a:ea typeface="Calibri"/>
                        </a:rPr>
                        <a:t>71.3%</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0.42</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0.79</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0.07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0" algn="l"/>
                        </a:tabLst>
                        <a:defRPr/>
                      </a:pPr>
                      <a:r>
                        <a:rPr lang="en-US" sz="1300" b="0"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extLst>
                  <a:ext uri="{0D108BD9-81ED-4DB2-BD59-A6C34878D82A}">
                    <a16:rowId xmlns:a16="http://schemas.microsoft.com/office/drawing/2014/main" val="10002"/>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S3  Walk-Forward</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69%</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0.36</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0" algn="l"/>
                        </a:tabLst>
                        <a:defRPr/>
                      </a:pPr>
                      <a:r>
                        <a:rPr lang="en-US" sz="1000" b="0" strike="noStrike" spc="-1" dirty="0">
                          <a:solidFill>
                            <a:srgbClr val="3A4A5C"/>
                          </a:solidFill>
                          <a:latin typeface="Calibri"/>
                          <a:ea typeface="Calibri"/>
                        </a:rPr>
                        <a:t>—</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dirty="0">
                          <a:solidFill>
                            <a:srgbClr val="8A9BB0"/>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530" name="Shape 25"/>
          <p:cNvSpPr/>
          <p:nvPr/>
        </p:nvSpPr>
        <p:spPr>
          <a:xfrm>
            <a:off x="9253800" y="1554332"/>
            <a:ext cx="2742840" cy="4554508"/>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534" name="Text 29"/>
          <p:cNvSpPr/>
          <p:nvPr/>
        </p:nvSpPr>
        <p:spPr>
          <a:xfrm>
            <a:off x="9528120" y="2122200"/>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a:solidFill>
                  <a:srgbClr val="FFFFFF"/>
                </a:solidFill>
                <a:latin typeface="Arial"/>
                <a:ea typeface="Arial"/>
              </a:rPr>
              <a:t>S1 — Fixed Chronological</a:t>
            </a:r>
            <a:endParaRPr lang="en-US" sz="1050" b="0" strike="noStrike" spc="-1">
              <a:solidFill>
                <a:srgbClr val="000000"/>
              </a:solidFill>
              <a:latin typeface="Arial"/>
            </a:endParaRPr>
          </a:p>
        </p:txBody>
      </p:sp>
      <p:sp>
        <p:nvSpPr>
          <p:cNvPr id="535" name="Text 30"/>
          <p:cNvSpPr/>
          <p:nvPr/>
        </p:nvSpPr>
        <p:spPr>
          <a:xfrm>
            <a:off x="9528120" y="2414880"/>
            <a:ext cx="235872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900" b="0" strike="noStrike" spc="-1" dirty="0">
                <a:solidFill>
                  <a:srgbClr val="A8BCCF"/>
                </a:solidFill>
                <a:latin typeface="Calibri"/>
                <a:ea typeface="Calibri"/>
              </a:rPr>
              <a:t>Train 2018→2022  </a:t>
            </a:r>
          </a:p>
          <a:p>
            <a:pPr defTabSz="457200">
              <a:lnSpc>
                <a:spcPct val="100000"/>
              </a:lnSpc>
              <a:tabLst>
                <a:tab pos="0" algn="l"/>
              </a:tabLst>
            </a:pPr>
            <a:r>
              <a:rPr lang="en-US" sz="900" b="0" strike="noStrike" spc="-1" dirty="0">
                <a:solidFill>
                  <a:srgbClr val="A8BCCF"/>
                </a:solidFill>
                <a:latin typeface="Calibri"/>
                <a:ea typeface="Calibri"/>
              </a:rPr>
              <a:t>Val 2023  </a:t>
            </a:r>
            <a:endParaRPr lang="en-US" sz="900" spc="-1" dirty="0">
              <a:solidFill>
                <a:srgbClr val="A8BCCF"/>
              </a:solidFill>
              <a:latin typeface="Calibri"/>
              <a:ea typeface="Calibri"/>
            </a:endParaRPr>
          </a:p>
          <a:p>
            <a:pPr defTabSz="457200">
              <a:lnSpc>
                <a:spcPct val="100000"/>
              </a:lnSpc>
              <a:tabLst>
                <a:tab pos="0" algn="l"/>
              </a:tabLst>
            </a:pPr>
            <a:r>
              <a:rPr lang="en-US" sz="900" b="0" strike="noStrike" spc="-1" dirty="0">
                <a:solidFill>
                  <a:srgbClr val="A8BCCF"/>
                </a:solidFill>
                <a:latin typeface="Calibri"/>
                <a:ea typeface="Calibri"/>
              </a:rPr>
              <a:t>Test 2024→2026</a:t>
            </a:r>
            <a:endParaRPr lang="en-US" sz="900" b="0" strike="noStrike" spc="-1" dirty="0">
              <a:solidFill>
                <a:srgbClr val="000000"/>
              </a:solidFill>
              <a:latin typeface="Arial"/>
            </a:endParaRPr>
          </a:p>
          <a:p>
            <a:pPr defTabSz="457200">
              <a:lnSpc>
                <a:spcPct val="100000"/>
              </a:lnSpc>
              <a:tabLst>
                <a:tab pos="0" algn="l"/>
              </a:tabLst>
            </a:pPr>
            <a:r>
              <a:rPr lang="en-US" sz="900" b="0" strike="noStrike" spc="-1" dirty="0">
                <a:solidFill>
                  <a:srgbClr val="A8BCCF"/>
                </a:solidFill>
                <a:latin typeface="Calibri"/>
                <a:ea typeface="Calibri"/>
              </a:rPr>
              <a:t>Strict time order</a:t>
            </a:r>
            <a:endParaRPr lang="en-US" sz="900" b="0" strike="noStrike" spc="-1" dirty="0">
              <a:solidFill>
                <a:srgbClr val="000000"/>
              </a:solidFill>
              <a:latin typeface="Arial"/>
            </a:endParaRPr>
          </a:p>
        </p:txBody>
      </p:sp>
      <p:sp>
        <p:nvSpPr>
          <p:cNvPr id="537" name="Text 32"/>
          <p:cNvSpPr/>
          <p:nvPr/>
        </p:nvSpPr>
        <p:spPr>
          <a:xfrm>
            <a:off x="9528120" y="3292560"/>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dirty="0">
                <a:solidFill>
                  <a:srgbClr val="FFFFFF"/>
                </a:solidFill>
                <a:latin typeface="Arial"/>
                <a:ea typeface="Arial"/>
              </a:rPr>
              <a:t>S3 — Rolling window</a:t>
            </a:r>
            <a:endParaRPr lang="en-US" sz="1050" b="0" strike="noStrike" spc="-1" dirty="0">
              <a:solidFill>
                <a:srgbClr val="000000"/>
              </a:solidFill>
              <a:latin typeface="Arial"/>
            </a:endParaRPr>
          </a:p>
        </p:txBody>
      </p:sp>
      <p:sp>
        <p:nvSpPr>
          <p:cNvPr id="538" name="Text 33"/>
          <p:cNvSpPr/>
          <p:nvPr/>
        </p:nvSpPr>
        <p:spPr>
          <a:xfrm>
            <a:off x="9528120" y="3585240"/>
            <a:ext cx="2358720" cy="473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900" b="0" strike="noStrike" spc="-1" dirty="0">
                <a:solidFill>
                  <a:srgbClr val="A8BCCF"/>
                </a:solidFill>
                <a:latin typeface="Calibri"/>
                <a:ea typeface="Calibri"/>
              </a:rPr>
              <a:t>Rolling windows: </a:t>
            </a:r>
            <a:endParaRPr lang="en-US" sz="900" b="0" strike="noStrike" spc="-1" dirty="0">
              <a:solidFill>
                <a:srgbClr val="000000"/>
              </a:solidFill>
              <a:latin typeface="Arial"/>
            </a:endParaRPr>
          </a:p>
          <a:p>
            <a:pPr defTabSz="457200">
              <a:lnSpc>
                <a:spcPct val="100000"/>
              </a:lnSpc>
              <a:tabLst>
                <a:tab pos="0" algn="l"/>
              </a:tabLst>
            </a:pPr>
            <a:r>
              <a:rPr lang="en-US" sz="900" b="0" strike="noStrike" spc="-1" dirty="0">
                <a:solidFill>
                  <a:srgbClr val="A8BCCF"/>
                </a:solidFill>
                <a:latin typeface="Calibri"/>
                <a:ea typeface="Calibri"/>
              </a:rPr>
              <a:t>Train [2018→2021] → Val [2022]</a:t>
            </a:r>
            <a:endParaRPr lang="en-US" sz="900" b="0" strike="noStrike" spc="-1" dirty="0">
              <a:solidFill>
                <a:srgbClr val="000000"/>
              </a:solidFill>
              <a:latin typeface="Arial"/>
            </a:endParaRPr>
          </a:p>
          <a:p>
            <a:pPr defTabSz="457200">
              <a:lnSpc>
                <a:spcPct val="100000"/>
              </a:lnSpc>
              <a:tabLst>
                <a:tab pos="0" algn="l"/>
              </a:tabLst>
            </a:pPr>
            <a:r>
              <a:rPr lang="en-US" sz="900" b="0" strike="noStrike" spc="-1" dirty="0">
                <a:solidFill>
                  <a:srgbClr val="A8BCCF"/>
                </a:solidFill>
                <a:latin typeface="Calibri"/>
                <a:ea typeface="Calibri"/>
              </a:rPr>
              <a:t>Train [2018→2022] → Val [2023]</a:t>
            </a:r>
            <a:endParaRPr lang="en-US" sz="900" b="0" strike="noStrike" spc="-1" dirty="0">
              <a:solidFill>
                <a:srgbClr val="000000"/>
              </a:solidFill>
              <a:latin typeface="Arial"/>
            </a:endParaRPr>
          </a:p>
        </p:txBody>
      </p:sp>
      <p:sp>
        <p:nvSpPr>
          <p:cNvPr id="540" name="Shape 35"/>
          <p:cNvSpPr/>
          <p:nvPr/>
        </p:nvSpPr>
        <p:spPr>
          <a:xfrm>
            <a:off x="9528120" y="4554360"/>
            <a:ext cx="2322360" cy="292320"/>
          </a:xfrm>
          <a:prstGeom prst="roundRect">
            <a:avLst>
              <a:gd name="adj" fmla="val 15625"/>
            </a:avLst>
          </a:prstGeom>
          <a:solidFill>
            <a:srgbClr val="00D4AA">
              <a:alpha val="15000"/>
            </a:srgbClr>
          </a:solidFill>
          <a:ln w="1270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41" name="Text 36"/>
          <p:cNvSpPr/>
          <p:nvPr/>
        </p:nvSpPr>
        <p:spPr>
          <a:xfrm>
            <a:off x="9528120" y="4536000"/>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dirty="0">
                <a:solidFill>
                  <a:srgbClr val="00D4AA"/>
                </a:solidFill>
                <a:latin typeface="Arial"/>
                <a:ea typeface="Arial"/>
              </a:rPr>
              <a:t>S2 — Regime-Aware  ✓  WINNER</a:t>
            </a:r>
            <a:endParaRPr lang="en-US" sz="1050" b="0" strike="noStrike" spc="-1" dirty="0">
              <a:solidFill>
                <a:srgbClr val="000000"/>
              </a:solidFill>
              <a:latin typeface="Arial"/>
            </a:endParaRPr>
          </a:p>
        </p:txBody>
      </p:sp>
      <p:sp>
        <p:nvSpPr>
          <p:cNvPr id="542" name="Text 37"/>
          <p:cNvSpPr/>
          <p:nvPr/>
        </p:nvSpPr>
        <p:spPr>
          <a:xfrm>
            <a:off x="9528120" y="4828680"/>
            <a:ext cx="2358720" cy="115816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900" b="0" strike="noStrike" spc="-1" dirty="0">
                <a:solidFill>
                  <a:srgbClr val="A8BCCF"/>
                </a:solidFill>
                <a:latin typeface="Calibri"/>
                <a:ea typeface="Calibri"/>
              </a:rPr>
              <a:t>Train  →  2018 to 2022  (bear + accumulation + bull + crash)</a:t>
            </a:r>
            <a:endParaRPr lang="en-US" sz="900" b="0" strike="noStrike" spc="-1" dirty="0">
              <a:solidFill>
                <a:srgbClr val="000000"/>
              </a:solidFill>
              <a:latin typeface="Arial"/>
            </a:endParaRPr>
          </a:p>
          <a:p>
            <a:pPr defTabSz="457200">
              <a:lnSpc>
                <a:spcPct val="100000"/>
              </a:lnSpc>
              <a:tabLst>
                <a:tab pos="0" algn="l"/>
              </a:tabLst>
            </a:pPr>
            <a:r>
              <a:rPr lang="en-US" sz="900" b="0" strike="noStrike" spc="-1" dirty="0">
                <a:solidFill>
                  <a:srgbClr val="A8BCCF"/>
                </a:solidFill>
                <a:latin typeface="Calibri"/>
                <a:ea typeface="Calibri"/>
              </a:rPr>
              <a:t>Val    →  2023 to 2024  (recovery + bull 2024)</a:t>
            </a:r>
            <a:endParaRPr lang="en-US" sz="900" b="0" strike="noStrike" spc="-1" dirty="0">
              <a:solidFill>
                <a:srgbClr val="000000"/>
              </a:solidFill>
              <a:latin typeface="Arial"/>
            </a:endParaRPr>
          </a:p>
          <a:p>
            <a:pPr defTabSz="457200">
              <a:lnSpc>
                <a:spcPct val="100000"/>
              </a:lnSpc>
              <a:tabLst>
                <a:tab pos="0" algn="l"/>
              </a:tabLst>
            </a:pPr>
            <a:r>
              <a:rPr lang="en-US" sz="900" b="0" strike="noStrike" spc="-1" dirty="0">
                <a:solidFill>
                  <a:srgbClr val="A8BCCF"/>
                </a:solidFill>
                <a:latin typeface="Calibri"/>
                <a:ea typeface="Calibri"/>
              </a:rPr>
              <a:t>Test   →  2025 to 2026  (institutional , completely unseen regime)</a:t>
            </a:r>
            <a:endParaRPr lang="en-US" sz="900" b="0" strike="noStrike" spc="-1" dirty="0">
              <a:solidFill>
                <a:srgbClr val="000000"/>
              </a:solidFill>
              <a:latin typeface="Arial"/>
            </a:endParaRPr>
          </a:p>
          <a:p>
            <a:pPr defTabSz="457200">
              <a:lnSpc>
                <a:spcPct val="100000"/>
              </a:lnSpc>
              <a:tabLst>
                <a:tab pos="0" algn="l"/>
              </a:tabLst>
            </a:pPr>
            <a:r>
              <a:rPr lang="en-US" sz="900" b="0" strike="noStrike" spc="-1" dirty="0">
                <a:solidFill>
                  <a:srgbClr val="A8BCCF"/>
                </a:solidFill>
                <a:latin typeface="Calibri"/>
                <a:ea typeface="Calibri"/>
              </a:rPr>
              <a:t>- We already have flag regime features this helps the model know which regime it is </a:t>
            </a:r>
            <a:endParaRPr lang="en-US" sz="900" b="0" strike="noStrike" spc="-1" dirty="0">
              <a:solidFill>
                <a:srgbClr val="000000"/>
              </a:solidFill>
              <a:latin typeface="Arial"/>
            </a:endParaRPr>
          </a:p>
        </p:txBody>
      </p:sp>
      <p:sp>
        <p:nvSpPr>
          <p:cNvPr id="543"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544" name="Shape 39"/>
          <p:cNvSpPr/>
          <p:nvPr/>
        </p:nvSpPr>
        <p:spPr>
          <a:xfrm>
            <a:off x="255960" y="6464880"/>
            <a:ext cx="271080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45" name="Text 40"/>
          <p:cNvSpPr/>
          <p:nvPr/>
        </p:nvSpPr>
        <p:spPr>
          <a:xfrm>
            <a:off x="255960" y="6464880"/>
            <a:ext cx="271080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00" b="1" strike="noStrike" spc="-1" dirty="0">
                <a:solidFill>
                  <a:srgbClr val="FFFFFF"/>
                </a:solidFill>
                <a:latin typeface="Calibri"/>
                <a:ea typeface="Calibri"/>
              </a:rPr>
              <a:t>★  S2 Regime-Aware Split</a:t>
            </a:r>
            <a:endParaRPr lang="en-US" sz="1000" b="0" strike="noStrike" spc="-1" dirty="0">
              <a:solidFill>
                <a:srgbClr val="000000"/>
              </a:solidFill>
              <a:latin typeface="Arial"/>
            </a:endParaRPr>
          </a:p>
        </p:txBody>
      </p:sp>
      <p:sp>
        <p:nvSpPr>
          <p:cNvPr id="2" name="Shape 39">
            <a:extLst>
              <a:ext uri="{FF2B5EF4-FFF2-40B4-BE49-F238E27FC236}">
                <a16:creationId xmlns:a16="http://schemas.microsoft.com/office/drawing/2014/main" id="{8FA845FE-A7AD-992C-2758-AE7629223B18}"/>
              </a:ext>
            </a:extLst>
          </p:cNvPr>
          <p:cNvSpPr/>
          <p:nvPr/>
        </p:nvSpPr>
        <p:spPr>
          <a:xfrm>
            <a:off x="10189453" y="6454906"/>
            <a:ext cx="1304956"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72%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46"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47"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48"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49"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a:solidFill>
                  <a:srgbClr val="FFFFFF"/>
                </a:solidFill>
                <a:latin typeface="Arial"/>
                <a:ea typeface="Arial"/>
              </a:rPr>
              <a:t>EXP 2</a:t>
            </a:r>
            <a:endParaRPr lang="en-US" sz="1300" b="0" strike="noStrike" spc="-1">
              <a:solidFill>
                <a:srgbClr val="000000"/>
              </a:solidFill>
              <a:latin typeface="Arial"/>
            </a:endParaRPr>
          </a:p>
        </p:txBody>
      </p:sp>
      <p:sp>
        <p:nvSpPr>
          <p:cNvPr id="550" name="Text 4"/>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a:solidFill>
                  <a:srgbClr val="FFFFFF"/>
                </a:solidFill>
                <a:latin typeface="Arial Black"/>
                <a:ea typeface="Arial Black"/>
              </a:rPr>
              <a:t>Model Selection : Which Algorithm Wins?</a:t>
            </a:r>
            <a:endParaRPr lang="en-US" sz="2600" b="0" strike="noStrike" spc="-1">
              <a:solidFill>
                <a:srgbClr val="000000"/>
              </a:solidFill>
              <a:latin typeface="Arial"/>
            </a:endParaRPr>
          </a:p>
        </p:txBody>
      </p:sp>
      <p:sp>
        <p:nvSpPr>
          <p:cNvPr id="551"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52"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Split: S2 Regime-Aware (fixed)</a:t>
            </a:r>
            <a:endParaRPr lang="en-US" sz="1050" b="0" strike="noStrike" spc="-1">
              <a:solidFill>
                <a:srgbClr val="000000"/>
              </a:solidFill>
              <a:latin typeface="Arial"/>
            </a:endParaRPr>
          </a:p>
        </p:txBody>
      </p:sp>
      <p:sp>
        <p:nvSpPr>
          <p:cNvPr id="554"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55"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Features: 21 (fixed)</a:t>
            </a:r>
            <a:endParaRPr lang="en-US" sz="1050" b="0" strike="noStrike" spc="-1">
              <a:solidFill>
                <a:srgbClr val="000000"/>
              </a:solidFill>
              <a:latin typeface="Arial"/>
            </a:endParaRPr>
          </a:p>
        </p:txBody>
      </p:sp>
      <p:sp>
        <p:nvSpPr>
          <p:cNvPr id="557" name="Shape 13"/>
          <p:cNvSpPr/>
          <p:nvPr/>
        </p:nvSpPr>
        <p:spPr>
          <a:xfrm>
            <a:off x="384120" y="2688480"/>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58" name="Text 14"/>
          <p:cNvSpPr/>
          <p:nvPr/>
        </p:nvSpPr>
        <p:spPr>
          <a:xfrm>
            <a:off x="384120" y="268848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dirty="0">
                <a:solidFill>
                  <a:srgbClr val="FFFFFF"/>
                </a:solidFill>
                <a:latin typeface="Calibri"/>
                <a:ea typeface="Calibri"/>
              </a:rPr>
              <a:t>↕  VARIABLE: Algorithm</a:t>
            </a:r>
            <a:endParaRPr lang="en-US" sz="1150" b="0" strike="noStrike" spc="-1" dirty="0">
              <a:solidFill>
                <a:srgbClr val="000000"/>
              </a:solidFill>
              <a:latin typeface="Arial"/>
            </a:endParaRPr>
          </a:p>
        </p:txBody>
      </p:sp>
      <p:sp>
        <p:nvSpPr>
          <p:cNvPr id="560" name="Shape 16"/>
          <p:cNvSpPr/>
          <p:nvPr/>
        </p:nvSpPr>
        <p:spPr>
          <a:xfrm>
            <a:off x="384120" y="329184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561" name="Text 17"/>
          <p:cNvSpPr/>
          <p:nvPr/>
        </p:nvSpPr>
        <p:spPr>
          <a:xfrm>
            <a:off x="384120" y="329184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err="1">
                <a:solidFill>
                  <a:srgbClr val="132238"/>
                </a:solidFill>
                <a:latin typeface="Calibri"/>
                <a:ea typeface="Calibri"/>
              </a:rPr>
              <a:t>LightGBM</a:t>
            </a:r>
            <a:endParaRPr lang="en-US" sz="1050" b="0" strike="noStrike" spc="-1" dirty="0">
              <a:solidFill>
                <a:srgbClr val="000000"/>
              </a:solidFill>
              <a:latin typeface="Arial"/>
            </a:endParaRPr>
          </a:p>
        </p:txBody>
      </p:sp>
      <p:sp>
        <p:nvSpPr>
          <p:cNvPr id="563" name="Shape 19"/>
          <p:cNvSpPr/>
          <p:nvPr/>
        </p:nvSpPr>
        <p:spPr>
          <a:xfrm>
            <a:off x="384120" y="3895200"/>
            <a:ext cx="2889000" cy="456840"/>
          </a:xfrm>
          <a:prstGeom prst="roundRect">
            <a:avLst>
              <a:gd name="adj" fmla="val 18000"/>
            </a:avLst>
          </a:prstGeom>
          <a:solidFill>
            <a:srgbClr val="00D4AA"/>
          </a:solidFill>
          <a:ln w="1905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64" name="Text 20"/>
          <p:cNvSpPr/>
          <p:nvPr/>
        </p:nvSpPr>
        <p:spPr>
          <a:xfrm>
            <a:off x="384120" y="38952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1" spc="-1" dirty="0" err="1">
                <a:solidFill>
                  <a:srgbClr val="FFFFFF"/>
                </a:solidFill>
                <a:latin typeface="Calibri"/>
                <a:ea typeface="Calibri"/>
              </a:rPr>
              <a:t>Gardien</a:t>
            </a:r>
            <a:r>
              <a:rPr lang="en-US" sz="1050" b="1" spc="-1" dirty="0">
                <a:solidFill>
                  <a:srgbClr val="FFFFFF"/>
                </a:solidFill>
                <a:latin typeface="Calibri"/>
                <a:ea typeface="Calibri"/>
              </a:rPr>
              <a:t> Boosting</a:t>
            </a:r>
            <a:r>
              <a:rPr lang="en-US" sz="1050" b="1" strike="noStrike" spc="-1" dirty="0">
                <a:solidFill>
                  <a:srgbClr val="FFFFFF"/>
                </a:solidFill>
                <a:latin typeface="Calibri"/>
                <a:ea typeface="Calibri"/>
              </a:rPr>
              <a:t> ✓</a:t>
            </a:r>
            <a:endParaRPr lang="en-US" sz="1050" b="0" strike="noStrike" spc="-1" dirty="0">
              <a:solidFill>
                <a:srgbClr val="000000"/>
              </a:solidFill>
              <a:latin typeface="Arial"/>
            </a:endParaRPr>
          </a:p>
        </p:txBody>
      </p:sp>
      <p:sp>
        <p:nvSpPr>
          <p:cNvPr id="566" name="Shape 22"/>
          <p:cNvSpPr/>
          <p:nvPr/>
        </p:nvSpPr>
        <p:spPr>
          <a:xfrm>
            <a:off x="384120" y="449892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567" name="Text 23"/>
          <p:cNvSpPr/>
          <p:nvPr/>
        </p:nvSpPr>
        <p:spPr>
          <a:xfrm>
            <a:off x="384120" y="449892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spc="-1" dirty="0" err="1">
                <a:solidFill>
                  <a:srgbClr val="132238"/>
                </a:solidFill>
                <a:latin typeface="Calibri"/>
                <a:ea typeface="Calibri"/>
              </a:rPr>
              <a:t>XGBoost</a:t>
            </a:r>
            <a:endParaRPr lang="en-US" sz="1050" b="0" strike="noStrike" spc="-1" dirty="0">
              <a:solidFill>
                <a:srgbClr val="000000"/>
              </a:solidFill>
              <a:latin typeface="Arial"/>
            </a:endParaRPr>
          </a:p>
        </p:txBody>
      </p:sp>
      <p:graphicFrame>
        <p:nvGraphicFramePr>
          <p:cNvPr id="568" name="Table 0"/>
          <p:cNvGraphicFramePr/>
          <p:nvPr>
            <p:extLst>
              <p:ext uri="{D42A27DB-BD31-4B8C-83A1-F6EECF244321}">
                <p14:modId xmlns:p14="http://schemas.microsoft.com/office/powerpoint/2010/main" val="2548957633"/>
              </p:ext>
            </p:extLst>
          </p:nvPr>
        </p:nvGraphicFramePr>
        <p:xfrm>
          <a:off x="3498574" y="1482120"/>
          <a:ext cx="5525186" cy="2809240"/>
        </p:xfrm>
        <a:graphic>
          <a:graphicData uri="http://schemas.openxmlformats.org/drawingml/2006/table">
            <a:tbl>
              <a:tblPr/>
              <a:tblGrid>
                <a:gridCol w="1667426">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a:solidFill>
                            <a:srgbClr val="FFFFFF"/>
                          </a:solidFill>
                          <a:latin typeface="Arial"/>
                          <a:ea typeface="Arial"/>
                        </a:rPr>
                        <a:t>Model</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dirty="0">
                          <a:solidFill>
                            <a:srgbClr val="FFFFFF"/>
                          </a:solidFill>
                          <a:latin typeface="Arial"/>
                          <a:ea typeface="Arial"/>
                        </a:rPr>
                        <a:t>Test Acc</a:t>
                      </a:r>
                      <a:endParaRPr lang="en-US" sz="1050" b="0" strike="noStrike" spc="-1" dirty="0">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kern="1200" spc="-1" dirty="0">
                          <a:solidFill>
                            <a:srgbClr val="FFFFFF"/>
                          </a:solidFill>
                          <a:latin typeface="Arial"/>
                          <a:ea typeface="Calibri"/>
                          <a:cs typeface="+mn-cs"/>
                        </a:rPr>
                        <a:t>Test MCC</a:t>
                      </a: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cap="flat" cmpd="sng" algn="ctr">
                      <a:solidFill>
                        <a:srgbClr val="FFFFFF"/>
                      </a:solidFill>
                      <a:prstDash val="solid"/>
                      <a:round/>
                      <a:headEnd type="none" w="med" len="med"/>
                      <a:tailEnd type="none" w="med" len="me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Logistic Regression</a:t>
                      </a:r>
                      <a:endParaRPr lang="en-US" sz="1000" b="0" strike="noStrike" spc="-1" dirty="0">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FFFFFF"/>
                      </a:solidFill>
                      <a:prstDash val="soli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69%</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0.38</a:t>
                      </a: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70%</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0.39</a:t>
                      </a: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0.77</a:t>
                      </a: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0.01</a:t>
                      </a:r>
                    </a:p>
                  </a:txBody>
                  <a:tcPr marL="50800" marR="50800" marT="25400" marB="25400"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300" b="0" strike="noStrike" spc="-1">
                          <a:solidFill>
                            <a:srgbClr val="F7931A"/>
                          </a:solidFill>
                          <a:latin typeface="Arial"/>
                          <a:ea typeface="Arial"/>
                        </a:rPr>
                        <a:t>✅</a:t>
                      </a:r>
                      <a:endParaRPr lang="en-US" sz="1300" b="0" strike="noStrike" spc="-1">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Random Forest</a:t>
                      </a:r>
                      <a:endParaRPr lang="en-US" sz="1000" b="0" strike="noStrike" spc="-1">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E6FBF5"/>
                    </a:solidFill>
                  </a:tcPr>
                </a:tc>
                <a:tc>
                  <a:txBody>
                    <a:bodyPr/>
                    <a:lstStyle/>
                    <a:p>
                      <a:pPr algn="ctr">
                        <a:buNone/>
                      </a:pPr>
                      <a:r>
                        <a:rPr lang="en-US" sz="1000" b="1" strike="noStrike" kern="1200" spc="-1" dirty="0">
                          <a:solidFill>
                            <a:srgbClr val="132238"/>
                          </a:solidFill>
                          <a:latin typeface="Calibri"/>
                          <a:ea typeface="Calibri"/>
                          <a:cs typeface="+mn-cs"/>
                        </a:rPr>
                        <a:t>69%</a:t>
                      </a:r>
                      <a:endParaRPr lang="en-DE" sz="1000" b="1" strike="noStrike" kern="1200" spc="-1" dirty="0">
                        <a:solidFill>
                          <a:srgbClr val="132238"/>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0.3</a:t>
                      </a:r>
                      <a:r>
                        <a:rPr lang="en-US" sz="1000" b="1" strike="noStrike" kern="1200" spc="-1" dirty="0">
                          <a:solidFill>
                            <a:srgbClr val="132238"/>
                          </a:solidFill>
                          <a:latin typeface="Calibri"/>
                          <a:ea typeface="Calibri"/>
                          <a:cs typeface="+mn-cs"/>
                        </a:rPr>
                        <a:t>8</a:t>
                      </a:r>
                      <a:endParaRPr lang="en-DE" sz="1000" b="1" strike="noStrike" kern="1200" spc="-1" dirty="0">
                        <a:solidFill>
                          <a:srgbClr val="132238"/>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US" sz="1000" b="1" strike="noStrike" kern="1200" spc="-1" dirty="0">
                          <a:solidFill>
                            <a:srgbClr val="132238"/>
                          </a:solidFill>
                          <a:latin typeface="Calibri"/>
                          <a:ea typeface="Calibri"/>
                          <a:cs typeface="+mn-cs"/>
                        </a:rPr>
                        <a:t>72%</a:t>
                      </a:r>
                      <a:endParaRPr lang="en-DE" sz="1000" b="1" strike="noStrike" kern="1200" spc="-1" dirty="0">
                        <a:solidFill>
                          <a:srgbClr val="132238"/>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0.45</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0.80</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0.06</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E6FBF5"/>
                    </a:solidFill>
                  </a:tcPr>
                </a:tc>
                <a:tc>
                  <a:txBody>
                    <a:bodyPr/>
                    <a:lstStyle/>
                    <a:p>
                      <a:pPr algn="ctr" defTabSz="914400">
                        <a:lnSpc>
                          <a:spcPct val="100000"/>
                        </a:lnSpc>
                        <a:tabLst>
                          <a:tab pos="0" algn="l"/>
                        </a:tabLst>
                      </a:pPr>
                      <a:r>
                        <a:rPr lang="en-US" sz="1300" b="1" strike="noStrike" spc="-1">
                          <a:solidFill>
                            <a:srgbClr val="F7931A"/>
                          </a:solidFill>
                          <a:latin typeface="Arial"/>
                          <a:ea typeface="Arial"/>
                        </a:rPr>
                        <a:t>✅</a:t>
                      </a:r>
                      <a:endParaRPr lang="en-US" sz="1300" b="0" strike="noStrike" spc="-1">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extLst>
                  <a:ext uri="{0D108BD9-81ED-4DB2-BD59-A6C34878D82A}">
                    <a16:rowId xmlns:a16="http://schemas.microsoft.com/office/drawing/2014/main" val="10002"/>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Gradient Boosting</a:t>
                      </a:r>
                      <a:endParaRPr lang="en-US" sz="1000" b="0" strike="noStrike" spc="-1" dirty="0">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69%</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0.38</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71%</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0.43</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0.79</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0.24</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300" b="0" strike="noStrike" spc="-1" dirty="0">
                          <a:solidFill>
                            <a:srgbClr val="8A9BB0"/>
                          </a:solidFill>
                          <a:latin typeface="Arial"/>
                          <a:ea typeface="Arial"/>
                        </a:rPr>
                        <a:t>⚠️</a:t>
                      </a:r>
                      <a:endParaRPr lang="en-US" sz="13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buNone/>
                      </a:pPr>
                      <a:r>
                        <a:rPr lang="de-DE" sz="1000" b="1" strike="noStrike" kern="1200" spc="-1" dirty="0">
                          <a:solidFill>
                            <a:srgbClr val="132238"/>
                          </a:solidFill>
                          <a:latin typeface="Calibri"/>
                          <a:ea typeface="Calibri"/>
                          <a:cs typeface="+mn-cs"/>
                        </a:rPr>
                        <a:t>LightGBM</a:t>
                      </a:r>
                    </a:p>
                  </a:txBody>
                  <a:tcPr marL="50800" marR="50800" marT="25400" marB="25400"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67%</a:t>
                      </a:r>
                      <a:endParaRPr lang="en-DE" sz="1000" b="0" strike="noStrike" kern="1200" spc="-1" dirty="0">
                        <a:solidFill>
                          <a:srgbClr val="3A4A5C"/>
                        </a:solidFill>
                        <a:latin typeface="Calibri"/>
                        <a:ea typeface="Calibri"/>
                        <a:cs typeface="+mn-cs"/>
                      </a:endParaRP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0.36</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70%</a:t>
                      </a:r>
                      <a:endParaRPr lang="en-DE" sz="1000" b="0" strike="noStrike" kern="1200" spc="-1" dirty="0">
                        <a:solidFill>
                          <a:srgbClr val="3A4A5C"/>
                        </a:solidFill>
                        <a:latin typeface="Calibri"/>
                        <a:ea typeface="Calibri"/>
                        <a:cs typeface="+mn-cs"/>
                      </a:endParaRP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0.42</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0.77</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0.25</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cap="flat" cmpd="sng" algn="ctr">
                      <a:solidFill>
                        <a:srgbClr val="DDE2E8"/>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b="0" strike="noStrike" kern="1200" spc="-1" dirty="0">
                          <a:solidFill>
                            <a:srgbClr val="8A9BB0"/>
                          </a:solidFill>
                          <a:latin typeface="Arial"/>
                          <a:ea typeface="Arial"/>
                          <a:cs typeface="+mn-cs"/>
                        </a:rPr>
                        <a:t>⚠️</a:t>
                      </a:r>
                      <a:endParaRPr lang="en-US" sz="1300" b="0" strike="noStrike" kern="1200" spc="-1" dirty="0">
                        <a:solidFill>
                          <a:srgbClr val="8A9BB0"/>
                        </a:solidFill>
                        <a:latin typeface="Arial"/>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000" b="0" strike="noStrike" spc="-1" dirty="0">
                        <a:solidFill>
                          <a:srgbClr val="000000"/>
                        </a:solidFill>
                        <a:latin typeface="Arial"/>
                      </a:endParaRPr>
                    </a:p>
                  </a:txBody>
                  <a:tcPr marL="50800" marR="50800" marT="25400" marB="25400"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extLst>
                  <a:ext uri="{0D108BD9-81ED-4DB2-BD59-A6C34878D82A}">
                    <a16:rowId xmlns:a16="http://schemas.microsoft.com/office/drawing/2014/main" val="2863985512"/>
                  </a:ext>
                </a:extLst>
              </a:tr>
              <a:tr h="457200">
                <a:tc>
                  <a:txBody>
                    <a:bodyPr/>
                    <a:lstStyle/>
                    <a:p>
                      <a:pPr>
                        <a:buNone/>
                      </a:pPr>
                      <a:r>
                        <a:rPr lang="de-DE" sz="1000" b="1" strike="noStrike" kern="1200" spc="-1" dirty="0">
                          <a:solidFill>
                            <a:srgbClr val="132238"/>
                          </a:solidFill>
                          <a:latin typeface="Calibri"/>
                          <a:ea typeface="Calibri"/>
                          <a:cs typeface="+mn-cs"/>
                        </a:rPr>
                        <a:t>XGBoost</a:t>
                      </a:r>
                    </a:p>
                  </a:txBody>
                  <a:tcPr marL="50800" marR="50800" marT="25400" marB="25400" anchor="ctr">
                    <a:lnL w="6480">
                      <a:solidFill>
                        <a:srgbClr val="DDE2E8"/>
                      </a:solidFill>
                      <a:prstDash val="soli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70%</a:t>
                      </a:r>
                      <a:endParaRPr lang="en-DE" sz="1000" b="0" strike="noStrike" kern="1200" spc="-1" dirty="0">
                        <a:solidFill>
                          <a:srgbClr val="3A4A5C"/>
                        </a:solidFill>
                        <a:latin typeface="Calibri"/>
                        <a:ea typeface="Calibri"/>
                        <a:cs typeface="+mn-cs"/>
                      </a:endParaRP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a:t>
                      </a:r>
                      <a:r>
                        <a:rPr lang="en-US" sz="1000" b="0" strike="noStrike" kern="1200" spc="-1" dirty="0">
                          <a:solidFill>
                            <a:srgbClr val="3A4A5C"/>
                          </a:solidFill>
                          <a:latin typeface="Calibri"/>
                          <a:ea typeface="Calibri"/>
                          <a:cs typeface="+mn-cs"/>
                        </a:rPr>
                        <a:t>0</a:t>
                      </a:r>
                      <a:endParaRPr lang="en-DE" sz="1000" b="0" strike="noStrike" kern="1200" spc="-1" dirty="0">
                        <a:solidFill>
                          <a:srgbClr val="3A4A5C"/>
                        </a:solidFill>
                        <a:latin typeface="Calibri"/>
                        <a:ea typeface="Calibri"/>
                        <a:cs typeface="+mn-cs"/>
                      </a:endParaRP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US" sz="1000" b="0" strike="noStrike" kern="1200" spc="-1" dirty="0">
                          <a:solidFill>
                            <a:srgbClr val="3A4A5C"/>
                          </a:solidFill>
                          <a:latin typeface="Calibri"/>
                          <a:ea typeface="Calibri"/>
                          <a:cs typeface="+mn-cs"/>
                        </a:rPr>
                        <a:t>71%</a:t>
                      </a:r>
                      <a:endParaRPr lang="en-DE" sz="1000" b="0" strike="noStrike" kern="1200" spc="-1" dirty="0">
                        <a:solidFill>
                          <a:srgbClr val="3A4A5C"/>
                        </a:solidFill>
                        <a:latin typeface="Calibri"/>
                        <a:ea typeface="Calibri"/>
                        <a:cs typeface="+mn-cs"/>
                      </a:endParaRP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0.43</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0.80</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0.12</a:t>
                      </a:r>
                    </a:p>
                  </a:txBody>
                  <a:tcPr marL="50800" marR="50800" marT="25400" marB="25400"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b="0" strike="noStrike" kern="1200" spc="-1" dirty="0">
                          <a:solidFill>
                            <a:srgbClr val="8A9BB0"/>
                          </a:solidFill>
                          <a:latin typeface="Arial"/>
                          <a:ea typeface="Arial"/>
                          <a:cs typeface="+mn-cs"/>
                        </a:rPr>
                        <a:t>⚠️</a:t>
                      </a:r>
                      <a:endParaRPr lang="en-US" sz="1300" b="0" strike="noStrike" kern="1200" spc="-1" dirty="0">
                        <a:solidFill>
                          <a:srgbClr val="8A9BB0"/>
                        </a:solidFill>
                        <a:latin typeface="Arial"/>
                        <a:cs typeface="+mn-cs"/>
                      </a:endParaRPr>
                    </a:p>
                    <a:p>
                      <a:pPr>
                        <a:buNone/>
                      </a:pPr>
                      <a:endParaRPr lang="en-DE" dirty="0">
                        <a:effectLst/>
                      </a:endParaRPr>
                    </a:p>
                  </a:txBody>
                  <a:tcPr marL="50800" marR="50800" marT="25400" marB="25400" anchor="ctr">
                    <a:lnL w="6480" cap="flat" cmpd="sng" algn="ctr">
                      <a:solidFill>
                        <a:srgbClr val="DDE2E8"/>
                      </a:solidFill>
                      <a:prstDash val="solid"/>
                      <a:round/>
                      <a:headEnd type="none" w="med" len="med"/>
                      <a:tailEnd type="none" w="med" len="me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extLst>
                  <a:ext uri="{0D108BD9-81ED-4DB2-BD59-A6C34878D82A}">
                    <a16:rowId xmlns:a16="http://schemas.microsoft.com/office/drawing/2014/main" val="1259589102"/>
                  </a:ext>
                </a:extLst>
              </a:tr>
            </a:tbl>
          </a:graphicData>
        </a:graphic>
      </p:graphicFrame>
      <p:sp>
        <p:nvSpPr>
          <p:cNvPr id="569" name="Shape 25"/>
          <p:cNvSpPr/>
          <p:nvPr/>
        </p:nvSpPr>
        <p:spPr>
          <a:xfrm>
            <a:off x="9253800" y="1482120"/>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79" name="Shape 35"/>
          <p:cNvSpPr/>
          <p:nvPr/>
        </p:nvSpPr>
        <p:spPr>
          <a:xfrm>
            <a:off x="9464040" y="2004087"/>
            <a:ext cx="2322360" cy="292320"/>
          </a:xfrm>
          <a:prstGeom prst="roundRect">
            <a:avLst>
              <a:gd name="adj" fmla="val 15625"/>
            </a:avLst>
          </a:prstGeom>
          <a:solidFill>
            <a:srgbClr val="00D4AA">
              <a:alpha val="15000"/>
            </a:srgbClr>
          </a:solidFill>
          <a:ln w="1270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80" name="Text 36"/>
          <p:cNvSpPr/>
          <p:nvPr/>
        </p:nvSpPr>
        <p:spPr>
          <a:xfrm>
            <a:off x="9448990" y="1994896"/>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dirty="0">
                <a:solidFill>
                  <a:srgbClr val="00D4AA"/>
                </a:solidFill>
                <a:latin typeface="Arial"/>
                <a:ea typeface="Arial"/>
              </a:rPr>
              <a:t>Random Forest  ✓  WINNER</a:t>
            </a:r>
            <a:endParaRPr lang="en-US" sz="1050" b="0" strike="noStrike" spc="-1" dirty="0">
              <a:solidFill>
                <a:srgbClr val="000000"/>
              </a:solidFill>
              <a:latin typeface="Arial"/>
            </a:endParaRPr>
          </a:p>
        </p:txBody>
      </p:sp>
      <p:sp>
        <p:nvSpPr>
          <p:cNvPr id="581" name="Text 37"/>
          <p:cNvSpPr/>
          <p:nvPr/>
        </p:nvSpPr>
        <p:spPr>
          <a:xfrm>
            <a:off x="9464040" y="2144693"/>
            <a:ext cx="2358720" cy="306137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Depth=10, </a:t>
            </a:r>
            <a:r>
              <a:rPr lang="en-US" sz="900" b="0" strike="noStrike" spc="-1" dirty="0" err="1">
                <a:solidFill>
                  <a:srgbClr val="A8BCCF"/>
                </a:solidFill>
                <a:latin typeface="Calibri"/>
                <a:ea typeface="Calibri"/>
              </a:rPr>
              <a:t>min_leaf</a:t>
            </a:r>
            <a:r>
              <a:rPr lang="en-US" sz="900" b="0" strike="noStrike" spc="-1" dirty="0">
                <a:solidFill>
                  <a:srgbClr val="A8BCCF"/>
                </a:solidFill>
                <a:latin typeface="Calibri"/>
                <a:ea typeface="Calibri"/>
              </a:rPr>
              <a:t>=20, sqrt features, 200 estimators</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endParaRPr lang="en-US" sz="900" b="0" strike="noStrike" spc="-1" dirty="0">
              <a:solidFill>
                <a:srgbClr val="000000"/>
              </a:solidFill>
              <a:latin typeface="Arial"/>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RF dominates out of the box best test MCC, best AUC, clean gap. </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GB/XGB/</a:t>
            </a:r>
            <a:r>
              <a:rPr lang="en-US" sz="900" b="0" strike="noStrike" spc="-1" dirty="0" err="1">
                <a:solidFill>
                  <a:srgbClr val="A8BCCF"/>
                </a:solidFill>
                <a:latin typeface="Calibri"/>
                <a:ea typeface="Calibri"/>
              </a:rPr>
              <a:t>LightGBM</a:t>
            </a:r>
            <a:r>
              <a:rPr lang="en-US" sz="900" b="0" strike="noStrike" spc="-1" dirty="0">
                <a:solidFill>
                  <a:srgbClr val="A8BCCF"/>
                </a:solidFill>
                <a:latin typeface="Calibri"/>
                <a:ea typeface="Calibri"/>
              </a:rPr>
              <a:t> overfit at default settings (gap &gt; 0.10), this is a tuning problem, not an elimination reason. </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Logistic Regression is a stable but limited baseline its low gap (0.02) signals underfitting, not good generalization.</a:t>
            </a:r>
          </a:p>
          <a:p>
            <a:pPr marL="171450" indent="-171450" defTabSz="457200">
              <a:lnSpc>
                <a:spcPct val="100000"/>
              </a:lnSpc>
              <a:buFont typeface="Arial" panose="020B0604020202020204" pitchFamily="34" charset="0"/>
              <a:buChar char="•"/>
              <a:tabLst>
                <a:tab pos="0" algn="l"/>
              </a:tabLst>
            </a:pPr>
            <a:endParaRPr lang="en-US" sz="900" b="0" strike="noStrike"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Decision → test </a:t>
            </a:r>
            <a:r>
              <a:rPr lang="en-US" sz="900" spc="-1" dirty="0">
                <a:solidFill>
                  <a:srgbClr val="A8BCCF"/>
                </a:solidFill>
                <a:latin typeface="Calibri"/>
                <a:ea typeface="Calibri"/>
              </a:rPr>
              <a:t>an ensemble</a:t>
            </a:r>
            <a:endParaRPr lang="en-US" sz="900" b="0" strike="noStrike" spc="-1" dirty="0">
              <a:solidFill>
                <a:srgbClr val="000000"/>
              </a:solidFill>
              <a:latin typeface="Arial"/>
            </a:endParaRPr>
          </a:p>
        </p:txBody>
      </p:sp>
      <p:sp>
        <p:nvSpPr>
          <p:cNvPr id="582"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583" name="Shape 39"/>
          <p:cNvSpPr/>
          <p:nvPr/>
        </p:nvSpPr>
        <p:spPr>
          <a:xfrm>
            <a:off x="255960" y="6464880"/>
            <a:ext cx="1638624"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84" name="Text 40"/>
          <p:cNvSpPr/>
          <p:nvPr/>
        </p:nvSpPr>
        <p:spPr>
          <a:xfrm>
            <a:off x="255960" y="6464880"/>
            <a:ext cx="1638624"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00" b="1" strike="noStrike" spc="-1" dirty="0">
                <a:solidFill>
                  <a:srgbClr val="FFFFFF"/>
                </a:solidFill>
                <a:latin typeface="Calibri"/>
                <a:ea typeface="Calibri"/>
              </a:rPr>
              <a:t>★  S2 Regime-Aware Split  </a:t>
            </a:r>
            <a:endParaRPr lang="en-US" sz="1000" b="0" strike="noStrike" spc="-1" dirty="0">
              <a:solidFill>
                <a:srgbClr val="000000"/>
              </a:solidFill>
              <a:latin typeface="Arial"/>
            </a:endParaRPr>
          </a:p>
        </p:txBody>
      </p:sp>
      <p:sp>
        <p:nvSpPr>
          <p:cNvPr id="3" name="Shape 39">
            <a:extLst>
              <a:ext uri="{FF2B5EF4-FFF2-40B4-BE49-F238E27FC236}">
                <a16:creationId xmlns:a16="http://schemas.microsoft.com/office/drawing/2014/main" id="{82EEC7DD-C837-B378-E52C-037687896851}"/>
              </a:ext>
            </a:extLst>
          </p:cNvPr>
          <p:cNvSpPr/>
          <p:nvPr/>
        </p:nvSpPr>
        <p:spPr>
          <a:xfrm>
            <a:off x="2150544" y="6464880"/>
            <a:ext cx="1209931"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r>
              <a:rPr lang="en-US" sz="1000" b="1" spc="-1" dirty="0">
                <a:solidFill>
                  <a:srgbClr val="FFFFFF"/>
                </a:solidFill>
                <a:latin typeface="Calibri"/>
                <a:ea typeface="Calibri"/>
              </a:rPr>
              <a:t>★  Random Forest</a:t>
            </a:r>
            <a:endParaRPr lang="en-DE" sz="1000" b="1" spc="-1" dirty="0">
              <a:solidFill>
                <a:srgbClr val="FFFFFF"/>
              </a:solidFill>
              <a:latin typeface="Calibri"/>
              <a:ea typeface="Calibri"/>
            </a:endParaRPr>
          </a:p>
        </p:txBody>
      </p:sp>
      <p:sp>
        <p:nvSpPr>
          <p:cNvPr id="2" name="Shape 39">
            <a:extLst>
              <a:ext uri="{FF2B5EF4-FFF2-40B4-BE49-F238E27FC236}">
                <a16:creationId xmlns:a16="http://schemas.microsoft.com/office/drawing/2014/main" id="{318D0356-F9EE-FF75-EA4F-5BEFF8C8C28A}"/>
              </a:ext>
            </a:extLst>
          </p:cNvPr>
          <p:cNvSpPr/>
          <p:nvPr/>
        </p:nvSpPr>
        <p:spPr>
          <a:xfrm>
            <a:off x="10189453" y="6454906"/>
            <a:ext cx="1304956"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72% </a:t>
            </a:r>
          </a:p>
        </p:txBody>
      </p:sp>
      <p:sp>
        <p:nvSpPr>
          <p:cNvPr id="4" name="Shape 22">
            <a:extLst>
              <a:ext uri="{FF2B5EF4-FFF2-40B4-BE49-F238E27FC236}">
                <a16:creationId xmlns:a16="http://schemas.microsoft.com/office/drawing/2014/main" id="{B1C53F9E-4CA4-2656-FB6B-9DAC514F451C}"/>
              </a:ext>
            </a:extLst>
          </p:cNvPr>
          <p:cNvSpPr/>
          <p:nvPr/>
        </p:nvSpPr>
        <p:spPr>
          <a:xfrm>
            <a:off x="384120" y="5124712"/>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r>
              <a:rPr lang="en-US" sz="1050" spc="-1" dirty="0">
                <a:solidFill>
                  <a:srgbClr val="132238"/>
                </a:solidFill>
                <a:latin typeface="Calibri"/>
                <a:ea typeface="Calibri"/>
              </a:rPr>
              <a:t>Logistic Regression</a:t>
            </a:r>
            <a:endParaRPr lang="en-DE" sz="1050" spc="-1" dirty="0">
              <a:solidFill>
                <a:srgbClr val="132238"/>
              </a:solidFill>
              <a:latin typeface="Calibri"/>
              <a:ea typeface="Calibri"/>
            </a:endParaRPr>
          </a:p>
        </p:txBody>
      </p:sp>
      <p:sp>
        <p:nvSpPr>
          <p:cNvPr id="5" name="Shape 22">
            <a:extLst>
              <a:ext uri="{FF2B5EF4-FFF2-40B4-BE49-F238E27FC236}">
                <a16:creationId xmlns:a16="http://schemas.microsoft.com/office/drawing/2014/main" id="{BFC5DB93-FF5C-8E25-AD23-1FBF17E66271}"/>
              </a:ext>
            </a:extLst>
          </p:cNvPr>
          <p:cNvSpPr/>
          <p:nvPr/>
        </p:nvSpPr>
        <p:spPr>
          <a:xfrm>
            <a:off x="376551" y="5741201"/>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r>
              <a:rPr lang="en-US" sz="1050" spc="-1" dirty="0">
                <a:solidFill>
                  <a:srgbClr val="132238"/>
                </a:solidFill>
                <a:latin typeface="Calibri"/>
                <a:ea typeface="Calibri"/>
              </a:rPr>
              <a:t>Random Forest</a:t>
            </a:r>
            <a:endParaRPr lang="en-DE" sz="1050" spc="-1" dirty="0">
              <a:solidFill>
                <a:srgbClr val="132238"/>
              </a:solidFill>
              <a:latin typeface="Calibri"/>
              <a:ea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85"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86"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87"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88"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dirty="0">
                <a:solidFill>
                  <a:srgbClr val="FFFFFF"/>
                </a:solidFill>
                <a:latin typeface="Arial"/>
                <a:ea typeface="Arial"/>
              </a:rPr>
              <a:t>EXP </a:t>
            </a:r>
            <a:r>
              <a:rPr lang="en-US" sz="1300" b="1" spc="-1" dirty="0">
                <a:solidFill>
                  <a:srgbClr val="FFFFFF"/>
                </a:solidFill>
                <a:latin typeface="Arial"/>
                <a:ea typeface="Arial"/>
              </a:rPr>
              <a:t>3</a:t>
            </a:r>
            <a:endParaRPr lang="en-US" sz="1300" b="0" strike="noStrike" spc="-1" dirty="0">
              <a:solidFill>
                <a:srgbClr val="000000"/>
              </a:solidFill>
              <a:latin typeface="Arial"/>
            </a:endParaRPr>
          </a:p>
        </p:txBody>
      </p:sp>
      <p:sp>
        <p:nvSpPr>
          <p:cNvPr id="589" name="Text 4"/>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a:solidFill>
                  <a:srgbClr val="FFFFFF"/>
                </a:solidFill>
                <a:latin typeface="Arial Black"/>
                <a:ea typeface="Arial Black"/>
              </a:rPr>
              <a:t>Optuna Tuning : Fix the Overfitting</a:t>
            </a:r>
            <a:endParaRPr lang="en-US" sz="2600" b="0" strike="noStrike" spc="-1">
              <a:solidFill>
                <a:srgbClr val="000000"/>
              </a:solidFill>
              <a:latin typeface="Arial"/>
            </a:endParaRPr>
          </a:p>
        </p:txBody>
      </p:sp>
      <p:sp>
        <p:nvSpPr>
          <p:cNvPr id="590"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91"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Split: S2 Regime-Aware (fixed)</a:t>
            </a:r>
            <a:endParaRPr lang="en-US" sz="1050" b="0" strike="noStrike" spc="-1">
              <a:solidFill>
                <a:srgbClr val="000000"/>
              </a:solidFill>
              <a:latin typeface="Arial"/>
            </a:endParaRPr>
          </a:p>
        </p:txBody>
      </p:sp>
      <p:sp>
        <p:nvSpPr>
          <p:cNvPr id="592" name="Shape 9"/>
          <p:cNvSpPr/>
          <p:nvPr/>
        </p:nvSpPr>
        <p:spPr>
          <a:xfrm>
            <a:off x="1828800" y="1938240"/>
            <a:ext cx="360" cy="128160"/>
          </a:xfrm>
          <a:prstGeom prst="line">
            <a:avLst/>
          </a:prstGeom>
          <a:ln w="15240">
            <a:solidFill>
              <a:srgbClr val="8A9B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DE" sz="1800" b="0" strike="noStrike" spc="-1">
              <a:solidFill>
                <a:schemeClr val="dk1"/>
              </a:solidFill>
              <a:latin typeface="Rockwell"/>
            </a:endParaRPr>
          </a:p>
        </p:txBody>
      </p:sp>
      <p:sp>
        <p:nvSpPr>
          <p:cNvPr id="593"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94"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Models: RF + GB + XGB (fixed)</a:t>
            </a:r>
            <a:endParaRPr lang="en-US" sz="1050" b="0" strike="noStrike" spc="-1">
              <a:solidFill>
                <a:srgbClr val="000000"/>
              </a:solidFill>
              <a:latin typeface="Arial"/>
            </a:endParaRPr>
          </a:p>
        </p:txBody>
      </p:sp>
      <p:sp>
        <p:nvSpPr>
          <p:cNvPr id="595" name="Shape 12"/>
          <p:cNvSpPr/>
          <p:nvPr/>
        </p:nvSpPr>
        <p:spPr>
          <a:xfrm>
            <a:off x="1828800" y="2541960"/>
            <a:ext cx="360" cy="127800"/>
          </a:xfrm>
          <a:prstGeom prst="line">
            <a:avLst/>
          </a:prstGeom>
          <a:ln w="15240">
            <a:solidFill>
              <a:srgbClr val="8A9B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DE" sz="1800" b="0" strike="noStrike" spc="-1">
              <a:solidFill>
                <a:schemeClr val="dk1"/>
              </a:solidFill>
              <a:latin typeface="Rockwell"/>
            </a:endParaRPr>
          </a:p>
        </p:txBody>
      </p:sp>
      <p:sp>
        <p:nvSpPr>
          <p:cNvPr id="596" name="Shape 13"/>
          <p:cNvSpPr/>
          <p:nvPr/>
        </p:nvSpPr>
        <p:spPr>
          <a:xfrm>
            <a:off x="384120" y="2688480"/>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597" name="Text 14"/>
          <p:cNvSpPr/>
          <p:nvPr/>
        </p:nvSpPr>
        <p:spPr>
          <a:xfrm>
            <a:off x="384120" y="268848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a:solidFill>
                  <a:srgbClr val="FFFFFF"/>
                </a:solidFill>
                <a:latin typeface="Calibri"/>
                <a:ea typeface="Calibri"/>
              </a:rPr>
              <a:t>↕  VARIABLE: Hyperparameters</a:t>
            </a:r>
            <a:endParaRPr lang="en-US" sz="1150" b="0" strike="noStrike" spc="-1">
              <a:solidFill>
                <a:srgbClr val="000000"/>
              </a:solidFill>
              <a:latin typeface="Arial"/>
            </a:endParaRPr>
          </a:p>
        </p:txBody>
      </p:sp>
      <p:sp>
        <p:nvSpPr>
          <p:cNvPr id="598" name="Shape 15"/>
          <p:cNvSpPr/>
          <p:nvPr/>
        </p:nvSpPr>
        <p:spPr>
          <a:xfrm>
            <a:off x="1828800" y="3145320"/>
            <a:ext cx="360" cy="128160"/>
          </a:xfrm>
          <a:prstGeom prst="line">
            <a:avLst/>
          </a:prstGeom>
          <a:ln w="15240">
            <a:solidFill>
              <a:srgbClr val="8A9B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DE" sz="1800" b="0" strike="noStrike" spc="-1">
              <a:solidFill>
                <a:schemeClr val="dk1"/>
              </a:solidFill>
              <a:latin typeface="Rockwell"/>
            </a:endParaRPr>
          </a:p>
        </p:txBody>
      </p:sp>
      <p:sp>
        <p:nvSpPr>
          <p:cNvPr id="599" name="Shape 16"/>
          <p:cNvSpPr/>
          <p:nvPr/>
        </p:nvSpPr>
        <p:spPr>
          <a:xfrm>
            <a:off x="384120" y="329184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00" name="Text 17"/>
          <p:cNvSpPr/>
          <p:nvPr/>
        </p:nvSpPr>
        <p:spPr>
          <a:xfrm>
            <a:off x="384120" y="329184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132238"/>
                </a:solidFill>
                <a:latin typeface="Calibri"/>
                <a:ea typeface="Calibri"/>
              </a:rPr>
              <a:t>RF Tuned</a:t>
            </a:r>
            <a:endParaRPr lang="en-US" sz="1050" b="0" strike="noStrike" spc="-1" dirty="0">
              <a:solidFill>
                <a:srgbClr val="000000"/>
              </a:solidFill>
              <a:latin typeface="Arial"/>
            </a:endParaRPr>
          </a:p>
        </p:txBody>
      </p:sp>
      <p:sp>
        <p:nvSpPr>
          <p:cNvPr id="601" name="Shape 18"/>
          <p:cNvSpPr/>
          <p:nvPr/>
        </p:nvSpPr>
        <p:spPr>
          <a:xfrm>
            <a:off x="1828800" y="3749040"/>
            <a:ext cx="360" cy="127800"/>
          </a:xfrm>
          <a:prstGeom prst="line">
            <a:avLst/>
          </a:prstGeom>
          <a:ln w="15240">
            <a:solidFill>
              <a:srgbClr val="8A9B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DE" sz="1800" b="0" strike="noStrike" spc="-1">
              <a:solidFill>
                <a:schemeClr val="dk1"/>
              </a:solidFill>
              <a:latin typeface="Rockwell"/>
            </a:endParaRPr>
          </a:p>
        </p:txBody>
      </p:sp>
      <p:sp>
        <p:nvSpPr>
          <p:cNvPr id="602" name="Shape 19"/>
          <p:cNvSpPr/>
          <p:nvPr/>
        </p:nvSpPr>
        <p:spPr>
          <a:xfrm>
            <a:off x="384120" y="3895200"/>
            <a:ext cx="2889000" cy="456840"/>
          </a:xfrm>
          <a:prstGeom prst="roundRect">
            <a:avLst>
              <a:gd name="adj" fmla="val 18000"/>
            </a:avLst>
          </a:prstGeom>
          <a:solidFill>
            <a:srgbClr val="00D4AA"/>
          </a:solidFill>
          <a:ln w="1905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03" name="Text 20"/>
          <p:cNvSpPr/>
          <p:nvPr/>
        </p:nvSpPr>
        <p:spPr>
          <a:xfrm>
            <a:off x="384120" y="38952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1" strike="noStrike" spc="-1">
                <a:solidFill>
                  <a:srgbClr val="FFFFFF"/>
                </a:solidFill>
                <a:latin typeface="Calibri"/>
                <a:ea typeface="Calibri"/>
              </a:rPr>
              <a:t>GB Tuned  ✓</a:t>
            </a:r>
            <a:endParaRPr lang="en-US" sz="1050" b="0" strike="noStrike" spc="-1">
              <a:solidFill>
                <a:srgbClr val="000000"/>
              </a:solidFill>
              <a:latin typeface="Arial"/>
            </a:endParaRPr>
          </a:p>
        </p:txBody>
      </p:sp>
      <p:sp>
        <p:nvSpPr>
          <p:cNvPr id="604" name="Shape 21"/>
          <p:cNvSpPr/>
          <p:nvPr/>
        </p:nvSpPr>
        <p:spPr>
          <a:xfrm>
            <a:off x="1828800" y="4352400"/>
            <a:ext cx="360" cy="128160"/>
          </a:xfrm>
          <a:prstGeom prst="line">
            <a:avLst/>
          </a:prstGeom>
          <a:ln w="15240">
            <a:solidFill>
              <a:srgbClr val="8A9B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DE" sz="1800" b="0" strike="noStrike" spc="-1">
              <a:solidFill>
                <a:schemeClr val="dk1"/>
              </a:solidFill>
              <a:latin typeface="Rockwell"/>
            </a:endParaRPr>
          </a:p>
        </p:txBody>
      </p:sp>
      <p:sp>
        <p:nvSpPr>
          <p:cNvPr id="605" name="Shape 22"/>
          <p:cNvSpPr/>
          <p:nvPr/>
        </p:nvSpPr>
        <p:spPr>
          <a:xfrm>
            <a:off x="384120" y="449892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06" name="Text 23"/>
          <p:cNvSpPr/>
          <p:nvPr/>
        </p:nvSpPr>
        <p:spPr>
          <a:xfrm>
            <a:off x="384120" y="449892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en-US" sz="1050" spc="-1" dirty="0">
                <a:solidFill>
                  <a:srgbClr val="132238"/>
                </a:solidFill>
                <a:latin typeface="Calibri"/>
                <a:ea typeface="Calibri"/>
              </a:rPr>
              <a:t>XGB Tuned</a:t>
            </a:r>
            <a:endParaRPr lang="en-US" sz="1050" b="0" strike="noStrike" spc="-1" dirty="0">
              <a:solidFill>
                <a:srgbClr val="000000"/>
              </a:solidFill>
              <a:latin typeface="Arial"/>
            </a:endParaRPr>
          </a:p>
        </p:txBody>
      </p:sp>
      <p:graphicFrame>
        <p:nvGraphicFramePr>
          <p:cNvPr id="607" name="Table 0"/>
          <p:cNvGraphicFramePr/>
          <p:nvPr>
            <p:extLst>
              <p:ext uri="{D42A27DB-BD31-4B8C-83A1-F6EECF244321}">
                <p14:modId xmlns:p14="http://schemas.microsoft.com/office/powerpoint/2010/main" val="310655013"/>
              </p:ext>
            </p:extLst>
          </p:nvPr>
        </p:nvGraphicFramePr>
        <p:xfrm>
          <a:off x="3502080" y="1482120"/>
          <a:ext cx="5521680" cy="18288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a:solidFill>
                            <a:srgbClr val="FFFFFF"/>
                          </a:solidFill>
                          <a:latin typeface="Arial"/>
                          <a:ea typeface="Arial"/>
                        </a:rPr>
                        <a:t>Model</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RF Tuned</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70%</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0.40</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72.7%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0.80</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0.06</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300" b="0" strike="noStrike" spc="-1">
                          <a:solidFill>
                            <a:srgbClr val="F7931A"/>
                          </a:solidFill>
                          <a:latin typeface="Arial"/>
                          <a:ea typeface="Arial"/>
                        </a:rPr>
                        <a:t>✅</a:t>
                      </a:r>
                      <a:endParaRPr lang="en-US" sz="13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GB Tuned</a:t>
                      </a:r>
                      <a:endParaRPr lang="en-US" sz="1000" b="0" strike="noStrike" spc="-1" dirty="0">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E6FBF5"/>
                    </a:solidFill>
                  </a:tcPr>
                </a:tc>
                <a:tc>
                  <a:txBody>
                    <a:bodyPr/>
                    <a:lstStyle/>
                    <a:p>
                      <a:pPr algn="ctr">
                        <a:buNone/>
                      </a:pPr>
                      <a:r>
                        <a:rPr lang="en-US" sz="1000" b="1" strike="noStrike" kern="1200" spc="-1" dirty="0">
                          <a:solidFill>
                            <a:srgbClr val="132238"/>
                          </a:solidFill>
                          <a:latin typeface="Calibri"/>
                          <a:ea typeface="Calibri"/>
                          <a:cs typeface="+mn-cs"/>
                        </a:rPr>
                        <a:t>71%</a:t>
                      </a:r>
                      <a:endParaRPr lang="en-DE" sz="1000" b="1" strike="noStrike" kern="1200" spc="-1" dirty="0">
                        <a:solidFill>
                          <a:srgbClr val="132238"/>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0.43</a:t>
                      </a:r>
                    </a:p>
                  </a:txBody>
                  <a:tcPr marL="50800" marR="50800" marT="25400" marB="25400"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73</a:t>
                      </a:r>
                      <a:r>
                        <a:rPr lang="en-US" sz="1000" b="1" strike="noStrike" kern="1200" spc="-1" dirty="0">
                          <a:solidFill>
                            <a:srgbClr val="132238"/>
                          </a:solidFill>
                          <a:latin typeface="Calibri"/>
                          <a:ea typeface="Calibri"/>
                          <a:cs typeface="+mn-cs"/>
                        </a:rPr>
                        <a:t>.7%</a:t>
                      </a:r>
                      <a:endParaRPr lang="en-DE" sz="1000" b="1" strike="noStrike" kern="1200" spc="-1" dirty="0">
                        <a:solidFill>
                          <a:srgbClr val="132238"/>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0.47</a:t>
                      </a:r>
                    </a:p>
                  </a:txBody>
                  <a:tcPr marL="50800" marR="50800" marT="25400" marB="25400"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0.81</a:t>
                      </a:r>
                    </a:p>
                  </a:txBody>
                  <a:tcPr marL="50800" marR="50800" marT="25400" marB="25400"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E6FBF5"/>
                    </a:solidFill>
                  </a:tcPr>
                </a:tc>
                <a:tc>
                  <a:txBody>
                    <a:bodyPr/>
                    <a:lstStyle/>
                    <a:p>
                      <a:pPr algn="ctr">
                        <a:buNone/>
                      </a:pPr>
                      <a:r>
                        <a:rPr lang="en-DE" sz="1000" b="1" strike="noStrike" kern="1200" spc="-1" dirty="0">
                          <a:solidFill>
                            <a:srgbClr val="132238"/>
                          </a:solidFill>
                          <a:latin typeface="Calibri"/>
                          <a:ea typeface="Calibri"/>
                          <a:cs typeface="+mn-cs"/>
                        </a:rPr>
                        <a:t>0.06</a:t>
                      </a:r>
                    </a:p>
                  </a:txBody>
                  <a:tcPr marL="50800" marR="50800" marT="25400" marB="25400"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E6FBF5"/>
                    </a:solidFill>
                  </a:tcPr>
                </a:tc>
                <a:tc>
                  <a:txBody>
                    <a:bodyPr/>
                    <a:lstStyle/>
                    <a:p>
                      <a:pPr algn="ctr" defTabSz="914400">
                        <a:lnSpc>
                          <a:spcPct val="100000"/>
                        </a:lnSpc>
                        <a:tabLst>
                          <a:tab pos="0" algn="l"/>
                        </a:tabLst>
                      </a:pPr>
                      <a:r>
                        <a:rPr lang="en-US" sz="1300" b="1" strike="noStrike" spc="-1">
                          <a:solidFill>
                            <a:srgbClr val="F7931A"/>
                          </a:solidFill>
                          <a:latin typeface="Arial"/>
                          <a:ea typeface="Arial"/>
                        </a:rPr>
                        <a:t>✅</a:t>
                      </a:r>
                      <a:endParaRPr lang="en-US" sz="1300" b="0" strike="noStrike" spc="-1">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extLst>
                  <a:ext uri="{0D108BD9-81ED-4DB2-BD59-A6C34878D82A}">
                    <a16:rowId xmlns:a16="http://schemas.microsoft.com/office/drawing/2014/main" val="10002"/>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XGB Tuned</a:t>
                      </a:r>
                      <a:endParaRPr lang="en-US" sz="1000" b="0" strike="noStrike" spc="-1">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71</a:t>
                      </a:r>
                      <a:r>
                        <a:rPr lang="en-US" sz="1000" b="0" strike="noStrike" kern="1200" spc="-1" dirty="0">
                          <a:solidFill>
                            <a:srgbClr val="3A4A5C"/>
                          </a:solidFill>
                          <a:latin typeface="Calibri"/>
                          <a:ea typeface="Calibri"/>
                          <a:cs typeface="+mn-cs"/>
                        </a:rPr>
                        <a:t>%</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0.43</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72</a:t>
                      </a:r>
                      <a:r>
                        <a:rPr lang="en-US" sz="1000" b="0" strike="noStrike" kern="1200" spc="-1" dirty="0">
                          <a:solidFill>
                            <a:srgbClr val="3A4A5C"/>
                          </a:solidFill>
                          <a:latin typeface="Calibri"/>
                          <a:ea typeface="Calibri"/>
                          <a:cs typeface="+mn-cs"/>
                        </a:rPr>
                        <a:t>.7%</a:t>
                      </a:r>
                      <a:endParaRPr lang="en-DE" sz="1000" b="0" strike="noStrike" kern="1200" spc="-1" dirty="0">
                        <a:solidFill>
                          <a:srgbClr val="3A4A5C"/>
                        </a:solidFill>
                        <a:latin typeface="Calibri"/>
                        <a:ea typeface="Calibri"/>
                        <a:cs typeface="+mn-cs"/>
                      </a:endParaRP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0.45</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0.81</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a:buNone/>
                      </a:pPr>
                      <a:r>
                        <a:rPr lang="en-DE" sz="1000" b="0" strike="noStrike" kern="1200" spc="-1" dirty="0">
                          <a:solidFill>
                            <a:srgbClr val="3A4A5C"/>
                          </a:solidFill>
                          <a:latin typeface="Calibri"/>
                          <a:ea typeface="Calibri"/>
                          <a:cs typeface="+mn-cs"/>
                        </a:rPr>
                        <a:t>0.05</a:t>
                      </a:r>
                    </a:p>
                  </a:txBody>
                  <a:tcPr marL="50800" marR="50800" marT="25400" marB="25400"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dirty="0">
                          <a:solidFill>
                            <a:srgbClr val="8A9BB0"/>
                          </a:solidFill>
                          <a:latin typeface="Arial"/>
                          <a:ea typeface="Arial"/>
                        </a:rPr>
                        <a:t>✅</a:t>
                      </a:r>
                      <a:endParaRPr lang="en-US" sz="13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608" name="Shape 25"/>
          <p:cNvSpPr/>
          <p:nvPr/>
        </p:nvSpPr>
        <p:spPr>
          <a:xfrm>
            <a:off x="9253800" y="1482120"/>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18" name="Shape 35"/>
          <p:cNvSpPr/>
          <p:nvPr/>
        </p:nvSpPr>
        <p:spPr>
          <a:xfrm>
            <a:off x="9494750" y="1998037"/>
            <a:ext cx="2322360" cy="292320"/>
          </a:xfrm>
          <a:prstGeom prst="roundRect">
            <a:avLst>
              <a:gd name="adj" fmla="val 15625"/>
            </a:avLst>
          </a:prstGeom>
          <a:solidFill>
            <a:srgbClr val="00D4AA">
              <a:alpha val="15000"/>
            </a:srgbClr>
          </a:solidFill>
          <a:ln w="1270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19" name="Text 36"/>
          <p:cNvSpPr/>
          <p:nvPr/>
        </p:nvSpPr>
        <p:spPr>
          <a:xfrm>
            <a:off x="9468054" y="1986360"/>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dirty="0">
                <a:solidFill>
                  <a:srgbClr val="00D4AA"/>
                </a:solidFill>
                <a:latin typeface="Arial"/>
                <a:ea typeface="Arial"/>
              </a:rPr>
              <a:t>GB Best Params  ✓  WINNER</a:t>
            </a:r>
            <a:endParaRPr lang="en-US" sz="1050" b="0" strike="noStrike" spc="-1" dirty="0">
              <a:solidFill>
                <a:srgbClr val="000000"/>
              </a:solidFill>
              <a:latin typeface="Arial"/>
            </a:endParaRPr>
          </a:p>
        </p:txBody>
      </p:sp>
      <p:sp>
        <p:nvSpPr>
          <p:cNvPr id="620" name="Text 37"/>
          <p:cNvSpPr/>
          <p:nvPr/>
        </p:nvSpPr>
        <p:spPr>
          <a:xfrm>
            <a:off x="9528120" y="2392494"/>
            <a:ext cx="2358720" cy="278020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171450" indent="-171450">
              <a:buFont typeface="Arial" panose="020B0604020202020204" pitchFamily="34" charset="0"/>
              <a:buChar char="•"/>
              <a:tabLst>
                <a:tab pos="0" algn="l"/>
              </a:tabLst>
            </a:pPr>
            <a:r>
              <a:rPr lang="de-DE" sz="900" spc="-1" dirty="0">
                <a:solidFill>
                  <a:srgbClr val="A8BCCF"/>
                </a:solidFill>
                <a:latin typeface="Calibri"/>
                <a:ea typeface="Calibri"/>
              </a:rPr>
              <a:t>'n_estimators': 155, 'max_depth': 9, 'min_samples_leaf': 16, 'max_features': 'sqrt‘</a:t>
            </a:r>
          </a:p>
          <a:p>
            <a:pPr marL="171450" indent="-171450">
              <a:buFont typeface="Arial" panose="020B0604020202020204" pitchFamily="34" charset="0"/>
              <a:buChar char="•"/>
              <a:tabLst>
                <a:tab pos="0" algn="l"/>
              </a:tabLst>
            </a:pPr>
            <a:endParaRPr lang="de-DE"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 Tuning fixes overfitting in GB and XGB completely </a:t>
            </a: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all 3 models now land at gap ≈ 0.06. </a:t>
            </a: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GB overtakes RF after tuning (+0.030 MCC vs untuned). </a:t>
            </a: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All 3 converge very closely GB edges ahead on every metric.</a:t>
            </a: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Decision → GB selected as the base model so far</a:t>
            </a:r>
            <a:endParaRPr lang="en-US" sz="900" b="0" strike="noStrike" spc="-1" dirty="0">
              <a:solidFill>
                <a:srgbClr val="000000"/>
              </a:solidFill>
              <a:latin typeface="Arial"/>
            </a:endParaRPr>
          </a:p>
        </p:txBody>
      </p:sp>
      <p:sp>
        <p:nvSpPr>
          <p:cNvPr id="621"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22" name="Shape 39"/>
          <p:cNvSpPr/>
          <p:nvPr/>
        </p:nvSpPr>
        <p:spPr>
          <a:xfrm>
            <a:off x="255960" y="6464880"/>
            <a:ext cx="1798127"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623" name="Text 40"/>
          <p:cNvSpPr/>
          <p:nvPr/>
        </p:nvSpPr>
        <p:spPr>
          <a:xfrm>
            <a:off x="255960" y="6464880"/>
            <a:ext cx="1798127"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00" b="1" strike="noStrike" spc="-1" dirty="0">
                <a:solidFill>
                  <a:srgbClr val="FFFFFF"/>
                </a:solidFill>
                <a:latin typeface="Calibri"/>
                <a:ea typeface="Calibri"/>
              </a:rPr>
              <a:t>★  S2 Regime-Aware Split  </a:t>
            </a:r>
            <a:endParaRPr lang="en-US" sz="1000" b="0" strike="noStrike" spc="-1" dirty="0">
              <a:solidFill>
                <a:srgbClr val="000000"/>
              </a:solidFill>
              <a:latin typeface="Arial"/>
            </a:endParaRPr>
          </a:p>
        </p:txBody>
      </p:sp>
      <p:sp>
        <p:nvSpPr>
          <p:cNvPr id="3" name="Shape 39">
            <a:extLst>
              <a:ext uri="{FF2B5EF4-FFF2-40B4-BE49-F238E27FC236}">
                <a16:creationId xmlns:a16="http://schemas.microsoft.com/office/drawing/2014/main" id="{EF4A8761-8FB0-CFB0-DC98-2A39D6F0EE62}"/>
              </a:ext>
            </a:extLst>
          </p:cNvPr>
          <p:cNvSpPr/>
          <p:nvPr/>
        </p:nvSpPr>
        <p:spPr>
          <a:xfrm>
            <a:off x="2215554" y="6464880"/>
            <a:ext cx="1813106"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r>
              <a:rPr lang="en-US" sz="1000" b="1" spc="-1" dirty="0">
                <a:solidFill>
                  <a:srgbClr val="FFFFFF"/>
                </a:solidFill>
                <a:latin typeface="Calibri"/>
                <a:ea typeface="Calibri"/>
              </a:rPr>
              <a:t>★  Gradient Boosting Tuned</a:t>
            </a:r>
            <a:endParaRPr lang="en-DE" sz="1000" b="1" spc="-1" dirty="0">
              <a:solidFill>
                <a:srgbClr val="FFFFFF"/>
              </a:solidFill>
              <a:latin typeface="Calibri"/>
              <a:ea typeface="Calibri"/>
            </a:endParaRPr>
          </a:p>
        </p:txBody>
      </p:sp>
      <p:sp>
        <p:nvSpPr>
          <p:cNvPr id="4" name="Shape 39">
            <a:extLst>
              <a:ext uri="{FF2B5EF4-FFF2-40B4-BE49-F238E27FC236}">
                <a16:creationId xmlns:a16="http://schemas.microsoft.com/office/drawing/2014/main" id="{01A5332C-2BE4-06C9-E461-3BAE4FC6EAD3}"/>
              </a:ext>
            </a:extLst>
          </p:cNvPr>
          <p:cNvSpPr/>
          <p:nvPr/>
        </p:nvSpPr>
        <p:spPr>
          <a:xfrm>
            <a:off x="10189452" y="6454906"/>
            <a:ext cx="1406199"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73.7%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4C14D4-ADAC-F0C1-E5C1-DB2BC71BFAEB}"/>
            </a:ext>
          </a:extLst>
        </p:cNvPr>
        <p:cNvGrpSpPr/>
        <p:nvPr/>
      </p:nvGrpSpPr>
      <p:grpSpPr>
        <a:xfrm>
          <a:off x="0" y="0"/>
          <a:ext cx="0" cy="0"/>
          <a:chOff x="0" y="0"/>
          <a:chExt cx="0" cy="0"/>
        </a:xfrm>
      </p:grpSpPr>
      <p:sp>
        <p:nvSpPr>
          <p:cNvPr id="10" name="Shape 22">
            <a:extLst>
              <a:ext uri="{FF2B5EF4-FFF2-40B4-BE49-F238E27FC236}">
                <a16:creationId xmlns:a16="http://schemas.microsoft.com/office/drawing/2014/main" id="{752B193C-D583-EF77-5F58-B7EC883F9D1D}"/>
              </a:ext>
            </a:extLst>
          </p:cNvPr>
          <p:cNvSpPr/>
          <p:nvPr/>
        </p:nvSpPr>
        <p:spPr>
          <a:xfrm>
            <a:off x="384120" y="4638154"/>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3" name="Shape 16">
            <a:extLst>
              <a:ext uri="{FF2B5EF4-FFF2-40B4-BE49-F238E27FC236}">
                <a16:creationId xmlns:a16="http://schemas.microsoft.com/office/drawing/2014/main" id="{C7718D75-E1FB-2D64-88C1-8C20AE06C276}"/>
              </a:ext>
            </a:extLst>
          </p:cNvPr>
          <p:cNvSpPr/>
          <p:nvPr/>
        </p:nvSpPr>
        <p:spPr>
          <a:xfrm>
            <a:off x="384120" y="3385303"/>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0" name="Shape 0">
            <a:extLst>
              <a:ext uri="{FF2B5EF4-FFF2-40B4-BE49-F238E27FC236}">
                <a16:creationId xmlns:a16="http://schemas.microsoft.com/office/drawing/2014/main" id="{099FB8F5-8F24-D3AC-FF42-7FC2C26288EF}"/>
              </a:ext>
            </a:extLst>
          </p:cNvPr>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1" name="Shape 1">
            <a:extLst>
              <a:ext uri="{FF2B5EF4-FFF2-40B4-BE49-F238E27FC236}">
                <a16:creationId xmlns:a16="http://schemas.microsoft.com/office/drawing/2014/main" id="{D8C1FAB9-2486-5058-EAE1-1ED752A1B956}"/>
              </a:ext>
            </a:extLst>
          </p:cNvPr>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2" name="Shape 2">
            <a:extLst>
              <a:ext uri="{FF2B5EF4-FFF2-40B4-BE49-F238E27FC236}">
                <a16:creationId xmlns:a16="http://schemas.microsoft.com/office/drawing/2014/main" id="{CE1BE35E-F0AC-4019-7E2F-705B87E77FB8}"/>
              </a:ext>
            </a:extLst>
          </p:cNvPr>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783" name="Text 3">
            <a:extLst>
              <a:ext uri="{FF2B5EF4-FFF2-40B4-BE49-F238E27FC236}">
                <a16:creationId xmlns:a16="http://schemas.microsoft.com/office/drawing/2014/main" id="{174CD042-B19C-6092-F182-BB684288E7DD}"/>
              </a:ext>
            </a:extLst>
          </p:cNvPr>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dirty="0">
                <a:solidFill>
                  <a:srgbClr val="FFFFFF"/>
                </a:solidFill>
                <a:latin typeface="Arial"/>
                <a:ea typeface="Arial"/>
              </a:rPr>
              <a:t>EXP 4</a:t>
            </a:r>
            <a:endParaRPr lang="en-US" sz="1300" b="0" strike="noStrike" spc="-1" dirty="0">
              <a:solidFill>
                <a:srgbClr val="000000"/>
              </a:solidFill>
              <a:latin typeface="Arial"/>
            </a:endParaRPr>
          </a:p>
        </p:txBody>
      </p:sp>
      <p:sp>
        <p:nvSpPr>
          <p:cNvPr id="784" name="Text 4">
            <a:extLst>
              <a:ext uri="{FF2B5EF4-FFF2-40B4-BE49-F238E27FC236}">
                <a16:creationId xmlns:a16="http://schemas.microsoft.com/office/drawing/2014/main" id="{1CF8F0CF-BB8F-4828-94F5-13F2380988C5}"/>
              </a:ext>
            </a:extLst>
          </p:cNvPr>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pc="-1" dirty="0">
                <a:solidFill>
                  <a:srgbClr val="FFFFFF"/>
                </a:solidFill>
                <a:latin typeface="Arial Black"/>
                <a:ea typeface="Arial Black"/>
              </a:rPr>
              <a:t>LSTM</a:t>
            </a:r>
            <a:r>
              <a:rPr lang="en-US" sz="2600" b="1" strike="noStrike" spc="-1" dirty="0">
                <a:solidFill>
                  <a:srgbClr val="FFFFFF"/>
                </a:solidFill>
                <a:latin typeface="Arial Black"/>
                <a:ea typeface="Arial Black"/>
              </a:rPr>
              <a:t> : Does the DL</a:t>
            </a:r>
            <a:r>
              <a:rPr lang="en-US" sz="2600" b="1" spc="-1" dirty="0">
                <a:solidFill>
                  <a:srgbClr val="FFFFFF"/>
                </a:solidFill>
                <a:latin typeface="Arial Black"/>
                <a:ea typeface="Arial Black"/>
              </a:rPr>
              <a:t> beat the ML ?</a:t>
            </a:r>
            <a:endParaRPr lang="en-US" sz="2600" b="0" strike="noStrike" spc="-1" dirty="0">
              <a:solidFill>
                <a:srgbClr val="000000"/>
              </a:solidFill>
              <a:latin typeface="Arial"/>
            </a:endParaRPr>
          </a:p>
        </p:txBody>
      </p:sp>
      <p:sp>
        <p:nvSpPr>
          <p:cNvPr id="785" name="Shape 7">
            <a:extLst>
              <a:ext uri="{FF2B5EF4-FFF2-40B4-BE49-F238E27FC236}">
                <a16:creationId xmlns:a16="http://schemas.microsoft.com/office/drawing/2014/main" id="{514703A1-2295-ECBE-5F2C-8F33E6593C5D}"/>
              </a:ext>
            </a:extLst>
          </p:cNvPr>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6" name="Text 8">
            <a:extLst>
              <a:ext uri="{FF2B5EF4-FFF2-40B4-BE49-F238E27FC236}">
                <a16:creationId xmlns:a16="http://schemas.microsoft.com/office/drawing/2014/main" id="{E896312B-4882-AB42-DDA3-6A9FD4C83817}"/>
              </a:ext>
            </a:extLst>
          </p:cNvPr>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en-US" sz="1050" b="0" strike="noStrike" spc="-1" dirty="0">
                <a:solidFill>
                  <a:srgbClr val="FFFFFF"/>
                </a:solidFill>
                <a:latin typeface="Calibri"/>
                <a:ea typeface="Calibri"/>
              </a:rPr>
              <a:t>Split: S2 Regime-Aware BTC + ETH  (</a:t>
            </a:r>
            <a:r>
              <a:rPr lang="en-US" sz="1050" spc="-1" dirty="0">
                <a:solidFill>
                  <a:srgbClr val="FFFFFF"/>
                </a:solidFill>
                <a:latin typeface="Calibri"/>
                <a:ea typeface="Calibri"/>
              </a:rPr>
              <a:t>6,346 rows</a:t>
            </a:r>
            <a:r>
              <a:rPr lang="en-US" sz="1050" b="0" strike="noStrike" spc="-1" dirty="0">
                <a:solidFill>
                  <a:srgbClr val="FFFFFF"/>
                </a:solidFill>
                <a:latin typeface="Calibri"/>
                <a:ea typeface="Calibri"/>
              </a:rPr>
              <a:t>)</a:t>
            </a:r>
            <a:endParaRPr lang="en-US" sz="1050" b="0" strike="noStrike" spc="-1" dirty="0">
              <a:solidFill>
                <a:srgbClr val="000000"/>
              </a:solidFill>
              <a:latin typeface="Arial"/>
            </a:endParaRPr>
          </a:p>
        </p:txBody>
      </p:sp>
      <p:sp>
        <p:nvSpPr>
          <p:cNvPr id="789" name="Text 11">
            <a:extLst>
              <a:ext uri="{FF2B5EF4-FFF2-40B4-BE49-F238E27FC236}">
                <a16:creationId xmlns:a16="http://schemas.microsoft.com/office/drawing/2014/main" id="{BF8C0667-EA2C-ACDA-D48D-A4F0D448EF2E}"/>
              </a:ext>
            </a:extLst>
          </p:cNvPr>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endParaRPr lang="en-US" sz="1050" b="0" strike="noStrike" spc="-1" dirty="0">
              <a:solidFill>
                <a:srgbClr val="000000"/>
              </a:solidFill>
              <a:latin typeface="Arial"/>
            </a:endParaRPr>
          </a:p>
        </p:txBody>
      </p:sp>
      <p:sp>
        <p:nvSpPr>
          <p:cNvPr id="791" name="Shape 13">
            <a:extLst>
              <a:ext uri="{FF2B5EF4-FFF2-40B4-BE49-F238E27FC236}">
                <a16:creationId xmlns:a16="http://schemas.microsoft.com/office/drawing/2014/main" id="{0F12091F-C200-3FDD-69EB-B585F1251518}"/>
              </a:ext>
            </a:extLst>
          </p:cNvPr>
          <p:cNvSpPr/>
          <p:nvPr/>
        </p:nvSpPr>
        <p:spPr>
          <a:xfrm>
            <a:off x="384120" y="2112008"/>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92" name="Text 14">
            <a:extLst>
              <a:ext uri="{FF2B5EF4-FFF2-40B4-BE49-F238E27FC236}">
                <a16:creationId xmlns:a16="http://schemas.microsoft.com/office/drawing/2014/main" id="{FD0C428A-C1D9-D62A-7175-4BB4F175E36E}"/>
              </a:ext>
            </a:extLst>
          </p:cNvPr>
          <p:cNvSpPr/>
          <p:nvPr/>
        </p:nvSpPr>
        <p:spPr>
          <a:xfrm>
            <a:off x="384120" y="2098758"/>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dirty="0">
                <a:solidFill>
                  <a:srgbClr val="FFFFFF"/>
                </a:solidFill>
                <a:latin typeface="Calibri"/>
                <a:ea typeface="Calibri"/>
              </a:rPr>
              <a:t>↕  VARIABLE: </a:t>
            </a:r>
            <a:r>
              <a:rPr lang="en-US" sz="1150" b="1" spc="-1" dirty="0">
                <a:solidFill>
                  <a:srgbClr val="FFFFFF"/>
                </a:solidFill>
                <a:latin typeface="Calibri"/>
                <a:ea typeface="Calibri"/>
              </a:rPr>
              <a:t>LSTM</a:t>
            </a:r>
            <a:endParaRPr lang="en-US" sz="1150" b="0" strike="noStrike" spc="-1" dirty="0">
              <a:solidFill>
                <a:srgbClr val="000000"/>
              </a:solidFill>
              <a:latin typeface="Arial"/>
            </a:endParaRPr>
          </a:p>
        </p:txBody>
      </p:sp>
      <p:sp>
        <p:nvSpPr>
          <p:cNvPr id="794" name="Shape 16">
            <a:extLst>
              <a:ext uri="{FF2B5EF4-FFF2-40B4-BE49-F238E27FC236}">
                <a16:creationId xmlns:a16="http://schemas.microsoft.com/office/drawing/2014/main" id="{9633CE66-C91D-A00E-B5C3-75A60A6D94F3}"/>
              </a:ext>
            </a:extLst>
          </p:cNvPr>
          <p:cNvSpPr/>
          <p:nvPr/>
        </p:nvSpPr>
        <p:spPr>
          <a:xfrm>
            <a:off x="384120" y="2775007"/>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795" name="Text 17">
            <a:extLst>
              <a:ext uri="{FF2B5EF4-FFF2-40B4-BE49-F238E27FC236}">
                <a16:creationId xmlns:a16="http://schemas.microsoft.com/office/drawing/2014/main" id="{3CA72FDE-EEBC-A968-21B7-3159B734E174}"/>
              </a:ext>
            </a:extLst>
          </p:cNvPr>
          <p:cNvSpPr/>
          <p:nvPr/>
        </p:nvSpPr>
        <p:spPr>
          <a:xfrm>
            <a:off x="384120" y="2775007"/>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de-DE" sz="1050" spc="-1" dirty="0">
                <a:solidFill>
                  <a:srgbClr val="132238"/>
                </a:solidFill>
                <a:latin typeface="Calibri"/>
                <a:ea typeface="Calibri"/>
              </a:rPr>
              <a:t>2 Stacked LSTM Layers (64/32)</a:t>
            </a:r>
            <a:endParaRPr lang="en-US" sz="1050" spc="-1" dirty="0">
              <a:solidFill>
                <a:srgbClr val="132238"/>
              </a:solidFill>
              <a:latin typeface="Calibri"/>
              <a:ea typeface="Calibri"/>
            </a:endParaRPr>
          </a:p>
        </p:txBody>
      </p:sp>
      <p:sp>
        <p:nvSpPr>
          <p:cNvPr id="800" name="Shape 22">
            <a:extLst>
              <a:ext uri="{FF2B5EF4-FFF2-40B4-BE49-F238E27FC236}">
                <a16:creationId xmlns:a16="http://schemas.microsoft.com/office/drawing/2014/main" id="{B310BC01-7BC0-7BF7-BC23-4DDBCD1F8946}"/>
              </a:ext>
            </a:extLst>
          </p:cNvPr>
          <p:cNvSpPr/>
          <p:nvPr/>
        </p:nvSpPr>
        <p:spPr>
          <a:xfrm>
            <a:off x="384120" y="3982087"/>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801" name="Text 23">
            <a:extLst>
              <a:ext uri="{FF2B5EF4-FFF2-40B4-BE49-F238E27FC236}">
                <a16:creationId xmlns:a16="http://schemas.microsoft.com/office/drawing/2014/main" id="{C64DDE27-9C0C-45AF-AB37-5CA475EEB93F}"/>
              </a:ext>
            </a:extLst>
          </p:cNvPr>
          <p:cNvSpPr/>
          <p:nvPr/>
        </p:nvSpPr>
        <p:spPr>
          <a:xfrm>
            <a:off x="384120" y="3982087"/>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de-DE" sz="1050" spc="-1" dirty="0">
                <a:solidFill>
                  <a:srgbClr val="132238"/>
                </a:solidFill>
                <a:latin typeface="Calibri"/>
                <a:ea typeface="Calibri"/>
              </a:rPr>
              <a:t>Batch Normalization X2</a:t>
            </a:r>
            <a:endParaRPr lang="en-US" sz="1050" spc="-1" dirty="0">
              <a:solidFill>
                <a:srgbClr val="132238"/>
              </a:solidFill>
              <a:latin typeface="Calibri"/>
              <a:ea typeface="Calibri"/>
            </a:endParaRPr>
          </a:p>
        </p:txBody>
      </p:sp>
      <p:graphicFrame>
        <p:nvGraphicFramePr>
          <p:cNvPr id="802" name="Table 0">
            <a:extLst>
              <a:ext uri="{FF2B5EF4-FFF2-40B4-BE49-F238E27FC236}">
                <a16:creationId xmlns:a16="http://schemas.microsoft.com/office/drawing/2014/main" id="{559225B1-2398-35FB-89D5-56C73B295C46}"/>
              </a:ext>
            </a:extLst>
          </p:cNvPr>
          <p:cNvGraphicFramePr/>
          <p:nvPr>
            <p:extLst>
              <p:ext uri="{D42A27DB-BD31-4B8C-83A1-F6EECF244321}">
                <p14:modId xmlns:p14="http://schemas.microsoft.com/office/powerpoint/2010/main" val="1252545718"/>
              </p:ext>
            </p:extLst>
          </p:nvPr>
        </p:nvGraphicFramePr>
        <p:xfrm>
          <a:off x="3502080" y="1482120"/>
          <a:ext cx="5521680" cy="9144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dirty="0">
                          <a:solidFill>
                            <a:srgbClr val="FFFFFF"/>
                          </a:solidFill>
                          <a:latin typeface="Arial"/>
                          <a:ea typeface="Arial"/>
                        </a:rPr>
                        <a:t>Model</a:t>
                      </a:r>
                      <a:endParaRPr lang="en-US" sz="1050" b="0" strike="noStrike" spc="-1" dirty="0">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LSTM</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51%</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51%</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0.03</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0.52</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0.01</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803" name="Shape 25">
            <a:extLst>
              <a:ext uri="{FF2B5EF4-FFF2-40B4-BE49-F238E27FC236}">
                <a16:creationId xmlns:a16="http://schemas.microsoft.com/office/drawing/2014/main" id="{D0AE578D-F456-8844-0E03-539F5364FB3C}"/>
              </a:ext>
            </a:extLst>
          </p:cNvPr>
          <p:cNvSpPr/>
          <p:nvPr/>
        </p:nvSpPr>
        <p:spPr>
          <a:xfrm>
            <a:off x="9253800" y="1482120"/>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a:p>
            <a:r>
              <a:rPr lang="en-US" sz="900" spc="-1" dirty="0">
                <a:solidFill>
                  <a:srgbClr val="A8BCCF"/>
                </a:solidFill>
                <a:latin typeface="Calibri"/>
                <a:ea typeface="Calibri"/>
              </a:rPr>
              <a:t>LSTM (Long short term memory ) eliminated due to insufficient data </a:t>
            </a:r>
          </a:p>
          <a:p>
            <a:endParaRPr lang="en-US" sz="900" spc="-1" dirty="0">
              <a:solidFill>
                <a:srgbClr val="A8BCCF"/>
              </a:solidFill>
              <a:latin typeface="Calibri"/>
              <a:ea typeface="Calibri"/>
            </a:endParaRPr>
          </a:p>
          <a:p>
            <a:r>
              <a:rPr lang="en-US" sz="900" spc="-1" dirty="0">
                <a:solidFill>
                  <a:srgbClr val="A8BCCF"/>
                </a:solidFill>
                <a:latin typeface="Calibri"/>
                <a:ea typeface="Calibri"/>
              </a:rPr>
              <a:t>Classical ML (GB) significantly outperforms LSTM</a:t>
            </a:r>
          </a:p>
          <a:p>
            <a:endParaRPr lang="en-US" sz="900" spc="-1" dirty="0">
              <a:solidFill>
                <a:srgbClr val="A8BCCF"/>
              </a:solidFill>
              <a:latin typeface="Calibri"/>
              <a:ea typeface="Calibri"/>
            </a:endParaRPr>
          </a:p>
          <a:p>
            <a:r>
              <a:rPr lang="en-US" sz="900" spc="-1" dirty="0">
                <a:solidFill>
                  <a:srgbClr val="A8BCCF"/>
                </a:solidFill>
                <a:latin typeface="Calibri"/>
                <a:ea typeface="Calibri"/>
              </a:rPr>
              <a:t> Deep learning requires more data than  6300  combined rows</a:t>
            </a:r>
          </a:p>
          <a:p>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a:p>
            <a:r>
              <a:rPr lang="en-US" sz="900" spc="-1" dirty="0" err="1">
                <a:solidFill>
                  <a:srgbClr val="A8BCCF"/>
                </a:solidFill>
                <a:latin typeface="Calibri"/>
                <a:ea typeface="Calibri"/>
              </a:rPr>
              <a:t>Decisison</a:t>
            </a:r>
            <a:r>
              <a:rPr lang="en-US" sz="900" spc="-1" dirty="0">
                <a:solidFill>
                  <a:srgbClr val="A8BCCF"/>
                </a:solidFill>
                <a:latin typeface="Calibri"/>
                <a:ea typeface="Calibri"/>
              </a:rPr>
              <a:t> </a:t>
            </a:r>
            <a:r>
              <a:rPr lang="en-US" sz="900" spc="-1" dirty="0">
                <a:solidFill>
                  <a:srgbClr val="A8BCCF"/>
                </a:solidFill>
                <a:latin typeface="Calibri"/>
                <a:ea typeface="Calibri"/>
                <a:sym typeface="Wingdings" panose="05000000000000000000" pitchFamily="2" charset="2"/>
              </a:rPr>
              <a:t> create lagged features for our simple </a:t>
            </a:r>
            <a:r>
              <a:rPr lang="en-US" sz="900" spc="-1" dirty="0" err="1">
                <a:solidFill>
                  <a:srgbClr val="A8BCCF"/>
                </a:solidFill>
                <a:latin typeface="Calibri"/>
                <a:ea typeface="Calibri"/>
                <a:sym typeface="Wingdings" panose="05000000000000000000" pitchFamily="2" charset="2"/>
              </a:rPr>
              <a:t>Ml</a:t>
            </a:r>
            <a:r>
              <a:rPr lang="en-US" sz="900" spc="-1" dirty="0">
                <a:solidFill>
                  <a:srgbClr val="A8BCCF"/>
                </a:solidFill>
                <a:latin typeface="Calibri"/>
                <a:ea typeface="Calibri"/>
                <a:sym typeface="Wingdings" panose="05000000000000000000" pitchFamily="2" charset="2"/>
              </a:rPr>
              <a:t> model to give it  a memory capacity </a:t>
            </a:r>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a:p>
            <a:endParaRPr lang="en-US" sz="900" spc="-1" dirty="0">
              <a:solidFill>
                <a:srgbClr val="A8BCCF"/>
              </a:solidFill>
              <a:latin typeface="Calibri"/>
              <a:ea typeface="Calibri"/>
            </a:endParaRPr>
          </a:p>
        </p:txBody>
      </p:sp>
      <p:sp>
        <p:nvSpPr>
          <p:cNvPr id="816" name="Shape 38">
            <a:extLst>
              <a:ext uri="{FF2B5EF4-FFF2-40B4-BE49-F238E27FC236}">
                <a16:creationId xmlns:a16="http://schemas.microsoft.com/office/drawing/2014/main" id="{60632C4E-9754-7154-6E5B-E3B33C3A1454}"/>
              </a:ext>
            </a:extLst>
          </p:cNvPr>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2" name="Text 17">
            <a:extLst>
              <a:ext uri="{FF2B5EF4-FFF2-40B4-BE49-F238E27FC236}">
                <a16:creationId xmlns:a16="http://schemas.microsoft.com/office/drawing/2014/main" id="{1356EA4A-6D28-4CCB-0DA0-352AB3B22524}"/>
              </a:ext>
            </a:extLst>
          </p:cNvPr>
          <p:cNvSpPr/>
          <p:nvPr/>
        </p:nvSpPr>
        <p:spPr>
          <a:xfrm>
            <a:off x="384120" y="3385303"/>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de-DE" sz="1050" spc="-1" dirty="0">
                <a:solidFill>
                  <a:srgbClr val="132238"/>
                </a:solidFill>
                <a:latin typeface="Calibri"/>
                <a:ea typeface="Calibri"/>
              </a:rPr>
              <a:t>Dropout (0.3) X2</a:t>
            </a:r>
            <a:r>
              <a:rPr lang="en-US" sz="1050" spc="-1" dirty="0">
                <a:solidFill>
                  <a:srgbClr val="132238"/>
                </a:solidFill>
                <a:latin typeface="Calibri"/>
                <a:ea typeface="Calibri"/>
              </a:rPr>
              <a:t>  </a:t>
            </a:r>
          </a:p>
        </p:txBody>
      </p:sp>
      <p:sp>
        <p:nvSpPr>
          <p:cNvPr id="4" name="Shape 39">
            <a:extLst>
              <a:ext uri="{FF2B5EF4-FFF2-40B4-BE49-F238E27FC236}">
                <a16:creationId xmlns:a16="http://schemas.microsoft.com/office/drawing/2014/main" id="{6961554A-FB4A-05D1-F1A6-15888089E29D}"/>
              </a:ext>
            </a:extLst>
          </p:cNvPr>
          <p:cNvSpPr/>
          <p:nvPr/>
        </p:nvSpPr>
        <p:spPr>
          <a:xfrm>
            <a:off x="10189452" y="6454906"/>
            <a:ext cx="1406199"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73,7% </a:t>
            </a:r>
          </a:p>
        </p:txBody>
      </p:sp>
      <p:sp>
        <p:nvSpPr>
          <p:cNvPr id="6" name="Shape 39">
            <a:extLst>
              <a:ext uri="{FF2B5EF4-FFF2-40B4-BE49-F238E27FC236}">
                <a16:creationId xmlns:a16="http://schemas.microsoft.com/office/drawing/2014/main" id="{45FB125D-0CB8-BE1A-4498-198CEBB9A165}"/>
              </a:ext>
            </a:extLst>
          </p:cNvPr>
          <p:cNvSpPr/>
          <p:nvPr/>
        </p:nvSpPr>
        <p:spPr>
          <a:xfrm>
            <a:off x="82114" y="6469132"/>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lvl="0" algn="ctr">
              <a:tabLst>
                <a:tab pos="0" algn="l"/>
              </a:tabLst>
              <a:defRPr/>
            </a:pPr>
            <a:r>
              <a:rPr lang="en-US" sz="1000" b="1" spc="-1" dirty="0">
                <a:solidFill>
                  <a:srgbClr val="FFFFFF"/>
                </a:solidFill>
                <a:latin typeface="Calibri"/>
                <a:ea typeface="Calibri"/>
              </a:rPr>
              <a:t>★  S2 Regime-Aware Split  </a:t>
            </a:r>
            <a:endParaRPr lang="en-US" sz="1000" spc="-1" dirty="0">
              <a:solidFill>
                <a:srgbClr val="000000"/>
              </a:solidFill>
              <a:latin typeface="Arial"/>
            </a:endParaRPr>
          </a:p>
        </p:txBody>
      </p:sp>
      <p:sp>
        <p:nvSpPr>
          <p:cNvPr id="7" name="Shape 39">
            <a:extLst>
              <a:ext uri="{FF2B5EF4-FFF2-40B4-BE49-F238E27FC236}">
                <a16:creationId xmlns:a16="http://schemas.microsoft.com/office/drawing/2014/main" id="{E2B3F3B6-A0ED-3C7E-14D5-AE65360FA09F}"/>
              </a:ext>
            </a:extLst>
          </p:cNvPr>
          <p:cNvSpPr/>
          <p:nvPr/>
        </p:nvSpPr>
        <p:spPr>
          <a:xfrm>
            <a:off x="1917720" y="6464880"/>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1" normalizeH="0" baseline="0" noProof="0">
                <a:ln>
                  <a:noFill/>
                </a:ln>
                <a:solidFill>
                  <a:srgbClr val="FFFFFF"/>
                </a:solidFill>
                <a:effectLst/>
                <a:uLnTx/>
                <a:uFillTx/>
                <a:latin typeface="Calibri"/>
                <a:ea typeface="Calibri"/>
                <a:cs typeface="+mn-cs"/>
              </a:rPr>
              <a:t>★  Gradient Boosting Tuned</a:t>
            </a:r>
            <a:endParaRPr kumimoji="0" lang="en-DE" sz="1000" b="1" i="0" u="none" strike="noStrike" kern="1200" cap="none" spc="-1" normalizeH="0" baseline="0" noProof="0" dirty="0">
              <a:ln>
                <a:noFill/>
              </a:ln>
              <a:solidFill>
                <a:srgbClr val="FFFFFF"/>
              </a:solidFill>
              <a:effectLst/>
              <a:uLnTx/>
              <a:uFillTx/>
              <a:latin typeface="Calibri"/>
              <a:ea typeface="Calibri"/>
              <a:cs typeface="+mn-cs"/>
            </a:endParaRPr>
          </a:p>
        </p:txBody>
      </p:sp>
      <p:sp>
        <p:nvSpPr>
          <p:cNvPr id="9" name="Text 23">
            <a:extLst>
              <a:ext uri="{FF2B5EF4-FFF2-40B4-BE49-F238E27FC236}">
                <a16:creationId xmlns:a16="http://schemas.microsoft.com/office/drawing/2014/main" id="{04BB2DF2-3A6A-1893-BB2D-312BCBBEC7F1}"/>
              </a:ext>
            </a:extLst>
          </p:cNvPr>
          <p:cNvSpPr/>
          <p:nvPr/>
        </p:nvSpPr>
        <p:spPr>
          <a:xfrm>
            <a:off x="384120" y="4651951"/>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de-DE" sz="1050" spc="-1" dirty="0">
                <a:solidFill>
                  <a:srgbClr val="132238"/>
                </a:solidFill>
                <a:latin typeface="Calibri"/>
                <a:ea typeface="Calibri"/>
              </a:rPr>
              <a:t>Dense Layer (16 units, ReLU)</a:t>
            </a:r>
            <a:endParaRPr lang="en-US" sz="1050" spc="-1" dirty="0">
              <a:solidFill>
                <a:srgbClr val="132238"/>
              </a:solidFill>
              <a:latin typeface="Calibri"/>
              <a:ea typeface="Calibri"/>
            </a:endParaRPr>
          </a:p>
        </p:txBody>
      </p:sp>
      <p:sp>
        <p:nvSpPr>
          <p:cNvPr id="11" name="Shape 22">
            <a:extLst>
              <a:ext uri="{FF2B5EF4-FFF2-40B4-BE49-F238E27FC236}">
                <a16:creationId xmlns:a16="http://schemas.microsoft.com/office/drawing/2014/main" id="{AE98E0F0-9364-F9FE-1BF9-77ADF979D0C6}"/>
              </a:ext>
            </a:extLst>
          </p:cNvPr>
          <p:cNvSpPr/>
          <p:nvPr/>
        </p:nvSpPr>
        <p:spPr>
          <a:xfrm>
            <a:off x="384120" y="5219441"/>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r>
              <a:rPr lang="de-DE" sz="1050" spc="-1" dirty="0">
                <a:solidFill>
                  <a:srgbClr val="132238"/>
                </a:solidFill>
                <a:latin typeface="Calibri"/>
                <a:ea typeface="Calibri"/>
              </a:rPr>
              <a:t>Output Layer / activation="sigmoid"</a:t>
            </a:r>
            <a:endParaRPr lang="en-DE" sz="1050" spc="-1" dirty="0">
              <a:solidFill>
                <a:srgbClr val="132238"/>
              </a:solidFill>
              <a:latin typeface="Calibri"/>
              <a:ea typeface="Calibri"/>
            </a:endParaRPr>
          </a:p>
        </p:txBody>
      </p:sp>
    </p:spTree>
    <p:extLst>
      <p:ext uri="{BB962C8B-B14F-4D97-AF65-F5344CB8AC3E}">
        <p14:creationId xmlns:p14="http://schemas.microsoft.com/office/powerpoint/2010/main" val="21867022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24"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25"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26"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27"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dirty="0">
                <a:solidFill>
                  <a:srgbClr val="FFFFFF"/>
                </a:solidFill>
                <a:latin typeface="Arial"/>
                <a:ea typeface="Arial"/>
              </a:rPr>
              <a:t>EXP </a:t>
            </a:r>
            <a:r>
              <a:rPr lang="en-US" sz="1300" b="1" spc="-1" dirty="0">
                <a:solidFill>
                  <a:srgbClr val="FFFFFF"/>
                </a:solidFill>
                <a:latin typeface="Arial"/>
                <a:ea typeface="Arial"/>
              </a:rPr>
              <a:t>5</a:t>
            </a:r>
            <a:endParaRPr lang="en-US" sz="1300" b="0" strike="noStrike" spc="-1" dirty="0">
              <a:solidFill>
                <a:srgbClr val="000000"/>
              </a:solidFill>
              <a:latin typeface="Arial"/>
            </a:endParaRPr>
          </a:p>
        </p:txBody>
      </p:sp>
      <p:sp>
        <p:nvSpPr>
          <p:cNvPr id="628" name="Text 4"/>
          <p:cNvSpPr/>
          <p:nvPr/>
        </p:nvSpPr>
        <p:spPr>
          <a:xfrm>
            <a:off x="1627200" y="91440"/>
            <a:ext cx="105339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dirty="0">
                <a:solidFill>
                  <a:srgbClr val="FFFFFF"/>
                </a:solidFill>
                <a:latin typeface="Arial Black"/>
                <a:ea typeface="Arial Black"/>
              </a:rPr>
              <a:t>Lagged Features : Does History Predict Tomorrow?</a:t>
            </a:r>
            <a:endParaRPr lang="en-US" sz="2600" b="0" strike="noStrike" spc="-1" dirty="0">
              <a:solidFill>
                <a:srgbClr val="000000"/>
              </a:solidFill>
              <a:latin typeface="Arial"/>
            </a:endParaRPr>
          </a:p>
        </p:txBody>
      </p:sp>
      <p:sp>
        <p:nvSpPr>
          <p:cNvPr id="629"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30"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Split: S2 Regime-Aware (fixed)</a:t>
            </a:r>
            <a:endParaRPr lang="en-US" sz="1050" b="0" strike="noStrike" spc="-1">
              <a:solidFill>
                <a:srgbClr val="000000"/>
              </a:solidFill>
              <a:latin typeface="Arial"/>
            </a:endParaRPr>
          </a:p>
        </p:txBody>
      </p:sp>
      <p:sp>
        <p:nvSpPr>
          <p:cNvPr id="632"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33"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FFFFFF"/>
                </a:solidFill>
                <a:latin typeface="Calibri"/>
                <a:ea typeface="Calibri"/>
              </a:rPr>
              <a:t>Model: GB </a:t>
            </a:r>
            <a:r>
              <a:rPr lang="en-US" sz="1050" b="0" strike="noStrike" spc="-1" dirty="0" err="1">
                <a:solidFill>
                  <a:srgbClr val="FFFFFF"/>
                </a:solidFill>
                <a:latin typeface="Calibri"/>
                <a:ea typeface="Calibri"/>
              </a:rPr>
              <a:t>Optuna</a:t>
            </a:r>
            <a:r>
              <a:rPr lang="en-US" sz="1050" b="0" strike="noStrike" spc="-1" dirty="0">
                <a:solidFill>
                  <a:srgbClr val="FFFFFF"/>
                </a:solidFill>
                <a:latin typeface="Calibri"/>
                <a:ea typeface="Calibri"/>
              </a:rPr>
              <a:t> Tuned (fixed)</a:t>
            </a:r>
            <a:endParaRPr lang="en-US" sz="1050" b="0" strike="noStrike" spc="-1" dirty="0">
              <a:solidFill>
                <a:srgbClr val="000000"/>
              </a:solidFill>
              <a:latin typeface="Arial"/>
            </a:endParaRPr>
          </a:p>
        </p:txBody>
      </p:sp>
      <p:sp>
        <p:nvSpPr>
          <p:cNvPr id="635" name="Shape 13"/>
          <p:cNvSpPr/>
          <p:nvPr/>
        </p:nvSpPr>
        <p:spPr>
          <a:xfrm>
            <a:off x="384120" y="2688480"/>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36" name="Text 14"/>
          <p:cNvSpPr/>
          <p:nvPr/>
        </p:nvSpPr>
        <p:spPr>
          <a:xfrm>
            <a:off x="384120" y="268848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a:solidFill>
                  <a:srgbClr val="FFFFFF"/>
                </a:solidFill>
                <a:latin typeface="Calibri"/>
                <a:ea typeface="Calibri"/>
              </a:rPr>
              <a:t>↕  VARIABLE: Feature set</a:t>
            </a:r>
            <a:endParaRPr lang="en-US" sz="1150" b="0" strike="noStrike" spc="-1">
              <a:solidFill>
                <a:srgbClr val="000000"/>
              </a:solidFill>
              <a:latin typeface="Arial"/>
            </a:endParaRPr>
          </a:p>
        </p:txBody>
      </p:sp>
      <p:sp>
        <p:nvSpPr>
          <p:cNvPr id="638" name="Shape 16"/>
          <p:cNvSpPr/>
          <p:nvPr/>
        </p:nvSpPr>
        <p:spPr>
          <a:xfrm>
            <a:off x="384120" y="329184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39" name="Text 17"/>
          <p:cNvSpPr/>
          <p:nvPr/>
        </p:nvSpPr>
        <p:spPr>
          <a:xfrm>
            <a:off x="384120" y="329184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132238"/>
                </a:solidFill>
                <a:latin typeface="Calibri"/>
                <a:ea typeface="Calibri"/>
              </a:rPr>
              <a:t>Baseline: 21 features</a:t>
            </a:r>
            <a:endParaRPr lang="en-US" sz="1050" b="0" strike="noStrike" spc="-1" dirty="0">
              <a:solidFill>
                <a:srgbClr val="000000"/>
              </a:solidFill>
              <a:latin typeface="Arial"/>
            </a:endParaRPr>
          </a:p>
        </p:txBody>
      </p:sp>
      <p:sp>
        <p:nvSpPr>
          <p:cNvPr id="641" name="Shape 19"/>
          <p:cNvSpPr/>
          <p:nvPr/>
        </p:nvSpPr>
        <p:spPr>
          <a:xfrm>
            <a:off x="384120" y="3895200"/>
            <a:ext cx="2889000" cy="456840"/>
          </a:xfrm>
          <a:prstGeom prst="roundRect">
            <a:avLst>
              <a:gd name="adj" fmla="val 18000"/>
            </a:avLst>
          </a:prstGeom>
          <a:solidFill>
            <a:srgbClr val="00D4AA"/>
          </a:solidFill>
          <a:ln w="1905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42" name="Text 20"/>
          <p:cNvSpPr/>
          <p:nvPr/>
        </p:nvSpPr>
        <p:spPr>
          <a:xfrm>
            <a:off x="384120" y="38952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1" strike="noStrike" spc="-1">
                <a:solidFill>
                  <a:srgbClr val="FFFFFF"/>
                </a:solidFill>
                <a:latin typeface="Calibri"/>
                <a:ea typeface="Calibri"/>
              </a:rPr>
              <a:t>Lagged: 36 features  ✓</a:t>
            </a:r>
            <a:endParaRPr lang="en-US" sz="1050" b="0" strike="noStrike" spc="-1">
              <a:solidFill>
                <a:srgbClr val="000000"/>
              </a:solidFill>
              <a:latin typeface="Arial"/>
            </a:endParaRPr>
          </a:p>
        </p:txBody>
      </p:sp>
      <p:graphicFrame>
        <p:nvGraphicFramePr>
          <p:cNvPr id="646" name="Table 0"/>
          <p:cNvGraphicFramePr/>
          <p:nvPr>
            <p:extLst>
              <p:ext uri="{D42A27DB-BD31-4B8C-83A1-F6EECF244321}">
                <p14:modId xmlns:p14="http://schemas.microsoft.com/office/powerpoint/2010/main" val="1874607699"/>
              </p:ext>
            </p:extLst>
          </p:nvPr>
        </p:nvGraphicFramePr>
        <p:xfrm>
          <a:off x="3502080" y="1482120"/>
          <a:ext cx="5521680" cy="13716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a:solidFill>
                            <a:srgbClr val="FFFFFF"/>
                          </a:solidFill>
                          <a:latin typeface="Arial"/>
                          <a:ea typeface="Arial"/>
                        </a:rPr>
                        <a:t>Model</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GB Baseline 21 feat</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71.5%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0.43</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73.7%</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0.81</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0.06</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GB + Lags 36 feat</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73.7%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0.47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78.8%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0.58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0.87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a:solidFill>
                            <a:srgbClr val="132238"/>
                          </a:solidFill>
                          <a:latin typeface="Calibri"/>
                          <a:ea typeface="Calibri"/>
                        </a:rPr>
                        <a:t>0.08</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300" b="1"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extLst>
                  <a:ext uri="{0D108BD9-81ED-4DB2-BD59-A6C34878D82A}">
                    <a16:rowId xmlns:a16="http://schemas.microsoft.com/office/drawing/2014/main" val="10002"/>
                  </a:ext>
                </a:extLst>
              </a:tr>
            </a:tbl>
          </a:graphicData>
        </a:graphic>
      </p:graphicFrame>
      <p:sp>
        <p:nvSpPr>
          <p:cNvPr id="647" name="Shape 25"/>
          <p:cNvSpPr/>
          <p:nvPr/>
        </p:nvSpPr>
        <p:spPr>
          <a:xfrm>
            <a:off x="9253800" y="1482120"/>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57" name="Shape 35"/>
          <p:cNvSpPr/>
          <p:nvPr/>
        </p:nvSpPr>
        <p:spPr>
          <a:xfrm>
            <a:off x="9528120" y="1998043"/>
            <a:ext cx="2322360" cy="292320"/>
          </a:xfrm>
          <a:prstGeom prst="roundRect">
            <a:avLst>
              <a:gd name="adj" fmla="val 15625"/>
            </a:avLst>
          </a:prstGeom>
          <a:solidFill>
            <a:srgbClr val="00D4AA">
              <a:alpha val="15000"/>
            </a:srgbClr>
          </a:solidFill>
          <a:ln w="1270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58" name="Text 36"/>
          <p:cNvSpPr/>
          <p:nvPr/>
        </p:nvSpPr>
        <p:spPr>
          <a:xfrm>
            <a:off x="9528120" y="1986353"/>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dirty="0">
                <a:solidFill>
                  <a:srgbClr val="00D4AA"/>
                </a:solidFill>
                <a:latin typeface="Arial"/>
                <a:ea typeface="Arial"/>
              </a:rPr>
              <a:t>GB + Lags  ✓  WINNER</a:t>
            </a:r>
            <a:endParaRPr lang="en-US" sz="1050" b="0" strike="noStrike" spc="-1" dirty="0">
              <a:solidFill>
                <a:srgbClr val="000000"/>
              </a:solidFill>
              <a:latin typeface="Arial"/>
            </a:endParaRPr>
          </a:p>
        </p:txBody>
      </p:sp>
      <p:sp>
        <p:nvSpPr>
          <p:cNvPr id="659" name="Text 37"/>
          <p:cNvSpPr/>
          <p:nvPr/>
        </p:nvSpPr>
        <p:spPr>
          <a:xfrm>
            <a:off x="9491760" y="2421214"/>
            <a:ext cx="2358720" cy="394163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LAGGED FEATURES = ["rsi_14", "</a:t>
            </a:r>
            <a:r>
              <a:rPr lang="en-US" sz="900" b="0" strike="noStrike" spc="-1" dirty="0" err="1">
                <a:solidFill>
                  <a:srgbClr val="A8BCCF"/>
                </a:solidFill>
                <a:latin typeface="Calibri"/>
                <a:ea typeface="Calibri"/>
              </a:rPr>
              <a:t>macd</a:t>
            </a:r>
            <a:r>
              <a:rPr lang="en-US" sz="900" b="0" strike="noStrike" spc="-1" dirty="0">
                <a:solidFill>
                  <a:srgbClr val="A8BCCF"/>
                </a:solidFill>
                <a:latin typeface="Calibri"/>
                <a:ea typeface="Calibri"/>
              </a:rPr>
              <a:t>", "volume", "volatility_21d", "price"]</a:t>
            </a:r>
          </a:p>
          <a:p>
            <a:pPr marL="171450" indent="-171450" defTabSz="457200">
              <a:lnSpc>
                <a:spcPct val="100000"/>
              </a:lnSpc>
              <a:buFont typeface="Arial" panose="020B0604020202020204" pitchFamily="34" charset="0"/>
              <a:buChar char="•"/>
              <a:tabLst>
                <a:tab pos="0" algn="l"/>
              </a:tabLst>
            </a:pPr>
            <a:endParaRPr lang="en-US" sz="900" b="0" strike="noStrike"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LAG DAYS     = [1, 2, 3]</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TOTAL NEW FEATURES : 15</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endParaRPr lang="en-US" sz="900" b="0" strike="noStrike" spc="-1" dirty="0">
              <a:solidFill>
                <a:srgbClr val="000000"/>
              </a:solidFill>
              <a:latin typeface="Arial"/>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This is the single biggest performance jump of the entire project +5.2% accuracy and +0.104 MCC.</a:t>
            </a: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Adding yesterday's RSI, price, MACD and volume tells GB how the signal was moving, not just where it stands today.</a:t>
            </a:r>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a:buFont typeface="Arial" panose="020B0604020202020204" pitchFamily="34" charset="0"/>
              <a:buChar char="•"/>
              <a:tabLst>
                <a:tab pos="0" algn="l"/>
              </a:tabLst>
            </a:pPr>
            <a:r>
              <a:rPr lang="en-US" sz="900" spc="-1" dirty="0">
                <a:solidFill>
                  <a:srgbClr val="A8BCCF"/>
                </a:solidFill>
                <a:latin typeface="Calibri"/>
                <a:ea typeface="Calibri"/>
              </a:rPr>
              <a:t>Gap increases slightly (0.06 → 0.08) but stays well within the 0.10 threshold.</a:t>
            </a:r>
            <a:endParaRPr lang="en-US" dirty="0"/>
          </a:p>
          <a:p>
            <a:pPr marL="171450" indent="-171450">
              <a:buFont typeface="Arial" panose="020B0604020202020204" pitchFamily="34" charset="0"/>
              <a:buChar char="•"/>
              <a:tabLst>
                <a:tab pos="0" algn="l"/>
              </a:tabLst>
            </a:pPr>
            <a:endParaRPr lang="en-US" sz="900" spc="-1" dirty="0">
              <a:solidFill>
                <a:srgbClr val="A8BCCF"/>
              </a:solidFill>
              <a:latin typeface="Calibri"/>
              <a:ea typeface="Calibri"/>
            </a:endParaRPr>
          </a:p>
          <a:p>
            <a:pPr>
              <a:tabLst>
                <a:tab pos="0" algn="l"/>
              </a:tabLst>
            </a:pPr>
            <a:endParaRPr lang="en-US" sz="900" spc="-1" dirty="0">
              <a:solidFill>
                <a:srgbClr val="A8BCCF"/>
              </a:solidFill>
              <a:latin typeface="Calibri"/>
              <a:ea typeface="Calibri"/>
            </a:endParaRPr>
          </a:p>
          <a:p>
            <a:pPr>
              <a:tabLst>
                <a:tab pos="0" algn="l"/>
              </a:tabLst>
            </a:pPr>
            <a:endParaRPr lang="en-US" sz="900" spc="-1" dirty="0">
              <a:solidFill>
                <a:srgbClr val="A8BCCF"/>
              </a:solidFill>
              <a:latin typeface="Calibri"/>
              <a:ea typeface="Calibri"/>
            </a:endParaRPr>
          </a:p>
          <a:p>
            <a:pPr>
              <a:tabLst>
                <a:tab pos="0" algn="l"/>
              </a:tabLst>
            </a:pPr>
            <a:endParaRPr lang="en-US" sz="900" spc="-1" dirty="0">
              <a:solidFill>
                <a:srgbClr val="A8BCCF"/>
              </a:solidFill>
              <a:latin typeface="Calibri"/>
              <a:ea typeface="Calibri"/>
            </a:endParaRPr>
          </a:p>
          <a:p>
            <a:pPr defTabSz="457200">
              <a:lnSpc>
                <a:spcPct val="100000"/>
              </a:lnSpc>
              <a:tabLst>
                <a:tab pos="0" algn="l"/>
              </a:tabLst>
            </a:pPr>
            <a:endParaRPr lang="en-US" sz="900" b="0" strike="noStrike" spc="-1" dirty="0">
              <a:solidFill>
                <a:srgbClr val="000000"/>
              </a:solidFill>
              <a:latin typeface="Arial"/>
            </a:endParaRPr>
          </a:p>
        </p:txBody>
      </p:sp>
      <p:sp>
        <p:nvSpPr>
          <p:cNvPr id="660"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61" name="Shape 39"/>
          <p:cNvSpPr/>
          <p:nvPr/>
        </p:nvSpPr>
        <p:spPr>
          <a:xfrm>
            <a:off x="255960" y="6464880"/>
            <a:ext cx="153971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62" name="Text 40"/>
          <p:cNvSpPr/>
          <p:nvPr/>
        </p:nvSpPr>
        <p:spPr>
          <a:xfrm>
            <a:off x="255960" y="6464880"/>
            <a:ext cx="153971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00" b="1" i="0" u="none" strike="noStrike" kern="1200" cap="none" spc="-1" normalizeH="0" baseline="0" noProof="0" dirty="0">
                <a:ln>
                  <a:noFill/>
                </a:ln>
                <a:solidFill>
                  <a:srgbClr val="FFFFFF"/>
                </a:solidFill>
                <a:effectLst/>
                <a:uLnTx/>
                <a:uFillTx/>
                <a:latin typeface="Calibri"/>
                <a:ea typeface="Calibri"/>
                <a:cs typeface="+mn-cs"/>
              </a:rPr>
              <a:t>★  S2 Regime-Aware Split  </a:t>
            </a:r>
            <a:endParaRPr kumimoji="0" lang="en-US" sz="1000" b="0" i="0" u="none" strike="noStrike" kern="1200" cap="none" spc="-1" normalizeH="0" baseline="0" noProof="0" dirty="0">
              <a:ln>
                <a:noFill/>
              </a:ln>
              <a:solidFill>
                <a:srgbClr val="000000"/>
              </a:solidFill>
              <a:effectLst/>
              <a:uLnTx/>
              <a:uFillTx/>
              <a:latin typeface="Arial"/>
              <a:ea typeface="+mn-ea"/>
              <a:cs typeface="+mn-cs"/>
            </a:endParaRPr>
          </a:p>
        </p:txBody>
      </p:sp>
      <p:sp>
        <p:nvSpPr>
          <p:cNvPr id="2" name="Shape 39">
            <a:extLst>
              <a:ext uri="{FF2B5EF4-FFF2-40B4-BE49-F238E27FC236}">
                <a16:creationId xmlns:a16="http://schemas.microsoft.com/office/drawing/2014/main" id="{819CDD24-E330-C034-71F7-30C6CE68D7DC}"/>
              </a:ext>
            </a:extLst>
          </p:cNvPr>
          <p:cNvSpPr/>
          <p:nvPr/>
        </p:nvSpPr>
        <p:spPr>
          <a:xfrm>
            <a:off x="1917720" y="6464880"/>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1" normalizeH="0" baseline="0" noProof="0">
                <a:ln>
                  <a:noFill/>
                </a:ln>
                <a:solidFill>
                  <a:srgbClr val="FFFFFF"/>
                </a:solidFill>
                <a:effectLst/>
                <a:uLnTx/>
                <a:uFillTx/>
                <a:latin typeface="Calibri"/>
                <a:ea typeface="Calibri"/>
                <a:cs typeface="+mn-cs"/>
              </a:rPr>
              <a:t>★  Gradient Boosting Tuned</a:t>
            </a:r>
            <a:endParaRPr kumimoji="0" lang="en-DE" sz="1000" b="1" i="0" u="none" strike="noStrike" kern="1200" cap="none" spc="-1" normalizeH="0" baseline="0" noProof="0" dirty="0">
              <a:ln>
                <a:noFill/>
              </a:ln>
              <a:solidFill>
                <a:srgbClr val="FFFFFF"/>
              </a:solidFill>
              <a:effectLst/>
              <a:uLnTx/>
              <a:uFillTx/>
              <a:latin typeface="Calibri"/>
              <a:ea typeface="Calibri"/>
              <a:cs typeface="+mn-cs"/>
            </a:endParaRPr>
          </a:p>
        </p:txBody>
      </p:sp>
      <p:sp>
        <p:nvSpPr>
          <p:cNvPr id="3" name="Shape 39">
            <a:extLst>
              <a:ext uri="{FF2B5EF4-FFF2-40B4-BE49-F238E27FC236}">
                <a16:creationId xmlns:a16="http://schemas.microsoft.com/office/drawing/2014/main" id="{628E8B7A-C14C-DD2A-CFFA-BBC1C42BE3DD}"/>
              </a:ext>
            </a:extLst>
          </p:cNvPr>
          <p:cNvSpPr/>
          <p:nvPr/>
        </p:nvSpPr>
        <p:spPr>
          <a:xfrm>
            <a:off x="3746520" y="6464700"/>
            <a:ext cx="1310967"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00" b="1" i="0" u="none" strike="noStrike" kern="1200" cap="none" spc="-1" normalizeH="0" baseline="0" noProof="0">
                <a:ln>
                  <a:noFill/>
                </a:ln>
                <a:solidFill>
                  <a:srgbClr val="FFFFFF"/>
                </a:solidFill>
                <a:effectLst/>
                <a:uLnTx/>
                <a:uFillTx/>
                <a:latin typeface="Calibri"/>
                <a:ea typeface="Calibri"/>
                <a:cs typeface="+mn-cs"/>
              </a:rPr>
              <a:t>★  Lags (36 features)</a:t>
            </a:r>
            <a:endParaRPr kumimoji="0" lang="en-US" sz="1000" b="0" i="0" u="none" strike="noStrike" kern="1200" cap="none" spc="-1" normalizeH="0" baseline="0" noProof="0" dirty="0">
              <a:ln>
                <a:noFill/>
              </a:ln>
              <a:solidFill>
                <a:srgbClr val="000000"/>
              </a:solidFill>
              <a:effectLst/>
              <a:uLnTx/>
              <a:uFillTx/>
              <a:latin typeface="Arial"/>
              <a:ea typeface="+mn-ea"/>
              <a:cs typeface="+mn-cs"/>
            </a:endParaRPr>
          </a:p>
        </p:txBody>
      </p:sp>
      <p:sp>
        <p:nvSpPr>
          <p:cNvPr id="6" name="Shape 39">
            <a:extLst>
              <a:ext uri="{FF2B5EF4-FFF2-40B4-BE49-F238E27FC236}">
                <a16:creationId xmlns:a16="http://schemas.microsoft.com/office/drawing/2014/main" id="{B5EA71FB-267F-81AC-9C1C-064E9ACD6D92}"/>
              </a:ext>
            </a:extLst>
          </p:cNvPr>
          <p:cNvSpPr/>
          <p:nvPr/>
        </p:nvSpPr>
        <p:spPr>
          <a:xfrm>
            <a:off x="10189452" y="6454906"/>
            <a:ext cx="1406199"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78.8%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63"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64"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65"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66"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dirty="0">
                <a:solidFill>
                  <a:srgbClr val="FFFFFF"/>
                </a:solidFill>
                <a:latin typeface="Arial"/>
                <a:ea typeface="Arial"/>
              </a:rPr>
              <a:t>EXP </a:t>
            </a:r>
            <a:r>
              <a:rPr lang="en-US" sz="1300" b="1" spc="-1" dirty="0">
                <a:solidFill>
                  <a:srgbClr val="FFFFFF"/>
                </a:solidFill>
                <a:latin typeface="Arial"/>
                <a:ea typeface="Arial"/>
              </a:rPr>
              <a:t>6</a:t>
            </a:r>
            <a:endParaRPr lang="en-US" sz="1300" b="0" strike="noStrike" spc="-1" dirty="0">
              <a:solidFill>
                <a:srgbClr val="000000"/>
              </a:solidFill>
              <a:latin typeface="Arial"/>
            </a:endParaRPr>
          </a:p>
        </p:txBody>
      </p:sp>
      <p:sp>
        <p:nvSpPr>
          <p:cNvPr id="667" name="Text 4"/>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a:solidFill>
                  <a:srgbClr val="FFFFFF"/>
                </a:solidFill>
                <a:latin typeface="Arial Black"/>
                <a:ea typeface="Arial Black"/>
              </a:rPr>
              <a:t>SHAP Feature Selection : Less Is More</a:t>
            </a:r>
            <a:endParaRPr lang="en-US" sz="2600" b="0" strike="noStrike" spc="-1">
              <a:solidFill>
                <a:srgbClr val="000000"/>
              </a:solidFill>
              <a:latin typeface="Arial"/>
            </a:endParaRPr>
          </a:p>
        </p:txBody>
      </p:sp>
      <p:sp>
        <p:nvSpPr>
          <p:cNvPr id="668"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69"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Split: S2 Regime-Aware (fixed)</a:t>
            </a:r>
            <a:endParaRPr lang="en-US" sz="1050" b="0" strike="noStrike" spc="-1">
              <a:solidFill>
                <a:srgbClr val="000000"/>
              </a:solidFill>
              <a:latin typeface="Arial"/>
            </a:endParaRPr>
          </a:p>
        </p:txBody>
      </p:sp>
      <p:sp>
        <p:nvSpPr>
          <p:cNvPr id="671"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dirty="0">
              <a:solidFill>
                <a:schemeClr val="dk1"/>
              </a:solidFill>
              <a:latin typeface="Rockwell"/>
            </a:endParaRPr>
          </a:p>
        </p:txBody>
      </p:sp>
      <p:sp>
        <p:nvSpPr>
          <p:cNvPr id="672"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FFFFFF"/>
                </a:solidFill>
                <a:latin typeface="Calibri"/>
                <a:ea typeface="Calibri"/>
              </a:rPr>
              <a:t>Model: GB </a:t>
            </a:r>
            <a:r>
              <a:rPr lang="en-US" sz="1050" b="0" strike="noStrike" spc="-1" dirty="0" err="1">
                <a:solidFill>
                  <a:srgbClr val="FFFFFF"/>
                </a:solidFill>
                <a:latin typeface="Calibri"/>
                <a:ea typeface="Calibri"/>
              </a:rPr>
              <a:t>Optuna</a:t>
            </a:r>
            <a:r>
              <a:rPr lang="en-US" sz="1050" b="0" strike="noStrike" spc="-1" dirty="0">
                <a:solidFill>
                  <a:srgbClr val="FFFFFF"/>
                </a:solidFill>
                <a:latin typeface="Calibri"/>
                <a:ea typeface="Calibri"/>
              </a:rPr>
              <a:t> Tuned (fixed)</a:t>
            </a:r>
            <a:endParaRPr lang="en-US" sz="1050" b="0" strike="noStrike" spc="-1" dirty="0">
              <a:solidFill>
                <a:srgbClr val="000000"/>
              </a:solidFill>
              <a:latin typeface="Arial"/>
            </a:endParaRPr>
          </a:p>
        </p:txBody>
      </p:sp>
      <p:sp>
        <p:nvSpPr>
          <p:cNvPr id="674" name="Shape 13"/>
          <p:cNvSpPr/>
          <p:nvPr/>
        </p:nvSpPr>
        <p:spPr>
          <a:xfrm>
            <a:off x="384120" y="2688480"/>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75" name="Text 14"/>
          <p:cNvSpPr/>
          <p:nvPr/>
        </p:nvSpPr>
        <p:spPr>
          <a:xfrm>
            <a:off x="384120" y="268848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a:solidFill>
                  <a:srgbClr val="FFFFFF"/>
                </a:solidFill>
                <a:latin typeface="Calibri"/>
                <a:ea typeface="Calibri"/>
              </a:rPr>
              <a:t>↕  VARIABLE: Feature count (SHAP)</a:t>
            </a:r>
            <a:endParaRPr lang="en-US" sz="1150" b="0" strike="noStrike" spc="-1">
              <a:solidFill>
                <a:srgbClr val="000000"/>
              </a:solidFill>
              <a:latin typeface="Arial"/>
            </a:endParaRPr>
          </a:p>
        </p:txBody>
      </p:sp>
      <p:sp>
        <p:nvSpPr>
          <p:cNvPr id="677" name="Shape 16"/>
          <p:cNvSpPr/>
          <p:nvPr/>
        </p:nvSpPr>
        <p:spPr>
          <a:xfrm>
            <a:off x="384120" y="329184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78" name="Text 17"/>
          <p:cNvSpPr/>
          <p:nvPr/>
        </p:nvSpPr>
        <p:spPr>
          <a:xfrm>
            <a:off x="384120" y="329184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132238"/>
                </a:solidFill>
                <a:latin typeface="Calibri"/>
                <a:ea typeface="Calibri"/>
              </a:rPr>
              <a:t>Top 10</a:t>
            </a:r>
            <a:endParaRPr lang="en-US" sz="1050" b="0" strike="noStrike" spc="-1" dirty="0">
              <a:solidFill>
                <a:srgbClr val="000000"/>
              </a:solidFill>
              <a:latin typeface="Arial"/>
            </a:endParaRPr>
          </a:p>
        </p:txBody>
      </p:sp>
      <p:sp>
        <p:nvSpPr>
          <p:cNvPr id="680" name="Shape 19"/>
          <p:cNvSpPr/>
          <p:nvPr/>
        </p:nvSpPr>
        <p:spPr>
          <a:xfrm>
            <a:off x="384120" y="3835566"/>
            <a:ext cx="2889000" cy="456840"/>
          </a:xfrm>
          <a:prstGeom prst="roundRect">
            <a:avLst>
              <a:gd name="adj" fmla="val 18000"/>
            </a:avLst>
          </a:prstGeom>
          <a:solidFill>
            <a:srgbClr val="00D4AA"/>
          </a:solidFill>
          <a:ln w="1905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81" name="Text 20"/>
          <p:cNvSpPr/>
          <p:nvPr/>
        </p:nvSpPr>
        <p:spPr>
          <a:xfrm>
            <a:off x="384120" y="3835566"/>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1" strike="noStrike" spc="-1" dirty="0">
                <a:solidFill>
                  <a:srgbClr val="FFFFFF"/>
                </a:solidFill>
                <a:latin typeface="Calibri"/>
                <a:ea typeface="Calibri"/>
              </a:rPr>
              <a:t>Top 20 SHAP  ✓</a:t>
            </a:r>
            <a:endParaRPr lang="en-US" sz="1050" b="0" strike="noStrike" spc="-1" dirty="0">
              <a:solidFill>
                <a:srgbClr val="000000"/>
              </a:solidFill>
              <a:latin typeface="Arial"/>
            </a:endParaRPr>
          </a:p>
        </p:txBody>
      </p:sp>
      <p:graphicFrame>
        <p:nvGraphicFramePr>
          <p:cNvPr id="685" name="Table 0"/>
          <p:cNvGraphicFramePr/>
          <p:nvPr>
            <p:extLst>
              <p:ext uri="{D42A27DB-BD31-4B8C-83A1-F6EECF244321}">
                <p14:modId xmlns:p14="http://schemas.microsoft.com/office/powerpoint/2010/main" val="314499260"/>
              </p:ext>
            </p:extLst>
          </p:nvPr>
        </p:nvGraphicFramePr>
        <p:xfrm>
          <a:off x="3502080" y="1482120"/>
          <a:ext cx="5521680" cy="27432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a:solidFill>
                            <a:srgbClr val="FFFFFF"/>
                          </a:solidFill>
                          <a:latin typeface="Arial"/>
                          <a:ea typeface="Arial"/>
                        </a:rPr>
                        <a:t>Model</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Top 10 SHAP</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74%</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78.8%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0.06</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300" b="0" strike="noStrike" spc="-1">
                          <a:solidFill>
                            <a:srgbClr val="F7931A"/>
                          </a:solidFill>
                          <a:latin typeface="Arial"/>
                          <a:ea typeface="Arial"/>
                        </a:rPr>
                        <a:t>✅</a:t>
                      </a:r>
                      <a:endParaRPr lang="en-US" sz="13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lang="en-US" sz="1000" b="1" strike="noStrike" spc="-1" dirty="0">
                          <a:solidFill>
                            <a:srgbClr val="132238"/>
                          </a:solidFill>
                          <a:latin typeface="Calibri"/>
                          <a:ea typeface="Calibri"/>
                        </a:rPr>
                        <a:t>Top 15 SHAP</a:t>
                      </a:r>
                      <a:endParaRPr lang="en-US" sz="1000" b="0" strike="noStrike" spc="-1" dirty="0">
                        <a:solidFill>
                          <a:srgbClr val="000000"/>
                        </a:solidFill>
                        <a:latin typeface="Arial"/>
                      </a:endParaRPr>
                    </a:p>
                    <a:p>
                      <a:pPr defTabSz="914400">
                        <a:lnSpc>
                          <a:spcPct val="100000"/>
                        </a:lnSpc>
                        <a:tabLst>
                          <a:tab pos="0" algn="l"/>
                        </a:tabLst>
                      </a:pPr>
                      <a:endParaRPr lang="en-US" sz="1000" b="0" strike="noStrike" spc="-1" dirty="0">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74%</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78.6%</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0.87</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0.08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0" algn="l"/>
                        </a:tabLst>
                        <a:defRPr/>
                      </a:pPr>
                      <a:r>
                        <a:rPr lang="en-US" sz="1300" b="1"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chemeClr val="tx1"/>
                    </a:solidFill>
                  </a:tcPr>
                </a:tc>
                <a:extLst>
                  <a:ext uri="{0D108BD9-81ED-4DB2-BD59-A6C34878D82A}">
                    <a16:rowId xmlns:a16="http://schemas.microsoft.com/office/drawing/2014/main" val="540496661"/>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Top 20 SHAP</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73%</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0.46</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80.1%</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0.60</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0.87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000" b="1" strike="noStrike" spc="-1" dirty="0">
                          <a:solidFill>
                            <a:srgbClr val="132238"/>
                          </a:solidFill>
                          <a:latin typeface="Calibri"/>
                          <a:ea typeface="Calibri"/>
                        </a:rPr>
                        <a:t>0.08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E6FBF5"/>
                    </a:solidFill>
                  </a:tcPr>
                </a:tc>
                <a:tc>
                  <a:txBody>
                    <a:bodyPr/>
                    <a:lstStyle/>
                    <a:p>
                      <a:pPr algn="ctr" defTabSz="914400">
                        <a:lnSpc>
                          <a:spcPct val="100000"/>
                        </a:lnSpc>
                        <a:tabLst>
                          <a:tab pos="0" algn="l"/>
                        </a:tabLst>
                      </a:pPr>
                      <a:r>
                        <a:rPr lang="en-US" sz="1300" b="1"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E6FBF5"/>
                    </a:solidFill>
                  </a:tcPr>
                </a:tc>
                <a:extLst>
                  <a:ext uri="{0D108BD9-81ED-4DB2-BD59-A6C34878D82A}">
                    <a16:rowId xmlns:a16="http://schemas.microsoft.com/office/drawing/2014/main" val="1000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lang="en-US" sz="1000" b="1" strike="noStrike" spc="-1" dirty="0">
                          <a:solidFill>
                            <a:srgbClr val="132238"/>
                          </a:solidFill>
                          <a:latin typeface="Calibri"/>
                          <a:ea typeface="Calibri"/>
                        </a:rPr>
                        <a:t>Top 25 SHAP</a:t>
                      </a:r>
                      <a:endParaRPr lang="en-US" sz="1000" b="0" strike="noStrike" spc="-1" dirty="0">
                        <a:solidFill>
                          <a:srgbClr val="000000"/>
                        </a:solidFill>
                        <a:latin typeface="Arial"/>
                      </a:endParaRPr>
                    </a:p>
                    <a:p>
                      <a:pPr defTabSz="914400">
                        <a:lnSpc>
                          <a:spcPct val="100000"/>
                        </a:lnSpc>
                        <a:tabLst>
                          <a:tab pos="0" algn="l"/>
                        </a:tabLst>
                      </a:pP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73.1%</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0.46</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79%</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0.08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tc>
                  <a:txBody>
                    <a:bodyPr/>
                    <a:lstStyle/>
                    <a:p>
                      <a:pPr algn="ctr" defTabSz="914400">
                        <a:lnSpc>
                          <a:spcPct val="100000"/>
                        </a:lnSpc>
                        <a:tabLst>
                          <a:tab pos="0" algn="l"/>
                        </a:tabLst>
                      </a:pPr>
                      <a:r>
                        <a:rPr lang="en-US" sz="1300" b="0" strike="noStrike" spc="-1" dirty="0">
                          <a:solidFill>
                            <a:srgbClr val="8A9BB0"/>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cap="flat" cmpd="sng" algn="ctr">
                      <a:solidFill>
                        <a:srgbClr val="DDE2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lang="en-US" sz="1000" b="1" strike="noStrike" spc="-1" dirty="0">
                          <a:solidFill>
                            <a:srgbClr val="132238"/>
                          </a:solidFill>
                          <a:latin typeface="Calibri"/>
                          <a:ea typeface="Calibri"/>
                        </a:rPr>
                        <a:t>Top 30  SHAP</a:t>
                      </a:r>
                      <a:endParaRPr lang="en-US" sz="1000" b="0" strike="noStrike" spc="-1" dirty="0">
                        <a:solidFill>
                          <a:srgbClr val="000000"/>
                        </a:solidFill>
                        <a:latin typeface="Arial"/>
                      </a:endParaRPr>
                    </a:p>
                    <a:p>
                      <a:pPr defTabSz="914400">
                        <a:lnSpc>
                          <a:spcPct val="100000"/>
                        </a:lnSpc>
                        <a:tabLst>
                          <a:tab pos="0" algn="l"/>
                        </a:tabLst>
                      </a:pPr>
                      <a:endParaRPr lang="en-US" sz="1000" b="0" strike="noStrike" spc="-1" dirty="0">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73.7%</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0.47</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0.87</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0.08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a:solidFill>
                        <a:srgbClr val="DDE2E8"/>
                      </a:solidFill>
                      <a:prstDash val="solid"/>
                    </a:lnT>
                    <a:lnB w="6480">
                      <a:solidFill>
                        <a:srgbClr val="DDE2E8"/>
                      </a:solidFill>
                      <a:prstDash val="solid"/>
                    </a:lnB>
                    <a:solidFill>
                      <a:srgbClr val="FFFF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0" algn="l"/>
                        </a:tabLst>
                        <a:defRPr/>
                      </a:pPr>
                      <a:r>
                        <a:rPr lang="en-US" sz="1300" b="1"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extLst>
                  <a:ext uri="{0D108BD9-81ED-4DB2-BD59-A6C34878D82A}">
                    <a16:rowId xmlns:a16="http://schemas.microsoft.com/office/drawing/2014/main" val="2615013078"/>
                  </a:ext>
                </a:extLst>
              </a:tr>
            </a:tbl>
          </a:graphicData>
        </a:graphic>
      </p:graphicFrame>
      <p:sp>
        <p:nvSpPr>
          <p:cNvPr id="686" name="Shape 25"/>
          <p:cNvSpPr/>
          <p:nvPr/>
        </p:nvSpPr>
        <p:spPr>
          <a:xfrm>
            <a:off x="9253800" y="1481400"/>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96" name="Shape 35"/>
          <p:cNvSpPr/>
          <p:nvPr/>
        </p:nvSpPr>
        <p:spPr>
          <a:xfrm>
            <a:off x="9519008" y="1921680"/>
            <a:ext cx="2322360" cy="292320"/>
          </a:xfrm>
          <a:prstGeom prst="roundRect">
            <a:avLst>
              <a:gd name="adj" fmla="val 15625"/>
            </a:avLst>
          </a:prstGeom>
          <a:solidFill>
            <a:srgbClr val="00D4AA">
              <a:alpha val="15000"/>
            </a:srgbClr>
          </a:solidFill>
          <a:ln w="12700">
            <a:solidFill>
              <a:srgbClr val="00D4A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697" name="Text 36"/>
          <p:cNvSpPr/>
          <p:nvPr/>
        </p:nvSpPr>
        <p:spPr>
          <a:xfrm>
            <a:off x="9486870" y="1909398"/>
            <a:ext cx="235872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1050" b="1" strike="noStrike" spc="-1" dirty="0">
                <a:solidFill>
                  <a:srgbClr val="00D4AA"/>
                </a:solidFill>
                <a:latin typeface="Arial"/>
                <a:ea typeface="Arial"/>
              </a:rPr>
              <a:t>Top 20 SHAP  ✓  WINNER</a:t>
            </a:r>
            <a:endParaRPr lang="en-US" sz="1050" b="0" strike="noStrike" spc="-1" dirty="0">
              <a:solidFill>
                <a:srgbClr val="000000"/>
              </a:solidFill>
              <a:latin typeface="Arial"/>
            </a:endParaRPr>
          </a:p>
        </p:txBody>
      </p:sp>
      <p:sp>
        <p:nvSpPr>
          <p:cNvPr id="698" name="Text 37"/>
          <p:cNvSpPr/>
          <p:nvPr/>
        </p:nvSpPr>
        <p:spPr>
          <a:xfrm>
            <a:off x="9445860" y="2399204"/>
            <a:ext cx="2358720" cy="304047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Top 20 wins test MCC decisively (+0.024 over full 36) and crosses 80% accuracy for the first time.</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Removing 16 noisy features gives GB a cleaner decision surface. </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Note that </a:t>
            </a:r>
            <a:r>
              <a:rPr lang="en-US" sz="900" b="0" strike="noStrike" spc="-1" dirty="0" err="1">
                <a:solidFill>
                  <a:srgbClr val="A8BCCF"/>
                </a:solidFill>
                <a:latin typeface="Calibri"/>
                <a:ea typeface="Calibri"/>
              </a:rPr>
              <a:t>val</a:t>
            </a:r>
            <a:r>
              <a:rPr lang="en-US" sz="900" b="0" strike="noStrike" spc="-1" dirty="0">
                <a:solidFill>
                  <a:srgbClr val="A8BCCF"/>
                </a:solidFill>
                <a:latin typeface="Calibri"/>
                <a:ea typeface="Calibri"/>
              </a:rPr>
              <a:t> and test rankings are inverted (Top 10 wins </a:t>
            </a:r>
            <a:r>
              <a:rPr lang="en-US" sz="900" b="0" strike="noStrike" spc="-1" dirty="0" err="1">
                <a:solidFill>
                  <a:srgbClr val="A8BCCF"/>
                </a:solidFill>
                <a:latin typeface="Calibri"/>
                <a:ea typeface="Calibri"/>
              </a:rPr>
              <a:t>val</a:t>
            </a:r>
            <a:r>
              <a:rPr lang="en-US" sz="900" b="0" strike="noStrike" spc="-1" dirty="0">
                <a:solidFill>
                  <a:srgbClr val="A8BCCF"/>
                </a:solidFill>
                <a:latin typeface="Calibri"/>
                <a:ea typeface="Calibri"/>
              </a:rPr>
              <a:t>, Top 20 wins test)  </a:t>
            </a: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endParaRPr lang="en-US" sz="900" b="0" strike="noStrike"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spc="-1" dirty="0">
                <a:solidFill>
                  <a:srgbClr val="A8BCCF"/>
                </a:solidFill>
                <a:latin typeface="Calibri"/>
                <a:ea typeface="Calibri"/>
              </a:rPr>
              <a:t>R</a:t>
            </a:r>
            <a:r>
              <a:rPr lang="en-US" sz="900" b="0" strike="noStrike" spc="-1" dirty="0">
                <a:solidFill>
                  <a:srgbClr val="A8BCCF"/>
                </a:solidFill>
                <a:latin typeface="Calibri"/>
                <a:ea typeface="Calibri"/>
              </a:rPr>
              <a:t>eminder :  validation set ≠ test set in regime-shift scenarios. </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RSI appears 4 times in the top 20 (rsi_14, lag1, lag2, lag3)</a:t>
            </a:r>
          </a:p>
          <a:p>
            <a:pPr marL="171450" indent="-171450" defTabSz="457200">
              <a:lnSpc>
                <a:spcPct val="100000"/>
              </a:lnSpc>
              <a:buFont typeface="Arial" panose="020B0604020202020204" pitchFamily="34" charset="0"/>
              <a:buChar char="•"/>
              <a:tabLst>
                <a:tab pos="0" algn="l"/>
              </a:tabLst>
            </a:pPr>
            <a:endParaRPr lang="en-US" sz="900"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GB has learned that the 3-day RSI trajectory is the core predictive signal for BTC.</a:t>
            </a:r>
          </a:p>
          <a:p>
            <a:pPr marL="171450" indent="-171450" defTabSz="457200">
              <a:lnSpc>
                <a:spcPct val="100000"/>
              </a:lnSpc>
              <a:buFont typeface="Arial" panose="020B0604020202020204" pitchFamily="34" charset="0"/>
              <a:buChar char="•"/>
              <a:tabLst>
                <a:tab pos="0" algn="l"/>
              </a:tabLst>
            </a:pPr>
            <a:endParaRPr lang="en-US" sz="900" b="0" strike="noStrike" spc="-1" dirty="0">
              <a:solidFill>
                <a:srgbClr val="A8BCCF"/>
              </a:solidFill>
              <a:latin typeface="Calibri"/>
              <a:ea typeface="Calibri"/>
            </a:endParaRPr>
          </a:p>
          <a:p>
            <a:pPr marL="171450" indent="-171450" defTabSz="457200">
              <a:lnSpc>
                <a:spcPct val="100000"/>
              </a:lnSpc>
              <a:buFont typeface="Arial" panose="020B0604020202020204" pitchFamily="34" charset="0"/>
              <a:buChar char="•"/>
              <a:tabLst>
                <a:tab pos="0" algn="l"/>
              </a:tabLst>
            </a:pPr>
            <a:r>
              <a:rPr lang="en-US" sz="900" b="0" strike="noStrike" spc="-1" dirty="0">
                <a:solidFill>
                  <a:srgbClr val="A8BCCF"/>
                </a:solidFill>
                <a:latin typeface="Calibri"/>
                <a:ea typeface="Calibri"/>
              </a:rPr>
              <a:t>Decision → Top 20 SHAP features locked as FEATURES_FINAL.</a:t>
            </a:r>
            <a:endParaRPr lang="en-US" sz="900" b="0" strike="noStrike" spc="-1" dirty="0">
              <a:solidFill>
                <a:srgbClr val="000000"/>
              </a:solidFill>
              <a:latin typeface="Arial"/>
            </a:endParaRPr>
          </a:p>
        </p:txBody>
      </p:sp>
      <p:sp>
        <p:nvSpPr>
          <p:cNvPr id="699"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3" name="Shape 39">
            <a:extLst>
              <a:ext uri="{FF2B5EF4-FFF2-40B4-BE49-F238E27FC236}">
                <a16:creationId xmlns:a16="http://schemas.microsoft.com/office/drawing/2014/main" id="{EBEACBB3-4703-38EB-0700-AA224B947241}"/>
              </a:ext>
            </a:extLst>
          </p:cNvPr>
          <p:cNvSpPr/>
          <p:nvPr/>
        </p:nvSpPr>
        <p:spPr>
          <a:xfrm>
            <a:off x="1917720" y="6464880"/>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1" normalizeH="0" baseline="0" noProof="0">
                <a:ln>
                  <a:noFill/>
                </a:ln>
                <a:solidFill>
                  <a:srgbClr val="FFFFFF"/>
                </a:solidFill>
                <a:effectLst/>
                <a:uLnTx/>
                <a:uFillTx/>
                <a:latin typeface="Calibri"/>
                <a:ea typeface="Calibri"/>
                <a:cs typeface="+mn-cs"/>
              </a:rPr>
              <a:t>★  Gradient Boosting Tuned</a:t>
            </a:r>
            <a:endParaRPr kumimoji="0" lang="en-DE" sz="1000" b="1" i="0" u="none" strike="noStrike" kern="1200" cap="none" spc="-1" normalizeH="0" baseline="0" noProof="0" dirty="0">
              <a:ln>
                <a:noFill/>
              </a:ln>
              <a:solidFill>
                <a:srgbClr val="FFFFFF"/>
              </a:solidFill>
              <a:effectLst/>
              <a:uLnTx/>
              <a:uFillTx/>
              <a:latin typeface="Calibri"/>
              <a:ea typeface="Calibri"/>
              <a:cs typeface="+mn-cs"/>
            </a:endParaRPr>
          </a:p>
        </p:txBody>
      </p:sp>
      <p:sp>
        <p:nvSpPr>
          <p:cNvPr id="4" name="Shape 39">
            <a:extLst>
              <a:ext uri="{FF2B5EF4-FFF2-40B4-BE49-F238E27FC236}">
                <a16:creationId xmlns:a16="http://schemas.microsoft.com/office/drawing/2014/main" id="{2C8B0C97-2C2E-6CB4-29F7-A6608C90462A}"/>
              </a:ext>
            </a:extLst>
          </p:cNvPr>
          <p:cNvSpPr/>
          <p:nvPr/>
        </p:nvSpPr>
        <p:spPr>
          <a:xfrm>
            <a:off x="3746520" y="6464700"/>
            <a:ext cx="1310967"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00" b="1" i="0" u="none" strike="noStrike" kern="1200" cap="none" spc="-1" normalizeH="0" baseline="0" noProof="0" dirty="0">
                <a:ln>
                  <a:noFill/>
                </a:ln>
                <a:solidFill>
                  <a:srgbClr val="FFFFFF"/>
                </a:solidFill>
                <a:effectLst/>
                <a:uLnTx/>
                <a:uFillTx/>
                <a:latin typeface="Calibri"/>
                <a:ea typeface="Calibri"/>
                <a:cs typeface="+mn-cs"/>
              </a:rPr>
              <a:t>★ Top 20 SHAP</a:t>
            </a:r>
            <a:endParaRPr kumimoji="0" lang="en-US" sz="1000" b="0" i="0" u="none" strike="noStrike" kern="1200" cap="none" spc="-1" normalizeH="0" baseline="0" noProof="0" dirty="0">
              <a:ln>
                <a:noFill/>
              </a:ln>
              <a:solidFill>
                <a:srgbClr val="000000"/>
              </a:solidFill>
              <a:effectLst/>
              <a:uLnTx/>
              <a:uFillTx/>
              <a:latin typeface="Arial"/>
              <a:ea typeface="+mn-ea"/>
              <a:cs typeface="+mn-cs"/>
            </a:endParaRPr>
          </a:p>
        </p:txBody>
      </p:sp>
      <p:sp>
        <p:nvSpPr>
          <p:cNvPr id="6" name="Shape 39">
            <a:extLst>
              <a:ext uri="{FF2B5EF4-FFF2-40B4-BE49-F238E27FC236}">
                <a16:creationId xmlns:a16="http://schemas.microsoft.com/office/drawing/2014/main" id="{884BAAAA-B331-F447-7B70-AE3CDA3294F7}"/>
              </a:ext>
            </a:extLst>
          </p:cNvPr>
          <p:cNvSpPr/>
          <p:nvPr/>
        </p:nvSpPr>
        <p:spPr>
          <a:xfrm>
            <a:off x="82114" y="6469132"/>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lvl="0" algn="ctr">
              <a:tabLst>
                <a:tab pos="0" algn="l"/>
              </a:tabLst>
              <a:defRPr/>
            </a:pPr>
            <a:r>
              <a:rPr lang="en-US" sz="1000" b="1" spc="-1" dirty="0">
                <a:solidFill>
                  <a:srgbClr val="FFFFFF"/>
                </a:solidFill>
                <a:latin typeface="Calibri"/>
                <a:ea typeface="Calibri"/>
              </a:rPr>
              <a:t>★  S2 Regime-Aware Split  </a:t>
            </a:r>
            <a:endParaRPr lang="en-US" sz="1000" spc="-1" dirty="0">
              <a:solidFill>
                <a:srgbClr val="000000"/>
              </a:solidFill>
              <a:latin typeface="Arial"/>
            </a:endParaRPr>
          </a:p>
        </p:txBody>
      </p:sp>
      <p:sp>
        <p:nvSpPr>
          <p:cNvPr id="8" name="Shape 16">
            <a:extLst>
              <a:ext uri="{FF2B5EF4-FFF2-40B4-BE49-F238E27FC236}">
                <a16:creationId xmlns:a16="http://schemas.microsoft.com/office/drawing/2014/main" id="{6C0890D3-1486-0B65-3C2B-905DC524EB97}"/>
              </a:ext>
            </a:extLst>
          </p:cNvPr>
          <p:cNvSpPr/>
          <p:nvPr/>
        </p:nvSpPr>
        <p:spPr>
          <a:xfrm>
            <a:off x="384120" y="440871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50" b="0" i="0" u="none" strike="noStrike" kern="1200" cap="none" spc="-1" normalizeH="0" baseline="0" noProof="0" dirty="0">
                <a:ln>
                  <a:noFill/>
                </a:ln>
                <a:solidFill>
                  <a:srgbClr val="132238"/>
                </a:solidFill>
                <a:effectLst/>
                <a:uLnTx/>
                <a:uFillTx/>
                <a:latin typeface="Calibri"/>
                <a:ea typeface="Calibri"/>
                <a:cs typeface="+mn-cs"/>
              </a:rPr>
              <a:t>Top 15</a:t>
            </a:r>
            <a:endParaRPr kumimoji="0" lang="en-US" sz="1050" b="0" i="0" u="none" strike="noStrike" kern="1200" cap="none" spc="-1" normalizeH="0" baseline="0" noProof="0" dirty="0">
              <a:ln>
                <a:noFill/>
              </a:ln>
              <a:solidFill>
                <a:srgbClr val="000000"/>
              </a:solidFill>
              <a:effectLst/>
              <a:uLnTx/>
              <a:uFillTx/>
              <a:latin typeface="Arial"/>
              <a:ea typeface="+mn-ea"/>
              <a:cs typeface="+mn-cs"/>
            </a:endParaRPr>
          </a:p>
        </p:txBody>
      </p:sp>
      <p:sp>
        <p:nvSpPr>
          <p:cNvPr id="9" name="Shape 16">
            <a:extLst>
              <a:ext uri="{FF2B5EF4-FFF2-40B4-BE49-F238E27FC236}">
                <a16:creationId xmlns:a16="http://schemas.microsoft.com/office/drawing/2014/main" id="{901B0760-4176-E6AC-F119-6EBA40750F16}"/>
              </a:ext>
            </a:extLst>
          </p:cNvPr>
          <p:cNvSpPr/>
          <p:nvPr/>
        </p:nvSpPr>
        <p:spPr>
          <a:xfrm>
            <a:off x="384120" y="5011895"/>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50" b="0" i="0" u="none" strike="noStrike" kern="1200" cap="none" spc="-1" normalizeH="0" baseline="0" noProof="0" dirty="0">
                <a:ln>
                  <a:noFill/>
                </a:ln>
                <a:solidFill>
                  <a:srgbClr val="132238"/>
                </a:solidFill>
                <a:effectLst/>
                <a:uLnTx/>
                <a:uFillTx/>
                <a:latin typeface="Calibri"/>
                <a:ea typeface="Calibri"/>
                <a:cs typeface="+mn-cs"/>
              </a:rPr>
              <a:t>Top 25</a:t>
            </a:r>
            <a:endParaRPr kumimoji="0" lang="en-US" sz="1050" b="0" i="0" u="none" strike="noStrike" kern="1200" cap="none" spc="-1" normalizeH="0" baseline="0" noProof="0" dirty="0">
              <a:ln>
                <a:noFill/>
              </a:ln>
              <a:solidFill>
                <a:srgbClr val="000000"/>
              </a:solidFill>
              <a:effectLst/>
              <a:uLnTx/>
              <a:uFillTx/>
              <a:latin typeface="Arial"/>
              <a:ea typeface="+mn-ea"/>
              <a:cs typeface="+mn-cs"/>
            </a:endParaRPr>
          </a:p>
        </p:txBody>
      </p:sp>
      <p:sp>
        <p:nvSpPr>
          <p:cNvPr id="10" name="Shape 16">
            <a:extLst>
              <a:ext uri="{FF2B5EF4-FFF2-40B4-BE49-F238E27FC236}">
                <a16:creationId xmlns:a16="http://schemas.microsoft.com/office/drawing/2014/main" id="{009AD73C-E670-165B-BB00-EB57C1DD76F3}"/>
              </a:ext>
            </a:extLst>
          </p:cNvPr>
          <p:cNvSpPr/>
          <p:nvPr/>
        </p:nvSpPr>
        <p:spPr>
          <a:xfrm>
            <a:off x="384120" y="5626777"/>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50" b="0" i="0" u="none" strike="noStrike" kern="1200" cap="none" spc="-1" normalizeH="0" baseline="0" noProof="0" dirty="0">
                <a:ln>
                  <a:noFill/>
                </a:ln>
                <a:solidFill>
                  <a:srgbClr val="132238"/>
                </a:solidFill>
                <a:effectLst/>
                <a:uLnTx/>
                <a:uFillTx/>
                <a:latin typeface="Calibri"/>
                <a:ea typeface="Calibri"/>
                <a:cs typeface="+mn-cs"/>
              </a:rPr>
              <a:t>Top 30</a:t>
            </a:r>
            <a:endParaRPr kumimoji="0" lang="en-US" sz="1050" b="0" i="0" u="none" strike="noStrike" kern="1200" cap="none" spc="-1" normalizeH="0" baseline="0" noProof="0" dirty="0">
              <a:ln>
                <a:noFill/>
              </a:ln>
              <a:solidFill>
                <a:srgbClr val="000000"/>
              </a:solidFill>
              <a:effectLst/>
              <a:uLnTx/>
              <a:uFillTx/>
              <a:latin typeface="Arial"/>
              <a:ea typeface="+mn-ea"/>
              <a:cs typeface="+mn-cs"/>
            </a:endParaRPr>
          </a:p>
        </p:txBody>
      </p:sp>
      <p:sp>
        <p:nvSpPr>
          <p:cNvPr id="11" name="Shape 39">
            <a:extLst>
              <a:ext uri="{FF2B5EF4-FFF2-40B4-BE49-F238E27FC236}">
                <a16:creationId xmlns:a16="http://schemas.microsoft.com/office/drawing/2014/main" id="{9BED13EE-863C-F049-0691-CEAEC941AAF8}"/>
              </a:ext>
            </a:extLst>
          </p:cNvPr>
          <p:cNvSpPr/>
          <p:nvPr/>
        </p:nvSpPr>
        <p:spPr>
          <a:xfrm>
            <a:off x="10189452" y="6454906"/>
            <a:ext cx="1406199"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80,1%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741"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42"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43"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44"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dirty="0">
                <a:solidFill>
                  <a:srgbClr val="FFFFFF"/>
                </a:solidFill>
                <a:latin typeface="Arial"/>
                <a:ea typeface="Arial"/>
              </a:rPr>
              <a:t>EXP </a:t>
            </a:r>
            <a:r>
              <a:rPr lang="en-US" sz="1300" b="1" spc="-1" dirty="0">
                <a:solidFill>
                  <a:srgbClr val="FFFFFF"/>
                </a:solidFill>
                <a:latin typeface="Arial"/>
                <a:ea typeface="Arial"/>
              </a:rPr>
              <a:t>7</a:t>
            </a:r>
            <a:endParaRPr lang="en-US" sz="1300" b="0" strike="noStrike" spc="-1" dirty="0">
              <a:solidFill>
                <a:srgbClr val="000000"/>
              </a:solidFill>
              <a:latin typeface="Arial"/>
            </a:endParaRPr>
          </a:p>
        </p:txBody>
      </p:sp>
      <p:sp>
        <p:nvSpPr>
          <p:cNvPr id="745" name="Text 4"/>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a:solidFill>
                  <a:srgbClr val="FFFFFF"/>
                </a:solidFill>
                <a:latin typeface="Arial Black"/>
                <a:ea typeface="Arial Black"/>
              </a:rPr>
              <a:t>Calibration Test : Are Probabilities Trustworthy?</a:t>
            </a:r>
            <a:endParaRPr lang="en-US" sz="2600" b="0" strike="noStrike" spc="-1">
              <a:solidFill>
                <a:srgbClr val="000000"/>
              </a:solidFill>
              <a:latin typeface="Arial"/>
            </a:endParaRPr>
          </a:p>
        </p:txBody>
      </p:sp>
      <p:sp>
        <p:nvSpPr>
          <p:cNvPr id="746"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47"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Split: S2 Regime-Aware (fixed)</a:t>
            </a:r>
            <a:endParaRPr lang="en-US" sz="1050" b="0" strike="noStrike" spc="-1">
              <a:solidFill>
                <a:srgbClr val="000000"/>
              </a:solidFill>
              <a:latin typeface="Arial"/>
            </a:endParaRPr>
          </a:p>
        </p:txBody>
      </p:sp>
      <p:sp>
        <p:nvSpPr>
          <p:cNvPr id="749"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50"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FFFFFF"/>
                </a:solidFill>
                <a:latin typeface="Calibri"/>
                <a:ea typeface="Calibri"/>
              </a:rPr>
              <a:t>Features: Top 20 SHAP (fixed)</a:t>
            </a:r>
            <a:endParaRPr lang="en-US" sz="1050" b="0" strike="noStrike" spc="-1" dirty="0">
              <a:solidFill>
                <a:srgbClr val="000000"/>
              </a:solidFill>
              <a:latin typeface="Arial"/>
            </a:endParaRPr>
          </a:p>
        </p:txBody>
      </p:sp>
      <p:sp>
        <p:nvSpPr>
          <p:cNvPr id="752" name="Shape 13"/>
          <p:cNvSpPr/>
          <p:nvPr/>
        </p:nvSpPr>
        <p:spPr>
          <a:xfrm>
            <a:off x="384120" y="3205313"/>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53" name="Text 14"/>
          <p:cNvSpPr/>
          <p:nvPr/>
        </p:nvSpPr>
        <p:spPr>
          <a:xfrm>
            <a:off x="384120" y="3205308"/>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dirty="0">
                <a:solidFill>
                  <a:srgbClr val="FFFFFF"/>
                </a:solidFill>
                <a:latin typeface="Calibri"/>
                <a:ea typeface="Calibri"/>
              </a:rPr>
              <a:t>↕  VARIABLE: Calibration method</a:t>
            </a:r>
            <a:endParaRPr lang="en-US" sz="1150" b="0" strike="noStrike" spc="-1" dirty="0">
              <a:solidFill>
                <a:srgbClr val="000000"/>
              </a:solidFill>
              <a:latin typeface="Arial"/>
            </a:endParaRPr>
          </a:p>
        </p:txBody>
      </p:sp>
      <p:sp>
        <p:nvSpPr>
          <p:cNvPr id="755" name="Shape 16"/>
          <p:cNvSpPr/>
          <p:nvPr/>
        </p:nvSpPr>
        <p:spPr>
          <a:xfrm>
            <a:off x="384120" y="3808673"/>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56" name="Text 17"/>
          <p:cNvSpPr/>
          <p:nvPr/>
        </p:nvSpPr>
        <p:spPr>
          <a:xfrm>
            <a:off x="384120" y="3815298"/>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132238"/>
                </a:solidFill>
                <a:latin typeface="Calibri"/>
                <a:ea typeface="Calibri"/>
              </a:rPr>
              <a:t>Sigmoid</a:t>
            </a:r>
            <a:endParaRPr lang="en-US" sz="1050" b="0" strike="noStrike" spc="-1" dirty="0">
              <a:solidFill>
                <a:srgbClr val="000000"/>
              </a:solidFill>
              <a:latin typeface="Arial"/>
            </a:endParaRPr>
          </a:p>
        </p:txBody>
      </p:sp>
      <p:graphicFrame>
        <p:nvGraphicFramePr>
          <p:cNvPr id="763" name="Table 0"/>
          <p:cNvGraphicFramePr/>
          <p:nvPr>
            <p:extLst>
              <p:ext uri="{D42A27DB-BD31-4B8C-83A1-F6EECF244321}">
                <p14:modId xmlns:p14="http://schemas.microsoft.com/office/powerpoint/2010/main" val="875146743"/>
              </p:ext>
            </p:extLst>
          </p:nvPr>
        </p:nvGraphicFramePr>
        <p:xfrm>
          <a:off x="3502080" y="1482120"/>
          <a:ext cx="5521680" cy="13716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a:solidFill>
                            <a:srgbClr val="FFFFFF"/>
                          </a:solidFill>
                          <a:latin typeface="Arial"/>
                          <a:ea typeface="Arial"/>
                        </a:rPr>
                        <a:t>Model</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GB Sigmoid</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73.2%</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0.09</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a:solidFill>
                            <a:srgbClr val="F7931A"/>
                          </a:solidFill>
                          <a:latin typeface="Arial"/>
                          <a:ea typeface="Arial"/>
                        </a:rPr>
                        <a:t>✅</a:t>
                      </a:r>
                      <a:endParaRPr lang="en-US" sz="13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GB Isotonic</a:t>
                      </a:r>
                      <a:endParaRPr lang="en-US" sz="1000" b="0" strike="noStrike" spc="-1">
                        <a:solidFill>
                          <a:srgbClr val="000000"/>
                        </a:solidFill>
                        <a:latin typeface="Arial"/>
                      </a:endParaRPr>
                    </a:p>
                  </a:txBody>
                  <a:tcPr anchor="ctr">
                    <a:lnL w="6480">
                      <a:solidFill>
                        <a:srgbClr val="DDE2E8"/>
                      </a:solidFill>
                      <a:prstDash val="soli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73.8%</a:t>
                      </a:r>
                      <a:endParaRPr lang="en-US" sz="1000" b="0" strike="noStrike" spc="-1">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0.46</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78%</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0.57</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0.86</a:t>
                      </a:r>
                      <a:endParaRPr lang="en-US" sz="10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0.09</a:t>
                      </a:r>
                      <a:endParaRPr lang="en-US" sz="1000" b="0" strike="noStrike" spc="-1">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cap="flat" cmpd="sng" algn="ctr">
                      <a:solidFill>
                        <a:srgbClr val="DDE2E8"/>
                      </a:solidFill>
                      <a:prstDash val="solid"/>
                      <a:round/>
                      <a:headEnd type="none" w="med" len="med"/>
                      <a:tailEnd type="none" w="med" len="me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dirty="0">
                          <a:solidFill>
                            <a:srgbClr val="8A9BB0"/>
                          </a:solidFill>
                          <a:latin typeface="Arial"/>
                          <a:ea typeface="Arial"/>
                        </a:rPr>
                        <a:t>✅</a:t>
                      </a:r>
                      <a:endParaRPr lang="en-US" sz="1300" b="0" strike="noStrike" spc="-1" dirty="0">
                        <a:solidFill>
                          <a:srgbClr val="000000"/>
                        </a:solidFill>
                        <a:latin typeface="Arial"/>
                      </a:endParaRPr>
                    </a:p>
                  </a:txBody>
                  <a:tcPr anchor="ctr">
                    <a:lnL w="6480" cap="flat" cmpd="sng" algn="ctr">
                      <a:solidFill>
                        <a:srgbClr val="DDE2E8"/>
                      </a:solidFill>
                      <a:prstDash val="solid"/>
                      <a:round/>
                      <a:headEnd type="none" w="med" len="med"/>
                      <a:tailEnd type="none" w="med" len="med"/>
                    </a:lnL>
                    <a:lnR w="6480">
                      <a:solidFill>
                        <a:srgbClr val="DDE2E8"/>
                      </a:solidFill>
                      <a:prstDash val="solid"/>
                    </a:lnR>
                    <a:lnT w="6480" cap="flat" cmpd="sng" algn="ctr">
                      <a:solidFill>
                        <a:srgbClr val="DDE2E8"/>
                      </a:solidFill>
                      <a:prstDash val="solid"/>
                      <a:round/>
                      <a:headEnd type="none" w="med" len="med"/>
                      <a:tailEnd type="none" w="med" len="med"/>
                    </a:lnT>
                    <a:lnB w="6480">
                      <a:solidFill>
                        <a:srgbClr val="DDE2E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764" name="Shape 25"/>
          <p:cNvSpPr/>
          <p:nvPr/>
        </p:nvSpPr>
        <p:spPr>
          <a:xfrm>
            <a:off x="9253800" y="1482120"/>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US" sz="900" spc="-1" dirty="0">
              <a:solidFill>
                <a:srgbClr val="A8BCCF"/>
              </a:solidFill>
              <a:latin typeface="Calibri"/>
              <a:ea typeface="Calibri"/>
            </a:endParaRPr>
          </a:p>
          <a:p>
            <a:pPr defTabSz="457200">
              <a:lnSpc>
                <a:spcPct val="100000"/>
              </a:lnSpc>
            </a:pPr>
            <a:endParaRPr lang="en-US" sz="900" spc="-1" dirty="0">
              <a:solidFill>
                <a:srgbClr val="A8BCCF"/>
              </a:solidFill>
              <a:latin typeface="Calibri"/>
              <a:ea typeface="Calibri"/>
            </a:endParaRPr>
          </a:p>
          <a:p>
            <a:pPr defTabSz="457200">
              <a:lnSpc>
                <a:spcPct val="100000"/>
              </a:lnSpc>
            </a:pPr>
            <a:endParaRPr lang="en-US" sz="900" spc="-1" dirty="0">
              <a:solidFill>
                <a:srgbClr val="A8BCCF"/>
              </a:solidFill>
              <a:latin typeface="Calibri"/>
              <a:ea typeface="Calibri"/>
            </a:endParaRPr>
          </a:p>
          <a:p>
            <a:pPr defTabSz="457200">
              <a:lnSpc>
                <a:spcPct val="100000"/>
              </a:lnSpc>
            </a:pPr>
            <a:endParaRPr lang="en-US" sz="900" spc="-1" dirty="0">
              <a:solidFill>
                <a:srgbClr val="A8BCCF"/>
              </a:solidFill>
              <a:latin typeface="Calibri"/>
              <a:ea typeface="Calibri"/>
            </a:endParaRPr>
          </a:p>
          <a:p>
            <a:pPr defTabSz="457200">
              <a:lnSpc>
                <a:spcPct val="100000"/>
              </a:lnSpc>
            </a:pPr>
            <a:endParaRPr lang="en-US" sz="900" spc="-1" dirty="0">
              <a:solidFill>
                <a:srgbClr val="A8BCCF"/>
              </a:solidFill>
              <a:latin typeface="Calibri"/>
              <a:ea typeface="Calibri"/>
            </a:endParaRPr>
          </a:p>
          <a:p>
            <a:pPr defTabSz="457200">
              <a:lnSpc>
                <a:spcPct val="100000"/>
              </a:lnSpc>
            </a:pPr>
            <a:r>
              <a:rPr lang="en-US" sz="900" spc="-1" dirty="0">
                <a:solidFill>
                  <a:srgbClr val="A8BCCF"/>
                </a:solidFill>
                <a:latin typeface="Calibri"/>
                <a:ea typeface="Calibri"/>
              </a:rPr>
              <a:t>Calibration consistently hurts .</a:t>
            </a:r>
          </a:p>
          <a:p>
            <a:pPr defTabSz="457200">
              <a:lnSpc>
                <a:spcPct val="100000"/>
              </a:lnSpc>
            </a:pPr>
            <a:endParaRPr lang="en-US" sz="900" spc="-1" dirty="0">
              <a:solidFill>
                <a:srgbClr val="A8BCCF"/>
              </a:solidFill>
              <a:latin typeface="Calibri"/>
              <a:ea typeface="Calibri"/>
            </a:endParaRPr>
          </a:p>
          <a:p>
            <a:pPr defTabSz="457200">
              <a:lnSpc>
                <a:spcPct val="100000"/>
              </a:lnSpc>
            </a:pPr>
            <a:r>
              <a:rPr lang="en-US" sz="900" spc="-1" dirty="0">
                <a:solidFill>
                  <a:srgbClr val="A8BCCF"/>
                </a:solidFill>
                <a:latin typeface="Calibri"/>
                <a:ea typeface="Calibri"/>
              </a:rPr>
              <a:t>raw GB outperforms both methods on MCC and accuracy</a:t>
            </a:r>
            <a:endParaRPr lang="en-DE" sz="900" spc="-1" dirty="0">
              <a:solidFill>
                <a:srgbClr val="A8BCCF"/>
              </a:solidFill>
              <a:latin typeface="Calibri"/>
              <a:ea typeface="Calibri"/>
            </a:endParaRPr>
          </a:p>
        </p:txBody>
      </p:sp>
      <p:sp>
        <p:nvSpPr>
          <p:cNvPr id="777"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2" name="Shape 16">
            <a:extLst>
              <a:ext uri="{FF2B5EF4-FFF2-40B4-BE49-F238E27FC236}">
                <a16:creationId xmlns:a16="http://schemas.microsoft.com/office/drawing/2014/main" id="{9BE6442D-296E-0794-B19E-AEEF9038DC3B}"/>
              </a:ext>
            </a:extLst>
          </p:cNvPr>
          <p:cNvSpPr/>
          <p:nvPr/>
        </p:nvSpPr>
        <p:spPr>
          <a:xfrm>
            <a:off x="384120" y="4412033"/>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r>
              <a:rPr lang="en-US" sz="1050" spc="-1" dirty="0">
                <a:solidFill>
                  <a:srgbClr val="132238"/>
                </a:solidFill>
                <a:latin typeface="Calibri"/>
                <a:ea typeface="Calibri"/>
              </a:rPr>
              <a:t>Isotonic</a:t>
            </a:r>
            <a:endParaRPr lang="en-DE" sz="1050" spc="-1" dirty="0">
              <a:solidFill>
                <a:srgbClr val="132238"/>
              </a:solidFill>
              <a:latin typeface="Calibri"/>
              <a:ea typeface="Calibri"/>
            </a:endParaRPr>
          </a:p>
        </p:txBody>
      </p:sp>
      <p:sp>
        <p:nvSpPr>
          <p:cNvPr id="3" name="Shape 39">
            <a:extLst>
              <a:ext uri="{FF2B5EF4-FFF2-40B4-BE49-F238E27FC236}">
                <a16:creationId xmlns:a16="http://schemas.microsoft.com/office/drawing/2014/main" id="{42D173AA-E99F-6913-7198-5E7C19EBC96E}"/>
              </a:ext>
            </a:extLst>
          </p:cNvPr>
          <p:cNvSpPr/>
          <p:nvPr/>
        </p:nvSpPr>
        <p:spPr>
          <a:xfrm>
            <a:off x="10189452" y="6454906"/>
            <a:ext cx="1406199"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80,1% </a:t>
            </a:r>
          </a:p>
        </p:txBody>
      </p:sp>
      <p:sp>
        <p:nvSpPr>
          <p:cNvPr id="4" name="Shape 39">
            <a:extLst>
              <a:ext uri="{FF2B5EF4-FFF2-40B4-BE49-F238E27FC236}">
                <a16:creationId xmlns:a16="http://schemas.microsoft.com/office/drawing/2014/main" id="{9240E750-4619-BBB0-A947-A0F5B1251488}"/>
              </a:ext>
            </a:extLst>
          </p:cNvPr>
          <p:cNvSpPr/>
          <p:nvPr/>
        </p:nvSpPr>
        <p:spPr>
          <a:xfrm>
            <a:off x="82114" y="6469132"/>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lvl="0" algn="ctr">
              <a:tabLst>
                <a:tab pos="0" algn="l"/>
              </a:tabLst>
              <a:defRPr/>
            </a:pPr>
            <a:r>
              <a:rPr lang="en-US" sz="1000" b="1" spc="-1" dirty="0">
                <a:solidFill>
                  <a:srgbClr val="FFFFFF"/>
                </a:solidFill>
                <a:latin typeface="Calibri"/>
                <a:ea typeface="Calibri"/>
              </a:rPr>
              <a:t>★  S2 Regime-Aware Split  </a:t>
            </a:r>
            <a:endParaRPr lang="en-US" sz="1000" spc="-1" dirty="0">
              <a:solidFill>
                <a:srgbClr val="000000"/>
              </a:solidFill>
              <a:latin typeface="Arial"/>
            </a:endParaRPr>
          </a:p>
        </p:txBody>
      </p:sp>
      <p:sp>
        <p:nvSpPr>
          <p:cNvPr id="6" name="Shape 39">
            <a:extLst>
              <a:ext uri="{FF2B5EF4-FFF2-40B4-BE49-F238E27FC236}">
                <a16:creationId xmlns:a16="http://schemas.microsoft.com/office/drawing/2014/main" id="{CD8B07BD-A973-A3CD-9253-2886178563DD}"/>
              </a:ext>
            </a:extLst>
          </p:cNvPr>
          <p:cNvSpPr/>
          <p:nvPr/>
        </p:nvSpPr>
        <p:spPr>
          <a:xfrm>
            <a:off x="1917720" y="6464880"/>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1" normalizeH="0" baseline="0" noProof="0">
                <a:ln>
                  <a:noFill/>
                </a:ln>
                <a:solidFill>
                  <a:srgbClr val="FFFFFF"/>
                </a:solidFill>
                <a:effectLst/>
                <a:uLnTx/>
                <a:uFillTx/>
                <a:latin typeface="Calibri"/>
                <a:ea typeface="Calibri"/>
                <a:cs typeface="+mn-cs"/>
              </a:rPr>
              <a:t>★  Gradient Boosting Tuned</a:t>
            </a:r>
            <a:endParaRPr kumimoji="0" lang="en-DE" sz="1000" b="1" i="0" u="none" strike="noStrike" kern="1200" cap="none" spc="-1" normalizeH="0" baseline="0" noProof="0" dirty="0">
              <a:ln>
                <a:noFill/>
              </a:ln>
              <a:solidFill>
                <a:srgbClr val="FFFFFF"/>
              </a:solidFill>
              <a:effectLst/>
              <a:uLnTx/>
              <a:uFillTx/>
              <a:latin typeface="Calibri"/>
              <a:ea typeface="Calibri"/>
              <a:cs typeface="+mn-cs"/>
            </a:endParaRPr>
          </a:p>
        </p:txBody>
      </p:sp>
      <p:sp>
        <p:nvSpPr>
          <p:cNvPr id="7" name="Shape 39">
            <a:extLst>
              <a:ext uri="{FF2B5EF4-FFF2-40B4-BE49-F238E27FC236}">
                <a16:creationId xmlns:a16="http://schemas.microsoft.com/office/drawing/2014/main" id="{45F15666-4168-C9E7-59E3-14D14E9C01FB}"/>
              </a:ext>
            </a:extLst>
          </p:cNvPr>
          <p:cNvSpPr/>
          <p:nvPr/>
        </p:nvSpPr>
        <p:spPr>
          <a:xfrm>
            <a:off x="3746520" y="6464700"/>
            <a:ext cx="1310967"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00" b="1" i="0" u="none" strike="noStrike" kern="1200" cap="none" spc="-1" normalizeH="0" baseline="0" noProof="0" dirty="0">
                <a:ln>
                  <a:noFill/>
                </a:ln>
                <a:solidFill>
                  <a:srgbClr val="FFFFFF"/>
                </a:solidFill>
                <a:effectLst/>
                <a:uLnTx/>
                <a:uFillTx/>
                <a:latin typeface="Calibri"/>
                <a:ea typeface="Calibri"/>
                <a:cs typeface="+mn-cs"/>
              </a:rPr>
              <a:t>★ Top 20 SHAP</a:t>
            </a:r>
            <a:endParaRPr kumimoji="0" lang="en-US" sz="1000" b="0" i="0" u="none" strike="noStrike" kern="1200" cap="none" spc="-1" normalizeH="0" baseline="0" noProof="0" dirty="0">
              <a:ln>
                <a:noFill/>
              </a:ln>
              <a:solidFill>
                <a:srgbClr val="000000"/>
              </a:solidFill>
              <a:effectLst/>
              <a:uLnTx/>
              <a:uFillTx/>
              <a:latin typeface="Arial"/>
              <a:ea typeface="+mn-ea"/>
              <a:cs typeface="+mn-cs"/>
            </a:endParaRPr>
          </a:p>
        </p:txBody>
      </p:sp>
      <p:sp>
        <p:nvSpPr>
          <p:cNvPr id="8" name="Shape 10">
            <a:extLst>
              <a:ext uri="{FF2B5EF4-FFF2-40B4-BE49-F238E27FC236}">
                <a16:creationId xmlns:a16="http://schemas.microsoft.com/office/drawing/2014/main" id="{8AC5CD11-E2BB-DCCF-6AFB-0B3B4D85F1AA}"/>
              </a:ext>
            </a:extLst>
          </p:cNvPr>
          <p:cNvSpPr/>
          <p:nvPr/>
        </p:nvSpPr>
        <p:spPr>
          <a:xfrm>
            <a:off x="384120" y="2641392"/>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tabLst>
                <a:tab pos="0" algn="l"/>
              </a:tabLst>
            </a:pPr>
            <a:r>
              <a:rPr lang="en-US" sz="1050" spc="-1" dirty="0">
                <a:solidFill>
                  <a:srgbClr val="FFFFFF"/>
                </a:solidFill>
                <a:latin typeface="Calibri"/>
                <a:ea typeface="Calibri"/>
              </a:rPr>
              <a:t>Model: GB </a:t>
            </a:r>
            <a:r>
              <a:rPr lang="en-US" sz="1050" spc="-1" dirty="0" err="1">
                <a:solidFill>
                  <a:srgbClr val="FFFFFF"/>
                </a:solidFill>
                <a:latin typeface="Calibri"/>
                <a:ea typeface="Calibri"/>
              </a:rPr>
              <a:t>Optuna</a:t>
            </a:r>
            <a:r>
              <a:rPr lang="en-US" sz="1050" spc="-1" dirty="0">
                <a:solidFill>
                  <a:srgbClr val="FFFFFF"/>
                </a:solidFill>
                <a:latin typeface="Calibri"/>
                <a:ea typeface="Calibri"/>
              </a:rPr>
              <a:t> Tuned (fixed)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Shape 16">
            <a:extLst>
              <a:ext uri="{FF2B5EF4-FFF2-40B4-BE49-F238E27FC236}">
                <a16:creationId xmlns:a16="http://schemas.microsoft.com/office/drawing/2014/main" id="{04DC9F45-B73F-144B-5861-F2B49E2A5835}"/>
              </a:ext>
            </a:extLst>
          </p:cNvPr>
          <p:cNvSpPr/>
          <p:nvPr/>
        </p:nvSpPr>
        <p:spPr>
          <a:xfrm>
            <a:off x="384120" y="3902136"/>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0" name="Shape 0"/>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1" name="Shape 1"/>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2" name="Shape 2"/>
          <p:cNvSpPr/>
          <p:nvPr/>
        </p:nvSpPr>
        <p:spPr>
          <a:xfrm>
            <a:off x="301680" y="146160"/>
            <a:ext cx="1325520" cy="676440"/>
          </a:xfrm>
          <a:prstGeom prst="roundRect">
            <a:avLst>
              <a:gd name="adj" fmla="val 10811"/>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3" name="Text 3"/>
          <p:cNvSpPr/>
          <p:nvPr/>
        </p:nvSpPr>
        <p:spPr>
          <a:xfrm>
            <a:off x="301680" y="146160"/>
            <a:ext cx="1325520" cy="67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300" b="1" strike="noStrike" spc="-1" dirty="0">
                <a:solidFill>
                  <a:srgbClr val="FFFFFF"/>
                </a:solidFill>
                <a:latin typeface="Arial"/>
                <a:ea typeface="Arial"/>
              </a:rPr>
              <a:t>EXP </a:t>
            </a:r>
            <a:r>
              <a:rPr lang="en-US" sz="1300" b="1" spc="-1" dirty="0">
                <a:solidFill>
                  <a:srgbClr val="FFFFFF"/>
                </a:solidFill>
                <a:latin typeface="Arial"/>
                <a:ea typeface="Arial"/>
              </a:rPr>
              <a:t>8</a:t>
            </a:r>
            <a:endParaRPr lang="en-US" sz="1300" b="0" strike="noStrike" spc="-1" dirty="0">
              <a:solidFill>
                <a:srgbClr val="000000"/>
              </a:solidFill>
              <a:latin typeface="Arial"/>
            </a:endParaRPr>
          </a:p>
        </p:txBody>
      </p:sp>
      <p:sp>
        <p:nvSpPr>
          <p:cNvPr id="784" name="Text 4"/>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a:solidFill>
                  <a:srgbClr val="FFFFFF"/>
                </a:solidFill>
                <a:latin typeface="Arial Black"/>
                <a:ea typeface="Arial Black"/>
              </a:rPr>
              <a:t>Ensemble Test : Does Combining Beat the Best?</a:t>
            </a:r>
            <a:endParaRPr lang="en-US" sz="2600" b="0" strike="noStrike" spc="-1">
              <a:solidFill>
                <a:srgbClr val="000000"/>
              </a:solidFill>
              <a:latin typeface="Arial"/>
            </a:endParaRPr>
          </a:p>
        </p:txBody>
      </p:sp>
      <p:sp>
        <p:nvSpPr>
          <p:cNvPr id="785" name="Shape 7"/>
          <p:cNvSpPr/>
          <p:nvPr/>
        </p:nvSpPr>
        <p:spPr>
          <a:xfrm>
            <a:off x="384120" y="148140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6" name="Text 8"/>
          <p:cNvSpPr/>
          <p:nvPr/>
        </p:nvSpPr>
        <p:spPr>
          <a:xfrm>
            <a:off x="384120" y="148140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Split: S2 Regime-Aware (fixed)</a:t>
            </a:r>
            <a:endParaRPr lang="en-US" sz="1050" b="0" strike="noStrike" spc="-1">
              <a:solidFill>
                <a:srgbClr val="000000"/>
              </a:solidFill>
              <a:latin typeface="Arial"/>
            </a:endParaRPr>
          </a:p>
        </p:txBody>
      </p:sp>
      <p:sp>
        <p:nvSpPr>
          <p:cNvPr id="788" name="Shape 10"/>
          <p:cNvSpPr/>
          <p:nvPr/>
        </p:nvSpPr>
        <p:spPr>
          <a:xfrm>
            <a:off x="384120" y="2084760"/>
            <a:ext cx="2889000" cy="456840"/>
          </a:xfrm>
          <a:prstGeom prst="roundRect">
            <a:avLst>
              <a:gd name="adj" fmla="val 18000"/>
            </a:avLst>
          </a:prstGeom>
          <a:solidFill>
            <a:srgbClr val="132238"/>
          </a:solidFill>
          <a:ln w="1905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9" name="Text 11"/>
          <p:cNvSpPr/>
          <p:nvPr/>
        </p:nvSpPr>
        <p:spPr>
          <a:xfrm>
            <a:off x="384120" y="208476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a:solidFill>
                  <a:srgbClr val="FFFFFF"/>
                </a:solidFill>
                <a:latin typeface="Calibri"/>
                <a:ea typeface="Calibri"/>
              </a:rPr>
              <a:t>Features: Top 20 SHAP (fixed)</a:t>
            </a:r>
            <a:endParaRPr lang="en-US" sz="1050" b="0" strike="noStrike" spc="-1">
              <a:solidFill>
                <a:srgbClr val="000000"/>
              </a:solidFill>
              <a:latin typeface="Arial"/>
            </a:endParaRPr>
          </a:p>
        </p:txBody>
      </p:sp>
      <p:sp>
        <p:nvSpPr>
          <p:cNvPr id="791" name="Shape 13"/>
          <p:cNvSpPr/>
          <p:nvPr/>
        </p:nvSpPr>
        <p:spPr>
          <a:xfrm>
            <a:off x="384120" y="2688480"/>
            <a:ext cx="2889000" cy="456840"/>
          </a:xfrm>
          <a:prstGeom prst="roundRect">
            <a:avLst>
              <a:gd name="adj" fmla="val 18000"/>
            </a:avLst>
          </a:prstGeom>
          <a:solidFill>
            <a:srgbClr val="F7931A"/>
          </a:solidFill>
          <a:ln w="1905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92" name="Text 14"/>
          <p:cNvSpPr/>
          <p:nvPr/>
        </p:nvSpPr>
        <p:spPr>
          <a:xfrm>
            <a:off x="384120" y="268848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150" b="1" strike="noStrike" spc="-1">
                <a:solidFill>
                  <a:srgbClr val="FFFFFF"/>
                </a:solidFill>
                <a:latin typeface="Calibri"/>
                <a:ea typeface="Calibri"/>
              </a:rPr>
              <a:t>↕  VARIABLE: Ensemble method</a:t>
            </a:r>
            <a:endParaRPr lang="en-US" sz="1150" b="0" strike="noStrike" spc="-1">
              <a:solidFill>
                <a:srgbClr val="000000"/>
              </a:solidFill>
              <a:latin typeface="Arial"/>
            </a:endParaRPr>
          </a:p>
        </p:txBody>
      </p:sp>
      <p:sp>
        <p:nvSpPr>
          <p:cNvPr id="794" name="Shape 16"/>
          <p:cNvSpPr/>
          <p:nvPr/>
        </p:nvSpPr>
        <p:spPr>
          <a:xfrm>
            <a:off x="384120" y="329184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95" name="Text 17"/>
          <p:cNvSpPr/>
          <p:nvPr/>
        </p:nvSpPr>
        <p:spPr>
          <a:xfrm>
            <a:off x="384120" y="329184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b="0" strike="noStrike" spc="-1" dirty="0">
                <a:solidFill>
                  <a:srgbClr val="132238"/>
                </a:solidFill>
                <a:latin typeface="Calibri"/>
                <a:ea typeface="Calibri"/>
              </a:rPr>
              <a:t>RF+GB+XGB (Soft)</a:t>
            </a:r>
            <a:endParaRPr lang="en-US" sz="1050" b="0" strike="noStrike" spc="-1" dirty="0">
              <a:solidFill>
                <a:srgbClr val="000000"/>
              </a:solidFill>
              <a:latin typeface="Arial"/>
            </a:endParaRPr>
          </a:p>
        </p:txBody>
      </p:sp>
      <p:sp>
        <p:nvSpPr>
          <p:cNvPr id="800" name="Shape 22"/>
          <p:cNvSpPr/>
          <p:nvPr/>
        </p:nvSpPr>
        <p:spPr>
          <a:xfrm>
            <a:off x="384120" y="4498920"/>
            <a:ext cx="2889000" cy="456840"/>
          </a:xfrm>
          <a:prstGeom prst="roundRect">
            <a:avLst>
              <a:gd name="adj" fmla="val 18000"/>
            </a:avLst>
          </a:prstGeom>
          <a:solidFill>
            <a:srgbClr val="F4F6F9"/>
          </a:solidFill>
          <a:ln w="19050">
            <a:solidFill>
              <a:srgbClr val="C8D0D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801" name="Text 23"/>
          <p:cNvSpPr/>
          <p:nvPr/>
        </p:nvSpPr>
        <p:spPr>
          <a:xfrm>
            <a:off x="384120" y="4498920"/>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spc="-1" dirty="0">
                <a:solidFill>
                  <a:srgbClr val="132238"/>
                </a:solidFill>
                <a:latin typeface="Calibri"/>
                <a:ea typeface="Calibri"/>
              </a:rPr>
              <a:t>RF+GB+XGB (Stacking) </a:t>
            </a:r>
            <a:endParaRPr lang="en-US" sz="1050" b="0" strike="noStrike" spc="-1" dirty="0">
              <a:solidFill>
                <a:srgbClr val="000000"/>
              </a:solidFill>
              <a:latin typeface="Arial"/>
            </a:endParaRPr>
          </a:p>
        </p:txBody>
      </p:sp>
      <p:graphicFrame>
        <p:nvGraphicFramePr>
          <p:cNvPr id="802" name="Table 0"/>
          <p:cNvGraphicFramePr/>
          <p:nvPr>
            <p:extLst>
              <p:ext uri="{D42A27DB-BD31-4B8C-83A1-F6EECF244321}">
                <p14:modId xmlns:p14="http://schemas.microsoft.com/office/powerpoint/2010/main" val="745927154"/>
              </p:ext>
            </p:extLst>
          </p:nvPr>
        </p:nvGraphicFramePr>
        <p:xfrm>
          <a:off x="3502080" y="1482120"/>
          <a:ext cx="5521680" cy="1828800"/>
        </p:xfrm>
        <a:graphic>
          <a:graphicData uri="http://schemas.openxmlformats.org/drawingml/2006/table">
            <a:tbl>
              <a:tblPr/>
              <a:tblGrid>
                <a:gridCol w="1663920">
                  <a:extLst>
                    <a:ext uri="{9D8B030D-6E8A-4147-A177-3AD203B41FA5}">
                      <a16:colId xmlns:a16="http://schemas.microsoft.com/office/drawing/2014/main" val="20000"/>
                    </a:ext>
                  </a:extLst>
                </a:gridCol>
                <a:gridCol w="585000">
                  <a:extLst>
                    <a:ext uri="{9D8B030D-6E8A-4147-A177-3AD203B41FA5}">
                      <a16:colId xmlns:a16="http://schemas.microsoft.com/office/drawing/2014/main" val="20001"/>
                    </a:ext>
                  </a:extLst>
                </a:gridCol>
                <a:gridCol w="585000">
                  <a:extLst>
                    <a:ext uri="{9D8B030D-6E8A-4147-A177-3AD203B41FA5}">
                      <a16:colId xmlns:a16="http://schemas.microsoft.com/office/drawing/2014/main" val="20002"/>
                    </a:ext>
                  </a:extLst>
                </a:gridCol>
                <a:gridCol w="621720">
                  <a:extLst>
                    <a:ext uri="{9D8B030D-6E8A-4147-A177-3AD203B41FA5}">
                      <a16:colId xmlns:a16="http://schemas.microsoft.com/office/drawing/2014/main" val="20003"/>
                    </a:ext>
                  </a:extLst>
                </a:gridCol>
                <a:gridCol w="621720">
                  <a:extLst>
                    <a:ext uri="{9D8B030D-6E8A-4147-A177-3AD203B41FA5}">
                      <a16:colId xmlns:a16="http://schemas.microsoft.com/office/drawing/2014/main" val="20004"/>
                    </a:ext>
                  </a:extLst>
                </a:gridCol>
                <a:gridCol w="621720">
                  <a:extLst>
                    <a:ext uri="{9D8B030D-6E8A-4147-A177-3AD203B41FA5}">
                      <a16:colId xmlns:a16="http://schemas.microsoft.com/office/drawing/2014/main" val="20005"/>
                    </a:ext>
                  </a:extLst>
                </a:gridCol>
                <a:gridCol w="475200">
                  <a:extLst>
                    <a:ext uri="{9D8B030D-6E8A-4147-A177-3AD203B41FA5}">
                      <a16:colId xmlns:a16="http://schemas.microsoft.com/office/drawing/2014/main" val="20006"/>
                    </a:ext>
                  </a:extLst>
                </a:gridCol>
                <a:gridCol w="347400">
                  <a:extLst>
                    <a:ext uri="{9D8B030D-6E8A-4147-A177-3AD203B41FA5}">
                      <a16:colId xmlns:a16="http://schemas.microsoft.com/office/drawing/2014/main" val="20007"/>
                    </a:ext>
                  </a:extLst>
                </a:gridCol>
              </a:tblGrid>
              <a:tr h="457200">
                <a:tc>
                  <a:txBody>
                    <a:bodyPr/>
                    <a:lstStyle/>
                    <a:p>
                      <a:pPr defTabSz="914400">
                        <a:lnSpc>
                          <a:spcPct val="100000"/>
                        </a:lnSpc>
                        <a:tabLst>
                          <a:tab pos="0" algn="l"/>
                        </a:tabLst>
                      </a:pPr>
                      <a:r>
                        <a:rPr lang="en-US" sz="1050" b="1" strike="noStrike" spc="-1">
                          <a:solidFill>
                            <a:srgbClr val="FFFFFF"/>
                          </a:solidFill>
                          <a:latin typeface="Arial"/>
                          <a:ea typeface="Arial"/>
                        </a:rPr>
                        <a:t>Model</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Val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MCC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Test AUC</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Gap</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tc>
                  <a:txBody>
                    <a:bodyPr/>
                    <a:lstStyle/>
                    <a:p>
                      <a:pPr algn="ctr" defTabSz="914400">
                        <a:lnSpc>
                          <a:spcPct val="100000"/>
                        </a:lnSpc>
                        <a:tabLst>
                          <a:tab pos="0" algn="l"/>
                        </a:tabLst>
                      </a:pPr>
                      <a:r>
                        <a:rPr lang="en-US" sz="1050" b="1" strike="noStrike" spc="-1">
                          <a:solidFill>
                            <a:srgbClr val="FFFFFF"/>
                          </a:solidFill>
                          <a:latin typeface="Arial"/>
                          <a:ea typeface="Arial"/>
                        </a:rPr>
                        <a:t>✓</a:t>
                      </a:r>
                      <a:endParaRPr lang="en-US" sz="1050" b="0" strike="noStrike" spc="-1">
                        <a:solidFill>
                          <a:srgbClr val="FFFFFF"/>
                        </a:solidFill>
                        <a:latin typeface="Arial"/>
                      </a:endParaRPr>
                    </a:p>
                  </a:txBody>
                  <a:tcPr anchor="ctr">
                    <a:lnL w="6480">
                      <a:solidFill>
                        <a:srgbClr val="FFFFFF"/>
                      </a:solidFill>
                      <a:prstDash val="solid"/>
                    </a:lnL>
                    <a:lnR w="6480">
                      <a:solidFill>
                        <a:srgbClr val="FFFFFF"/>
                      </a:solidFill>
                      <a:prstDash val="solid"/>
                    </a:lnR>
                    <a:lnT w="6480">
                      <a:solidFill>
                        <a:srgbClr val="FFFFFF"/>
                      </a:solidFill>
                      <a:prstDash val="solid"/>
                    </a:lnT>
                    <a:lnB w="6480">
                      <a:solidFill>
                        <a:srgbClr val="FFFFFF"/>
                      </a:solidFill>
                      <a:prstDash val="solid"/>
                    </a:lnB>
                    <a:solidFill>
                      <a:srgbClr val="132238"/>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000" b="1" strike="noStrike" spc="-1">
                          <a:solidFill>
                            <a:srgbClr val="132238"/>
                          </a:solidFill>
                          <a:latin typeface="Calibri"/>
                          <a:ea typeface="Calibri"/>
                        </a:rPr>
                        <a:t>Soft Voting</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73%</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0.590</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0.871</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0.09</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a:solidFill>
                            <a:srgbClr val="F7931A"/>
                          </a:solidFill>
                          <a:latin typeface="Arial"/>
                          <a:ea typeface="Arial"/>
                        </a:rPr>
                        <a:t>✅</a:t>
                      </a:r>
                      <a:endParaRPr lang="en-US" sz="13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FFFFFF"/>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Hard voting </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000" b="0" strike="noStrike" spc="-1" dirty="0">
                          <a:solidFill>
                            <a:srgbClr val="132238"/>
                          </a:solidFill>
                          <a:latin typeface="Calibri"/>
                          <a:ea typeface="Calibri"/>
                        </a:rPr>
                        <a:t>73%</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000" b="0" strike="noStrike" spc="-1" dirty="0">
                          <a:solidFill>
                            <a:srgbClr val="132238"/>
                          </a:solidFill>
                          <a:latin typeface="Calibri"/>
                          <a:ea typeface="Calibri"/>
                        </a:rPr>
                        <a:t>0.46</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000" b="0" strike="noStrike" spc="-1" dirty="0">
                          <a:solidFill>
                            <a:srgbClr val="132238"/>
                          </a:solidFill>
                          <a:latin typeface="Calibri"/>
                          <a:ea typeface="Calibri"/>
                        </a:rPr>
                        <a:t>78%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000" b="0" strike="noStrike" spc="-1" dirty="0">
                          <a:solidFill>
                            <a:srgbClr val="132238"/>
                          </a:solidFill>
                          <a:latin typeface="Calibri"/>
                          <a:ea typeface="Calibri"/>
                        </a:rPr>
                        <a:t>0.57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000" b="0" strike="noStrike" spc="-1" dirty="0">
                          <a:solidFill>
                            <a:srgbClr val="132238"/>
                          </a:solidFill>
                          <a:latin typeface="Calibri"/>
                          <a:ea typeface="Calibri"/>
                        </a:rPr>
                        <a:t>_</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000" b="0" strike="noStrike" spc="-1" dirty="0">
                          <a:solidFill>
                            <a:srgbClr val="132238"/>
                          </a:solidFill>
                          <a:latin typeface="Calibri"/>
                          <a:ea typeface="Calibri"/>
                        </a:rPr>
                        <a:t>0.09</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tc>
                  <a:txBody>
                    <a:bodyPr/>
                    <a:lstStyle/>
                    <a:p>
                      <a:pPr algn="ctr" defTabSz="914400">
                        <a:lnSpc>
                          <a:spcPct val="100000"/>
                        </a:lnSpc>
                        <a:tabLst>
                          <a:tab pos="0" algn="l"/>
                        </a:tabLst>
                      </a:pPr>
                      <a:r>
                        <a:rPr lang="en-US" sz="1300" b="1" strike="noStrike" spc="-1" dirty="0">
                          <a:solidFill>
                            <a:srgbClr val="F7931A"/>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chemeClr val="tx1"/>
                    </a:solidFill>
                  </a:tcPr>
                </a:tc>
                <a:extLst>
                  <a:ext uri="{0D108BD9-81ED-4DB2-BD59-A6C34878D82A}">
                    <a16:rowId xmlns:a16="http://schemas.microsoft.com/office/drawing/2014/main" val="10002"/>
                  </a:ext>
                </a:extLst>
              </a:tr>
              <a:tr h="457200">
                <a:tc>
                  <a:txBody>
                    <a:bodyPr/>
                    <a:lstStyle/>
                    <a:p>
                      <a:pPr defTabSz="914400">
                        <a:lnSpc>
                          <a:spcPct val="100000"/>
                        </a:lnSpc>
                        <a:tabLst>
                          <a:tab pos="0" algn="l"/>
                        </a:tabLst>
                      </a:pPr>
                      <a:r>
                        <a:rPr lang="en-US" sz="1000" b="1" strike="noStrike" spc="-1" dirty="0">
                          <a:solidFill>
                            <a:srgbClr val="132238"/>
                          </a:solidFill>
                          <a:latin typeface="Calibri"/>
                          <a:ea typeface="Calibri"/>
                        </a:rPr>
                        <a:t>Stacking voting </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74%</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0.48</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77%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0.55</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dirty="0">
                          <a:solidFill>
                            <a:srgbClr val="3A4A5C"/>
                          </a:solidFill>
                          <a:latin typeface="Calibri"/>
                          <a:ea typeface="Calibri"/>
                        </a:rPr>
                        <a:t>0.87</a:t>
                      </a:r>
                      <a:endParaRPr lang="en-US" sz="10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000" b="0" strike="noStrike" spc="-1">
                          <a:solidFill>
                            <a:srgbClr val="3A4A5C"/>
                          </a:solidFill>
                          <a:latin typeface="Calibri"/>
                          <a:ea typeface="Calibri"/>
                        </a:rPr>
                        <a:t>0.09</a:t>
                      </a:r>
                      <a:endParaRPr lang="en-US" sz="1000" b="0" strike="noStrike" spc="-1">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tc>
                  <a:txBody>
                    <a:bodyPr/>
                    <a:lstStyle/>
                    <a:p>
                      <a:pPr algn="ctr" defTabSz="914400">
                        <a:lnSpc>
                          <a:spcPct val="100000"/>
                        </a:lnSpc>
                        <a:tabLst>
                          <a:tab pos="0" algn="l"/>
                        </a:tabLst>
                      </a:pPr>
                      <a:r>
                        <a:rPr lang="en-US" sz="1300" b="0" strike="noStrike" spc="-1" dirty="0">
                          <a:solidFill>
                            <a:srgbClr val="8A9BB0"/>
                          </a:solidFill>
                          <a:latin typeface="Arial"/>
                          <a:ea typeface="Arial"/>
                        </a:rPr>
                        <a:t>✅</a:t>
                      </a:r>
                      <a:endParaRPr lang="en-US" sz="1300" b="0" strike="noStrike" spc="-1" dirty="0">
                        <a:solidFill>
                          <a:srgbClr val="000000"/>
                        </a:solidFill>
                        <a:latin typeface="Arial"/>
                      </a:endParaRPr>
                    </a:p>
                  </a:txBody>
                  <a:tcPr anchor="ctr">
                    <a:lnL w="6480">
                      <a:solidFill>
                        <a:srgbClr val="DDE2E8"/>
                      </a:solidFill>
                      <a:prstDash val="solid"/>
                    </a:lnL>
                    <a:lnR w="6480">
                      <a:solidFill>
                        <a:srgbClr val="DDE2E8"/>
                      </a:solidFill>
                      <a:prstDash val="solid"/>
                    </a:lnR>
                    <a:lnT w="6480">
                      <a:solidFill>
                        <a:srgbClr val="DDE2E8"/>
                      </a:solidFill>
                      <a:prstDash val="solid"/>
                    </a:lnT>
                    <a:lnB w="6480">
                      <a:solidFill>
                        <a:srgbClr val="DDE2E8"/>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803" name="Shape 25"/>
          <p:cNvSpPr/>
          <p:nvPr/>
        </p:nvSpPr>
        <p:spPr>
          <a:xfrm>
            <a:off x="9252720" y="1471871"/>
            <a:ext cx="2742840" cy="4808520"/>
          </a:xfrm>
          <a:prstGeom prst="rect">
            <a:avLst/>
          </a:prstGeom>
          <a:solidFill>
            <a:srgbClr val="132238"/>
          </a:solidFill>
          <a:ln w="12700">
            <a:solidFill>
              <a:srgbClr val="132238"/>
            </a:solidFill>
            <a:round/>
          </a:ln>
          <a:effectLst>
            <a:outerShdw blurRad="101520" dist="37674" dir="8100000" algn="bl" rotWithShape="0">
              <a:srgbClr val="132238">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811" name="Text 33"/>
          <p:cNvSpPr/>
          <p:nvPr/>
        </p:nvSpPr>
        <p:spPr>
          <a:xfrm>
            <a:off x="9444780" y="2170927"/>
            <a:ext cx="2358720" cy="83965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457200">
              <a:lnSpc>
                <a:spcPct val="100000"/>
              </a:lnSpc>
              <a:tabLst>
                <a:tab pos="0" algn="l"/>
              </a:tabLst>
            </a:pPr>
            <a:r>
              <a:rPr lang="en-US" sz="900" b="0" strike="noStrike" spc="-1" dirty="0">
                <a:solidFill>
                  <a:srgbClr val="A8BCCF"/>
                </a:solidFill>
                <a:latin typeface="Calibri"/>
                <a:ea typeface="Calibri"/>
              </a:rPr>
              <a:t>Ensembles slightly underperform the  </a:t>
            </a:r>
          </a:p>
          <a:p>
            <a:pPr defTabSz="457200">
              <a:lnSpc>
                <a:spcPct val="100000"/>
              </a:lnSpc>
              <a:tabLst>
                <a:tab pos="0" algn="l"/>
              </a:tabLst>
            </a:pPr>
            <a:r>
              <a:rPr lang="en-US" sz="900" spc="-1" dirty="0">
                <a:solidFill>
                  <a:srgbClr val="A8BCCF"/>
                </a:solidFill>
                <a:latin typeface="Calibri"/>
                <a:ea typeface="Calibri"/>
              </a:rPr>
              <a:t>GB </a:t>
            </a:r>
            <a:r>
              <a:rPr lang="en-US" sz="900" b="0" strike="noStrike" spc="-1" dirty="0">
                <a:solidFill>
                  <a:srgbClr val="A8BCCF"/>
                </a:solidFill>
                <a:latin typeface="Calibri"/>
                <a:ea typeface="Calibri"/>
              </a:rPr>
              <a:t>individual SHAP 20 model</a:t>
            </a:r>
          </a:p>
          <a:p>
            <a:pPr defTabSz="457200">
              <a:lnSpc>
                <a:spcPct val="100000"/>
              </a:lnSpc>
              <a:tabLst>
                <a:tab pos="0" algn="l"/>
              </a:tabLst>
            </a:pPr>
            <a:endParaRPr lang="en-US" sz="900" spc="-1" dirty="0">
              <a:solidFill>
                <a:srgbClr val="A8BCCF"/>
              </a:solidFill>
              <a:latin typeface="Calibri"/>
              <a:ea typeface="Calibri"/>
            </a:endParaRPr>
          </a:p>
          <a:p>
            <a:pPr defTabSz="457200">
              <a:lnSpc>
                <a:spcPct val="100000"/>
              </a:lnSpc>
              <a:tabLst>
                <a:tab pos="0" algn="l"/>
              </a:tabLst>
            </a:pPr>
            <a:endParaRPr lang="en-US" sz="900" b="0" strike="noStrike" spc="-1" dirty="0">
              <a:solidFill>
                <a:srgbClr val="A8BCCF"/>
              </a:solidFill>
              <a:latin typeface="Calibri"/>
              <a:ea typeface="Calibri"/>
            </a:endParaRPr>
          </a:p>
          <a:p>
            <a:pPr defTabSz="457200">
              <a:lnSpc>
                <a:spcPct val="100000"/>
              </a:lnSpc>
              <a:tabLst>
                <a:tab pos="0" algn="l"/>
              </a:tabLst>
            </a:pPr>
            <a:r>
              <a:rPr lang="en-US" sz="900" spc="-1" dirty="0">
                <a:solidFill>
                  <a:srgbClr val="A8BCCF"/>
                </a:solidFill>
                <a:latin typeface="Calibri"/>
                <a:ea typeface="Calibri"/>
              </a:rPr>
              <a:t> Decision :  we save the GB SHAP 20 as final BTC model </a:t>
            </a:r>
          </a:p>
          <a:p>
            <a:pPr defTabSz="457200">
              <a:lnSpc>
                <a:spcPct val="100000"/>
              </a:lnSpc>
              <a:tabLst>
                <a:tab pos="0" algn="l"/>
              </a:tabLst>
            </a:pPr>
            <a:endParaRPr lang="en-US" sz="900" b="0" strike="noStrike" spc="-1" dirty="0">
              <a:solidFill>
                <a:srgbClr val="000000"/>
              </a:solidFill>
              <a:latin typeface="Arial"/>
            </a:endParaRPr>
          </a:p>
        </p:txBody>
      </p:sp>
      <p:sp>
        <p:nvSpPr>
          <p:cNvPr id="816" name="Shape 38"/>
          <p:cNvSpPr/>
          <p:nvPr/>
        </p:nvSpPr>
        <p:spPr>
          <a:xfrm>
            <a:off x="0" y="6382440"/>
            <a:ext cx="12161160" cy="47520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2" name="Text 17">
            <a:extLst>
              <a:ext uri="{FF2B5EF4-FFF2-40B4-BE49-F238E27FC236}">
                <a16:creationId xmlns:a16="http://schemas.microsoft.com/office/drawing/2014/main" id="{49493FFF-0DE3-CE39-D658-6F77189E4E5A}"/>
              </a:ext>
            </a:extLst>
          </p:cNvPr>
          <p:cNvSpPr/>
          <p:nvPr/>
        </p:nvSpPr>
        <p:spPr>
          <a:xfrm>
            <a:off x="384120" y="3902136"/>
            <a:ext cx="288900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1050" spc="-1" dirty="0">
                <a:solidFill>
                  <a:srgbClr val="132238"/>
                </a:solidFill>
                <a:latin typeface="Calibri"/>
                <a:ea typeface="Calibri"/>
              </a:rPr>
              <a:t>RF+GB+XGB </a:t>
            </a:r>
            <a:r>
              <a:rPr lang="en-US" sz="1050" b="0" strike="noStrike" spc="-1" dirty="0">
                <a:solidFill>
                  <a:srgbClr val="132238"/>
                </a:solidFill>
                <a:latin typeface="Calibri"/>
                <a:ea typeface="Calibri"/>
              </a:rPr>
              <a:t>(Hard)  </a:t>
            </a:r>
            <a:endParaRPr lang="en-US" sz="1050" b="0" strike="noStrike" spc="-1" dirty="0">
              <a:solidFill>
                <a:srgbClr val="000000"/>
              </a:solidFill>
              <a:latin typeface="Arial"/>
            </a:endParaRPr>
          </a:p>
        </p:txBody>
      </p:sp>
      <p:sp>
        <p:nvSpPr>
          <p:cNvPr id="4" name="Shape 39">
            <a:extLst>
              <a:ext uri="{FF2B5EF4-FFF2-40B4-BE49-F238E27FC236}">
                <a16:creationId xmlns:a16="http://schemas.microsoft.com/office/drawing/2014/main" id="{68D6750E-6FBA-80B4-236B-D30378D10AFD}"/>
              </a:ext>
            </a:extLst>
          </p:cNvPr>
          <p:cNvSpPr/>
          <p:nvPr/>
        </p:nvSpPr>
        <p:spPr>
          <a:xfrm>
            <a:off x="82114" y="6469132"/>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lvl="0" algn="ctr">
              <a:tabLst>
                <a:tab pos="0" algn="l"/>
              </a:tabLst>
              <a:defRPr/>
            </a:pPr>
            <a:r>
              <a:rPr lang="en-US" sz="1000" b="1" spc="-1" dirty="0">
                <a:solidFill>
                  <a:srgbClr val="FFFFFF"/>
                </a:solidFill>
                <a:latin typeface="Calibri"/>
                <a:ea typeface="Calibri"/>
              </a:rPr>
              <a:t>★  S2 Regime-Aware Split  </a:t>
            </a:r>
            <a:endParaRPr lang="en-US" sz="1000" spc="-1" dirty="0">
              <a:solidFill>
                <a:srgbClr val="000000"/>
              </a:solidFill>
              <a:latin typeface="Arial"/>
            </a:endParaRPr>
          </a:p>
        </p:txBody>
      </p:sp>
      <p:sp>
        <p:nvSpPr>
          <p:cNvPr id="5" name="Shape 39">
            <a:extLst>
              <a:ext uri="{FF2B5EF4-FFF2-40B4-BE49-F238E27FC236}">
                <a16:creationId xmlns:a16="http://schemas.microsoft.com/office/drawing/2014/main" id="{CBB66676-2A7D-C6C7-CA4D-AE18C77222AB}"/>
              </a:ext>
            </a:extLst>
          </p:cNvPr>
          <p:cNvSpPr/>
          <p:nvPr/>
        </p:nvSpPr>
        <p:spPr>
          <a:xfrm>
            <a:off x="1917720" y="6464880"/>
            <a:ext cx="1706750"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1" normalizeH="0" baseline="0" noProof="0">
                <a:ln>
                  <a:noFill/>
                </a:ln>
                <a:solidFill>
                  <a:srgbClr val="FFFFFF"/>
                </a:solidFill>
                <a:effectLst/>
                <a:uLnTx/>
                <a:uFillTx/>
                <a:latin typeface="Calibri"/>
                <a:ea typeface="Calibri"/>
                <a:cs typeface="+mn-cs"/>
              </a:rPr>
              <a:t>★  Gradient Boosting Tuned</a:t>
            </a:r>
            <a:endParaRPr kumimoji="0" lang="en-DE" sz="1000" b="1" i="0" u="none" strike="noStrike" kern="1200" cap="none" spc="-1" normalizeH="0" baseline="0" noProof="0" dirty="0">
              <a:ln>
                <a:noFill/>
              </a:ln>
              <a:solidFill>
                <a:srgbClr val="FFFFFF"/>
              </a:solidFill>
              <a:effectLst/>
              <a:uLnTx/>
              <a:uFillTx/>
              <a:latin typeface="Calibri"/>
              <a:ea typeface="Calibri"/>
              <a:cs typeface="+mn-cs"/>
            </a:endParaRPr>
          </a:p>
        </p:txBody>
      </p:sp>
      <p:sp>
        <p:nvSpPr>
          <p:cNvPr id="6" name="Shape 39">
            <a:extLst>
              <a:ext uri="{FF2B5EF4-FFF2-40B4-BE49-F238E27FC236}">
                <a16:creationId xmlns:a16="http://schemas.microsoft.com/office/drawing/2014/main" id="{D6A82A24-D2C9-DB80-8116-7A19B7C9C774}"/>
              </a:ext>
            </a:extLst>
          </p:cNvPr>
          <p:cNvSpPr/>
          <p:nvPr/>
        </p:nvSpPr>
        <p:spPr>
          <a:xfrm>
            <a:off x="3746520" y="6464700"/>
            <a:ext cx="1310967" cy="310680"/>
          </a:xfrm>
          <a:prstGeom prst="roundRect">
            <a:avLst>
              <a:gd name="adj" fmla="val 17647"/>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ctr" defTabSz="457200" rtl="0" eaLnBrk="1" fontAlgn="auto" latinLnBrk="0" hangingPunct="1">
              <a:lnSpc>
                <a:spcPct val="100000"/>
              </a:lnSpc>
              <a:spcBef>
                <a:spcPts val="0"/>
              </a:spcBef>
              <a:spcAft>
                <a:spcPts val="0"/>
              </a:spcAft>
              <a:buClrTx/>
              <a:buSzTx/>
              <a:buFontTx/>
              <a:buNone/>
              <a:tabLst>
                <a:tab pos="0" algn="l"/>
              </a:tabLst>
              <a:defRPr/>
            </a:pPr>
            <a:r>
              <a:rPr kumimoji="0" lang="en-US" sz="1000" b="1" i="0" u="none" strike="noStrike" kern="1200" cap="none" spc="-1" normalizeH="0" baseline="0" noProof="0" dirty="0">
                <a:ln>
                  <a:noFill/>
                </a:ln>
                <a:solidFill>
                  <a:srgbClr val="FFFFFF"/>
                </a:solidFill>
                <a:effectLst/>
                <a:uLnTx/>
                <a:uFillTx/>
                <a:latin typeface="Calibri"/>
                <a:ea typeface="Calibri"/>
                <a:cs typeface="+mn-cs"/>
              </a:rPr>
              <a:t>★ Top 20 SHAP</a:t>
            </a:r>
            <a:endParaRPr kumimoji="0" lang="en-US" sz="1000" b="0" i="0" u="none" strike="noStrike" kern="1200" cap="none" spc="-1" normalizeH="0" baseline="0" noProof="0" dirty="0">
              <a:ln>
                <a:noFill/>
              </a:ln>
              <a:solidFill>
                <a:srgbClr val="000000"/>
              </a:solidFill>
              <a:effectLst/>
              <a:uLnTx/>
              <a:uFillTx/>
              <a:latin typeface="Arial"/>
              <a:ea typeface="+mn-ea"/>
              <a:cs typeface="+mn-cs"/>
            </a:endParaRPr>
          </a:p>
        </p:txBody>
      </p:sp>
      <p:sp>
        <p:nvSpPr>
          <p:cNvPr id="7" name="Shape 39">
            <a:extLst>
              <a:ext uri="{FF2B5EF4-FFF2-40B4-BE49-F238E27FC236}">
                <a16:creationId xmlns:a16="http://schemas.microsoft.com/office/drawing/2014/main" id="{939E52B1-3DE5-58BD-26DC-2D5EDC66C52F}"/>
              </a:ext>
            </a:extLst>
          </p:cNvPr>
          <p:cNvSpPr/>
          <p:nvPr/>
        </p:nvSpPr>
        <p:spPr>
          <a:xfrm>
            <a:off x="10189452" y="6454906"/>
            <a:ext cx="1406199" cy="310680"/>
          </a:xfrm>
          <a:prstGeom prst="roundRect">
            <a:avLst>
              <a:gd name="adj" fmla="val 17647"/>
            </a:avLst>
          </a:prstGeom>
          <a:noFill/>
          <a:ln w="12700">
            <a:solidFill>
              <a:srgbClr val="00B05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r>
              <a:rPr lang="en-US" sz="1000" b="1" spc="-1" dirty="0">
                <a:latin typeface="Calibri"/>
                <a:ea typeface="Calibri"/>
              </a:rPr>
              <a:t>Best Accuracy : 80,1%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32238"/>
        </a:solidFill>
        <a:effectLst/>
      </p:bgPr>
    </p:bg>
    <p:spTree>
      <p:nvGrpSpPr>
        <p:cNvPr id="1" name="">
          <a:extLst>
            <a:ext uri="{FF2B5EF4-FFF2-40B4-BE49-F238E27FC236}">
              <a16:creationId xmlns:a16="http://schemas.microsoft.com/office/drawing/2014/main" id="{385FB633-9DDC-B983-7E7F-5FF32026FD0D}"/>
            </a:ext>
          </a:extLst>
        </p:cNvPr>
        <p:cNvGrpSpPr/>
        <p:nvPr/>
      </p:nvGrpSpPr>
      <p:grpSpPr>
        <a:xfrm>
          <a:off x="0" y="0"/>
          <a:ext cx="0" cy="0"/>
          <a:chOff x="0" y="0"/>
          <a:chExt cx="0" cy="0"/>
        </a:xfrm>
      </p:grpSpPr>
      <p:sp>
        <p:nvSpPr>
          <p:cNvPr id="780" name="Shape 0">
            <a:extLst>
              <a:ext uri="{FF2B5EF4-FFF2-40B4-BE49-F238E27FC236}">
                <a16:creationId xmlns:a16="http://schemas.microsoft.com/office/drawing/2014/main" id="{0E6617A3-5989-2150-53A4-E6FB5E7B9048}"/>
              </a:ext>
            </a:extLst>
          </p:cNvPr>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4" name="Text 4">
            <a:extLst>
              <a:ext uri="{FF2B5EF4-FFF2-40B4-BE49-F238E27FC236}">
                <a16:creationId xmlns:a16="http://schemas.microsoft.com/office/drawing/2014/main" id="{575E5A64-9F24-DAF6-1668-94A7B763E6CF}"/>
              </a:ext>
            </a:extLst>
          </p:cNvPr>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dirty="0">
                <a:solidFill>
                  <a:srgbClr val="FFFFFF"/>
                </a:solidFill>
                <a:latin typeface="Arial Black"/>
                <a:ea typeface="Arial Black"/>
              </a:rPr>
              <a:t>Evaluation </a:t>
            </a:r>
            <a:endParaRPr lang="en-US" sz="2600" b="0" strike="noStrike" spc="-1" dirty="0">
              <a:solidFill>
                <a:srgbClr val="000000"/>
              </a:solidFill>
              <a:latin typeface="Arial"/>
            </a:endParaRPr>
          </a:p>
        </p:txBody>
      </p:sp>
      <p:pic>
        <p:nvPicPr>
          <p:cNvPr id="9" name="Picture 8">
            <a:extLst>
              <a:ext uri="{FF2B5EF4-FFF2-40B4-BE49-F238E27FC236}">
                <a16:creationId xmlns:a16="http://schemas.microsoft.com/office/drawing/2014/main" id="{75370DC9-2110-822F-AB2E-EFCAF352417F}"/>
              </a:ext>
            </a:extLst>
          </p:cNvPr>
          <p:cNvPicPr>
            <a:picLocks noChangeAspect="1"/>
          </p:cNvPicPr>
          <p:nvPr/>
        </p:nvPicPr>
        <p:blipFill>
          <a:blip r:embed="rId3"/>
          <a:stretch>
            <a:fillRect/>
          </a:stretch>
        </p:blipFill>
        <p:spPr>
          <a:xfrm>
            <a:off x="0" y="987120"/>
            <a:ext cx="7475387" cy="5870880"/>
          </a:xfrm>
          <a:prstGeom prst="rect">
            <a:avLst/>
          </a:prstGeom>
        </p:spPr>
      </p:pic>
      <p:sp>
        <p:nvSpPr>
          <p:cNvPr id="11" name="TextBox 10">
            <a:extLst>
              <a:ext uri="{FF2B5EF4-FFF2-40B4-BE49-F238E27FC236}">
                <a16:creationId xmlns:a16="http://schemas.microsoft.com/office/drawing/2014/main" id="{E67A967E-F7FA-9501-3166-28041F0B68F2}"/>
              </a:ext>
            </a:extLst>
          </p:cNvPr>
          <p:cNvSpPr txBox="1"/>
          <p:nvPr/>
        </p:nvSpPr>
        <p:spPr>
          <a:xfrm>
            <a:off x="7582332" y="1687354"/>
            <a:ext cx="4471883" cy="5170646"/>
          </a:xfrm>
          <a:prstGeom prst="rect">
            <a:avLst/>
          </a:prstGeom>
          <a:noFill/>
        </p:spPr>
        <p:txBody>
          <a:bodyPr wrap="square">
            <a:spAutoFit/>
          </a:bodyPr>
          <a:lstStyle/>
          <a:p>
            <a:endParaRPr lang="en-US" sz="1400" spc="-1" dirty="0">
              <a:solidFill>
                <a:schemeClr val="tx2">
                  <a:lumMod val="25000"/>
                </a:schemeClr>
              </a:solidFill>
              <a:latin typeface="Calibri"/>
              <a:ea typeface="Calibri"/>
            </a:endParaRPr>
          </a:p>
          <a:p>
            <a:pPr marL="285750" indent="-285750">
              <a:buFont typeface="Arial" panose="020B0604020202020204" pitchFamily="34" charset="0"/>
              <a:buChar char="•"/>
            </a:pPr>
            <a:endParaRPr lang="en-US" sz="1400" spc="-1" dirty="0">
              <a:latin typeface="Calibri"/>
              <a:ea typeface="Calibri"/>
            </a:endParaRPr>
          </a:p>
          <a:p>
            <a:pPr marL="285750" indent="-285750">
              <a:buFont typeface="Arial" panose="020B0604020202020204" pitchFamily="34" charset="0"/>
              <a:buChar char="•"/>
            </a:pPr>
            <a:r>
              <a:rPr lang="en-US" sz="1400" spc="-1" dirty="0">
                <a:latin typeface="Calibri"/>
                <a:ea typeface="Calibri"/>
              </a:rPr>
              <a:t>Detects DOWN days more reliably (87.9% recall)</a:t>
            </a:r>
          </a:p>
          <a:p>
            <a:pPr marL="285750" indent="-285750">
              <a:buFont typeface="Arial" panose="020B0604020202020204" pitchFamily="34" charset="0"/>
              <a:buChar char="•"/>
            </a:pPr>
            <a:endParaRPr lang="en-US" sz="1400" spc="-1" dirty="0">
              <a:latin typeface="Calibri"/>
              <a:ea typeface="Calibri"/>
            </a:endParaRPr>
          </a:p>
          <a:p>
            <a:pPr marL="285750" indent="-285750">
              <a:buFont typeface="Arial" panose="020B0604020202020204" pitchFamily="34" charset="0"/>
              <a:buChar char="•"/>
            </a:pPr>
            <a:r>
              <a:rPr lang="en-US" sz="1400" spc="-1" dirty="0">
                <a:latin typeface="Calibri"/>
                <a:ea typeface="Calibri"/>
              </a:rPr>
              <a:t>More precise when calling UP (85.2% precision)</a:t>
            </a:r>
          </a:p>
          <a:p>
            <a:endParaRPr lang="en-US" dirty="0"/>
          </a:p>
          <a:p>
            <a:pPr marL="285750" indent="-285750">
              <a:buFont typeface="Arial" panose="020B0604020202020204" pitchFamily="34" charset="0"/>
              <a:buChar char="•"/>
            </a:pPr>
            <a:r>
              <a:rPr lang="en-US" sz="1400" spc="-1" dirty="0">
                <a:latin typeface="Calibri"/>
                <a:ea typeface="Calibri"/>
              </a:rPr>
              <a:t>Only 5/14 months beat the average 80% , meaning performance is right-skewed a few very strong months pull the average up, while the majority cluster slightly below.</a:t>
            </a:r>
          </a:p>
          <a:p>
            <a:pPr marL="285750" indent="-285750">
              <a:buFont typeface="Arial" panose="020B0604020202020204" pitchFamily="34" charset="0"/>
              <a:buChar char="•"/>
            </a:pPr>
            <a:endParaRPr lang="en-US" sz="1400" spc="-1" dirty="0">
              <a:latin typeface="Calibri"/>
              <a:ea typeface="Calibri"/>
            </a:endParaRPr>
          </a:p>
          <a:p>
            <a:pPr marL="285750" indent="-285750">
              <a:buFont typeface="Arial" panose="020B0604020202020204" pitchFamily="34" charset="0"/>
              <a:buChar char="•"/>
            </a:pPr>
            <a:r>
              <a:rPr lang="en-US" sz="1400" spc="-1" dirty="0">
                <a:latin typeface="Calibri"/>
                <a:ea typeface="Calibri"/>
              </a:rPr>
              <a:t>The 25.8pp spread between best and worst month is significant, This points to regime sensitivity: </a:t>
            </a:r>
          </a:p>
          <a:p>
            <a:endParaRPr lang="en-US" sz="1400" spc="-1" dirty="0">
              <a:latin typeface="Calibri"/>
              <a:ea typeface="Calibri"/>
            </a:endParaRPr>
          </a:p>
          <a:p>
            <a:pPr marL="285750" indent="-285750">
              <a:buFont typeface="Arial" panose="020B0604020202020204" pitchFamily="34" charset="0"/>
              <a:buChar char="•"/>
            </a:pPr>
            <a:r>
              <a:rPr lang="en-US" sz="1400" spc="-1" dirty="0">
                <a:latin typeface="Calibri"/>
                <a:ea typeface="Calibri"/>
              </a:rPr>
              <a:t>The model performs differently depending on market conditions.</a:t>
            </a:r>
          </a:p>
          <a:p>
            <a:endParaRPr lang="en-US" sz="1400" spc="-1" dirty="0">
              <a:latin typeface="Calibri"/>
              <a:ea typeface="Calibri"/>
            </a:endParaRPr>
          </a:p>
          <a:p>
            <a:pPr marL="285750" indent="-285750">
              <a:buFont typeface="Arial" panose="020B0604020202020204" pitchFamily="34" charset="0"/>
              <a:buChar char="•"/>
            </a:pPr>
            <a:r>
              <a:rPr lang="en-US" sz="1400" spc="-1" dirty="0">
                <a:latin typeface="Calibri"/>
                <a:ea typeface="Calibri"/>
              </a:rPr>
              <a:t>The 71% floor in May 2025 is still well above random, confirming robustness even in its worst period.</a:t>
            </a:r>
          </a:p>
          <a:p>
            <a:pPr marL="285750" indent="-285750">
              <a:buFont typeface="Arial" panose="020B0604020202020204" pitchFamily="34" charset="0"/>
              <a:buChar char="•"/>
            </a:pPr>
            <a:endParaRPr lang="en-US" sz="1400" spc="-1" dirty="0">
              <a:solidFill>
                <a:schemeClr val="bg1"/>
              </a:solidFill>
              <a:latin typeface="Calibri"/>
              <a:ea typeface="Calibri"/>
            </a:endParaRPr>
          </a:p>
          <a:p>
            <a:endParaRPr lang="en-US" dirty="0"/>
          </a:p>
          <a:p>
            <a:endParaRPr lang="en-US" sz="1400" spc="-1" dirty="0">
              <a:solidFill>
                <a:schemeClr val="bg1"/>
              </a:solidFill>
              <a:latin typeface="Calibri"/>
              <a:ea typeface="Calibri"/>
            </a:endParaRPr>
          </a:p>
          <a:p>
            <a:endParaRPr lang="en-DE" sz="1400" spc="-1" dirty="0">
              <a:solidFill>
                <a:schemeClr val="bg1"/>
              </a:solidFill>
              <a:latin typeface="Calibri"/>
              <a:ea typeface="Calibri"/>
            </a:endParaRPr>
          </a:p>
        </p:txBody>
      </p:sp>
    </p:spTree>
    <p:extLst>
      <p:ext uri="{BB962C8B-B14F-4D97-AF65-F5344CB8AC3E}">
        <p14:creationId xmlns:p14="http://schemas.microsoft.com/office/powerpoint/2010/main" val="10480416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814" name="HdrBg"/>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rgbClr val="FFFFFF"/>
              </a:solidFill>
              <a:latin typeface="Arial"/>
            </a:endParaRPr>
          </a:p>
        </p:txBody>
      </p:sp>
      <p:sp>
        <p:nvSpPr>
          <p:cNvPr id="815" name="OrangeStripe"/>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strike="noStrike" spc="-1">
              <a:solidFill>
                <a:srgbClr val="000000"/>
              </a:solidFill>
              <a:latin typeface="Arial"/>
            </a:endParaRPr>
          </a:p>
        </p:txBody>
      </p:sp>
      <p:sp>
        <p:nvSpPr>
          <p:cNvPr id="816" name="Title"/>
          <p:cNvSpPr/>
          <p:nvPr/>
        </p:nvSpPr>
        <p:spPr>
          <a:xfrm>
            <a:off x="228600" y="91440"/>
            <a:ext cx="119325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r>
              <a:rPr lang="en-US" sz="2600" b="1" strike="noStrike" spc="-1">
                <a:solidFill>
                  <a:srgbClr val="FFFFFF"/>
                </a:solidFill>
                <a:latin typeface="Arial Black"/>
              </a:rPr>
              <a:t>Benchmark Positioning : Where We Stand in Literature</a:t>
            </a:r>
            <a:endParaRPr lang="en-US" sz="2600" b="0" strike="noStrike" spc="-1">
              <a:solidFill>
                <a:srgbClr val="FFFFFF"/>
              </a:solidFill>
              <a:latin typeface="Arial"/>
            </a:endParaRPr>
          </a:p>
        </p:txBody>
      </p:sp>
      <p:sp>
        <p:nvSpPr>
          <p:cNvPr id="3" name="TextBox 2">
            <a:extLst>
              <a:ext uri="{FF2B5EF4-FFF2-40B4-BE49-F238E27FC236}">
                <a16:creationId xmlns:a16="http://schemas.microsoft.com/office/drawing/2014/main" id="{B97DF454-4EC6-FF2C-9E8A-015E4DC414AD}"/>
              </a:ext>
            </a:extLst>
          </p:cNvPr>
          <p:cNvSpPr txBox="1"/>
          <p:nvPr/>
        </p:nvSpPr>
        <p:spPr>
          <a:xfrm>
            <a:off x="3518598" y="4832305"/>
            <a:ext cx="6100448" cy="1169551"/>
          </a:xfrm>
          <a:prstGeom prst="rect">
            <a:avLst/>
          </a:prstGeom>
          <a:noFill/>
        </p:spPr>
        <p:txBody>
          <a:bodyPr wrap="square">
            <a:spAutoFit/>
          </a:bodyPr>
          <a:lstStyle/>
          <a:p>
            <a:r>
              <a:rPr lang="en-US" sz="1400" spc="-1" dirty="0">
                <a:solidFill>
                  <a:schemeClr val="bg2">
                    <a:lumMod val="50000"/>
                  </a:schemeClr>
                </a:solidFill>
                <a:latin typeface="Calibri"/>
                <a:ea typeface="Calibri"/>
              </a:rPr>
              <a:t>Our model is placed in the top tier of published daily BTC direction models.</a:t>
            </a:r>
          </a:p>
          <a:p>
            <a:pPr>
              <a:buNone/>
            </a:pPr>
            <a:endParaRPr lang="en-US" sz="1400" spc="-1" dirty="0">
              <a:solidFill>
                <a:schemeClr val="bg2">
                  <a:lumMod val="50000"/>
                </a:schemeClr>
              </a:solidFill>
              <a:latin typeface="Calibri"/>
              <a:ea typeface="Calibri"/>
            </a:endParaRPr>
          </a:p>
          <a:p>
            <a:pPr marL="285750" indent="-285750">
              <a:buFont typeface="Wingdings" panose="05000000000000000000" pitchFamily="2" charset="2"/>
              <a:buChar char="ü"/>
            </a:pPr>
            <a:r>
              <a:rPr lang="en-US" sz="1400" spc="-1" dirty="0">
                <a:solidFill>
                  <a:schemeClr val="bg2">
                    <a:lumMod val="50000"/>
                  </a:schemeClr>
                </a:solidFill>
                <a:latin typeface="Calibri"/>
                <a:ea typeface="Calibri"/>
              </a:rPr>
              <a:t>Accuracy within 2–3% of the best deep learning models</a:t>
            </a:r>
          </a:p>
          <a:p>
            <a:pPr marL="285750" indent="-285750">
              <a:buFont typeface="Wingdings" panose="05000000000000000000" pitchFamily="2" charset="2"/>
              <a:buChar char="ü"/>
            </a:pPr>
            <a:r>
              <a:rPr lang="en-US" sz="1400" spc="-1" dirty="0">
                <a:solidFill>
                  <a:schemeClr val="bg2">
                    <a:lumMod val="50000"/>
                  </a:schemeClr>
                </a:solidFill>
                <a:latin typeface="Calibri"/>
                <a:ea typeface="Calibri"/>
              </a:rPr>
              <a:t>Uses far fewer features (20 vs 87–225)</a:t>
            </a:r>
          </a:p>
          <a:p>
            <a:pPr marL="285750" indent="-285750">
              <a:buFont typeface="Wingdings" panose="05000000000000000000" pitchFamily="2" charset="2"/>
              <a:buChar char="ü"/>
            </a:pPr>
            <a:r>
              <a:rPr lang="en-US" sz="1400" spc="-1" dirty="0">
                <a:solidFill>
                  <a:schemeClr val="bg2">
                    <a:lumMod val="50000"/>
                  </a:schemeClr>
                </a:solidFill>
                <a:latin typeface="Calibri"/>
                <a:ea typeface="Calibri"/>
              </a:rPr>
              <a:t>Do not rely on on-chain data</a:t>
            </a:r>
          </a:p>
        </p:txBody>
      </p:sp>
      <p:graphicFrame>
        <p:nvGraphicFramePr>
          <p:cNvPr id="5" name="BenchTable">
            <a:extLst>
              <a:ext uri="{FF2B5EF4-FFF2-40B4-BE49-F238E27FC236}">
                <a16:creationId xmlns:a16="http://schemas.microsoft.com/office/drawing/2014/main" id="{F6913246-511E-6822-F36D-E468C1A1CF3F}"/>
              </a:ext>
            </a:extLst>
          </p:cNvPr>
          <p:cNvGraphicFramePr/>
          <p:nvPr>
            <p:extLst>
              <p:ext uri="{D42A27DB-BD31-4B8C-83A1-F6EECF244321}">
                <p14:modId xmlns:p14="http://schemas.microsoft.com/office/powerpoint/2010/main" val="3566061069"/>
              </p:ext>
            </p:extLst>
          </p:nvPr>
        </p:nvGraphicFramePr>
        <p:xfrm>
          <a:off x="162326" y="1343219"/>
          <a:ext cx="11836508" cy="2812613"/>
        </p:xfrm>
        <a:graphic>
          <a:graphicData uri="http://schemas.openxmlformats.org/drawingml/2006/table">
            <a:tbl>
              <a:tblPr/>
              <a:tblGrid>
                <a:gridCol w="1255415">
                  <a:extLst>
                    <a:ext uri="{9D8B030D-6E8A-4147-A177-3AD203B41FA5}">
                      <a16:colId xmlns:a16="http://schemas.microsoft.com/office/drawing/2014/main" val="20000"/>
                    </a:ext>
                  </a:extLst>
                </a:gridCol>
                <a:gridCol w="1198296">
                  <a:extLst>
                    <a:ext uri="{9D8B030D-6E8A-4147-A177-3AD203B41FA5}">
                      <a16:colId xmlns:a16="http://schemas.microsoft.com/office/drawing/2014/main" val="20001"/>
                    </a:ext>
                  </a:extLst>
                </a:gridCol>
                <a:gridCol w="547780">
                  <a:extLst>
                    <a:ext uri="{9D8B030D-6E8A-4147-A177-3AD203B41FA5}">
                      <a16:colId xmlns:a16="http://schemas.microsoft.com/office/drawing/2014/main" val="20002"/>
                    </a:ext>
                  </a:extLst>
                </a:gridCol>
                <a:gridCol w="1541017">
                  <a:extLst>
                    <a:ext uri="{9D8B030D-6E8A-4147-A177-3AD203B41FA5}">
                      <a16:colId xmlns:a16="http://schemas.microsoft.com/office/drawing/2014/main" val="20003"/>
                    </a:ext>
                  </a:extLst>
                </a:gridCol>
                <a:gridCol w="913103">
                  <a:extLst>
                    <a:ext uri="{9D8B030D-6E8A-4147-A177-3AD203B41FA5}">
                      <a16:colId xmlns:a16="http://schemas.microsoft.com/office/drawing/2014/main" val="20004"/>
                    </a:ext>
                  </a:extLst>
                </a:gridCol>
                <a:gridCol w="929701">
                  <a:extLst>
                    <a:ext uri="{9D8B030D-6E8A-4147-A177-3AD203B41FA5}">
                      <a16:colId xmlns:a16="http://schemas.microsoft.com/office/drawing/2014/main" val="20005"/>
                    </a:ext>
                  </a:extLst>
                </a:gridCol>
                <a:gridCol w="814283">
                  <a:extLst>
                    <a:ext uri="{9D8B030D-6E8A-4147-A177-3AD203B41FA5}">
                      <a16:colId xmlns:a16="http://schemas.microsoft.com/office/drawing/2014/main" val="20006"/>
                    </a:ext>
                  </a:extLst>
                </a:gridCol>
                <a:gridCol w="2215918">
                  <a:extLst>
                    <a:ext uri="{9D8B030D-6E8A-4147-A177-3AD203B41FA5}">
                      <a16:colId xmlns:a16="http://schemas.microsoft.com/office/drawing/2014/main" val="20008"/>
                    </a:ext>
                  </a:extLst>
                </a:gridCol>
                <a:gridCol w="2420995">
                  <a:extLst>
                    <a:ext uri="{9D8B030D-6E8A-4147-A177-3AD203B41FA5}">
                      <a16:colId xmlns:a16="http://schemas.microsoft.com/office/drawing/2014/main" val="20009"/>
                    </a:ext>
                  </a:extLst>
                </a:gridCol>
              </a:tblGrid>
              <a:tr h="461029">
                <a:tc>
                  <a:txBody>
                    <a:bodyPr/>
                    <a:lstStyle/>
                    <a:p>
                      <a:pPr>
                        <a:lnSpc>
                          <a:spcPct val="100000"/>
                        </a:lnSpc>
                      </a:pPr>
                      <a:r>
                        <a:rPr lang="en-US" sz="1200" b="1" strike="noStrike" spc="-1" dirty="0">
                          <a:solidFill>
                            <a:srgbClr val="FFFFFF"/>
                          </a:solidFill>
                          <a:latin typeface="Arial"/>
                        </a:rPr>
                        <a:t>Study</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a:solidFill>
                            <a:srgbClr val="FFFFFF"/>
                          </a:solidFill>
                          <a:latin typeface="Arial"/>
                        </a:rPr>
                        <a:t>Authors</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a:solidFill>
                            <a:srgbClr val="FFFFFF"/>
                          </a:solidFill>
                          <a:latin typeface="Arial"/>
                        </a:rPr>
                        <a:t>Year</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dirty="0">
                          <a:solidFill>
                            <a:srgbClr val="FFFFFF"/>
                          </a:solidFill>
                          <a:latin typeface="Arial"/>
                        </a:rPr>
                        <a:t>Model</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dirty="0">
                          <a:solidFill>
                            <a:srgbClr val="FFFFFF"/>
                          </a:solidFill>
                          <a:latin typeface="Arial"/>
                        </a:rPr>
                        <a:t>Horizon</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a:solidFill>
                            <a:srgbClr val="FFFFFF"/>
                          </a:solidFill>
                          <a:latin typeface="Arial"/>
                        </a:rPr>
                        <a:t>Accuracy</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a:solidFill>
                            <a:srgbClr val="FFFFFF"/>
                          </a:solidFill>
                          <a:latin typeface="Arial"/>
                        </a:rPr>
                        <a:t># Feat.</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tc>
                  <a:txBody>
                    <a:bodyPr/>
                    <a:lstStyle/>
                    <a:p>
                      <a:pPr algn="ctr">
                        <a:lnSpc>
                          <a:spcPct val="100000"/>
                        </a:lnSpc>
                      </a:pPr>
                      <a:r>
                        <a:rPr lang="en-US" sz="1200" b="1" strike="noStrike" spc="-1">
                          <a:solidFill>
                            <a:srgbClr val="FFFFFF"/>
                          </a:solidFill>
                          <a:latin typeface="Arial"/>
                        </a:rPr>
                        <a:t>Data Type</a:t>
                      </a:r>
                      <a:endParaRPr lang="en-US" sz="12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a:solidFill>
                        <a:srgbClr val="000000"/>
                      </a:solidFill>
                      <a:prstDash val="solid"/>
                    </a:lnT>
                    <a:lnB w="12240" cap="flat" cmpd="sng" algn="ctr">
                      <a:solidFill>
                        <a:srgbClr val="00D4AA"/>
                      </a:solidFill>
                      <a:prstDash val="solid"/>
                      <a:round/>
                      <a:headEnd type="none" w="med" len="med"/>
                      <a:tailEnd type="none" w="med" len="med"/>
                    </a:lnB>
                    <a:solidFill>
                      <a:srgbClr val="1A3550"/>
                    </a:solidFill>
                  </a:tcPr>
                </a:tc>
                <a:tc>
                  <a:txBody>
                    <a:bodyPr/>
                    <a:lstStyle/>
                    <a:p>
                      <a:pPr>
                        <a:lnSpc>
                          <a:spcPct val="100000"/>
                        </a:lnSpc>
                      </a:pPr>
                      <a:r>
                        <a:rPr lang="en-US" sz="1200" b="1" strike="noStrike" spc="-1" dirty="0">
                          <a:solidFill>
                            <a:srgbClr val="FFFFFF"/>
                          </a:solidFill>
                          <a:latin typeface="Arial"/>
                        </a:rPr>
                        <a:t>Source</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D4AA"/>
                      </a:solidFill>
                      <a:prstDash val="solid"/>
                    </a:lnB>
                    <a:solidFill>
                      <a:srgbClr val="1A3550"/>
                    </a:solidFill>
                  </a:tcPr>
                </a:tc>
                <a:extLst>
                  <a:ext uri="{0D108BD9-81ED-4DB2-BD59-A6C34878D82A}">
                    <a16:rowId xmlns:a16="http://schemas.microsoft.com/office/drawing/2014/main" val="10000"/>
                  </a:ext>
                </a:extLst>
              </a:tr>
              <a:tr h="461029">
                <a:tc>
                  <a:txBody>
                    <a:bodyPr/>
                    <a:lstStyle/>
                    <a:p>
                      <a:pPr>
                        <a:lnSpc>
                          <a:spcPct val="100000"/>
                        </a:lnSpc>
                      </a:pPr>
                      <a:r>
                        <a:rPr lang="en-US" sz="1200" b="0" strike="noStrike" spc="-1" dirty="0">
                          <a:solidFill>
                            <a:srgbClr val="FFFFFF"/>
                          </a:solidFill>
                          <a:latin typeface="Calibri"/>
                        </a:rPr>
                        <a:t>Omole &amp; Enke</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A. Omole &amp; D. Enke</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2024</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CNN-LSTM + Boruta</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Daily</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82.44%</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87</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Blockchain + Price</a:t>
                      </a:r>
                      <a:endParaRPr lang="en-US" sz="12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cap="flat" cmpd="sng" algn="ctr">
                      <a:solidFill>
                        <a:srgbClr val="00D4AA"/>
                      </a:solidFill>
                      <a:prstDash val="solid"/>
                      <a:round/>
                      <a:headEnd type="none" w="med" len="med"/>
                      <a:tailEnd type="none" w="med" len="med"/>
                    </a:lnT>
                    <a:lnB w="12240" cap="flat" cmpd="sng" algn="ctr">
                      <a:solidFill>
                        <a:srgbClr val="000000"/>
                      </a:solidFill>
                      <a:prstDash val="solid"/>
                      <a:round/>
                      <a:headEnd type="none" w="med" len="med"/>
                      <a:tailEnd type="none" w="med" len="med"/>
                    </a:lnB>
                    <a:solidFill>
                      <a:srgbClr val="132238"/>
                    </a:solidFill>
                  </a:tcPr>
                </a:tc>
                <a:tc>
                  <a:txBody>
                    <a:bodyPr/>
                    <a:lstStyle/>
                    <a:p>
                      <a:pPr>
                        <a:lnSpc>
                          <a:spcPct val="100000"/>
                        </a:lnSpc>
                      </a:pPr>
                      <a:r>
                        <a:rPr lang="en-US" sz="1200" b="0" strike="noStrike" spc="-1">
                          <a:solidFill>
                            <a:srgbClr val="A8BCCF"/>
                          </a:solidFill>
                          <a:latin typeface="Calibri"/>
                        </a:rPr>
                        <a:t>Financial Innovation (Springer)</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D4AA"/>
                      </a:solidFill>
                      <a:prstDash val="solid"/>
                      <a:round/>
                      <a:headEnd type="none" w="med" len="med"/>
                      <a:tailEnd type="none" w="med" len="med"/>
                    </a:lnT>
                    <a:lnB w="12240">
                      <a:solidFill>
                        <a:srgbClr val="000000"/>
                      </a:solidFill>
                      <a:prstDash val="solid"/>
                    </a:lnB>
                    <a:solidFill>
                      <a:srgbClr val="132238"/>
                    </a:solidFill>
                  </a:tcPr>
                </a:tc>
                <a:extLst>
                  <a:ext uri="{0D108BD9-81ED-4DB2-BD59-A6C34878D82A}">
                    <a16:rowId xmlns:a16="http://schemas.microsoft.com/office/drawing/2014/main" val="10001"/>
                  </a:ext>
                </a:extLst>
              </a:tr>
              <a:tr h="645440">
                <a:tc>
                  <a:txBody>
                    <a:bodyPr/>
                    <a:lstStyle/>
                    <a:p>
                      <a:pPr>
                        <a:lnSpc>
                          <a:spcPct val="100000"/>
                        </a:lnSpc>
                      </a:pPr>
                      <a:r>
                        <a:rPr lang="en-US" sz="1200" b="0" strike="noStrike" spc="-1" dirty="0">
                          <a:solidFill>
                            <a:srgbClr val="FFFFFF"/>
                          </a:solidFill>
                          <a:latin typeface="Calibri"/>
                        </a:rPr>
                        <a:t>ScienceDirect Study</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Elsevier Research Team</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a:solidFill>
                            <a:srgbClr val="A8BCCF"/>
                          </a:solidFill>
                          <a:latin typeface="Calibri"/>
                        </a:rPr>
                        <a:t>2025</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SVM (best)</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a:solidFill>
                            <a:srgbClr val="A8BCCF"/>
                          </a:solidFill>
                          <a:latin typeface="Calibri"/>
                        </a:rPr>
                        <a:t>Daily</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83%</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225</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a:solidFill>
                            <a:srgbClr val="A8BCCF"/>
                          </a:solidFill>
                          <a:latin typeface="Calibri"/>
                        </a:rPr>
                        <a:t>Blockchain + TA</a:t>
                      </a:r>
                      <a:endParaRPr lang="en-US" sz="12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cap="flat" cmpd="sng" algn="ctr">
                      <a:solidFill>
                        <a:srgbClr val="000000"/>
                      </a:solidFill>
                      <a:prstDash val="solid"/>
                      <a:round/>
                      <a:headEnd type="none" w="med" len="med"/>
                      <a:tailEnd type="none" w="med" len="med"/>
                    </a:lnT>
                    <a:lnB w="12240" cap="flat" cmpd="sng" algn="ctr">
                      <a:solidFill>
                        <a:srgbClr val="000000"/>
                      </a:solidFill>
                      <a:prstDash val="solid"/>
                      <a:round/>
                      <a:headEnd type="none" w="med" len="med"/>
                      <a:tailEnd type="none" w="med" len="med"/>
                    </a:lnB>
                    <a:solidFill>
                      <a:srgbClr val="1A3550"/>
                    </a:solidFill>
                  </a:tcPr>
                </a:tc>
                <a:tc>
                  <a:txBody>
                    <a:bodyPr/>
                    <a:lstStyle/>
                    <a:p>
                      <a:pPr>
                        <a:lnSpc>
                          <a:spcPct val="100000"/>
                        </a:lnSpc>
                      </a:pPr>
                      <a:r>
                        <a:rPr lang="en-US" sz="1200" b="0" strike="noStrike" spc="-1" dirty="0">
                          <a:solidFill>
                            <a:srgbClr val="A8BCCF"/>
                          </a:solidFill>
                          <a:latin typeface="Calibri"/>
                        </a:rPr>
                        <a:t>Engineering App. AI (Elsevier)</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extLst>
                  <a:ext uri="{0D108BD9-81ED-4DB2-BD59-A6C34878D82A}">
                    <a16:rowId xmlns:a16="http://schemas.microsoft.com/office/drawing/2014/main" val="10002"/>
                  </a:ext>
                </a:extLst>
              </a:tr>
              <a:tr h="392043">
                <a:tc>
                  <a:txBody>
                    <a:bodyPr/>
                    <a:lstStyle/>
                    <a:p>
                      <a:pPr>
                        <a:lnSpc>
                          <a:spcPct val="100000"/>
                        </a:lnSpc>
                      </a:pPr>
                      <a:r>
                        <a:rPr lang="en-US" sz="1200" b="0" strike="noStrike" spc="-1">
                          <a:solidFill>
                            <a:srgbClr val="FFFFFF"/>
                          </a:solidFill>
                          <a:latin typeface="Calibri"/>
                        </a:rPr>
                        <a:t>Bianchi et al.</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dirty="0">
                          <a:solidFill>
                            <a:srgbClr val="A8BCCF"/>
                          </a:solidFill>
                          <a:latin typeface="Calibri"/>
                        </a:rPr>
                        <a:t>Bianchi et al.</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2022</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Random Forest</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dirty="0">
                          <a:solidFill>
                            <a:srgbClr val="A8BCCF"/>
                          </a:solidFill>
                          <a:latin typeface="Calibri"/>
                        </a:rPr>
                        <a:t>5-day </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75–80%</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50</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200" b="0" strike="noStrike" spc="-1">
                          <a:solidFill>
                            <a:srgbClr val="A8BCCF"/>
                          </a:solidFill>
                          <a:latin typeface="Calibri"/>
                        </a:rPr>
                        <a:t>Macro + Technical</a:t>
                      </a:r>
                      <a:endParaRPr lang="en-US" sz="12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cap="flat" cmpd="sng" algn="ctr">
                      <a:solidFill>
                        <a:srgbClr val="000000"/>
                      </a:solidFill>
                      <a:prstDash val="solid"/>
                      <a:round/>
                      <a:headEnd type="none" w="med" len="med"/>
                      <a:tailEnd type="none" w="med" len="med"/>
                    </a:lnT>
                    <a:lnB w="12240" cap="flat" cmpd="sng" algn="ctr">
                      <a:solidFill>
                        <a:srgbClr val="000000"/>
                      </a:solidFill>
                      <a:prstDash val="solid"/>
                      <a:round/>
                      <a:headEnd type="none" w="med" len="med"/>
                      <a:tailEnd type="none" w="med" len="med"/>
                    </a:lnB>
                    <a:solidFill>
                      <a:srgbClr val="132238"/>
                    </a:solidFill>
                  </a:tcPr>
                </a:tc>
                <a:tc>
                  <a:txBody>
                    <a:bodyPr/>
                    <a:lstStyle/>
                    <a:p>
                      <a:pPr>
                        <a:lnSpc>
                          <a:spcPct val="100000"/>
                        </a:lnSpc>
                      </a:pPr>
                      <a:r>
                        <a:rPr lang="en-US" sz="1200" b="0" strike="noStrike" spc="-1">
                          <a:solidFill>
                            <a:srgbClr val="A8BCCF"/>
                          </a:solidFill>
                          <a:latin typeface="Calibri"/>
                        </a:rPr>
                        <a:t>J. Risk &amp; Fin. Management</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extLst>
                  <a:ext uri="{0D108BD9-81ED-4DB2-BD59-A6C34878D82A}">
                    <a16:rowId xmlns:a16="http://schemas.microsoft.com/office/drawing/2014/main" val="10003"/>
                  </a:ext>
                </a:extLst>
              </a:tr>
              <a:tr h="392043">
                <a:tc>
                  <a:txBody>
                    <a:bodyPr/>
                    <a:lstStyle/>
                    <a:p>
                      <a:pPr>
                        <a:lnSpc>
                          <a:spcPct val="100000"/>
                        </a:lnSpc>
                      </a:pPr>
                      <a:r>
                        <a:rPr lang="en-US" sz="1200" b="0" strike="noStrike" spc="-1">
                          <a:solidFill>
                            <a:srgbClr val="FFFFFF"/>
                          </a:solidFill>
                          <a:latin typeface="Calibri"/>
                        </a:rPr>
                        <a:t>Jaquart et al.</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Jaquart et al.</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a:solidFill>
                            <a:srgbClr val="A8BCCF"/>
                          </a:solidFill>
                          <a:latin typeface="Calibri"/>
                        </a:rPr>
                        <a:t>2021</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GB / RNN</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1–60 min </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kern="1200" spc="-1" dirty="0">
                          <a:solidFill>
                            <a:srgbClr val="A8BCCF"/>
                          </a:solidFill>
                          <a:latin typeface="Calibri"/>
                          <a:ea typeface="+mn-ea"/>
                          <a:cs typeface="+mn-cs"/>
                        </a:rPr>
                        <a:t>70%</a:t>
                      </a: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50</a:t>
                      </a:r>
                      <a:endParaRPr lang="en-US" sz="12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200" b="0" strike="noStrike" spc="-1" dirty="0">
                          <a:solidFill>
                            <a:srgbClr val="A8BCCF"/>
                          </a:solidFill>
                          <a:latin typeface="Calibri"/>
                        </a:rPr>
                        <a:t>TA + Chain + Sentiment</a:t>
                      </a:r>
                      <a:endParaRPr lang="en-US" sz="1200" b="0" strike="noStrike" spc="-1" dirty="0">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cap="flat" cmpd="sng" algn="ctr">
                      <a:solidFill>
                        <a:srgbClr val="000000"/>
                      </a:solidFill>
                      <a:prstDash val="solid"/>
                      <a:round/>
                      <a:headEnd type="none" w="med" len="med"/>
                      <a:tailEnd type="none" w="med" len="med"/>
                    </a:lnT>
                    <a:lnB w="12240" cap="flat" cmpd="sng" algn="ctr">
                      <a:solidFill>
                        <a:srgbClr val="000000"/>
                      </a:solidFill>
                      <a:prstDash val="solid"/>
                      <a:round/>
                      <a:headEnd type="none" w="med" len="med"/>
                      <a:tailEnd type="none" w="med" len="med"/>
                    </a:lnB>
                    <a:solidFill>
                      <a:srgbClr val="1A3550"/>
                    </a:solidFill>
                  </a:tcPr>
                </a:tc>
                <a:tc>
                  <a:txBody>
                    <a:bodyPr/>
                    <a:lstStyle/>
                    <a:p>
                      <a:pPr>
                        <a:lnSpc>
                          <a:spcPct val="100000"/>
                        </a:lnSpc>
                      </a:pPr>
                      <a:r>
                        <a:rPr lang="en-US" sz="1200" b="0" strike="noStrike" spc="-1">
                          <a:solidFill>
                            <a:srgbClr val="A8BCCF"/>
                          </a:solidFill>
                          <a:latin typeface="Calibri"/>
                        </a:rPr>
                        <a:t>Electronic Markets</a:t>
                      </a:r>
                      <a:endParaRPr lang="en-US" sz="12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extLst>
                  <a:ext uri="{0D108BD9-81ED-4DB2-BD59-A6C34878D82A}">
                    <a16:rowId xmlns:a16="http://schemas.microsoft.com/office/drawing/2014/main" val="10004"/>
                  </a:ext>
                </a:extLst>
              </a:tr>
              <a:tr h="461029">
                <a:tc>
                  <a:txBody>
                    <a:bodyPr/>
                    <a:lstStyle/>
                    <a:p>
                      <a:pPr>
                        <a:lnSpc>
                          <a:spcPct val="100000"/>
                        </a:lnSpc>
                      </a:pPr>
                      <a:r>
                        <a:rPr lang="en-US" sz="1200" b="1" strike="noStrike" spc="-1" dirty="0">
                          <a:solidFill>
                            <a:srgbClr val="132238"/>
                          </a:solidFill>
                          <a:latin typeface="Arial"/>
                        </a:rPr>
                        <a:t>★ Our Model</a:t>
                      </a: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0" strike="noStrike" kern="1200" spc="-1" dirty="0" err="1">
                          <a:solidFill>
                            <a:schemeClr val="bg2">
                              <a:lumMod val="50000"/>
                            </a:schemeClr>
                          </a:solidFill>
                          <a:latin typeface="Calibri"/>
                          <a:ea typeface="+mn-ea"/>
                          <a:cs typeface="+mn-cs"/>
                        </a:rPr>
                        <a:t>Maryem.T</a:t>
                      </a:r>
                      <a:endParaRPr lang="en-US" sz="1200" b="0" strike="noStrike" kern="1200" spc="-1" dirty="0">
                        <a:solidFill>
                          <a:schemeClr val="bg2">
                            <a:lumMod val="50000"/>
                          </a:schemeClr>
                        </a:solidFill>
                        <a:latin typeface="Calibri"/>
                        <a:ea typeface="+mn-ea"/>
                        <a:cs typeface="+mn-cs"/>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1" strike="noStrike" spc="-1" dirty="0">
                          <a:solidFill>
                            <a:srgbClr val="132238"/>
                          </a:solidFill>
                          <a:latin typeface="Arial"/>
                        </a:rPr>
                        <a:t>2026</a:t>
                      </a: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1" strike="noStrike" spc="-1" dirty="0">
                          <a:solidFill>
                            <a:srgbClr val="132238"/>
                          </a:solidFill>
                          <a:latin typeface="Arial"/>
                        </a:rPr>
                        <a:t>GB + SHAP</a:t>
                      </a: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1" strike="noStrike" spc="-1" dirty="0">
                          <a:solidFill>
                            <a:srgbClr val="132238"/>
                          </a:solidFill>
                          <a:latin typeface="Arial"/>
                        </a:rPr>
                        <a:t>Daily</a:t>
                      </a: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1" strike="noStrike" spc="-1" dirty="0">
                          <a:solidFill>
                            <a:srgbClr val="132238"/>
                          </a:solidFill>
                          <a:latin typeface="Arial"/>
                        </a:rPr>
                        <a:t>80.1%</a:t>
                      </a: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1" strike="noStrike" spc="-1" dirty="0">
                          <a:solidFill>
                            <a:srgbClr val="132238"/>
                          </a:solidFill>
                          <a:latin typeface="Arial"/>
                        </a:rPr>
                        <a:t>20</a:t>
                      </a: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gn="ctr">
                        <a:lnSpc>
                          <a:spcPct val="100000"/>
                        </a:lnSpc>
                      </a:pPr>
                      <a:r>
                        <a:rPr lang="en-US" sz="1200" b="1" strike="noStrike" spc="-1" dirty="0">
                          <a:solidFill>
                            <a:srgbClr val="132238"/>
                          </a:solidFill>
                          <a:latin typeface="Arial"/>
                        </a:rPr>
                        <a:t>TA + Macro + Sentiment</a:t>
                      </a:r>
                      <a:endParaRPr lang="en-US" sz="1200" b="0" strike="noStrike" spc="-1" dirty="0">
                        <a:solidFill>
                          <a:srgbClr val="000000"/>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tc>
                  <a:txBody>
                    <a:bodyPr/>
                    <a:lstStyle/>
                    <a:p>
                      <a:pPr>
                        <a:lnSpc>
                          <a:spcPct val="100000"/>
                        </a:lnSpc>
                      </a:pPr>
                      <a:endParaRPr lang="en-US" sz="1200" b="0" strike="noStrike" spc="-1" dirty="0">
                        <a:solidFill>
                          <a:srgbClr val="000000"/>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F7931A"/>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0B79F7CB-4687-37FC-866D-2C16DC4D3C21}"/>
            </a:ext>
          </a:extLst>
        </p:cNvPr>
        <p:cNvGrpSpPr/>
        <p:nvPr/>
      </p:nvGrpSpPr>
      <p:grpSpPr>
        <a:xfrm>
          <a:off x="0" y="0"/>
          <a:ext cx="0" cy="0"/>
          <a:chOff x="0" y="0"/>
          <a:chExt cx="0" cy="0"/>
        </a:xfrm>
      </p:grpSpPr>
      <p:sp>
        <p:nvSpPr>
          <p:cNvPr id="780" name="Shape 0">
            <a:extLst>
              <a:ext uri="{FF2B5EF4-FFF2-40B4-BE49-F238E27FC236}">
                <a16:creationId xmlns:a16="http://schemas.microsoft.com/office/drawing/2014/main" id="{DBE5C491-2102-FB9C-F81F-C38432CFC360}"/>
              </a:ext>
            </a:extLst>
          </p:cNvPr>
          <p:cNvSpPr/>
          <p:nvPr/>
        </p:nvSpPr>
        <p:spPr>
          <a:xfrm>
            <a:off x="0" y="0"/>
            <a:ext cx="12161160" cy="987120"/>
          </a:xfrm>
          <a:prstGeom prst="rect">
            <a:avLst/>
          </a:prstGeom>
          <a:solidFill>
            <a:srgbClr val="132238"/>
          </a:solidFill>
          <a:ln w="12700">
            <a:solidFill>
              <a:srgbClr val="13223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1" name="Shape 1">
            <a:extLst>
              <a:ext uri="{FF2B5EF4-FFF2-40B4-BE49-F238E27FC236}">
                <a16:creationId xmlns:a16="http://schemas.microsoft.com/office/drawing/2014/main" id="{BBB29FD0-4020-1E3B-BEF6-9E94BC07C7A0}"/>
              </a:ext>
            </a:extLst>
          </p:cNvPr>
          <p:cNvSpPr/>
          <p:nvPr/>
        </p:nvSpPr>
        <p:spPr>
          <a:xfrm>
            <a:off x="0" y="0"/>
            <a:ext cx="164160" cy="987120"/>
          </a:xfrm>
          <a:prstGeom prst="rect">
            <a:avLst/>
          </a:prstGeom>
          <a:solidFill>
            <a:srgbClr val="F7931A"/>
          </a:solidFill>
          <a:ln w="12700">
            <a:solidFill>
              <a:srgbClr val="F793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457200">
              <a:lnSpc>
                <a:spcPct val="100000"/>
              </a:lnSpc>
            </a:pPr>
            <a:endParaRPr lang="en-DE" sz="1800" b="0" strike="noStrike" spc="-1">
              <a:solidFill>
                <a:schemeClr val="dk1"/>
              </a:solidFill>
              <a:latin typeface="Rockwell"/>
            </a:endParaRPr>
          </a:p>
        </p:txBody>
      </p:sp>
      <p:sp>
        <p:nvSpPr>
          <p:cNvPr id="784" name="Text 4">
            <a:extLst>
              <a:ext uri="{FF2B5EF4-FFF2-40B4-BE49-F238E27FC236}">
                <a16:creationId xmlns:a16="http://schemas.microsoft.com/office/drawing/2014/main" id="{FC2C843C-6062-FA53-BAD2-61E235D20149}"/>
              </a:ext>
            </a:extLst>
          </p:cNvPr>
          <p:cNvSpPr/>
          <p:nvPr/>
        </p:nvSpPr>
        <p:spPr>
          <a:xfrm>
            <a:off x="0" y="91440"/>
            <a:ext cx="12161160" cy="804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457200">
              <a:lnSpc>
                <a:spcPct val="100000"/>
              </a:lnSpc>
              <a:tabLst>
                <a:tab pos="0" algn="l"/>
              </a:tabLst>
            </a:pPr>
            <a:r>
              <a:rPr lang="en-US" sz="2600" b="1" strike="noStrike" spc="-1" dirty="0">
                <a:solidFill>
                  <a:srgbClr val="FFFFFF"/>
                </a:solidFill>
                <a:latin typeface="Arial Black"/>
                <a:ea typeface="Arial Black"/>
              </a:rPr>
              <a:t>ETH testing journey</a:t>
            </a:r>
            <a:endParaRPr lang="en-US" sz="2600" b="0" strike="noStrike" spc="-1" dirty="0">
              <a:solidFill>
                <a:srgbClr val="000000"/>
              </a:solidFill>
              <a:latin typeface="Arial"/>
            </a:endParaRPr>
          </a:p>
        </p:txBody>
      </p:sp>
      <p:graphicFrame>
        <p:nvGraphicFramePr>
          <p:cNvPr id="8" name="MainTable">
            <a:extLst>
              <a:ext uri="{FF2B5EF4-FFF2-40B4-BE49-F238E27FC236}">
                <a16:creationId xmlns:a16="http://schemas.microsoft.com/office/drawing/2014/main" id="{3ACDCF19-843D-ADCF-62E9-953D27381EB1}"/>
              </a:ext>
            </a:extLst>
          </p:cNvPr>
          <p:cNvGraphicFramePr/>
          <p:nvPr>
            <p:extLst>
              <p:ext uri="{D42A27DB-BD31-4B8C-83A1-F6EECF244321}">
                <p14:modId xmlns:p14="http://schemas.microsoft.com/office/powerpoint/2010/main" val="3025664928"/>
              </p:ext>
            </p:extLst>
          </p:nvPr>
        </p:nvGraphicFramePr>
        <p:xfrm>
          <a:off x="45454" y="1078560"/>
          <a:ext cx="12101089" cy="3853801"/>
        </p:xfrm>
        <a:graphic>
          <a:graphicData uri="http://schemas.openxmlformats.org/drawingml/2006/table">
            <a:tbl>
              <a:tblPr/>
              <a:tblGrid>
                <a:gridCol w="555830">
                  <a:extLst>
                    <a:ext uri="{9D8B030D-6E8A-4147-A177-3AD203B41FA5}">
                      <a16:colId xmlns:a16="http://schemas.microsoft.com/office/drawing/2014/main" val="20000"/>
                    </a:ext>
                  </a:extLst>
                </a:gridCol>
                <a:gridCol w="1853046">
                  <a:extLst>
                    <a:ext uri="{9D8B030D-6E8A-4147-A177-3AD203B41FA5}">
                      <a16:colId xmlns:a16="http://schemas.microsoft.com/office/drawing/2014/main" val="20001"/>
                    </a:ext>
                  </a:extLst>
                </a:gridCol>
                <a:gridCol w="2107818">
                  <a:extLst>
                    <a:ext uri="{9D8B030D-6E8A-4147-A177-3AD203B41FA5}">
                      <a16:colId xmlns:a16="http://schemas.microsoft.com/office/drawing/2014/main" val="20002"/>
                    </a:ext>
                  </a:extLst>
                </a:gridCol>
                <a:gridCol w="810604">
                  <a:extLst>
                    <a:ext uri="{9D8B030D-6E8A-4147-A177-3AD203B41FA5}">
                      <a16:colId xmlns:a16="http://schemas.microsoft.com/office/drawing/2014/main" val="20003"/>
                    </a:ext>
                  </a:extLst>
                </a:gridCol>
                <a:gridCol w="810604">
                  <a:extLst>
                    <a:ext uri="{9D8B030D-6E8A-4147-A177-3AD203B41FA5}">
                      <a16:colId xmlns:a16="http://schemas.microsoft.com/office/drawing/2014/main" val="20004"/>
                    </a:ext>
                  </a:extLst>
                </a:gridCol>
                <a:gridCol w="845212">
                  <a:extLst>
                    <a:ext uri="{9D8B030D-6E8A-4147-A177-3AD203B41FA5}">
                      <a16:colId xmlns:a16="http://schemas.microsoft.com/office/drawing/2014/main" val="20005"/>
                    </a:ext>
                  </a:extLst>
                </a:gridCol>
                <a:gridCol w="845212">
                  <a:extLst>
                    <a:ext uri="{9D8B030D-6E8A-4147-A177-3AD203B41FA5}">
                      <a16:colId xmlns:a16="http://schemas.microsoft.com/office/drawing/2014/main" val="20006"/>
                    </a:ext>
                  </a:extLst>
                </a:gridCol>
                <a:gridCol w="845212">
                  <a:extLst>
                    <a:ext uri="{9D8B030D-6E8A-4147-A177-3AD203B41FA5}">
                      <a16:colId xmlns:a16="http://schemas.microsoft.com/office/drawing/2014/main" val="20007"/>
                    </a:ext>
                  </a:extLst>
                </a:gridCol>
                <a:gridCol w="567506">
                  <a:extLst>
                    <a:ext uri="{9D8B030D-6E8A-4147-A177-3AD203B41FA5}">
                      <a16:colId xmlns:a16="http://schemas.microsoft.com/office/drawing/2014/main" val="20008"/>
                    </a:ext>
                  </a:extLst>
                </a:gridCol>
                <a:gridCol w="2860045">
                  <a:extLst>
                    <a:ext uri="{9D8B030D-6E8A-4147-A177-3AD203B41FA5}">
                      <a16:colId xmlns:a16="http://schemas.microsoft.com/office/drawing/2014/main" val="20009"/>
                    </a:ext>
                  </a:extLst>
                </a:gridCol>
              </a:tblGrid>
              <a:tr h="425227">
                <a:tc>
                  <a:txBody>
                    <a:bodyPr/>
                    <a:lstStyle/>
                    <a:p>
                      <a:pPr algn="ctr">
                        <a:lnSpc>
                          <a:spcPct val="100000"/>
                        </a:lnSpc>
                      </a:pPr>
                      <a:r>
                        <a:rPr lang="en-US" sz="1100" b="1" strike="noStrike" spc="-1" dirty="0">
                          <a:solidFill>
                            <a:srgbClr val="FFFFFF"/>
                          </a:solidFill>
                          <a:latin typeface="Arial"/>
                        </a:rPr>
                        <a:t>Exp</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nSpc>
                          <a:spcPct val="100000"/>
                        </a:lnSpc>
                      </a:pPr>
                      <a:r>
                        <a:rPr lang="en-US" sz="1100" b="1" strike="noStrike" spc="-1" dirty="0">
                          <a:solidFill>
                            <a:srgbClr val="FFFFFF"/>
                          </a:solidFill>
                          <a:latin typeface="Arial"/>
                        </a:rPr>
                        <a:t>Experiment</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nSpc>
                          <a:spcPct val="100000"/>
                        </a:lnSpc>
                      </a:pPr>
                      <a:r>
                        <a:rPr lang="en-US" sz="1100" b="1" strike="noStrike" spc="-1">
                          <a:solidFill>
                            <a:srgbClr val="FFFFFF"/>
                          </a:solidFill>
                          <a:latin typeface="Arial"/>
                        </a:rPr>
                        <a:t>Winner Configuration</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gn="ctr">
                        <a:lnSpc>
                          <a:spcPct val="100000"/>
                        </a:lnSpc>
                      </a:pPr>
                      <a:r>
                        <a:rPr lang="en-US" sz="1100" b="1" strike="noStrike" spc="-1">
                          <a:solidFill>
                            <a:srgbClr val="FFFFFF"/>
                          </a:solidFill>
                          <a:latin typeface="Arial"/>
                        </a:rPr>
                        <a:t>Val Acc</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gn="ctr">
                        <a:lnSpc>
                          <a:spcPct val="100000"/>
                        </a:lnSpc>
                      </a:pPr>
                      <a:r>
                        <a:rPr lang="en-US" sz="1100" b="1" strike="noStrike" spc="-1">
                          <a:solidFill>
                            <a:srgbClr val="FFFFFF"/>
                          </a:solidFill>
                          <a:latin typeface="Arial"/>
                        </a:rPr>
                        <a:t>Val MCC</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gn="ctr">
                        <a:lnSpc>
                          <a:spcPct val="100000"/>
                        </a:lnSpc>
                      </a:pPr>
                      <a:r>
                        <a:rPr lang="en-US" sz="1100" b="1" strike="noStrike" spc="-1">
                          <a:solidFill>
                            <a:srgbClr val="FFFFFF"/>
                          </a:solidFill>
                          <a:latin typeface="Arial"/>
                        </a:rPr>
                        <a:t>Test Acc</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gn="ctr">
                        <a:lnSpc>
                          <a:spcPct val="100000"/>
                        </a:lnSpc>
                      </a:pPr>
                      <a:r>
                        <a:rPr lang="en-US" sz="1100" b="1" strike="noStrike" spc="-1">
                          <a:solidFill>
                            <a:srgbClr val="FFFFFF"/>
                          </a:solidFill>
                          <a:latin typeface="Arial"/>
                        </a:rPr>
                        <a:t>Test MCC</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gn="ctr">
                        <a:lnSpc>
                          <a:spcPct val="100000"/>
                        </a:lnSpc>
                      </a:pPr>
                      <a:r>
                        <a:rPr lang="en-US" sz="1100" b="1" strike="noStrike" spc="-1">
                          <a:solidFill>
                            <a:srgbClr val="FFFFFF"/>
                          </a:solidFill>
                          <a:latin typeface="Arial"/>
                        </a:rPr>
                        <a:t>AUC</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gn="ctr">
                        <a:lnSpc>
                          <a:spcPct val="100000"/>
                        </a:lnSpc>
                      </a:pPr>
                      <a:r>
                        <a:rPr lang="en-US" sz="1100" b="1" strike="noStrike" spc="-1">
                          <a:solidFill>
                            <a:srgbClr val="FFFFFF"/>
                          </a:solidFill>
                          <a:latin typeface="Arial"/>
                        </a:rPr>
                        <a:t>Gap</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tc>
                  <a:txBody>
                    <a:bodyPr/>
                    <a:lstStyle/>
                    <a:p>
                      <a:pPr>
                        <a:lnSpc>
                          <a:spcPct val="100000"/>
                        </a:lnSpc>
                      </a:pPr>
                      <a:r>
                        <a:rPr lang="en-US" sz="1100" b="1" strike="noStrike" spc="-1">
                          <a:solidFill>
                            <a:srgbClr val="FFFFFF"/>
                          </a:solidFill>
                          <a:latin typeface="Arial"/>
                        </a:rPr>
                        <a:t>Decision</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627EEA"/>
                      </a:solidFill>
                      <a:prstDash val="solid"/>
                    </a:lnB>
                    <a:solidFill>
                      <a:srgbClr val="1A3550"/>
                    </a:solidFill>
                  </a:tcPr>
                </a:tc>
                <a:extLst>
                  <a:ext uri="{0D108BD9-81ED-4DB2-BD59-A6C34878D82A}">
                    <a16:rowId xmlns:a16="http://schemas.microsoft.com/office/drawing/2014/main" val="10000"/>
                  </a:ext>
                </a:extLst>
              </a:tr>
              <a:tr h="547467">
                <a:tc>
                  <a:txBody>
                    <a:bodyPr/>
                    <a:lstStyle/>
                    <a:p>
                      <a:pPr algn="ctr">
                        <a:lnSpc>
                          <a:spcPct val="100000"/>
                        </a:lnSpc>
                      </a:pPr>
                      <a:r>
                        <a:rPr lang="en-US" sz="1100" b="1" strike="noStrike" spc="-1">
                          <a:solidFill>
                            <a:srgbClr val="627EEA"/>
                          </a:solidFill>
                          <a:latin typeface="Arial"/>
                        </a:rPr>
                        <a:t>1</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nSpc>
                          <a:spcPct val="100000"/>
                        </a:lnSpc>
                      </a:pPr>
                      <a:r>
                        <a:rPr lang="en-US" sz="1100" b="1" strike="noStrike" spc="-1" dirty="0">
                          <a:solidFill>
                            <a:srgbClr val="FFFFFF"/>
                          </a:solidFill>
                          <a:latin typeface="Calibri"/>
                        </a:rPr>
                        <a:t>Split Strategy</a:t>
                      </a:r>
                      <a:endParaRPr lang="en-US" sz="1100" b="0" strike="noStrike" spc="-1" dirty="0">
                        <a:solidFill>
                          <a:srgbClr val="FFFFFF"/>
                        </a:solidFill>
                        <a:latin typeface="Arial"/>
                      </a:endParaRPr>
                    </a:p>
                    <a:p>
                      <a:pPr>
                        <a:lnSpc>
                          <a:spcPct val="100000"/>
                        </a:lnSpc>
                      </a:pPr>
                      <a:r>
                        <a:rPr lang="en-US" sz="1100" b="0" strike="noStrike" spc="-1" dirty="0">
                          <a:solidFill>
                            <a:srgbClr val="7A9BB5"/>
                          </a:solidFill>
                          <a:latin typeface="Calibri"/>
                        </a:rPr>
                        <a:t>S1 / S2 / S3 — RF fixed</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nSpc>
                          <a:spcPct val="100000"/>
                        </a:lnSpc>
                      </a:pPr>
                      <a:r>
                        <a:rPr lang="en-US" sz="1100" b="1" strike="noStrike" spc="-1">
                          <a:solidFill>
                            <a:srgbClr val="00D4AA"/>
                          </a:solidFill>
                          <a:latin typeface="Calibri"/>
                        </a:rPr>
                        <a:t>S2 Regime-Aware ✓</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100" b="0" strike="noStrike" spc="-1">
                          <a:solidFill>
                            <a:srgbClr val="A8BCCF"/>
                          </a:solidFill>
                          <a:latin typeface="Calibri"/>
                        </a:rPr>
                        <a:t>68.9%</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0.39</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100" b="0" strike="noStrike" spc="-1">
                          <a:solidFill>
                            <a:srgbClr val="A8BCCF"/>
                          </a:solidFill>
                          <a:latin typeface="Calibri"/>
                        </a:rPr>
                        <a:t>68.8%</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0.38</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0.79</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gn="ctr">
                        <a:lnSpc>
                          <a:spcPct val="100000"/>
                        </a:lnSpc>
                      </a:pPr>
                      <a:r>
                        <a:rPr lang="en-US" sz="1100" b="0" strike="noStrike" spc="-1">
                          <a:solidFill>
                            <a:srgbClr val="A8BCCF"/>
                          </a:solidFill>
                          <a:latin typeface="Calibri"/>
                        </a:rPr>
                        <a:t>0.08</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tc>
                  <a:txBody>
                    <a:bodyPr/>
                    <a:lstStyle/>
                    <a:p>
                      <a:pPr>
                        <a:lnSpc>
                          <a:spcPct val="100000"/>
                        </a:lnSpc>
                      </a:pPr>
                      <a:r>
                        <a:rPr lang="en-US" sz="1100" b="0" strike="noStrike" spc="-1">
                          <a:solidFill>
                            <a:srgbClr val="7A9BB5"/>
                          </a:solidFill>
                          <a:latin typeface="Calibri"/>
                        </a:rPr>
                        <a:t>S2 adopted → captures bull/bear regimes better</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cap="flat" cmpd="sng" algn="ctr">
                      <a:solidFill>
                        <a:srgbClr val="627EEA"/>
                      </a:solidFill>
                      <a:prstDash val="solid"/>
                      <a:round/>
                      <a:headEnd type="none" w="med" len="med"/>
                      <a:tailEnd type="none" w="med" len="med"/>
                    </a:lnT>
                    <a:lnB w="12240">
                      <a:solidFill>
                        <a:srgbClr val="000000"/>
                      </a:solidFill>
                      <a:prstDash val="solid"/>
                    </a:lnB>
                    <a:solidFill>
                      <a:srgbClr val="132238"/>
                    </a:solidFill>
                  </a:tcPr>
                </a:tc>
                <a:extLst>
                  <a:ext uri="{0D108BD9-81ED-4DB2-BD59-A6C34878D82A}">
                    <a16:rowId xmlns:a16="http://schemas.microsoft.com/office/drawing/2014/main" val="10001"/>
                  </a:ext>
                </a:extLst>
              </a:tr>
              <a:tr h="547467">
                <a:tc>
                  <a:txBody>
                    <a:bodyPr/>
                    <a:lstStyle/>
                    <a:p>
                      <a:pPr algn="ctr">
                        <a:lnSpc>
                          <a:spcPct val="100000"/>
                        </a:lnSpc>
                      </a:pPr>
                      <a:r>
                        <a:rPr lang="en-US" sz="1100" b="1" strike="noStrike" spc="-1">
                          <a:solidFill>
                            <a:srgbClr val="627EEA"/>
                          </a:solidFill>
                          <a:latin typeface="Arial"/>
                        </a:rPr>
                        <a:t>2</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nSpc>
                          <a:spcPct val="100000"/>
                        </a:lnSpc>
                      </a:pPr>
                      <a:r>
                        <a:rPr lang="en-US" sz="1100" b="1" strike="noStrike" spc="-1" dirty="0">
                          <a:solidFill>
                            <a:srgbClr val="FFFFFF"/>
                          </a:solidFill>
                          <a:latin typeface="Calibri"/>
                        </a:rPr>
                        <a:t>Model Selection</a:t>
                      </a:r>
                      <a:endParaRPr lang="en-US" sz="1100" b="0" strike="noStrike" spc="-1" dirty="0">
                        <a:solidFill>
                          <a:srgbClr val="FFFFFF"/>
                        </a:solidFill>
                        <a:latin typeface="Arial"/>
                      </a:endParaRPr>
                    </a:p>
                    <a:p>
                      <a:pPr>
                        <a:lnSpc>
                          <a:spcPct val="100000"/>
                        </a:lnSpc>
                      </a:pPr>
                      <a:r>
                        <a:rPr lang="en-US" sz="1100" b="0" strike="noStrike" spc="-1" dirty="0">
                          <a:solidFill>
                            <a:srgbClr val="7A9BB5"/>
                          </a:solidFill>
                          <a:latin typeface="Calibri"/>
                        </a:rPr>
                        <a:t>LR / RF / XGB / LGBM / GB</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nSpc>
                          <a:spcPct val="100000"/>
                        </a:lnSpc>
                      </a:pPr>
                      <a:r>
                        <a:rPr lang="en-US" sz="1100" b="1" strike="noStrike" spc="-1" dirty="0">
                          <a:solidFill>
                            <a:srgbClr val="00D4AA"/>
                          </a:solidFill>
                          <a:latin typeface="Calibri"/>
                        </a:rPr>
                        <a:t>GB best untuned ✓</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69%</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0.40</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71%</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a:solidFill>
                            <a:srgbClr val="A8BCCF"/>
                          </a:solidFill>
                          <a:latin typeface="Calibri"/>
                        </a:rPr>
                        <a:t>0.386</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0.79</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0.23</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nSpc>
                          <a:spcPct val="100000"/>
                        </a:lnSpc>
                      </a:pPr>
                      <a:r>
                        <a:rPr lang="en-US" sz="1100" b="0" strike="noStrike" spc="-1">
                          <a:solidFill>
                            <a:srgbClr val="7A9BB5"/>
                          </a:solidFill>
                          <a:latin typeface="Calibri"/>
                        </a:rPr>
                        <a:t>GB overfits (gap 0.24) → sent to Optuna EXP 3</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extLst>
                  <a:ext uri="{0D108BD9-81ED-4DB2-BD59-A6C34878D82A}">
                    <a16:rowId xmlns:a16="http://schemas.microsoft.com/office/drawing/2014/main" val="10002"/>
                  </a:ext>
                </a:extLst>
              </a:tr>
              <a:tr h="595391">
                <a:tc>
                  <a:txBody>
                    <a:bodyPr/>
                    <a:lstStyle/>
                    <a:p>
                      <a:pPr algn="ctr">
                        <a:lnSpc>
                          <a:spcPct val="100000"/>
                        </a:lnSpc>
                      </a:pPr>
                      <a:r>
                        <a:rPr lang="en-US" sz="1100" b="1" strike="noStrike" spc="-1">
                          <a:solidFill>
                            <a:srgbClr val="627EEA"/>
                          </a:solidFill>
                          <a:latin typeface="Arial"/>
                        </a:rPr>
                        <a:t>3</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nSpc>
                          <a:spcPct val="100000"/>
                        </a:lnSpc>
                      </a:pPr>
                      <a:r>
                        <a:rPr lang="en-US" sz="1100" b="1" strike="noStrike" spc="-1" dirty="0" err="1">
                          <a:solidFill>
                            <a:srgbClr val="FFFFFF"/>
                          </a:solidFill>
                          <a:latin typeface="Calibri"/>
                        </a:rPr>
                        <a:t>Optuna</a:t>
                      </a:r>
                      <a:r>
                        <a:rPr lang="en-US" sz="1100" b="1" strike="noStrike" spc="-1" dirty="0">
                          <a:solidFill>
                            <a:srgbClr val="FFFFFF"/>
                          </a:solidFill>
                          <a:latin typeface="Calibri"/>
                        </a:rPr>
                        <a:t> Tuning</a:t>
                      </a:r>
                      <a:endParaRPr lang="en-US" sz="1100" b="0" strike="noStrike" spc="-1" dirty="0">
                        <a:solidFill>
                          <a:srgbClr val="FFFFFF"/>
                        </a:solidFill>
                        <a:latin typeface="Arial"/>
                      </a:endParaRPr>
                    </a:p>
                    <a:p>
                      <a:pPr>
                        <a:lnSpc>
                          <a:spcPct val="100000"/>
                        </a:lnSpc>
                      </a:pPr>
                      <a:r>
                        <a:rPr lang="en-US" sz="1100" b="0" strike="noStrike" spc="-1" dirty="0">
                          <a:solidFill>
                            <a:srgbClr val="7A9BB5"/>
                          </a:solidFill>
                          <a:latin typeface="Calibri"/>
                        </a:rPr>
                        <a:t>500 trials  ·  gap penalty &gt; 0.10</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nSpc>
                          <a:spcPct val="100000"/>
                        </a:lnSpc>
                      </a:pPr>
                      <a:r>
                        <a:rPr lang="en-US" sz="1100" b="1" strike="noStrike" spc="-1" dirty="0">
                          <a:solidFill>
                            <a:srgbClr val="00D4AA"/>
                          </a:solidFill>
                          <a:latin typeface="Calibri"/>
                        </a:rPr>
                        <a:t>GB </a:t>
                      </a:r>
                      <a:r>
                        <a:rPr lang="en-US" sz="1100" b="1" strike="noStrike" spc="-1" dirty="0" err="1">
                          <a:solidFill>
                            <a:srgbClr val="00D4AA"/>
                          </a:solidFill>
                          <a:latin typeface="Calibri"/>
                        </a:rPr>
                        <a:t>Optuna</a:t>
                      </a:r>
                      <a:r>
                        <a:rPr lang="en-US" sz="1100" b="1" strike="noStrike" spc="-1" dirty="0">
                          <a:solidFill>
                            <a:srgbClr val="00D4AA"/>
                          </a:solidFill>
                          <a:latin typeface="Calibri"/>
                        </a:rPr>
                        <a:t> Tuned ✓</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71%</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0.45</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70%</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a:solidFill>
                            <a:srgbClr val="A8BCCF"/>
                          </a:solidFill>
                          <a:latin typeface="Calibri"/>
                        </a:rPr>
                        <a:t>0.410</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0.79</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0.05</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nSpc>
                          <a:spcPct val="100000"/>
                        </a:lnSpc>
                      </a:pPr>
                      <a:r>
                        <a:rPr lang="en-US" sz="1100" b="0" strike="noStrike" spc="-1">
                          <a:solidFill>
                            <a:srgbClr val="7A9BB5"/>
                          </a:solidFill>
                          <a:latin typeface="Calibri"/>
                        </a:rPr>
                        <a:t>Gap fixed 0.24→0.06  ·  GB adopted</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extLst>
                  <a:ext uri="{0D108BD9-81ED-4DB2-BD59-A6C34878D82A}">
                    <a16:rowId xmlns:a16="http://schemas.microsoft.com/office/drawing/2014/main" val="10003"/>
                  </a:ext>
                </a:extLst>
              </a:tr>
              <a:tr h="595391">
                <a:tc>
                  <a:txBody>
                    <a:bodyPr/>
                    <a:lstStyle/>
                    <a:p>
                      <a:pPr algn="ctr">
                        <a:lnSpc>
                          <a:spcPct val="100000"/>
                        </a:lnSpc>
                      </a:pPr>
                      <a:r>
                        <a:rPr lang="en-US" sz="1100" b="1" strike="noStrike" spc="-1">
                          <a:solidFill>
                            <a:srgbClr val="627EEA"/>
                          </a:solidFill>
                          <a:latin typeface="Arial"/>
                        </a:rPr>
                        <a:t>4</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nSpc>
                          <a:spcPct val="100000"/>
                        </a:lnSpc>
                      </a:pPr>
                      <a:r>
                        <a:rPr lang="en-US" sz="1100" b="1" strike="noStrike" spc="-1">
                          <a:solidFill>
                            <a:srgbClr val="FFFFFF"/>
                          </a:solidFill>
                          <a:latin typeface="Calibri"/>
                        </a:rPr>
                        <a:t>Lagged Features</a:t>
                      </a:r>
                      <a:endParaRPr lang="en-US" sz="1100" b="0" strike="noStrike" spc="-1">
                        <a:solidFill>
                          <a:srgbClr val="FFFFFF"/>
                        </a:solidFill>
                        <a:latin typeface="Arial"/>
                      </a:endParaRPr>
                    </a:p>
                    <a:p>
                      <a:pPr>
                        <a:lnSpc>
                          <a:spcPct val="100000"/>
                        </a:lnSpc>
                      </a:pPr>
                      <a:r>
                        <a:rPr lang="en-US" sz="1100" b="0" strike="noStrike" spc="-1">
                          <a:solidFill>
                            <a:srgbClr val="7A9BB5"/>
                          </a:solidFill>
                          <a:latin typeface="Calibri"/>
                        </a:rPr>
                        <a:t>21 → 36 features  ·  3-day window</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nSpc>
                          <a:spcPct val="100000"/>
                        </a:lnSpc>
                      </a:pPr>
                      <a:r>
                        <a:rPr lang="en-US" sz="1100" b="1" strike="noStrike" spc="-1" dirty="0">
                          <a:solidFill>
                            <a:srgbClr val="00D4AA"/>
                          </a:solidFill>
                          <a:latin typeface="Calibri"/>
                        </a:rPr>
                        <a:t>GB + Lags 36 feat ✓</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75.2%</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0.50</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73%</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0.47</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0.8</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gn="ctr">
                        <a:lnSpc>
                          <a:spcPct val="100000"/>
                        </a:lnSpc>
                      </a:pPr>
                      <a:r>
                        <a:rPr lang="en-US" sz="1100" b="0" strike="noStrike" spc="-1" dirty="0">
                          <a:solidFill>
                            <a:srgbClr val="A8BCCF"/>
                          </a:solidFill>
                          <a:latin typeface="Calibri"/>
                        </a:rPr>
                        <a:t>0.07</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tc>
                  <a:txBody>
                    <a:bodyPr/>
                    <a:lstStyle/>
                    <a:p>
                      <a:pPr>
                        <a:lnSpc>
                          <a:spcPct val="100000"/>
                        </a:lnSpc>
                      </a:pPr>
                      <a:r>
                        <a:rPr lang="en-US" sz="1100" b="0" strike="noStrike" spc="-1">
                          <a:solidFill>
                            <a:srgbClr val="7A9BB5"/>
                          </a:solidFill>
                          <a:latin typeface="Calibri"/>
                        </a:rPr>
                        <a:t>+0.068 MCC  ·  best single gain</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A3550"/>
                    </a:solidFill>
                  </a:tcPr>
                </a:tc>
                <a:extLst>
                  <a:ext uri="{0D108BD9-81ED-4DB2-BD59-A6C34878D82A}">
                    <a16:rowId xmlns:a16="http://schemas.microsoft.com/office/drawing/2014/main" val="10004"/>
                  </a:ext>
                </a:extLst>
              </a:tr>
              <a:tr h="547467">
                <a:tc>
                  <a:txBody>
                    <a:bodyPr/>
                    <a:lstStyle/>
                    <a:p>
                      <a:pPr algn="ctr">
                        <a:lnSpc>
                          <a:spcPct val="100000"/>
                        </a:lnSpc>
                      </a:pPr>
                      <a:r>
                        <a:rPr lang="en-US" sz="1100" b="1" strike="noStrike" spc="-1">
                          <a:solidFill>
                            <a:srgbClr val="627EEA"/>
                          </a:solidFill>
                          <a:latin typeface="Arial"/>
                        </a:rPr>
                        <a:t>5</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nSpc>
                          <a:spcPct val="100000"/>
                        </a:lnSpc>
                      </a:pPr>
                      <a:r>
                        <a:rPr lang="en-US" sz="1100" b="1" strike="noStrike" spc="-1">
                          <a:solidFill>
                            <a:srgbClr val="FFFFFF"/>
                          </a:solidFill>
                          <a:latin typeface="Calibri"/>
                        </a:rPr>
                        <a:t>SHAP Selection</a:t>
                      </a:r>
                      <a:endParaRPr lang="en-US" sz="1100" b="0" strike="noStrike" spc="-1">
                        <a:solidFill>
                          <a:srgbClr val="FFFFFF"/>
                        </a:solidFill>
                        <a:latin typeface="Arial"/>
                      </a:endParaRPr>
                    </a:p>
                    <a:p>
                      <a:pPr>
                        <a:lnSpc>
                          <a:spcPct val="100000"/>
                        </a:lnSpc>
                      </a:pPr>
                      <a:r>
                        <a:rPr lang="en-US" sz="1100" b="0" strike="noStrike" spc="-1">
                          <a:solidFill>
                            <a:srgbClr val="7A9BB5"/>
                          </a:solidFill>
                          <a:latin typeface="Calibri"/>
                        </a:rPr>
                        <a:t>36 feat → top N filter</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nSpc>
                          <a:spcPct val="100000"/>
                        </a:lnSpc>
                      </a:pPr>
                      <a:r>
                        <a:rPr lang="en-US" sz="1100" b="1" strike="noStrike" spc="-1">
                          <a:solidFill>
                            <a:srgbClr val="00D4AA"/>
                          </a:solidFill>
                          <a:latin typeface="Calibri"/>
                        </a:rPr>
                        <a:t>Top 20 SHAP ✓</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74.7%</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0.49</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73.5%</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0.47</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dirty="0">
                          <a:solidFill>
                            <a:srgbClr val="A8BCCF"/>
                          </a:solidFill>
                          <a:latin typeface="Calibri"/>
                        </a:rPr>
                        <a:t>0.82</a:t>
                      </a:r>
                      <a:endParaRPr lang="en-US" sz="1100" b="0" strike="noStrike" spc="-1" dirty="0">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gn="ctr">
                        <a:lnSpc>
                          <a:spcPct val="100000"/>
                        </a:lnSpc>
                      </a:pPr>
                      <a:r>
                        <a:rPr lang="en-US" sz="1100" b="0" strike="noStrike" spc="-1">
                          <a:solidFill>
                            <a:srgbClr val="A8BCCF"/>
                          </a:solidFill>
                          <a:latin typeface="Calibri"/>
                        </a:rPr>
                        <a:t>0.08</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tc>
                  <a:txBody>
                    <a:bodyPr/>
                    <a:lstStyle/>
                    <a:p>
                      <a:pPr>
                        <a:lnSpc>
                          <a:spcPct val="100000"/>
                        </a:lnSpc>
                      </a:pPr>
                      <a:r>
                        <a:rPr lang="en-US" sz="1100" b="0" strike="noStrike" spc="-1">
                          <a:solidFill>
                            <a:srgbClr val="7A9BB5"/>
                          </a:solidFill>
                          <a:latin typeface="Calibri"/>
                        </a:rPr>
                        <a:t>Top 20 balances MCC + AUC + gap</a:t>
                      </a:r>
                      <a:endParaRPr lang="en-US" sz="1100" b="0" strike="noStrike" spc="-1">
                        <a:solidFill>
                          <a:srgbClr val="FFFFFF"/>
                        </a:solidFill>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132238"/>
                    </a:solidFill>
                  </a:tcPr>
                </a:tc>
                <a:extLst>
                  <a:ext uri="{0D108BD9-81ED-4DB2-BD59-A6C34878D82A}">
                    <a16:rowId xmlns:a16="http://schemas.microsoft.com/office/drawing/2014/main" val="10005"/>
                  </a:ext>
                </a:extLst>
              </a:tr>
              <a:tr h="595391">
                <a:tc>
                  <a:txBody>
                    <a:bodyPr/>
                    <a:lstStyle/>
                    <a:p>
                      <a:pPr algn="ctr">
                        <a:lnSpc>
                          <a:spcPct val="100000"/>
                        </a:lnSpc>
                      </a:pPr>
                      <a:r>
                        <a:rPr lang="en-US" sz="1100" b="1" strike="noStrike" spc="-1">
                          <a:solidFill>
                            <a:srgbClr val="132238"/>
                          </a:solidFill>
                          <a:latin typeface="Arial"/>
                        </a:rPr>
                        <a:t>★</a:t>
                      </a:r>
                      <a:endParaRPr lang="en-US" sz="1100" b="0" strike="noStrike" spc="-1">
                        <a:solidFill>
                          <a:srgbClr val="FFFFFF"/>
                        </a:solidFill>
                        <a:latin typeface="Arial"/>
                      </a:endParaRPr>
                    </a:p>
                  </a:txBody>
                  <a:tcPr anchor="ctr">
                    <a:lnL w="12240">
                      <a:solidFill>
                        <a:srgbClr val="000000"/>
                      </a:solidFill>
                      <a:prstDash val="soli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nSpc>
                          <a:spcPct val="100000"/>
                        </a:lnSpc>
                      </a:pPr>
                      <a:r>
                        <a:rPr lang="en-US" sz="1100" b="1" strike="noStrike" spc="-1">
                          <a:solidFill>
                            <a:srgbClr val="132238"/>
                          </a:solidFill>
                          <a:latin typeface="Calibri"/>
                        </a:rPr>
                        <a:t>FINAL ETH MODEL</a:t>
                      </a:r>
                      <a:endParaRPr lang="en-US" sz="1100" b="0" strike="noStrike" spc="-1">
                        <a:solidFill>
                          <a:srgbClr val="FFFFFF"/>
                        </a:solidFill>
                        <a:latin typeface="Arial"/>
                      </a:endParaRPr>
                    </a:p>
                    <a:p>
                      <a:pPr>
                        <a:lnSpc>
                          <a:spcPct val="100000"/>
                        </a:lnSpc>
                      </a:pPr>
                      <a:r>
                        <a:rPr lang="en-US" sz="1100" b="0" strike="noStrike" spc="-1">
                          <a:solidFill>
                            <a:srgbClr val="132238"/>
                          </a:solidFill>
                          <a:latin typeface="Calibri"/>
                        </a:rPr>
                        <a:t>GB + SHAP 20 feat  ·  EXP3 params</a:t>
                      </a:r>
                      <a:endParaRPr lang="en-US" sz="11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nSpc>
                          <a:spcPct val="100000"/>
                        </a:lnSpc>
                      </a:pPr>
                      <a:r>
                        <a:rPr lang="en-US" sz="1100" b="1" strike="noStrike" spc="-1">
                          <a:solidFill>
                            <a:srgbClr val="132238"/>
                          </a:solidFill>
                          <a:latin typeface="Calibri"/>
                        </a:rPr>
                        <a:t>GB + SHAP Top 20 ✓</a:t>
                      </a:r>
                      <a:endParaRPr lang="en-US" sz="11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gn="ctr">
                        <a:lnSpc>
                          <a:spcPct val="100000"/>
                        </a:lnSpc>
                      </a:pPr>
                      <a:r>
                        <a:rPr lang="en-US" sz="1100" b="1" strike="noStrike" spc="-1" dirty="0">
                          <a:solidFill>
                            <a:srgbClr val="132238"/>
                          </a:solidFill>
                          <a:latin typeface="Calibri"/>
                        </a:rPr>
                        <a:t>74.7%</a:t>
                      </a:r>
                      <a:endParaRPr lang="en-US" sz="1100" b="0" strike="noStrike" spc="-1" dirty="0">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gn="ctr">
                        <a:lnSpc>
                          <a:spcPct val="100000"/>
                        </a:lnSpc>
                      </a:pPr>
                      <a:r>
                        <a:rPr lang="en-US" sz="1100" b="1" strike="noStrike" spc="-1">
                          <a:solidFill>
                            <a:srgbClr val="132238"/>
                          </a:solidFill>
                          <a:latin typeface="Calibri"/>
                        </a:rPr>
                        <a:t>0.497</a:t>
                      </a:r>
                      <a:endParaRPr lang="en-US" sz="11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gn="ctr">
                        <a:lnSpc>
                          <a:spcPct val="100000"/>
                        </a:lnSpc>
                      </a:pPr>
                      <a:r>
                        <a:rPr lang="en-US" sz="1100" b="1" strike="noStrike" spc="-1">
                          <a:solidFill>
                            <a:srgbClr val="132238"/>
                          </a:solidFill>
                          <a:latin typeface="Calibri"/>
                        </a:rPr>
                        <a:t>73.5%</a:t>
                      </a:r>
                      <a:endParaRPr lang="en-US" sz="1100" b="0" strike="noStrike" spc="-1">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gn="ctr">
                        <a:lnSpc>
                          <a:spcPct val="100000"/>
                        </a:lnSpc>
                      </a:pPr>
                      <a:r>
                        <a:rPr lang="en-US" sz="1100" b="1" strike="noStrike" spc="-1" dirty="0">
                          <a:solidFill>
                            <a:srgbClr val="132238"/>
                          </a:solidFill>
                          <a:latin typeface="Calibri"/>
                        </a:rPr>
                        <a:t>0.47</a:t>
                      </a:r>
                      <a:endParaRPr lang="en-US" sz="1100" b="0" strike="noStrike" spc="-1" dirty="0">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gn="ctr">
                        <a:lnSpc>
                          <a:spcPct val="100000"/>
                        </a:lnSpc>
                      </a:pPr>
                      <a:r>
                        <a:rPr lang="en-US" sz="1100" b="1" strike="noStrike" spc="-1" dirty="0">
                          <a:solidFill>
                            <a:srgbClr val="132238"/>
                          </a:solidFill>
                          <a:latin typeface="Calibri"/>
                        </a:rPr>
                        <a:t>0.82</a:t>
                      </a:r>
                      <a:endParaRPr lang="en-US" sz="1100" b="0" strike="noStrike" spc="-1" dirty="0">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gn="ctr">
                        <a:lnSpc>
                          <a:spcPct val="100000"/>
                        </a:lnSpc>
                      </a:pPr>
                      <a:r>
                        <a:rPr lang="en-US" sz="1100" b="1" strike="noStrike" spc="-1" dirty="0">
                          <a:solidFill>
                            <a:srgbClr val="132238"/>
                          </a:solidFill>
                          <a:latin typeface="Calibri"/>
                        </a:rPr>
                        <a:t>0.08</a:t>
                      </a:r>
                      <a:endParaRPr lang="en-US" sz="1100" b="0" strike="noStrike" spc="-1" dirty="0">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tc>
                  <a:txBody>
                    <a:bodyPr/>
                    <a:lstStyle/>
                    <a:p>
                      <a:pPr>
                        <a:lnSpc>
                          <a:spcPct val="100000"/>
                        </a:lnSpc>
                      </a:pPr>
                      <a:r>
                        <a:rPr lang="en-US" sz="1100" b="1" strike="noStrike" spc="-1" dirty="0">
                          <a:solidFill>
                            <a:srgbClr val="132238"/>
                          </a:solidFill>
                          <a:latin typeface="Calibri"/>
                        </a:rPr>
                        <a:t>Saved</a:t>
                      </a:r>
                      <a:endParaRPr lang="en-US" sz="1100" b="0" strike="noStrike" spc="-1" dirty="0">
                        <a:solidFill>
                          <a:srgbClr val="FFFFFF"/>
                        </a:solidFill>
                        <a:latin typeface="Arial"/>
                      </a:endParaRPr>
                    </a:p>
                  </a:txBody>
                  <a:tcPr anchor="ctr">
                    <a:lnL w="12240" cap="flat" cmpd="sng" algn="ctr">
                      <a:solidFill>
                        <a:srgbClr val="000000"/>
                      </a:solidFill>
                      <a:prstDash val="solid"/>
                      <a:round/>
                      <a:headEnd type="none" w="med" len="med"/>
                      <a:tailEnd type="none" w="med" len="med"/>
                    </a:lnL>
                    <a:lnR w="12240">
                      <a:solidFill>
                        <a:srgbClr val="000000"/>
                      </a:solidFill>
                      <a:prstDash val="solid"/>
                    </a:lnR>
                    <a:lnT w="12240" cap="flat" cmpd="sng" algn="ctr">
                      <a:solidFill>
                        <a:srgbClr val="000000"/>
                      </a:solidFill>
                      <a:prstDash val="solid"/>
                      <a:round/>
                      <a:headEnd type="none" w="med" len="med"/>
                      <a:tailEnd type="none" w="med" len="med"/>
                    </a:lnT>
                    <a:lnB w="12240">
                      <a:solidFill>
                        <a:srgbClr val="000000"/>
                      </a:solidFill>
                      <a:prstDash val="solid"/>
                    </a:lnB>
                    <a:solidFill>
                      <a:srgbClr val="627EEA"/>
                    </a:solidFill>
                  </a:tcPr>
                </a:tc>
                <a:extLst>
                  <a:ext uri="{0D108BD9-81ED-4DB2-BD59-A6C34878D82A}">
                    <a16:rowId xmlns:a16="http://schemas.microsoft.com/office/drawing/2014/main" val="10008"/>
                  </a:ext>
                </a:extLst>
              </a:tr>
            </a:tbl>
          </a:graphicData>
        </a:graphic>
      </p:graphicFrame>
      <p:sp>
        <p:nvSpPr>
          <p:cNvPr id="10" name="TextBox 9">
            <a:extLst>
              <a:ext uri="{FF2B5EF4-FFF2-40B4-BE49-F238E27FC236}">
                <a16:creationId xmlns:a16="http://schemas.microsoft.com/office/drawing/2014/main" id="{FA740E15-3538-817F-FE29-D682D52C3D5E}"/>
              </a:ext>
            </a:extLst>
          </p:cNvPr>
          <p:cNvSpPr txBox="1"/>
          <p:nvPr/>
        </p:nvSpPr>
        <p:spPr>
          <a:xfrm>
            <a:off x="3109184" y="5318205"/>
            <a:ext cx="6694476" cy="1172052"/>
          </a:xfrm>
          <a:prstGeom prst="rect">
            <a:avLst/>
          </a:prstGeom>
          <a:noFill/>
        </p:spPr>
        <p:txBody>
          <a:bodyPr wrap="square">
            <a:spAutoFit/>
          </a:bodyPr>
          <a:lstStyle/>
          <a:p>
            <a:pPr marL="285750" indent="-285750">
              <a:lnSpc>
                <a:spcPts val="1425"/>
              </a:lnSpc>
              <a:buFont typeface="Wingdings" panose="05000000000000000000" pitchFamily="2" charset="2"/>
              <a:buChar char="ü"/>
            </a:pPr>
            <a:r>
              <a:rPr lang="en-US" sz="1400" spc="-1" dirty="0">
                <a:solidFill>
                  <a:schemeClr val="bg2">
                    <a:lumMod val="50000"/>
                  </a:schemeClr>
                </a:solidFill>
                <a:latin typeface="Calibri"/>
                <a:ea typeface="Calibri"/>
              </a:rPr>
              <a:t>ETH is systematically harder to predict.</a:t>
            </a:r>
          </a:p>
          <a:p>
            <a:pPr marL="285750" indent="-285750">
              <a:lnSpc>
                <a:spcPts val="1425"/>
              </a:lnSpc>
              <a:buFont typeface="Wingdings" panose="05000000000000000000" pitchFamily="2" charset="2"/>
              <a:buChar char="ü"/>
            </a:pPr>
            <a:endParaRPr lang="en-US" sz="1400" spc="-1" dirty="0">
              <a:solidFill>
                <a:schemeClr val="bg2">
                  <a:lumMod val="50000"/>
                </a:schemeClr>
              </a:solidFill>
              <a:latin typeface="Calibri"/>
              <a:ea typeface="Calibri"/>
            </a:endParaRPr>
          </a:p>
          <a:p>
            <a:pPr marL="285750" indent="-285750">
              <a:lnSpc>
                <a:spcPts val="1425"/>
              </a:lnSpc>
              <a:buFont typeface="Wingdings" panose="05000000000000000000" pitchFamily="2" charset="2"/>
              <a:buChar char="ü"/>
            </a:pPr>
            <a:r>
              <a:rPr lang="en-US" sz="1400" spc="-1" dirty="0">
                <a:solidFill>
                  <a:schemeClr val="bg2">
                    <a:lumMod val="50000"/>
                  </a:schemeClr>
                </a:solidFill>
                <a:latin typeface="Calibri"/>
                <a:ea typeface="Calibri"/>
              </a:rPr>
              <a:t>The performance gap is consistent across every experiment and every metric.</a:t>
            </a:r>
          </a:p>
          <a:p>
            <a:pPr marL="285750" indent="-285750">
              <a:lnSpc>
                <a:spcPts val="1425"/>
              </a:lnSpc>
              <a:buFont typeface="Wingdings" panose="05000000000000000000" pitchFamily="2" charset="2"/>
              <a:buChar char="ü"/>
            </a:pPr>
            <a:endParaRPr lang="en-US" sz="1400" spc="-1" dirty="0">
              <a:solidFill>
                <a:schemeClr val="bg2">
                  <a:lumMod val="50000"/>
                </a:schemeClr>
              </a:solidFill>
              <a:latin typeface="Calibri"/>
              <a:ea typeface="Calibri"/>
            </a:endParaRPr>
          </a:p>
          <a:p>
            <a:pPr marL="285750" indent="-285750">
              <a:lnSpc>
                <a:spcPts val="1425"/>
              </a:lnSpc>
              <a:buFont typeface="Wingdings" panose="05000000000000000000" pitchFamily="2" charset="2"/>
              <a:buChar char="ü"/>
            </a:pPr>
            <a:r>
              <a:rPr lang="en-US" sz="1400" spc="-1" dirty="0">
                <a:solidFill>
                  <a:schemeClr val="bg2">
                    <a:lumMod val="50000"/>
                  </a:schemeClr>
                </a:solidFill>
                <a:latin typeface="Calibri"/>
                <a:ea typeface="Calibri"/>
              </a:rPr>
              <a:t>ETH's richer on-chain ecosystem (DeFi, gas, staking narratives) introduces noise that TA + macro + sentiment features don't fully capture.</a:t>
            </a:r>
          </a:p>
        </p:txBody>
      </p:sp>
    </p:spTree>
    <p:extLst>
      <p:ext uri="{BB962C8B-B14F-4D97-AF65-F5344CB8AC3E}">
        <p14:creationId xmlns:p14="http://schemas.microsoft.com/office/powerpoint/2010/main" val="24494054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g"/>
          <p:cNvSpPr/>
          <p:nvPr/>
        </p:nvSpPr>
        <p:spPr>
          <a:xfrm>
            <a:off x="0" y="0"/>
            <a:ext cx="12192000" cy="520000"/>
          </a:xfrm>
          <a:prstGeom prst="rect">
            <a:avLst/>
          </a:prstGeom>
          <a:solidFill>
            <a:srgbClr val="1A2535"/>
          </a:solidFill>
          <a:ln>
            <a:noFill/>
          </a:ln>
        </p:spPr>
        <p:txBody>
          <a:bodyPr/>
          <a:lstStyle/>
          <a:p>
            <a:endParaRPr/>
          </a:p>
        </p:txBody>
      </p:sp>
      <p:sp>
        <p:nvSpPr>
          <p:cNvPr id="3" name="TTxt"/>
          <p:cNvSpPr/>
          <p:nvPr/>
        </p:nvSpPr>
        <p:spPr>
          <a:xfrm>
            <a:off x="0" y="0"/>
            <a:ext cx="12192000" cy="520000"/>
          </a:xfrm>
          <a:prstGeom prst="rect">
            <a:avLst/>
          </a:prstGeom>
          <a:noFill/>
          <a:ln>
            <a:noFill/>
          </a:ln>
        </p:spPr>
        <p:txBody>
          <a:bodyPr wrap="square" lIns="365760" tIns="0" rIns="0" bIns="0" rtlCol="0" anchor="ctr"/>
          <a:lstStyle/>
          <a:p>
            <a:r>
              <a:rPr lang="en-US" sz="2200" b="1" dirty="0">
                <a:solidFill>
                  <a:srgbClr val="FFFFFF"/>
                </a:solidFill>
                <a:latin typeface="Calibri"/>
              </a:rPr>
              <a:t>Performance Tracking &amp; </a:t>
            </a:r>
            <a:r>
              <a:rPr lang="en-US" sz="2200" b="1" dirty="0">
                <a:solidFill>
                  <a:srgbClr val="00BFA5"/>
                </a:solidFill>
                <a:latin typeface="Calibri"/>
              </a:rPr>
              <a:t>ML Auto-Retrain</a:t>
            </a:r>
          </a:p>
        </p:txBody>
      </p:sp>
      <p:sp>
        <p:nvSpPr>
          <p:cNvPr id="4" name="TLine"/>
          <p:cNvSpPr/>
          <p:nvPr/>
        </p:nvSpPr>
        <p:spPr>
          <a:xfrm>
            <a:off x="0" y="516000"/>
            <a:ext cx="12192000" cy="16000"/>
          </a:xfrm>
          <a:prstGeom prst="rect">
            <a:avLst/>
          </a:prstGeom>
          <a:solidFill>
            <a:srgbClr val="00BFA5"/>
          </a:solidFill>
          <a:ln>
            <a:noFill/>
          </a:ln>
        </p:spPr>
        <p:txBody>
          <a:bodyPr/>
          <a:lstStyle/>
          <a:p>
            <a:endParaRPr/>
          </a:p>
        </p:txBody>
      </p:sp>
      <p:sp>
        <p:nvSpPr>
          <p:cNvPr id="10" name="CB0"/>
          <p:cNvSpPr/>
          <p:nvPr/>
        </p:nvSpPr>
        <p:spPr>
          <a:xfrm>
            <a:off x="196285" y="752228"/>
            <a:ext cx="2700000" cy="4900000"/>
          </a:xfrm>
          <a:prstGeom prst="rect">
            <a:avLst/>
          </a:prstGeom>
          <a:solidFill>
            <a:srgbClr val="0D1B2A"/>
          </a:solidFill>
          <a:ln w="22860">
            <a:solidFill>
              <a:srgbClr val="00BFA5"/>
            </a:solidFill>
          </a:ln>
        </p:spPr>
        <p:txBody>
          <a:bodyPr/>
          <a:lstStyle/>
          <a:p>
            <a:endParaRPr dirty="0"/>
          </a:p>
        </p:txBody>
      </p:sp>
      <p:sp>
        <p:nvSpPr>
          <p:cNvPr id="11" name="CT0"/>
          <p:cNvSpPr/>
          <p:nvPr/>
        </p:nvSpPr>
        <p:spPr>
          <a:xfrm>
            <a:off x="196285" y="752228"/>
            <a:ext cx="2700000" cy="65000"/>
          </a:xfrm>
          <a:prstGeom prst="rect">
            <a:avLst/>
          </a:prstGeom>
          <a:solidFill>
            <a:srgbClr val="00BFA5"/>
          </a:solidFill>
          <a:ln>
            <a:noFill/>
          </a:ln>
        </p:spPr>
        <p:txBody>
          <a:bodyPr/>
          <a:lstStyle/>
          <a:p>
            <a:endParaRPr/>
          </a:p>
        </p:txBody>
      </p:sp>
      <p:sp>
        <p:nvSpPr>
          <p:cNvPr id="12" name="Ic0"/>
          <p:cNvSpPr/>
          <p:nvPr/>
        </p:nvSpPr>
        <p:spPr>
          <a:xfrm>
            <a:off x="196285" y="832228"/>
            <a:ext cx="2700000" cy="900000"/>
          </a:xfrm>
          <a:prstGeom prst="rect">
            <a:avLst/>
          </a:prstGeom>
          <a:noFill/>
          <a:ln>
            <a:noFill/>
          </a:ln>
        </p:spPr>
        <p:txBody>
          <a:bodyPr wrap="square" lIns="0" tIns="0" rIns="0" bIns="0" rtlCol="0" anchor="ctr"/>
          <a:lstStyle/>
          <a:p>
            <a:pPr algn="ctr"/>
            <a:r>
              <a:rPr lang="en-US" sz="4800" dirty="0">
                <a:latin typeface="Segoe UI Emoji"/>
              </a:rPr>
              <a:t>📡</a:t>
            </a:r>
          </a:p>
        </p:txBody>
      </p:sp>
      <p:sp>
        <p:nvSpPr>
          <p:cNvPr id="13" name="Ti0"/>
          <p:cNvSpPr/>
          <p:nvPr/>
        </p:nvSpPr>
        <p:spPr>
          <a:xfrm>
            <a:off x="196285" y="1772228"/>
            <a:ext cx="2700000" cy="340000"/>
          </a:xfrm>
          <a:prstGeom prst="rect">
            <a:avLst/>
          </a:prstGeom>
          <a:noFill/>
          <a:ln>
            <a:noFill/>
          </a:ln>
        </p:spPr>
        <p:txBody>
          <a:bodyPr wrap="square" lIns="0" tIns="0" rIns="0" bIns="0" rtlCol="0" anchor="ctr"/>
          <a:lstStyle/>
          <a:p>
            <a:pPr algn="ctr"/>
            <a:r>
              <a:rPr lang="en-US" sz="1400" b="1" dirty="0">
                <a:solidFill>
                  <a:srgbClr val="00BFA5"/>
                </a:solidFill>
                <a:latin typeface="Calibri"/>
              </a:rPr>
              <a:t>DAILY FETCH</a:t>
            </a:r>
          </a:p>
        </p:txBody>
      </p:sp>
      <p:sp>
        <p:nvSpPr>
          <p:cNvPr id="14" name="St0"/>
          <p:cNvSpPr/>
          <p:nvPr/>
        </p:nvSpPr>
        <p:spPr>
          <a:xfrm>
            <a:off x="196285" y="2132228"/>
            <a:ext cx="2700000" cy="260000"/>
          </a:xfrm>
          <a:prstGeom prst="rect">
            <a:avLst/>
          </a:prstGeom>
          <a:noFill/>
          <a:ln>
            <a:noFill/>
          </a:ln>
        </p:spPr>
        <p:txBody>
          <a:bodyPr wrap="square" lIns="0" tIns="0" rIns="0" bIns="0" rtlCol="0" anchor="ctr"/>
          <a:lstStyle/>
          <a:p>
            <a:pPr algn="ctr"/>
            <a:r>
              <a:rPr lang="en-US" sz="1000" b="0" i="1" dirty="0">
                <a:solidFill>
                  <a:srgbClr val="666666"/>
                </a:solidFill>
                <a:latin typeface="Calibri"/>
              </a:rPr>
              <a:t>00:30 AM every day</a:t>
            </a:r>
          </a:p>
        </p:txBody>
      </p:sp>
      <p:sp>
        <p:nvSpPr>
          <p:cNvPr id="15" name="Dv0"/>
          <p:cNvSpPr/>
          <p:nvPr/>
        </p:nvSpPr>
        <p:spPr>
          <a:xfrm>
            <a:off x="396285" y="2432228"/>
            <a:ext cx="2300000" cy="8000"/>
          </a:xfrm>
          <a:prstGeom prst="rect">
            <a:avLst/>
          </a:prstGeom>
          <a:solidFill>
            <a:srgbClr val="1A2535"/>
          </a:solidFill>
          <a:ln>
            <a:noFill/>
          </a:ln>
        </p:spPr>
        <p:txBody>
          <a:bodyPr/>
          <a:lstStyle/>
          <a:p>
            <a:endParaRPr/>
          </a:p>
        </p:txBody>
      </p:sp>
      <p:sp>
        <p:nvSpPr>
          <p:cNvPr id="16" name="Bd00"/>
          <p:cNvSpPr/>
          <p:nvPr/>
        </p:nvSpPr>
        <p:spPr>
          <a:xfrm>
            <a:off x="302880" y="2612228"/>
            <a:ext cx="14000" cy="200000"/>
          </a:xfrm>
          <a:prstGeom prst="rect">
            <a:avLst/>
          </a:prstGeom>
          <a:solidFill>
            <a:srgbClr val="00BFA5"/>
          </a:solidFill>
          <a:ln>
            <a:noFill/>
          </a:ln>
        </p:spPr>
        <p:txBody>
          <a:bodyPr/>
          <a:lstStyle/>
          <a:p>
            <a:endParaRPr/>
          </a:p>
        </p:txBody>
      </p:sp>
      <p:sp>
        <p:nvSpPr>
          <p:cNvPr id="18" name="Bl00"/>
          <p:cNvSpPr/>
          <p:nvPr/>
        </p:nvSpPr>
        <p:spPr>
          <a:xfrm>
            <a:off x="362880" y="251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BTC + ETH live prices</a:t>
            </a:r>
          </a:p>
        </p:txBody>
      </p:sp>
      <p:sp>
        <p:nvSpPr>
          <p:cNvPr id="17" name="Bd01"/>
          <p:cNvSpPr/>
          <p:nvPr/>
        </p:nvSpPr>
        <p:spPr>
          <a:xfrm>
            <a:off x="302880" y="3052228"/>
            <a:ext cx="14000" cy="200000"/>
          </a:xfrm>
          <a:prstGeom prst="rect">
            <a:avLst/>
          </a:prstGeom>
          <a:solidFill>
            <a:srgbClr val="00BFA5"/>
          </a:solidFill>
          <a:ln>
            <a:noFill/>
          </a:ln>
        </p:spPr>
        <p:txBody>
          <a:bodyPr/>
          <a:lstStyle/>
          <a:p>
            <a:endParaRPr/>
          </a:p>
        </p:txBody>
      </p:sp>
      <p:sp>
        <p:nvSpPr>
          <p:cNvPr id="19" name="Bl01"/>
          <p:cNvSpPr/>
          <p:nvPr/>
        </p:nvSpPr>
        <p:spPr>
          <a:xfrm>
            <a:off x="362880" y="295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Macro signals + sentiment</a:t>
            </a:r>
          </a:p>
        </p:txBody>
      </p:sp>
      <p:sp>
        <p:nvSpPr>
          <p:cNvPr id="5" name="SBg0"/>
          <p:cNvSpPr/>
          <p:nvPr/>
        </p:nvSpPr>
        <p:spPr>
          <a:xfrm>
            <a:off x="282880" y="5152228"/>
            <a:ext cx="2500000" cy="380000"/>
          </a:xfrm>
          <a:prstGeom prst="rect">
            <a:avLst/>
          </a:prstGeom>
          <a:solidFill>
            <a:srgbClr val="111B27"/>
          </a:solidFill>
          <a:ln w="16000">
            <a:solidFill>
              <a:srgbClr val="00BFA5"/>
            </a:solidFill>
          </a:ln>
        </p:spPr>
        <p:txBody>
          <a:bodyPr/>
          <a:lstStyle/>
          <a:p>
            <a:endParaRPr/>
          </a:p>
        </p:txBody>
      </p:sp>
      <p:sp>
        <p:nvSpPr>
          <p:cNvPr id="25" name="STxt0"/>
          <p:cNvSpPr/>
          <p:nvPr/>
        </p:nvSpPr>
        <p:spPr>
          <a:xfrm>
            <a:off x="282880" y="5152228"/>
            <a:ext cx="2500000" cy="380000"/>
          </a:xfrm>
          <a:prstGeom prst="rect">
            <a:avLst/>
          </a:prstGeom>
          <a:noFill/>
          <a:ln>
            <a:noFill/>
          </a:ln>
        </p:spPr>
        <p:txBody>
          <a:bodyPr wrap="square" lIns="0" tIns="0" rIns="0" bIns="0" rtlCol="0" anchor="ctr"/>
          <a:lstStyle/>
          <a:p>
            <a:pPr algn="ctr"/>
            <a:r>
              <a:rPr lang="en-US" sz="1050" b="0" dirty="0">
                <a:solidFill>
                  <a:srgbClr val="888888"/>
                </a:solidFill>
                <a:latin typeface="Calibri"/>
              </a:rPr>
              <a:t>💾  stored in : raw_prices</a:t>
            </a:r>
          </a:p>
        </p:txBody>
      </p:sp>
      <p:sp>
        <p:nvSpPr>
          <p:cNvPr id="26" name="Ar0"/>
          <p:cNvSpPr/>
          <p:nvPr/>
        </p:nvSpPr>
        <p:spPr>
          <a:xfrm>
            <a:off x="2882880" y="3102228"/>
            <a:ext cx="342080" cy="200000"/>
          </a:xfrm>
          <a:prstGeom prst="rightArrow">
            <a:avLst/>
          </a:prstGeom>
          <a:solidFill>
            <a:schemeClr val="tx1">
              <a:lumMod val="85000"/>
            </a:schemeClr>
          </a:solidFill>
          <a:ln>
            <a:noFill/>
          </a:ln>
        </p:spPr>
        <p:txBody>
          <a:bodyPr/>
          <a:lstStyle/>
          <a:p>
            <a:endParaRPr>
              <a:solidFill>
                <a:schemeClr val="tx1">
                  <a:lumMod val="95000"/>
                </a:schemeClr>
              </a:solidFill>
            </a:endParaRPr>
          </a:p>
        </p:txBody>
      </p:sp>
      <p:sp>
        <p:nvSpPr>
          <p:cNvPr id="22" name="CB1"/>
          <p:cNvSpPr/>
          <p:nvPr/>
        </p:nvSpPr>
        <p:spPr>
          <a:xfrm>
            <a:off x="3224960" y="752228"/>
            <a:ext cx="2700000" cy="4900000"/>
          </a:xfrm>
          <a:prstGeom prst="rect">
            <a:avLst/>
          </a:prstGeom>
          <a:solidFill>
            <a:srgbClr val="0D1B2A"/>
          </a:solidFill>
          <a:ln w="22860">
            <a:solidFill>
              <a:srgbClr val="F7931A"/>
            </a:solidFill>
          </a:ln>
        </p:spPr>
        <p:txBody>
          <a:bodyPr/>
          <a:lstStyle/>
          <a:p>
            <a:endParaRPr/>
          </a:p>
        </p:txBody>
      </p:sp>
      <p:sp>
        <p:nvSpPr>
          <p:cNvPr id="23" name="CT1"/>
          <p:cNvSpPr/>
          <p:nvPr/>
        </p:nvSpPr>
        <p:spPr>
          <a:xfrm>
            <a:off x="3224960" y="752228"/>
            <a:ext cx="2700000" cy="65000"/>
          </a:xfrm>
          <a:prstGeom prst="rect">
            <a:avLst/>
          </a:prstGeom>
          <a:solidFill>
            <a:srgbClr val="F7931A"/>
          </a:solidFill>
          <a:ln>
            <a:noFill/>
          </a:ln>
        </p:spPr>
        <p:txBody>
          <a:bodyPr/>
          <a:lstStyle/>
          <a:p>
            <a:endParaRPr/>
          </a:p>
        </p:txBody>
      </p:sp>
      <p:sp>
        <p:nvSpPr>
          <p:cNvPr id="24" name="Ic1"/>
          <p:cNvSpPr/>
          <p:nvPr/>
        </p:nvSpPr>
        <p:spPr>
          <a:xfrm>
            <a:off x="3224960" y="832228"/>
            <a:ext cx="2700000" cy="900000"/>
          </a:xfrm>
          <a:prstGeom prst="rect">
            <a:avLst/>
          </a:prstGeom>
          <a:noFill/>
          <a:ln>
            <a:noFill/>
          </a:ln>
        </p:spPr>
        <p:txBody>
          <a:bodyPr wrap="square" lIns="0" tIns="0" rIns="0" bIns="0" rtlCol="0" anchor="ctr"/>
          <a:lstStyle/>
          <a:p>
            <a:pPr algn="ctr"/>
            <a:r>
              <a:rPr lang="en-US" sz="4800" dirty="0">
                <a:latin typeface="Segoe UI Emoji"/>
              </a:rPr>
              <a:t>🤖</a:t>
            </a:r>
          </a:p>
        </p:txBody>
      </p:sp>
      <p:sp>
        <p:nvSpPr>
          <p:cNvPr id="6" name="Ti1"/>
          <p:cNvSpPr/>
          <p:nvPr/>
        </p:nvSpPr>
        <p:spPr>
          <a:xfrm>
            <a:off x="3224960" y="1772228"/>
            <a:ext cx="2700000" cy="340000"/>
          </a:xfrm>
          <a:prstGeom prst="rect">
            <a:avLst/>
          </a:prstGeom>
          <a:noFill/>
          <a:ln>
            <a:noFill/>
          </a:ln>
        </p:spPr>
        <p:txBody>
          <a:bodyPr wrap="square" lIns="0" tIns="0" rIns="0" bIns="0" rtlCol="0" anchor="ctr"/>
          <a:lstStyle/>
          <a:p>
            <a:pPr algn="ctr"/>
            <a:r>
              <a:rPr lang="en-US" sz="1400" b="1" dirty="0">
                <a:solidFill>
                  <a:srgbClr val="F7931A"/>
                </a:solidFill>
                <a:latin typeface="Calibri"/>
              </a:rPr>
              <a:t>PREDICT &amp; STORE</a:t>
            </a:r>
          </a:p>
        </p:txBody>
      </p:sp>
      <p:sp>
        <p:nvSpPr>
          <p:cNvPr id="7" name="St1"/>
          <p:cNvSpPr/>
          <p:nvPr/>
        </p:nvSpPr>
        <p:spPr>
          <a:xfrm>
            <a:off x="3224960" y="2132228"/>
            <a:ext cx="2700000" cy="260000"/>
          </a:xfrm>
          <a:prstGeom prst="rect">
            <a:avLst/>
          </a:prstGeom>
          <a:noFill/>
          <a:ln>
            <a:noFill/>
          </a:ln>
        </p:spPr>
        <p:txBody>
          <a:bodyPr wrap="square" lIns="0" tIns="0" rIns="0" bIns="0" rtlCol="0" anchor="ctr"/>
          <a:lstStyle/>
          <a:p>
            <a:pPr algn="ctr"/>
            <a:r>
              <a:rPr lang="en-US" sz="1000" b="0" i="1" dirty="0">
                <a:solidFill>
                  <a:srgbClr val="666666"/>
                </a:solidFill>
                <a:latin typeface="Calibri"/>
              </a:rPr>
              <a:t>ML model runs</a:t>
            </a:r>
          </a:p>
        </p:txBody>
      </p:sp>
      <p:sp>
        <p:nvSpPr>
          <p:cNvPr id="27" name="Dv1"/>
          <p:cNvSpPr/>
          <p:nvPr/>
        </p:nvSpPr>
        <p:spPr>
          <a:xfrm>
            <a:off x="3424960" y="2432228"/>
            <a:ext cx="2300000" cy="8000"/>
          </a:xfrm>
          <a:prstGeom prst="rect">
            <a:avLst/>
          </a:prstGeom>
          <a:solidFill>
            <a:srgbClr val="1A2535"/>
          </a:solidFill>
          <a:ln>
            <a:noFill/>
          </a:ln>
        </p:spPr>
        <p:txBody>
          <a:bodyPr/>
          <a:lstStyle/>
          <a:p>
            <a:endParaRPr/>
          </a:p>
        </p:txBody>
      </p:sp>
      <p:sp>
        <p:nvSpPr>
          <p:cNvPr id="28" name="Bd10"/>
          <p:cNvSpPr/>
          <p:nvPr/>
        </p:nvSpPr>
        <p:spPr>
          <a:xfrm>
            <a:off x="3344960" y="2612228"/>
            <a:ext cx="14000" cy="200000"/>
          </a:xfrm>
          <a:prstGeom prst="rect">
            <a:avLst/>
          </a:prstGeom>
          <a:solidFill>
            <a:srgbClr val="F7931A"/>
          </a:solidFill>
          <a:ln>
            <a:noFill/>
          </a:ln>
        </p:spPr>
        <p:txBody>
          <a:bodyPr/>
          <a:lstStyle/>
          <a:p>
            <a:endParaRPr/>
          </a:p>
        </p:txBody>
      </p:sp>
      <p:sp>
        <p:nvSpPr>
          <p:cNvPr id="30" name="Bl10"/>
          <p:cNvSpPr/>
          <p:nvPr/>
        </p:nvSpPr>
        <p:spPr>
          <a:xfrm>
            <a:off x="3404960" y="251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Generates price direction</a:t>
            </a:r>
          </a:p>
        </p:txBody>
      </p:sp>
      <p:sp>
        <p:nvSpPr>
          <p:cNvPr id="29" name="Bd11"/>
          <p:cNvSpPr/>
          <p:nvPr/>
        </p:nvSpPr>
        <p:spPr>
          <a:xfrm>
            <a:off x="3344960" y="3052228"/>
            <a:ext cx="14000" cy="200000"/>
          </a:xfrm>
          <a:prstGeom prst="rect">
            <a:avLst/>
          </a:prstGeom>
          <a:solidFill>
            <a:srgbClr val="F7931A"/>
          </a:solidFill>
          <a:ln>
            <a:noFill/>
          </a:ln>
        </p:spPr>
        <p:txBody>
          <a:bodyPr/>
          <a:lstStyle/>
          <a:p>
            <a:endParaRPr/>
          </a:p>
        </p:txBody>
      </p:sp>
      <p:sp>
        <p:nvSpPr>
          <p:cNvPr id="31" name="Bl11"/>
          <p:cNvSpPr/>
          <p:nvPr/>
        </p:nvSpPr>
        <p:spPr>
          <a:xfrm>
            <a:off x="3404960" y="295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Confidence and prediction stored</a:t>
            </a:r>
          </a:p>
        </p:txBody>
      </p:sp>
      <p:sp>
        <p:nvSpPr>
          <p:cNvPr id="8" name="SBg1"/>
          <p:cNvSpPr/>
          <p:nvPr/>
        </p:nvSpPr>
        <p:spPr>
          <a:xfrm>
            <a:off x="3324960" y="5152228"/>
            <a:ext cx="2500000" cy="380000"/>
          </a:xfrm>
          <a:prstGeom prst="rect">
            <a:avLst/>
          </a:prstGeom>
          <a:solidFill>
            <a:srgbClr val="111B27"/>
          </a:solidFill>
          <a:ln w="16000">
            <a:solidFill>
              <a:srgbClr val="F7931A"/>
            </a:solidFill>
          </a:ln>
        </p:spPr>
        <p:txBody>
          <a:bodyPr/>
          <a:lstStyle/>
          <a:p>
            <a:endParaRPr/>
          </a:p>
        </p:txBody>
      </p:sp>
      <p:sp>
        <p:nvSpPr>
          <p:cNvPr id="37" name="STxt1"/>
          <p:cNvSpPr/>
          <p:nvPr/>
        </p:nvSpPr>
        <p:spPr>
          <a:xfrm>
            <a:off x="3324960" y="5152228"/>
            <a:ext cx="2500000" cy="380000"/>
          </a:xfrm>
          <a:prstGeom prst="rect">
            <a:avLst/>
          </a:prstGeom>
          <a:noFill/>
          <a:ln>
            <a:noFill/>
          </a:ln>
        </p:spPr>
        <p:txBody>
          <a:bodyPr wrap="square" lIns="0" tIns="0" rIns="0" bIns="0" rtlCol="0" anchor="ctr"/>
          <a:lstStyle/>
          <a:p>
            <a:pPr algn="ctr"/>
            <a:r>
              <a:rPr lang="en-US" sz="1050" b="0" dirty="0">
                <a:solidFill>
                  <a:srgbClr val="888888"/>
                </a:solidFill>
                <a:latin typeface="Calibri"/>
              </a:rPr>
              <a:t>💾  stored in : predictions</a:t>
            </a:r>
          </a:p>
        </p:txBody>
      </p:sp>
      <p:sp>
        <p:nvSpPr>
          <p:cNvPr id="38" name="Ar1"/>
          <p:cNvSpPr/>
          <p:nvPr/>
        </p:nvSpPr>
        <p:spPr>
          <a:xfrm>
            <a:off x="5924960" y="3102228"/>
            <a:ext cx="342080" cy="200000"/>
          </a:xfrm>
          <a:prstGeom prst="rightArrow">
            <a:avLst/>
          </a:prstGeom>
          <a:solidFill>
            <a:schemeClr val="tx1">
              <a:lumMod val="85000"/>
            </a:schemeClr>
          </a:solidFill>
          <a:ln>
            <a:noFill/>
          </a:ln>
        </p:spPr>
        <p:txBody>
          <a:bodyPr/>
          <a:lstStyle/>
          <a:p>
            <a:endParaRPr>
              <a:solidFill>
                <a:schemeClr val="tx1">
                  <a:lumMod val="95000"/>
                </a:schemeClr>
              </a:solidFill>
            </a:endParaRPr>
          </a:p>
        </p:txBody>
      </p:sp>
      <p:sp>
        <p:nvSpPr>
          <p:cNvPr id="34" name="CB2"/>
          <p:cNvSpPr/>
          <p:nvPr/>
        </p:nvSpPr>
        <p:spPr>
          <a:xfrm>
            <a:off x="6267040" y="752228"/>
            <a:ext cx="2700000" cy="4900000"/>
          </a:xfrm>
          <a:prstGeom prst="rect">
            <a:avLst/>
          </a:prstGeom>
          <a:solidFill>
            <a:srgbClr val="0D1B2A"/>
          </a:solidFill>
          <a:ln w="22860">
            <a:solidFill>
              <a:srgbClr val="4A9CCC"/>
            </a:solidFill>
          </a:ln>
        </p:spPr>
        <p:txBody>
          <a:bodyPr/>
          <a:lstStyle/>
          <a:p>
            <a:endParaRPr/>
          </a:p>
        </p:txBody>
      </p:sp>
      <p:sp>
        <p:nvSpPr>
          <p:cNvPr id="35" name="CT2"/>
          <p:cNvSpPr/>
          <p:nvPr/>
        </p:nvSpPr>
        <p:spPr>
          <a:xfrm>
            <a:off x="6267040" y="752228"/>
            <a:ext cx="2700000" cy="65000"/>
          </a:xfrm>
          <a:prstGeom prst="rect">
            <a:avLst/>
          </a:prstGeom>
          <a:solidFill>
            <a:srgbClr val="4A9CCC"/>
          </a:solidFill>
          <a:ln>
            <a:noFill/>
          </a:ln>
        </p:spPr>
        <p:txBody>
          <a:bodyPr/>
          <a:lstStyle/>
          <a:p>
            <a:endParaRPr/>
          </a:p>
        </p:txBody>
      </p:sp>
      <p:sp>
        <p:nvSpPr>
          <p:cNvPr id="36" name="Ic2"/>
          <p:cNvSpPr/>
          <p:nvPr/>
        </p:nvSpPr>
        <p:spPr>
          <a:xfrm>
            <a:off x="6267040" y="832228"/>
            <a:ext cx="2700000" cy="900000"/>
          </a:xfrm>
          <a:prstGeom prst="rect">
            <a:avLst/>
          </a:prstGeom>
          <a:noFill/>
          <a:ln>
            <a:noFill/>
          </a:ln>
        </p:spPr>
        <p:txBody>
          <a:bodyPr wrap="square" lIns="0" tIns="0" rIns="0" bIns="0" rtlCol="0" anchor="ctr"/>
          <a:lstStyle/>
          <a:p>
            <a:pPr algn="ctr"/>
            <a:r>
              <a:rPr lang="en-US" sz="4800" dirty="0">
                <a:latin typeface="Segoe UI Emoji"/>
              </a:rPr>
              <a:t>📊</a:t>
            </a:r>
          </a:p>
        </p:txBody>
      </p:sp>
      <p:sp>
        <p:nvSpPr>
          <p:cNvPr id="9" name="Ti2"/>
          <p:cNvSpPr/>
          <p:nvPr/>
        </p:nvSpPr>
        <p:spPr>
          <a:xfrm>
            <a:off x="6267040" y="1772228"/>
            <a:ext cx="2700000" cy="340000"/>
          </a:xfrm>
          <a:prstGeom prst="rect">
            <a:avLst/>
          </a:prstGeom>
          <a:noFill/>
          <a:ln>
            <a:noFill/>
          </a:ln>
        </p:spPr>
        <p:txBody>
          <a:bodyPr wrap="square" lIns="0" tIns="0" rIns="0" bIns="0" rtlCol="0" anchor="ctr"/>
          <a:lstStyle/>
          <a:p>
            <a:pPr algn="ctr"/>
            <a:r>
              <a:rPr lang="en-US" sz="1400" b="1" dirty="0">
                <a:solidFill>
                  <a:srgbClr val="4A9CCC"/>
                </a:solidFill>
                <a:latin typeface="Calibri"/>
              </a:rPr>
              <a:t>EVALUATE ACCURACY</a:t>
            </a:r>
          </a:p>
        </p:txBody>
      </p:sp>
      <p:sp>
        <p:nvSpPr>
          <p:cNvPr id="20" name="St2"/>
          <p:cNvSpPr/>
          <p:nvPr/>
        </p:nvSpPr>
        <p:spPr>
          <a:xfrm>
            <a:off x="6267040" y="2132228"/>
            <a:ext cx="2700000" cy="260000"/>
          </a:xfrm>
          <a:prstGeom prst="rect">
            <a:avLst/>
          </a:prstGeom>
          <a:noFill/>
          <a:ln>
            <a:noFill/>
          </a:ln>
        </p:spPr>
        <p:txBody>
          <a:bodyPr wrap="square" lIns="0" tIns="0" rIns="0" bIns="0" rtlCol="0" anchor="ctr"/>
          <a:lstStyle/>
          <a:p>
            <a:pPr algn="ctr"/>
            <a:r>
              <a:rPr lang="en-US" sz="1000" b="0" i="1" dirty="0">
                <a:solidFill>
                  <a:srgbClr val="666666"/>
                </a:solidFill>
                <a:latin typeface="Calibri"/>
              </a:rPr>
              <a:t>vs yesterday's outcome</a:t>
            </a:r>
          </a:p>
        </p:txBody>
      </p:sp>
      <p:sp>
        <p:nvSpPr>
          <p:cNvPr id="39" name="Dv2"/>
          <p:cNvSpPr/>
          <p:nvPr/>
        </p:nvSpPr>
        <p:spPr>
          <a:xfrm>
            <a:off x="6467040" y="2432228"/>
            <a:ext cx="2300000" cy="8000"/>
          </a:xfrm>
          <a:prstGeom prst="rect">
            <a:avLst/>
          </a:prstGeom>
          <a:solidFill>
            <a:srgbClr val="1A2535"/>
          </a:solidFill>
          <a:ln>
            <a:noFill/>
          </a:ln>
        </p:spPr>
        <p:txBody>
          <a:bodyPr/>
          <a:lstStyle/>
          <a:p>
            <a:endParaRPr/>
          </a:p>
        </p:txBody>
      </p:sp>
      <p:sp>
        <p:nvSpPr>
          <p:cNvPr id="40" name="Bd20"/>
          <p:cNvSpPr/>
          <p:nvPr/>
        </p:nvSpPr>
        <p:spPr>
          <a:xfrm>
            <a:off x="6387040" y="2612228"/>
            <a:ext cx="14000" cy="200000"/>
          </a:xfrm>
          <a:prstGeom prst="rect">
            <a:avLst/>
          </a:prstGeom>
          <a:solidFill>
            <a:srgbClr val="4A9CCC"/>
          </a:solidFill>
          <a:ln>
            <a:noFill/>
          </a:ln>
        </p:spPr>
        <p:txBody>
          <a:bodyPr/>
          <a:lstStyle/>
          <a:p>
            <a:endParaRPr/>
          </a:p>
        </p:txBody>
      </p:sp>
      <p:sp>
        <p:nvSpPr>
          <p:cNvPr id="42" name="Bl20"/>
          <p:cNvSpPr/>
          <p:nvPr/>
        </p:nvSpPr>
        <p:spPr>
          <a:xfrm>
            <a:off x="6447040" y="251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Compute rolling accuracy: last 30 days</a:t>
            </a:r>
          </a:p>
        </p:txBody>
      </p:sp>
      <p:sp>
        <p:nvSpPr>
          <p:cNvPr id="41" name="Bd21"/>
          <p:cNvSpPr/>
          <p:nvPr/>
        </p:nvSpPr>
        <p:spPr>
          <a:xfrm>
            <a:off x="6387040" y="3052228"/>
            <a:ext cx="14000" cy="200000"/>
          </a:xfrm>
          <a:prstGeom prst="rect">
            <a:avLst/>
          </a:prstGeom>
          <a:solidFill>
            <a:srgbClr val="4A9CCC"/>
          </a:solidFill>
          <a:ln>
            <a:noFill/>
          </a:ln>
        </p:spPr>
        <p:txBody>
          <a:bodyPr/>
          <a:lstStyle/>
          <a:p>
            <a:endParaRPr/>
          </a:p>
        </p:txBody>
      </p:sp>
      <p:sp>
        <p:nvSpPr>
          <p:cNvPr id="43" name="Bl21"/>
          <p:cNvSpPr/>
          <p:nvPr/>
        </p:nvSpPr>
        <p:spPr>
          <a:xfrm>
            <a:off x="6447040" y="295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Alert if drops below 52%</a:t>
            </a:r>
          </a:p>
        </p:txBody>
      </p:sp>
      <p:sp>
        <p:nvSpPr>
          <p:cNvPr id="21" name="SBg2"/>
          <p:cNvSpPr/>
          <p:nvPr/>
        </p:nvSpPr>
        <p:spPr>
          <a:xfrm>
            <a:off x="6367040" y="5152228"/>
            <a:ext cx="2500000" cy="380000"/>
          </a:xfrm>
          <a:prstGeom prst="rect">
            <a:avLst/>
          </a:prstGeom>
          <a:solidFill>
            <a:srgbClr val="111B27"/>
          </a:solidFill>
          <a:ln w="16000">
            <a:solidFill>
              <a:srgbClr val="4A9CCC"/>
            </a:solidFill>
          </a:ln>
        </p:spPr>
        <p:txBody>
          <a:bodyPr/>
          <a:lstStyle/>
          <a:p>
            <a:endParaRPr/>
          </a:p>
        </p:txBody>
      </p:sp>
      <p:sp>
        <p:nvSpPr>
          <p:cNvPr id="49" name="STxt2"/>
          <p:cNvSpPr/>
          <p:nvPr/>
        </p:nvSpPr>
        <p:spPr>
          <a:xfrm>
            <a:off x="6367040" y="5152228"/>
            <a:ext cx="2500000" cy="380000"/>
          </a:xfrm>
          <a:prstGeom prst="rect">
            <a:avLst/>
          </a:prstGeom>
          <a:noFill/>
          <a:ln>
            <a:noFill/>
          </a:ln>
        </p:spPr>
        <p:txBody>
          <a:bodyPr wrap="square" lIns="0" tIns="0" rIns="0" bIns="0" rtlCol="0" anchor="ctr"/>
          <a:lstStyle/>
          <a:p>
            <a:pPr algn="ctr"/>
            <a:r>
              <a:rPr lang="en-US" sz="1050" b="0" dirty="0">
                <a:solidFill>
                  <a:srgbClr val="888888"/>
                </a:solidFill>
                <a:latin typeface="Calibri"/>
              </a:rPr>
              <a:t>💾  stored in : errors</a:t>
            </a:r>
          </a:p>
        </p:txBody>
      </p:sp>
      <p:sp>
        <p:nvSpPr>
          <p:cNvPr id="50" name="Ar2"/>
          <p:cNvSpPr/>
          <p:nvPr/>
        </p:nvSpPr>
        <p:spPr>
          <a:xfrm>
            <a:off x="8967040" y="3102228"/>
            <a:ext cx="342080" cy="200000"/>
          </a:xfrm>
          <a:prstGeom prst="rightArrow">
            <a:avLst/>
          </a:prstGeom>
          <a:solidFill>
            <a:schemeClr val="tx1">
              <a:lumMod val="85000"/>
            </a:schemeClr>
          </a:solidFill>
          <a:ln>
            <a:noFill/>
          </a:ln>
        </p:spPr>
        <p:txBody>
          <a:bodyPr/>
          <a:lstStyle/>
          <a:p>
            <a:endParaRPr>
              <a:solidFill>
                <a:schemeClr val="tx1">
                  <a:lumMod val="95000"/>
                </a:schemeClr>
              </a:solidFill>
            </a:endParaRPr>
          </a:p>
        </p:txBody>
      </p:sp>
      <p:sp>
        <p:nvSpPr>
          <p:cNvPr id="46" name="CB3"/>
          <p:cNvSpPr/>
          <p:nvPr/>
        </p:nvSpPr>
        <p:spPr>
          <a:xfrm>
            <a:off x="9309120" y="752228"/>
            <a:ext cx="2700000" cy="4900000"/>
          </a:xfrm>
          <a:prstGeom prst="rect">
            <a:avLst/>
          </a:prstGeom>
          <a:solidFill>
            <a:srgbClr val="0D1B2A"/>
          </a:solidFill>
          <a:ln w="22860">
            <a:solidFill>
              <a:srgbClr val="DE9C3C"/>
            </a:solidFill>
          </a:ln>
        </p:spPr>
        <p:txBody>
          <a:bodyPr/>
          <a:lstStyle/>
          <a:p>
            <a:endParaRPr>
              <a:solidFill>
                <a:schemeClr val="tx1">
                  <a:lumMod val="95000"/>
                </a:schemeClr>
              </a:solidFill>
            </a:endParaRPr>
          </a:p>
        </p:txBody>
      </p:sp>
      <p:sp>
        <p:nvSpPr>
          <p:cNvPr id="47" name="CT3"/>
          <p:cNvSpPr/>
          <p:nvPr/>
        </p:nvSpPr>
        <p:spPr>
          <a:xfrm>
            <a:off x="9309120" y="752228"/>
            <a:ext cx="2700000" cy="65000"/>
          </a:xfrm>
          <a:prstGeom prst="rect">
            <a:avLst/>
          </a:prstGeom>
          <a:solidFill>
            <a:srgbClr val="DE9C3C"/>
          </a:solidFill>
          <a:ln>
            <a:noFill/>
          </a:ln>
        </p:spPr>
        <p:txBody>
          <a:bodyPr/>
          <a:lstStyle/>
          <a:p>
            <a:endParaRPr/>
          </a:p>
        </p:txBody>
      </p:sp>
      <p:sp>
        <p:nvSpPr>
          <p:cNvPr id="48" name="Ic3"/>
          <p:cNvSpPr/>
          <p:nvPr/>
        </p:nvSpPr>
        <p:spPr>
          <a:xfrm>
            <a:off x="9309120" y="832228"/>
            <a:ext cx="2700000" cy="900000"/>
          </a:xfrm>
          <a:prstGeom prst="rect">
            <a:avLst/>
          </a:prstGeom>
          <a:noFill/>
          <a:ln>
            <a:noFill/>
          </a:ln>
        </p:spPr>
        <p:txBody>
          <a:bodyPr wrap="square" lIns="0" tIns="0" rIns="0" bIns="0" rtlCol="0" anchor="ctr"/>
          <a:lstStyle/>
          <a:p>
            <a:pPr algn="ctr"/>
            <a:r>
              <a:rPr lang="en-US" sz="4800" dirty="0">
                <a:latin typeface="Segoe UI Emoji"/>
              </a:rPr>
              <a:t>🔄</a:t>
            </a:r>
          </a:p>
        </p:txBody>
      </p:sp>
      <p:sp>
        <p:nvSpPr>
          <p:cNvPr id="32" name="Ti3"/>
          <p:cNvSpPr/>
          <p:nvPr/>
        </p:nvSpPr>
        <p:spPr>
          <a:xfrm>
            <a:off x="9309120" y="1772228"/>
            <a:ext cx="2700000" cy="340000"/>
          </a:xfrm>
          <a:prstGeom prst="rect">
            <a:avLst/>
          </a:prstGeom>
          <a:noFill/>
          <a:ln>
            <a:noFill/>
          </a:ln>
        </p:spPr>
        <p:txBody>
          <a:bodyPr wrap="square" lIns="0" tIns="0" rIns="0" bIns="0" rtlCol="0" anchor="ctr"/>
          <a:lstStyle/>
          <a:p>
            <a:pPr algn="ctr"/>
            <a:r>
              <a:rPr lang="en-US" sz="1400" b="1" dirty="0">
                <a:solidFill>
                  <a:srgbClr val="DE9C3C"/>
                </a:solidFill>
                <a:latin typeface="Calibri"/>
              </a:rPr>
              <a:t>AUTO-RETRAIN</a:t>
            </a:r>
          </a:p>
        </p:txBody>
      </p:sp>
      <p:sp>
        <p:nvSpPr>
          <p:cNvPr id="33" name="St3"/>
          <p:cNvSpPr/>
          <p:nvPr/>
        </p:nvSpPr>
        <p:spPr>
          <a:xfrm>
            <a:off x="9309120" y="2132228"/>
            <a:ext cx="2700000" cy="260000"/>
          </a:xfrm>
          <a:prstGeom prst="rect">
            <a:avLst/>
          </a:prstGeom>
          <a:noFill/>
          <a:ln>
            <a:noFill/>
          </a:ln>
        </p:spPr>
        <p:txBody>
          <a:bodyPr wrap="square" lIns="0" tIns="0" rIns="0" bIns="0" rtlCol="0" anchor="ctr"/>
          <a:lstStyle/>
          <a:p>
            <a:pPr algn="ctr"/>
            <a:r>
              <a:rPr lang="en-US" sz="1000" b="0" i="1" dirty="0">
                <a:solidFill>
                  <a:srgbClr val="666666"/>
                </a:solidFill>
                <a:latin typeface="Calibri"/>
              </a:rPr>
              <a:t>triggered if accuracy below 52%</a:t>
            </a:r>
          </a:p>
        </p:txBody>
      </p:sp>
      <p:sp>
        <p:nvSpPr>
          <p:cNvPr id="51" name="Dv3"/>
          <p:cNvSpPr/>
          <p:nvPr/>
        </p:nvSpPr>
        <p:spPr>
          <a:xfrm>
            <a:off x="9509120" y="2432228"/>
            <a:ext cx="2300000" cy="8000"/>
          </a:xfrm>
          <a:prstGeom prst="rect">
            <a:avLst/>
          </a:prstGeom>
          <a:solidFill>
            <a:srgbClr val="1A2535"/>
          </a:solidFill>
          <a:ln>
            <a:noFill/>
          </a:ln>
        </p:spPr>
        <p:txBody>
          <a:bodyPr/>
          <a:lstStyle/>
          <a:p>
            <a:endParaRPr/>
          </a:p>
        </p:txBody>
      </p:sp>
      <p:sp>
        <p:nvSpPr>
          <p:cNvPr id="52" name="Bd30"/>
          <p:cNvSpPr/>
          <p:nvPr/>
        </p:nvSpPr>
        <p:spPr>
          <a:xfrm>
            <a:off x="9429120" y="2612228"/>
            <a:ext cx="14000" cy="200000"/>
          </a:xfrm>
          <a:prstGeom prst="rect">
            <a:avLst/>
          </a:prstGeom>
          <a:solidFill>
            <a:srgbClr val="DE9C3C"/>
          </a:solidFill>
          <a:ln>
            <a:noFill/>
          </a:ln>
        </p:spPr>
        <p:txBody>
          <a:bodyPr/>
          <a:lstStyle/>
          <a:p>
            <a:endParaRPr/>
          </a:p>
        </p:txBody>
      </p:sp>
      <p:sp>
        <p:nvSpPr>
          <p:cNvPr id="54" name="Bl30"/>
          <p:cNvSpPr/>
          <p:nvPr/>
        </p:nvSpPr>
        <p:spPr>
          <a:xfrm>
            <a:off x="9489120" y="2512228"/>
            <a:ext cx="2480000" cy="380000"/>
          </a:xfrm>
          <a:prstGeom prst="rect">
            <a:avLst/>
          </a:prstGeom>
          <a:noFill/>
          <a:ln>
            <a:noFill/>
          </a:ln>
        </p:spPr>
        <p:txBody>
          <a:bodyPr wrap="square" lIns="0" tIns="0" rIns="0" bIns="0" rtlCol="0" anchor="ctr"/>
          <a:lstStyle/>
          <a:p>
            <a:pPr algn="l"/>
            <a:r>
              <a:rPr lang="en-US" sz="1100" b="0" dirty="0">
                <a:solidFill>
                  <a:srgbClr val="CCCCCC"/>
                </a:solidFill>
                <a:latin typeface="Calibri"/>
              </a:rPr>
              <a:t>Downloads fresh market data</a:t>
            </a:r>
          </a:p>
        </p:txBody>
      </p:sp>
      <p:sp>
        <p:nvSpPr>
          <p:cNvPr id="53" name="Bd31"/>
          <p:cNvSpPr/>
          <p:nvPr/>
        </p:nvSpPr>
        <p:spPr>
          <a:xfrm>
            <a:off x="9429120" y="3052228"/>
            <a:ext cx="14000" cy="200000"/>
          </a:xfrm>
          <a:prstGeom prst="rect">
            <a:avLst/>
          </a:prstGeom>
          <a:solidFill>
            <a:srgbClr val="DE9C3C"/>
          </a:solidFill>
          <a:ln>
            <a:noFill/>
          </a:ln>
        </p:spPr>
        <p:txBody>
          <a:bodyPr/>
          <a:lstStyle/>
          <a:p>
            <a:endParaRPr/>
          </a:p>
        </p:txBody>
      </p:sp>
      <p:sp>
        <p:nvSpPr>
          <p:cNvPr id="55" name="Bl31"/>
          <p:cNvSpPr/>
          <p:nvPr/>
        </p:nvSpPr>
        <p:spPr>
          <a:xfrm>
            <a:off x="9489120" y="2952228"/>
            <a:ext cx="2480000" cy="380000"/>
          </a:xfrm>
          <a:prstGeom prst="rect">
            <a:avLst/>
          </a:prstGeom>
          <a:noFill/>
          <a:ln>
            <a:noFill/>
          </a:ln>
        </p:spPr>
        <p:txBody>
          <a:bodyPr wrap="square" lIns="0" tIns="0" rIns="0" bIns="0" rtlCol="0" anchor="ctr"/>
          <a:lstStyle/>
          <a:p>
            <a:pPr algn="l"/>
            <a:r>
              <a:rPr lang="en-US" sz="1100" dirty="0">
                <a:solidFill>
                  <a:srgbClr val="CCCCCC"/>
                </a:solidFill>
                <a:latin typeface="Calibri"/>
              </a:rPr>
              <a:t>Retrain the model</a:t>
            </a:r>
            <a:endParaRPr lang="en-US" sz="1100" b="0" dirty="0">
              <a:solidFill>
                <a:srgbClr val="CCCCCC"/>
              </a:solidFill>
              <a:latin typeface="Calibri"/>
            </a:endParaRPr>
          </a:p>
        </p:txBody>
      </p:sp>
      <p:sp>
        <p:nvSpPr>
          <p:cNvPr id="56" name="SBg3"/>
          <p:cNvSpPr/>
          <p:nvPr/>
        </p:nvSpPr>
        <p:spPr>
          <a:xfrm>
            <a:off x="9409120" y="5152228"/>
            <a:ext cx="2500000" cy="380000"/>
          </a:xfrm>
          <a:prstGeom prst="rect">
            <a:avLst/>
          </a:prstGeom>
          <a:solidFill>
            <a:srgbClr val="111B27"/>
          </a:solidFill>
          <a:ln w="16000">
            <a:solidFill>
              <a:srgbClr val="DE9C3C"/>
            </a:solidFill>
          </a:ln>
        </p:spPr>
        <p:txBody>
          <a:bodyPr/>
          <a:lstStyle/>
          <a:p>
            <a:endParaRPr/>
          </a:p>
        </p:txBody>
      </p:sp>
      <p:sp>
        <p:nvSpPr>
          <p:cNvPr id="61" name="STxt3"/>
          <p:cNvSpPr/>
          <p:nvPr/>
        </p:nvSpPr>
        <p:spPr>
          <a:xfrm>
            <a:off x="9409120" y="5152228"/>
            <a:ext cx="2500000" cy="380000"/>
          </a:xfrm>
          <a:prstGeom prst="rect">
            <a:avLst/>
          </a:prstGeom>
          <a:noFill/>
          <a:ln>
            <a:noFill/>
          </a:ln>
        </p:spPr>
        <p:txBody>
          <a:bodyPr wrap="square" lIns="0" tIns="0" rIns="0" bIns="0" rtlCol="0" anchor="ctr"/>
          <a:lstStyle/>
          <a:p>
            <a:pPr algn="ctr"/>
            <a:r>
              <a:rPr lang="en-US" sz="1050" b="0" dirty="0">
                <a:solidFill>
                  <a:srgbClr val="888888"/>
                </a:solidFill>
                <a:latin typeface="Calibri"/>
              </a:rPr>
              <a:t>💾  stored in : retraining_log</a:t>
            </a:r>
          </a:p>
        </p:txBody>
      </p:sp>
      <p:sp>
        <p:nvSpPr>
          <p:cNvPr id="57" name="Bd31">
            <a:extLst>
              <a:ext uri="{FF2B5EF4-FFF2-40B4-BE49-F238E27FC236}">
                <a16:creationId xmlns:a16="http://schemas.microsoft.com/office/drawing/2014/main" id="{913D50AD-D68C-659D-EAA7-CE22B8263326}"/>
              </a:ext>
            </a:extLst>
          </p:cNvPr>
          <p:cNvSpPr/>
          <p:nvPr/>
        </p:nvSpPr>
        <p:spPr>
          <a:xfrm>
            <a:off x="9431392" y="3416172"/>
            <a:ext cx="14000" cy="200000"/>
          </a:xfrm>
          <a:prstGeom prst="rect">
            <a:avLst/>
          </a:prstGeom>
          <a:solidFill>
            <a:srgbClr val="DE9C3C"/>
          </a:solidFill>
          <a:ln>
            <a:noFill/>
          </a:ln>
        </p:spPr>
        <p:txBody>
          <a:bodyPr/>
          <a:lstStyle/>
          <a:p>
            <a:endParaRPr/>
          </a:p>
        </p:txBody>
      </p:sp>
      <p:sp>
        <p:nvSpPr>
          <p:cNvPr id="58" name="Bl31">
            <a:extLst>
              <a:ext uri="{FF2B5EF4-FFF2-40B4-BE49-F238E27FC236}">
                <a16:creationId xmlns:a16="http://schemas.microsoft.com/office/drawing/2014/main" id="{E65A2CA4-F026-2316-CE5B-B3DCB96E660F}"/>
              </a:ext>
            </a:extLst>
          </p:cNvPr>
          <p:cNvSpPr/>
          <p:nvPr/>
        </p:nvSpPr>
        <p:spPr>
          <a:xfrm>
            <a:off x="9491392" y="3316172"/>
            <a:ext cx="2480000" cy="380000"/>
          </a:xfrm>
          <a:prstGeom prst="rect">
            <a:avLst/>
          </a:prstGeom>
          <a:noFill/>
          <a:ln>
            <a:noFill/>
          </a:ln>
        </p:spPr>
        <p:txBody>
          <a:bodyPr wrap="square" lIns="0" tIns="0" rIns="0" bIns="0" rtlCol="0" anchor="ctr"/>
          <a:lstStyle/>
          <a:p>
            <a:r>
              <a:rPr lang="en-US" sz="1100" dirty="0">
                <a:solidFill>
                  <a:srgbClr val="CBD5E1"/>
                </a:solidFill>
                <a:latin typeface="Calibri" pitchFamily="34" charset="0"/>
                <a:ea typeface="Calibri" pitchFamily="34" charset="-122"/>
                <a:cs typeface="Calibri" pitchFamily="34" charset="-120"/>
              </a:rPr>
              <a:t>Compares new vs old model</a:t>
            </a:r>
            <a:endParaRPr lang="en-US" sz="1100" b="0" dirty="0">
              <a:solidFill>
                <a:srgbClr val="CCCCCC"/>
              </a:solidFill>
              <a:latin typeface="Calibri"/>
            </a:endParaRPr>
          </a:p>
        </p:txBody>
      </p:sp>
      <p:sp>
        <p:nvSpPr>
          <p:cNvPr id="63" name="Bd31">
            <a:extLst>
              <a:ext uri="{FF2B5EF4-FFF2-40B4-BE49-F238E27FC236}">
                <a16:creationId xmlns:a16="http://schemas.microsoft.com/office/drawing/2014/main" id="{AAFF35D7-B0A5-E89D-53D5-22BEA5CE98EB}"/>
              </a:ext>
            </a:extLst>
          </p:cNvPr>
          <p:cNvSpPr/>
          <p:nvPr/>
        </p:nvSpPr>
        <p:spPr>
          <a:xfrm>
            <a:off x="9426840" y="3814236"/>
            <a:ext cx="14000" cy="200000"/>
          </a:xfrm>
          <a:prstGeom prst="rect">
            <a:avLst/>
          </a:prstGeom>
          <a:solidFill>
            <a:srgbClr val="DE9C3C"/>
          </a:solidFill>
          <a:ln>
            <a:noFill/>
          </a:ln>
        </p:spPr>
        <p:txBody>
          <a:bodyPr/>
          <a:lstStyle/>
          <a:p>
            <a:endParaRPr/>
          </a:p>
        </p:txBody>
      </p:sp>
      <p:sp>
        <p:nvSpPr>
          <p:cNvPr id="448" name="Bl31">
            <a:extLst>
              <a:ext uri="{FF2B5EF4-FFF2-40B4-BE49-F238E27FC236}">
                <a16:creationId xmlns:a16="http://schemas.microsoft.com/office/drawing/2014/main" id="{E996AF2A-B9F9-DB9E-CC06-1F4B59D384BE}"/>
              </a:ext>
            </a:extLst>
          </p:cNvPr>
          <p:cNvSpPr/>
          <p:nvPr/>
        </p:nvSpPr>
        <p:spPr>
          <a:xfrm>
            <a:off x="9486840" y="3714236"/>
            <a:ext cx="2480000" cy="380000"/>
          </a:xfrm>
          <a:prstGeom prst="rect">
            <a:avLst/>
          </a:prstGeom>
          <a:noFill/>
          <a:ln>
            <a:noFill/>
          </a:ln>
        </p:spPr>
        <p:txBody>
          <a:bodyPr wrap="square" lIns="0" tIns="0" rIns="0" bIns="0" rtlCol="0" anchor="ctr"/>
          <a:lstStyle/>
          <a:p>
            <a:r>
              <a:rPr lang="en-US" sz="1100" dirty="0">
                <a:solidFill>
                  <a:srgbClr val="CBD5E1"/>
                </a:solidFill>
                <a:latin typeface="Calibri" pitchFamily="34" charset="0"/>
                <a:ea typeface="Calibri" pitchFamily="34" charset="-122"/>
                <a:cs typeface="Calibri" pitchFamily="34" charset="-120"/>
              </a:rPr>
              <a:t>Replaces the model only if the new model performs is  better</a:t>
            </a:r>
          </a:p>
        </p:txBody>
      </p:sp>
      <p:grpSp>
        <p:nvGrpSpPr>
          <p:cNvPr id="449" name="Group 448">
            <a:extLst>
              <a:ext uri="{FF2B5EF4-FFF2-40B4-BE49-F238E27FC236}">
                <a16:creationId xmlns:a16="http://schemas.microsoft.com/office/drawing/2014/main" id="{AA7EA4B5-763B-C1E2-F8AB-EF12CF27347D}"/>
              </a:ext>
            </a:extLst>
          </p:cNvPr>
          <p:cNvGrpSpPr/>
          <p:nvPr/>
        </p:nvGrpSpPr>
        <p:grpSpPr>
          <a:xfrm>
            <a:off x="912301" y="5637639"/>
            <a:ext cx="10157155" cy="487680"/>
            <a:chOff x="1560576" y="4047744"/>
            <a:chExt cx="10157155" cy="487680"/>
          </a:xfrm>
        </p:grpSpPr>
        <p:sp>
          <p:nvSpPr>
            <p:cNvPr id="450" name="Shape 36">
              <a:extLst>
                <a:ext uri="{FF2B5EF4-FFF2-40B4-BE49-F238E27FC236}">
                  <a16:creationId xmlns:a16="http://schemas.microsoft.com/office/drawing/2014/main" id="{1C0E6960-0F82-6676-57D8-374D2ED060D8}"/>
                </a:ext>
              </a:extLst>
            </p:cNvPr>
            <p:cNvSpPr/>
            <p:nvPr/>
          </p:nvSpPr>
          <p:spPr>
            <a:xfrm>
              <a:off x="11716512" y="4047744"/>
              <a:ext cx="1219" cy="463296"/>
            </a:xfrm>
            <a:prstGeom prst="line">
              <a:avLst/>
            </a:prstGeom>
            <a:noFill/>
            <a:ln w="19050">
              <a:solidFill>
                <a:srgbClr val="F7931A"/>
              </a:solidFill>
              <a:prstDash val="sysDash"/>
            </a:ln>
          </p:spPr>
          <p:txBody>
            <a:bodyPr/>
            <a:lstStyle/>
            <a:p>
              <a:endParaRPr lang="en-DE"/>
            </a:p>
          </p:txBody>
        </p:sp>
        <p:sp>
          <p:nvSpPr>
            <p:cNvPr id="451" name="Shape 37">
              <a:extLst>
                <a:ext uri="{FF2B5EF4-FFF2-40B4-BE49-F238E27FC236}">
                  <a16:creationId xmlns:a16="http://schemas.microsoft.com/office/drawing/2014/main" id="{F289BA37-B0EF-C6F1-B2BE-BB6D1ABE1BAC}"/>
                </a:ext>
              </a:extLst>
            </p:cNvPr>
            <p:cNvSpPr/>
            <p:nvPr/>
          </p:nvSpPr>
          <p:spPr>
            <a:xfrm>
              <a:off x="1560576" y="4511040"/>
              <a:ext cx="10155936" cy="0"/>
            </a:xfrm>
            <a:prstGeom prst="line">
              <a:avLst/>
            </a:prstGeom>
            <a:noFill/>
            <a:ln w="19050">
              <a:solidFill>
                <a:srgbClr val="F7931A"/>
              </a:solidFill>
              <a:prstDash val="sysDash"/>
              <a:headEnd type="arrow"/>
            </a:ln>
          </p:spPr>
          <p:txBody>
            <a:bodyPr/>
            <a:lstStyle/>
            <a:p>
              <a:endParaRPr lang="en-DE"/>
            </a:p>
          </p:txBody>
        </p:sp>
        <p:sp>
          <p:nvSpPr>
            <p:cNvPr id="452" name="Shape 38">
              <a:extLst>
                <a:ext uri="{FF2B5EF4-FFF2-40B4-BE49-F238E27FC236}">
                  <a16:creationId xmlns:a16="http://schemas.microsoft.com/office/drawing/2014/main" id="{3AE788EF-CE2E-8E96-4532-AA6B05AADAEC}"/>
                </a:ext>
              </a:extLst>
            </p:cNvPr>
            <p:cNvSpPr/>
            <p:nvPr/>
          </p:nvSpPr>
          <p:spPr>
            <a:xfrm>
              <a:off x="1560576" y="4047744"/>
              <a:ext cx="1219" cy="463296"/>
            </a:xfrm>
            <a:prstGeom prst="line">
              <a:avLst/>
            </a:prstGeom>
            <a:noFill/>
            <a:ln w="19050">
              <a:solidFill>
                <a:srgbClr val="F7931A"/>
              </a:solidFill>
              <a:prstDash val="sysDash"/>
            </a:ln>
          </p:spPr>
          <p:txBody>
            <a:bodyPr/>
            <a:lstStyle/>
            <a:p>
              <a:endParaRPr lang="en-DE"/>
            </a:p>
          </p:txBody>
        </p:sp>
        <p:sp>
          <p:nvSpPr>
            <p:cNvPr id="453" name="Text 39">
              <a:extLst>
                <a:ext uri="{FF2B5EF4-FFF2-40B4-BE49-F238E27FC236}">
                  <a16:creationId xmlns:a16="http://schemas.microsoft.com/office/drawing/2014/main" id="{8F04D7D9-DBA0-DCA5-3291-AA6016F6C193}"/>
                </a:ext>
              </a:extLst>
            </p:cNvPr>
            <p:cNvSpPr/>
            <p:nvPr/>
          </p:nvSpPr>
          <p:spPr>
            <a:xfrm>
              <a:off x="2194560" y="4267200"/>
              <a:ext cx="7924800" cy="268224"/>
            </a:xfrm>
            <a:prstGeom prst="rect">
              <a:avLst/>
            </a:prstGeom>
            <a:noFill/>
            <a:ln/>
          </p:spPr>
          <p:txBody>
            <a:bodyPr wrap="square" lIns="0" tIns="0" rIns="0" bIns="0" rtlCol="0" anchor="ctr"/>
            <a:lstStyle/>
            <a:p>
              <a:pPr algn="ctr"/>
              <a:r>
                <a:rPr lang="en-US" sz="1067" i="1" dirty="0">
                  <a:solidFill>
                    <a:srgbClr val="F7931A"/>
                  </a:solidFill>
                  <a:latin typeface="Calibri" pitchFamily="34" charset="0"/>
                  <a:ea typeface="Calibri" pitchFamily="34" charset="-122"/>
                  <a:cs typeface="Calibri" pitchFamily="34" charset="-120"/>
                </a:rPr>
                <a:t>🔁   Daily Cycle — Pipeline runs automatically every day at 00:30 AM</a:t>
              </a:r>
              <a:endParaRPr lang="en-US" sz="1067"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9"/>
                                        </p:tgtEl>
                                        <p:attrNameLst>
                                          <p:attrName>style.visibility</p:attrName>
                                        </p:attrNameLst>
                                      </p:cBhvr>
                                      <p:to>
                                        <p:strVal val="visible"/>
                                      </p:to>
                                    </p:set>
                                    <p:animEffect transition="in" filter="fade">
                                      <p:cBhvr>
                                        <p:cTn id="7" dur="500"/>
                                        <p:tgtEl>
                                          <p:spTgt spid="4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0" y="0"/>
            <a:ext cx="12192000" cy="520000"/>
          </a:xfrm>
          <a:prstGeom prst="rect">
            <a:avLst/>
          </a:prstGeom>
          <a:solidFill>
            <a:srgbClr val="1A2535"/>
          </a:solidFill>
          <a:ln>
            <a:noFill/>
          </a:ln>
        </p:spPr>
        <p:txBody>
          <a:bodyPr wrap="square" lIns="365760" tIns="0" rIns="0" bIns="0" rtlCol="0" anchor="ctr"/>
          <a:lstStyle/>
          <a:p>
            <a:r>
              <a:rPr lang="en-US" sz="2200" b="1" dirty="0">
                <a:solidFill>
                  <a:srgbClr val="FFFFFF"/>
                </a:solidFill>
                <a:latin typeface="Calibri"/>
              </a:rPr>
              <a:t>RAG + LLM + Chatbot — </a:t>
            </a:r>
            <a:r>
              <a:rPr lang="en-US" sz="2200" b="1" dirty="0">
                <a:solidFill>
                  <a:srgbClr val="F7931A"/>
                </a:solidFill>
                <a:latin typeface="Calibri"/>
              </a:rPr>
              <a:t>Pipeline Overview</a:t>
            </a:r>
          </a:p>
        </p:txBody>
      </p:sp>
      <p:sp>
        <p:nvSpPr>
          <p:cNvPr id="3" name="TitleLine"/>
          <p:cNvSpPr/>
          <p:nvPr/>
        </p:nvSpPr>
        <p:spPr>
          <a:xfrm>
            <a:off x="0" y="516000"/>
            <a:ext cx="12192000" cy="16000"/>
          </a:xfrm>
          <a:prstGeom prst="rect">
            <a:avLst/>
          </a:prstGeom>
          <a:solidFill>
            <a:srgbClr val="F7931A"/>
          </a:solidFill>
          <a:ln>
            <a:noFill/>
          </a:ln>
        </p:spPr>
        <p:txBody>
          <a:bodyPr/>
          <a:lstStyle/>
          <a:p>
            <a:endParaRPr/>
          </a:p>
        </p:txBody>
      </p:sp>
      <p:sp>
        <p:nvSpPr>
          <p:cNvPr id="4" name="UXLabel"/>
          <p:cNvSpPr/>
          <p:nvPr/>
        </p:nvSpPr>
        <p:spPr>
          <a:xfrm>
            <a:off x="182880" y="620000"/>
            <a:ext cx="12000000" cy="260000"/>
          </a:xfrm>
          <a:prstGeom prst="rect">
            <a:avLst/>
          </a:prstGeom>
          <a:noFill/>
          <a:ln>
            <a:noFill/>
          </a:ln>
        </p:spPr>
        <p:txBody>
          <a:bodyPr wrap="square" lIns="0" tIns="0" rIns="0" bIns="0" rtlCol="0" anchor="ctr"/>
          <a:lstStyle/>
          <a:p>
            <a:r>
              <a:rPr lang="en-US" sz="1000" b="1" dirty="0">
                <a:solidFill>
                  <a:srgbClr val="F7931A"/>
                </a:solidFill>
                <a:latin typeface="Calibri"/>
              </a:rPr>
              <a:t>👤  UX VIEW</a:t>
            </a:r>
            <a:r>
              <a:rPr lang="en-US" sz="1000" dirty="0">
                <a:solidFill>
                  <a:srgbClr val="444444"/>
                </a:solidFill>
                <a:latin typeface="Calibri"/>
              </a:rPr>
              <a:t>   </a:t>
            </a:r>
            <a:r>
              <a:rPr lang="en-US" sz="1000" dirty="0">
                <a:solidFill>
                  <a:schemeClr val="tx1">
                    <a:lumMod val="95000"/>
                  </a:schemeClr>
                </a:solidFill>
                <a:latin typeface="Calibri"/>
              </a:rPr>
              <a:t>—</a:t>
            </a:r>
            <a:r>
              <a:rPr lang="en-US" sz="1000" dirty="0">
                <a:solidFill>
                  <a:srgbClr val="444444"/>
                </a:solidFill>
                <a:latin typeface="Calibri"/>
              </a:rPr>
              <a:t>   </a:t>
            </a:r>
            <a:r>
              <a:rPr lang="en-US" sz="1000" dirty="0">
                <a:solidFill>
                  <a:schemeClr val="tx1">
                    <a:lumMod val="95000"/>
                  </a:schemeClr>
                </a:solidFill>
                <a:latin typeface="Calibri"/>
              </a:rPr>
              <a:t>what the user experiences</a:t>
            </a:r>
          </a:p>
        </p:txBody>
      </p:sp>
      <p:sp>
        <p:nvSpPr>
          <p:cNvPr id="10" name="UserIcon"/>
          <p:cNvSpPr/>
          <p:nvPr/>
        </p:nvSpPr>
        <p:spPr>
          <a:xfrm>
            <a:off x="700000" y="960000"/>
            <a:ext cx="1200000" cy="900000"/>
          </a:xfrm>
          <a:prstGeom prst="rect">
            <a:avLst/>
          </a:prstGeom>
          <a:noFill/>
          <a:ln>
            <a:noFill/>
          </a:ln>
        </p:spPr>
        <p:txBody>
          <a:bodyPr wrap="square" lIns="0" tIns="0" rIns="0" bIns="0" rtlCol="0" anchor="ctr"/>
          <a:lstStyle/>
          <a:p>
            <a:pPr algn="ctr"/>
            <a:r>
              <a:rPr lang="en-US" sz="4400" dirty="0">
                <a:latin typeface="Segoe UI Emoji"/>
              </a:rPr>
              <a:t>👤</a:t>
            </a:r>
          </a:p>
        </p:txBody>
      </p:sp>
      <p:sp>
        <p:nvSpPr>
          <p:cNvPr id="11" name="UserLabel"/>
          <p:cNvSpPr/>
          <p:nvPr/>
        </p:nvSpPr>
        <p:spPr>
          <a:xfrm>
            <a:off x="700000" y="1860000"/>
            <a:ext cx="1200000" cy="340000"/>
          </a:xfrm>
          <a:prstGeom prst="rect">
            <a:avLst/>
          </a:prstGeom>
          <a:noFill/>
          <a:ln>
            <a:noFill/>
          </a:ln>
        </p:spPr>
        <p:txBody>
          <a:bodyPr wrap="square" lIns="0" tIns="0" rIns="0" bIns="0" rtlCol="0" anchor="ctr"/>
          <a:lstStyle/>
          <a:p>
            <a:pPr algn="ctr"/>
            <a:r>
              <a:rPr lang="en-US" sz="1600" b="1" dirty="0">
                <a:solidFill>
                  <a:srgbClr val="FFFFFF"/>
                </a:solidFill>
                <a:latin typeface="Calibri"/>
              </a:rPr>
              <a:t>USER</a:t>
            </a:r>
          </a:p>
        </p:txBody>
      </p:sp>
      <p:sp>
        <p:nvSpPr>
          <p:cNvPr id="12" name="UserSub"/>
          <p:cNvSpPr/>
          <p:nvPr/>
        </p:nvSpPr>
        <p:spPr>
          <a:xfrm>
            <a:off x="600000" y="2200000"/>
            <a:ext cx="1400000" cy="28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natural language question</a:t>
            </a:r>
          </a:p>
        </p:txBody>
      </p:sp>
      <p:sp>
        <p:nvSpPr>
          <p:cNvPr id="15" name="ArrUC"/>
          <p:cNvSpPr/>
          <p:nvPr/>
        </p:nvSpPr>
        <p:spPr>
          <a:xfrm>
            <a:off x="2934491" y="1330000"/>
            <a:ext cx="500000" cy="200000"/>
          </a:xfrm>
          <a:prstGeom prst="rightArrow">
            <a:avLst/>
          </a:prstGeom>
          <a:solidFill>
            <a:schemeClr val="tx1">
              <a:lumMod val="65000"/>
            </a:schemeClr>
          </a:solidFill>
          <a:ln>
            <a:noFill/>
          </a:ln>
        </p:spPr>
        <p:txBody>
          <a:bodyPr/>
          <a:lstStyle/>
          <a:p>
            <a:endParaRPr/>
          </a:p>
        </p:txBody>
      </p:sp>
      <p:sp>
        <p:nvSpPr>
          <p:cNvPr id="20" name="BotIcon"/>
          <p:cNvSpPr/>
          <p:nvPr/>
        </p:nvSpPr>
        <p:spPr>
          <a:xfrm>
            <a:off x="5496000" y="792000"/>
            <a:ext cx="1200000" cy="900000"/>
          </a:xfrm>
          <a:prstGeom prst="rect">
            <a:avLst/>
          </a:prstGeom>
          <a:noFill/>
          <a:ln>
            <a:noFill/>
          </a:ln>
        </p:spPr>
        <p:txBody>
          <a:bodyPr wrap="square" lIns="0" tIns="0" rIns="0" bIns="0" rtlCol="0" anchor="ctr"/>
          <a:lstStyle/>
          <a:p>
            <a:pPr algn="ctr"/>
            <a:r>
              <a:rPr lang="en-US" sz="4400" dirty="0">
                <a:latin typeface="Segoe UI Emoji"/>
              </a:rPr>
              <a:t>🤖</a:t>
            </a:r>
          </a:p>
        </p:txBody>
      </p:sp>
      <p:sp>
        <p:nvSpPr>
          <p:cNvPr id="21" name="BotLabel"/>
          <p:cNvSpPr/>
          <p:nvPr/>
        </p:nvSpPr>
        <p:spPr>
          <a:xfrm>
            <a:off x="4731570" y="1864502"/>
            <a:ext cx="2800000" cy="340000"/>
          </a:xfrm>
          <a:prstGeom prst="rect">
            <a:avLst/>
          </a:prstGeom>
          <a:noFill/>
          <a:ln>
            <a:noFill/>
          </a:ln>
        </p:spPr>
        <p:txBody>
          <a:bodyPr wrap="square" lIns="0" tIns="0" rIns="0" bIns="0" rtlCol="0" anchor="ctr"/>
          <a:lstStyle/>
          <a:p>
            <a:pPr algn="ctr"/>
            <a:r>
              <a:rPr lang="en-US" sz="1600" b="1" dirty="0">
                <a:solidFill>
                  <a:srgbClr val="F7931A"/>
                </a:solidFill>
                <a:latin typeface="Calibri"/>
              </a:rPr>
              <a:t>CHATBOT ORCHESTRATOR</a:t>
            </a:r>
          </a:p>
        </p:txBody>
      </p:sp>
      <p:sp>
        <p:nvSpPr>
          <p:cNvPr id="22" name="Pills"/>
          <p:cNvSpPr/>
          <p:nvPr/>
        </p:nvSpPr>
        <p:spPr>
          <a:xfrm>
            <a:off x="4137984" y="2220000"/>
            <a:ext cx="4000000" cy="260000"/>
          </a:xfrm>
          <a:prstGeom prst="rect">
            <a:avLst/>
          </a:prstGeom>
          <a:noFill/>
          <a:ln>
            <a:noFill/>
          </a:ln>
        </p:spPr>
        <p:txBody>
          <a:bodyPr wrap="square" lIns="0" tIns="0" rIns="0" bIns="0" rtlCol="0" anchor="ctr"/>
          <a:lstStyle/>
          <a:p>
            <a:pPr algn="ctr"/>
            <a:r>
              <a:rPr lang="en-US" sz="1000" dirty="0">
                <a:solidFill>
                  <a:srgbClr val="00BFA5"/>
                </a:solidFill>
                <a:latin typeface="Calibri"/>
              </a:rPr>
              <a:t>Detect</a:t>
            </a:r>
            <a:r>
              <a:rPr lang="en-US" sz="1000" dirty="0">
                <a:solidFill>
                  <a:srgbClr val="555555"/>
                </a:solidFill>
                <a:latin typeface="Calibri"/>
              </a:rPr>
              <a:t>  •  </a:t>
            </a:r>
            <a:r>
              <a:rPr lang="en-US" sz="1000" dirty="0">
                <a:solidFill>
                  <a:srgbClr val="9A66CA"/>
                </a:solidFill>
                <a:latin typeface="Calibri"/>
              </a:rPr>
              <a:t>Route</a:t>
            </a:r>
            <a:r>
              <a:rPr lang="en-US" sz="1000" dirty="0">
                <a:solidFill>
                  <a:srgbClr val="555555"/>
                </a:solidFill>
                <a:latin typeface="Calibri"/>
              </a:rPr>
              <a:t>  •  </a:t>
            </a:r>
            <a:r>
              <a:rPr lang="en-US" sz="1000" dirty="0">
                <a:solidFill>
                  <a:srgbClr val="DE9C3C"/>
                </a:solidFill>
                <a:latin typeface="Calibri"/>
              </a:rPr>
              <a:t>Orchestrate</a:t>
            </a:r>
            <a:r>
              <a:rPr lang="en-US" sz="1000" dirty="0">
                <a:solidFill>
                  <a:srgbClr val="555555"/>
                </a:solidFill>
                <a:latin typeface="Calibri"/>
              </a:rPr>
              <a:t>  •  </a:t>
            </a:r>
            <a:r>
              <a:rPr lang="en-US" sz="1000" dirty="0">
                <a:solidFill>
                  <a:srgbClr val="9EC544"/>
                </a:solidFill>
                <a:latin typeface="Calibri"/>
              </a:rPr>
              <a:t>Maintain History</a:t>
            </a:r>
          </a:p>
        </p:txBody>
      </p:sp>
      <p:sp>
        <p:nvSpPr>
          <p:cNvPr id="27" name="ArrCR"/>
          <p:cNvSpPr/>
          <p:nvPr/>
        </p:nvSpPr>
        <p:spPr>
          <a:xfrm>
            <a:off x="8102560" y="1324000"/>
            <a:ext cx="500000" cy="200000"/>
          </a:xfrm>
          <a:prstGeom prst="rightArrow">
            <a:avLst/>
          </a:prstGeom>
          <a:solidFill>
            <a:schemeClr val="tx1">
              <a:lumMod val="65000"/>
            </a:schemeClr>
          </a:solidFill>
          <a:ln>
            <a:noFill/>
          </a:ln>
        </p:spPr>
        <p:txBody>
          <a:bodyPr/>
          <a:lstStyle/>
          <a:p>
            <a:endParaRPr/>
          </a:p>
        </p:txBody>
      </p:sp>
      <p:sp>
        <p:nvSpPr>
          <p:cNvPr id="30" name="RespIcon"/>
          <p:cNvSpPr/>
          <p:nvPr/>
        </p:nvSpPr>
        <p:spPr>
          <a:xfrm>
            <a:off x="10093554" y="960000"/>
            <a:ext cx="1200000" cy="900000"/>
          </a:xfrm>
          <a:prstGeom prst="rect">
            <a:avLst/>
          </a:prstGeom>
          <a:noFill/>
          <a:ln>
            <a:noFill/>
          </a:ln>
        </p:spPr>
        <p:txBody>
          <a:bodyPr wrap="square" lIns="0" tIns="0" rIns="0" bIns="0" rtlCol="0" anchor="ctr"/>
          <a:lstStyle/>
          <a:p>
            <a:pPr algn="ctr"/>
            <a:r>
              <a:rPr lang="en-US" sz="4400" dirty="0">
                <a:latin typeface="Segoe UI Emoji"/>
              </a:rPr>
              <a:t>📊</a:t>
            </a:r>
          </a:p>
        </p:txBody>
      </p:sp>
      <p:sp>
        <p:nvSpPr>
          <p:cNvPr id="31" name="RespLabel"/>
          <p:cNvSpPr/>
          <p:nvPr/>
        </p:nvSpPr>
        <p:spPr>
          <a:xfrm>
            <a:off x="10026934" y="1860000"/>
            <a:ext cx="1400000" cy="340000"/>
          </a:xfrm>
          <a:prstGeom prst="rect">
            <a:avLst/>
          </a:prstGeom>
          <a:noFill/>
          <a:ln>
            <a:noFill/>
          </a:ln>
        </p:spPr>
        <p:txBody>
          <a:bodyPr wrap="square" lIns="0" tIns="0" rIns="0" bIns="0" rtlCol="0" anchor="ctr"/>
          <a:lstStyle/>
          <a:p>
            <a:pPr algn="ctr"/>
            <a:r>
              <a:rPr lang="en-US" sz="1600" b="1" dirty="0">
                <a:solidFill>
                  <a:srgbClr val="9EC544"/>
                </a:solidFill>
                <a:latin typeface="Calibri"/>
              </a:rPr>
              <a:t>ANALYSIS</a:t>
            </a:r>
          </a:p>
        </p:txBody>
      </p:sp>
      <p:sp>
        <p:nvSpPr>
          <p:cNvPr id="32" name="RespSub"/>
          <p:cNvSpPr/>
          <p:nvPr/>
        </p:nvSpPr>
        <p:spPr>
          <a:xfrm>
            <a:off x="9953631" y="2200000"/>
            <a:ext cx="1600000" cy="28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structured market analysis</a:t>
            </a:r>
          </a:p>
        </p:txBody>
      </p:sp>
      <p:sp>
        <p:nvSpPr>
          <p:cNvPr id="40" name="SepL"/>
          <p:cNvSpPr/>
          <p:nvPr/>
        </p:nvSpPr>
        <p:spPr>
          <a:xfrm>
            <a:off x="182880" y="2680000"/>
            <a:ext cx="4500000" cy="10000"/>
          </a:xfrm>
          <a:prstGeom prst="rect">
            <a:avLst/>
          </a:prstGeom>
          <a:solidFill>
            <a:schemeClr val="tx2">
              <a:lumMod val="75000"/>
            </a:schemeClr>
          </a:solidFill>
          <a:ln>
            <a:noFill/>
          </a:ln>
        </p:spPr>
        <p:txBody>
          <a:bodyPr/>
          <a:lstStyle/>
          <a:p>
            <a:endParaRPr/>
          </a:p>
        </p:txBody>
      </p:sp>
      <p:sp>
        <p:nvSpPr>
          <p:cNvPr id="41" name="SepR"/>
          <p:cNvSpPr/>
          <p:nvPr/>
        </p:nvSpPr>
        <p:spPr>
          <a:xfrm>
            <a:off x="7510000" y="2680000"/>
            <a:ext cx="4500000" cy="10000"/>
          </a:xfrm>
          <a:prstGeom prst="rect">
            <a:avLst/>
          </a:prstGeom>
          <a:solidFill>
            <a:schemeClr val="tx2">
              <a:lumMod val="75000"/>
            </a:schemeClr>
          </a:solidFill>
          <a:ln>
            <a:noFill/>
          </a:ln>
        </p:spPr>
        <p:txBody>
          <a:bodyPr/>
          <a:lstStyle/>
          <a:p>
            <a:endParaRPr>
              <a:solidFill>
                <a:schemeClr val="tx2">
                  <a:lumMod val="75000"/>
                </a:schemeClr>
              </a:solidFill>
            </a:endParaRPr>
          </a:p>
        </p:txBody>
      </p:sp>
      <p:sp>
        <p:nvSpPr>
          <p:cNvPr id="42" name="SepTxt"/>
          <p:cNvSpPr/>
          <p:nvPr/>
        </p:nvSpPr>
        <p:spPr>
          <a:xfrm>
            <a:off x="4700000" y="2580000"/>
            <a:ext cx="2800000" cy="220000"/>
          </a:xfrm>
          <a:prstGeom prst="rect">
            <a:avLst/>
          </a:prstGeom>
          <a:noFill/>
          <a:ln>
            <a:noFill/>
          </a:ln>
        </p:spPr>
        <p:txBody>
          <a:bodyPr wrap="square" lIns="0" tIns="0" rIns="0" bIns="0" rtlCol="0" anchor="ctr"/>
          <a:lstStyle/>
          <a:p>
            <a:pPr algn="ctr"/>
            <a:r>
              <a:rPr lang="en-US" sz="900" dirty="0">
                <a:solidFill>
                  <a:schemeClr val="tx2">
                    <a:lumMod val="75000"/>
                  </a:schemeClr>
                </a:solidFill>
                <a:latin typeface="Calibri"/>
              </a:rPr>
              <a:t>———  internally triggers  ———</a:t>
            </a:r>
          </a:p>
        </p:txBody>
      </p:sp>
      <p:sp>
        <p:nvSpPr>
          <p:cNvPr id="43" name="L2Label"/>
          <p:cNvSpPr/>
          <p:nvPr/>
        </p:nvSpPr>
        <p:spPr>
          <a:xfrm>
            <a:off x="182880" y="2740000"/>
            <a:ext cx="12000000" cy="260000"/>
          </a:xfrm>
          <a:prstGeom prst="rect">
            <a:avLst/>
          </a:prstGeom>
          <a:noFill/>
          <a:ln>
            <a:noFill/>
          </a:ln>
        </p:spPr>
        <p:txBody>
          <a:bodyPr wrap="square" lIns="0" tIns="0" rIns="0" bIns="0" rtlCol="0" anchor="ctr"/>
          <a:lstStyle/>
          <a:p>
            <a:r>
              <a:rPr lang="en-US" sz="1000" b="1" dirty="0">
                <a:solidFill>
                  <a:srgbClr val="4A9CCC"/>
                </a:solidFill>
                <a:latin typeface="Calibri"/>
              </a:rPr>
              <a:t>⚙️  INTERNAL PIPELINE</a:t>
            </a:r>
            <a:r>
              <a:rPr lang="en-US" sz="1000" dirty="0">
                <a:solidFill>
                  <a:srgbClr val="444444"/>
                </a:solidFill>
                <a:latin typeface="Calibri"/>
              </a:rPr>
              <a:t>   </a:t>
            </a:r>
            <a:r>
              <a:rPr lang="en-US" sz="1000" dirty="0">
                <a:solidFill>
                  <a:schemeClr val="tx1">
                    <a:lumMod val="95000"/>
                  </a:schemeClr>
                </a:solidFill>
                <a:latin typeface="Calibri"/>
              </a:rPr>
              <a:t>—   what really happens behind the scenes</a:t>
            </a:r>
          </a:p>
        </p:txBody>
      </p:sp>
      <p:sp>
        <p:nvSpPr>
          <p:cNvPr id="50" name="Icon0"/>
          <p:cNvSpPr/>
          <p:nvPr/>
        </p:nvSpPr>
        <p:spPr>
          <a:xfrm>
            <a:off x="1424329" y="3080000"/>
            <a:ext cx="1800000" cy="900000"/>
          </a:xfrm>
          <a:prstGeom prst="rect">
            <a:avLst/>
          </a:prstGeom>
          <a:noFill/>
          <a:ln>
            <a:noFill/>
          </a:ln>
        </p:spPr>
        <p:txBody>
          <a:bodyPr wrap="square" lIns="0" tIns="0" rIns="0" bIns="0" rtlCol="0" anchor="ctr"/>
          <a:lstStyle/>
          <a:p>
            <a:pPr algn="ctr"/>
            <a:r>
              <a:rPr lang="en-US" sz="5000" dirty="0">
                <a:latin typeface="Segoe UI Emoji"/>
              </a:rPr>
              <a:t>🔍</a:t>
            </a:r>
          </a:p>
        </p:txBody>
      </p:sp>
      <p:sp>
        <p:nvSpPr>
          <p:cNvPr id="51" name="Lbl0"/>
          <p:cNvSpPr/>
          <p:nvPr/>
        </p:nvSpPr>
        <p:spPr>
          <a:xfrm>
            <a:off x="1457704" y="4100000"/>
            <a:ext cx="1800000" cy="600000"/>
          </a:xfrm>
          <a:prstGeom prst="rect">
            <a:avLst/>
          </a:prstGeom>
          <a:noFill/>
          <a:ln>
            <a:noFill/>
          </a:ln>
        </p:spPr>
        <p:txBody>
          <a:bodyPr wrap="square" lIns="0" tIns="0" rIns="0" bIns="0" rtlCol="0" anchor="t"/>
          <a:lstStyle/>
          <a:p>
            <a:pPr algn="ctr"/>
            <a:r>
              <a:rPr lang="en-US" sz="1500" b="1" dirty="0">
                <a:solidFill>
                  <a:srgbClr val="F7931A"/>
                </a:solidFill>
                <a:latin typeface="Calibri"/>
              </a:rPr>
              <a:t>Intent</a:t>
            </a:r>
          </a:p>
          <a:p>
            <a:pPr algn="ctr"/>
            <a:r>
              <a:rPr lang="en-US" sz="1500" b="1" dirty="0">
                <a:solidFill>
                  <a:srgbClr val="F7931A"/>
                </a:solidFill>
                <a:latin typeface="Calibri"/>
              </a:rPr>
              <a:t>Detection</a:t>
            </a:r>
          </a:p>
        </p:txBody>
      </p:sp>
      <p:sp>
        <p:nvSpPr>
          <p:cNvPr id="52" name="Line0"/>
          <p:cNvSpPr/>
          <p:nvPr/>
        </p:nvSpPr>
        <p:spPr>
          <a:xfrm>
            <a:off x="1937687" y="4680000"/>
            <a:ext cx="800000" cy="14000"/>
          </a:xfrm>
          <a:prstGeom prst="rect">
            <a:avLst/>
          </a:prstGeom>
          <a:solidFill>
            <a:srgbClr val="F7931A"/>
          </a:solidFill>
          <a:ln>
            <a:noFill/>
          </a:ln>
        </p:spPr>
        <p:txBody>
          <a:bodyPr/>
          <a:lstStyle/>
          <a:p>
            <a:endParaRPr/>
          </a:p>
        </p:txBody>
      </p:sp>
      <p:sp>
        <p:nvSpPr>
          <p:cNvPr id="53" name="Arr0"/>
          <p:cNvSpPr/>
          <p:nvPr/>
        </p:nvSpPr>
        <p:spPr>
          <a:xfrm>
            <a:off x="3237687" y="3460000"/>
            <a:ext cx="706560" cy="180000"/>
          </a:xfrm>
          <a:prstGeom prst="rightArrow">
            <a:avLst/>
          </a:prstGeom>
          <a:solidFill>
            <a:schemeClr val="tx1">
              <a:lumMod val="65000"/>
            </a:schemeClr>
          </a:solidFill>
          <a:ln>
            <a:noFill/>
          </a:ln>
        </p:spPr>
        <p:txBody>
          <a:bodyPr/>
          <a:lstStyle/>
          <a:p>
            <a:endParaRPr/>
          </a:p>
        </p:txBody>
      </p:sp>
      <p:sp>
        <p:nvSpPr>
          <p:cNvPr id="54" name="Icon1"/>
          <p:cNvSpPr/>
          <p:nvPr/>
        </p:nvSpPr>
        <p:spPr>
          <a:xfrm>
            <a:off x="3944232" y="3080000"/>
            <a:ext cx="1800000" cy="900000"/>
          </a:xfrm>
          <a:prstGeom prst="rect">
            <a:avLst/>
          </a:prstGeom>
          <a:noFill/>
          <a:ln>
            <a:noFill/>
          </a:ln>
        </p:spPr>
        <p:txBody>
          <a:bodyPr wrap="square" lIns="0" tIns="0" rIns="0" bIns="0" rtlCol="0" anchor="ctr"/>
          <a:lstStyle/>
          <a:p>
            <a:pPr algn="ctr"/>
            <a:r>
              <a:rPr lang="en-US" sz="5000" dirty="0">
                <a:latin typeface="Segoe UI Emoji"/>
              </a:rPr>
              <a:t>📰</a:t>
            </a:r>
          </a:p>
        </p:txBody>
      </p:sp>
      <p:sp>
        <p:nvSpPr>
          <p:cNvPr id="55" name="Lbl1"/>
          <p:cNvSpPr/>
          <p:nvPr/>
        </p:nvSpPr>
        <p:spPr>
          <a:xfrm>
            <a:off x="3944247" y="4100000"/>
            <a:ext cx="1800000" cy="600000"/>
          </a:xfrm>
          <a:prstGeom prst="rect">
            <a:avLst/>
          </a:prstGeom>
          <a:noFill/>
          <a:ln>
            <a:noFill/>
          </a:ln>
        </p:spPr>
        <p:txBody>
          <a:bodyPr wrap="square" lIns="0" tIns="0" rIns="0" bIns="0" rtlCol="0" anchor="t"/>
          <a:lstStyle/>
          <a:p>
            <a:pPr algn="ctr"/>
            <a:r>
              <a:rPr lang="en-US" sz="1500" b="1" dirty="0">
                <a:solidFill>
                  <a:srgbClr val="00BFA5"/>
                </a:solidFill>
                <a:latin typeface="Calibri"/>
              </a:rPr>
              <a:t>Data</a:t>
            </a:r>
          </a:p>
          <a:p>
            <a:pPr algn="ctr"/>
            <a:r>
              <a:rPr lang="en-US" sz="1500" b="1" dirty="0">
                <a:solidFill>
                  <a:srgbClr val="00BFA5"/>
                </a:solidFill>
                <a:latin typeface="Calibri"/>
              </a:rPr>
              <a:t>Layer</a:t>
            </a:r>
          </a:p>
        </p:txBody>
      </p:sp>
      <p:sp>
        <p:nvSpPr>
          <p:cNvPr id="56" name="Line1"/>
          <p:cNvSpPr/>
          <p:nvPr/>
        </p:nvSpPr>
        <p:spPr>
          <a:xfrm>
            <a:off x="4444247" y="4680000"/>
            <a:ext cx="800000" cy="14000"/>
          </a:xfrm>
          <a:prstGeom prst="rect">
            <a:avLst/>
          </a:prstGeom>
          <a:solidFill>
            <a:srgbClr val="00BFA5"/>
          </a:solidFill>
          <a:ln>
            <a:noFill/>
          </a:ln>
        </p:spPr>
        <p:txBody>
          <a:bodyPr/>
          <a:lstStyle/>
          <a:p>
            <a:endParaRPr/>
          </a:p>
        </p:txBody>
      </p:sp>
      <p:sp>
        <p:nvSpPr>
          <p:cNvPr id="57" name="Arr1"/>
          <p:cNvSpPr/>
          <p:nvPr/>
        </p:nvSpPr>
        <p:spPr>
          <a:xfrm>
            <a:off x="5744247" y="3460000"/>
            <a:ext cx="706560" cy="180000"/>
          </a:xfrm>
          <a:prstGeom prst="rightArrow">
            <a:avLst/>
          </a:prstGeom>
          <a:solidFill>
            <a:schemeClr val="tx1">
              <a:lumMod val="65000"/>
            </a:schemeClr>
          </a:solidFill>
          <a:ln>
            <a:noFill/>
          </a:ln>
        </p:spPr>
        <p:txBody>
          <a:bodyPr/>
          <a:lstStyle/>
          <a:p>
            <a:endParaRPr/>
          </a:p>
        </p:txBody>
      </p:sp>
      <p:sp>
        <p:nvSpPr>
          <p:cNvPr id="58" name="Icon2"/>
          <p:cNvSpPr/>
          <p:nvPr/>
        </p:nvSpPr>
        <p:spPr>
          <a:xfrm>
            <a:off x="6377378" y="3080000"/>
            <a:ext cx="1800000" cy="900000"/>
          </a:xfrm>
          <a:prstGeom prst="rect">
            <a:avLst/>
          </a:prstGeom>
          <a:noFill/>
          <a:ln>
            <a:noFill/>
          </a:ln>
        </p:spPr>
        <p:txBody>
          <a:bodyPr wrap="square" lIns="0" tIns="0" rIns="0" bIns="0" rtlCol="0" anchor="ctr"/>
          <a:lstStyle/>
          <a:p>
            <a:pPr algn="ctr"/>
            <a:r>
              <a:rPr lang="en-US" sz="5000" dirty="0">
                <a:latin typeface="Segoe UI Emoji"/>
              </a:rPr>
              <a:t>🧩</a:t>
            </a:r>
          </a:p>
        </p:txBody>
      </p:sp>
      <p:sp>
        <p:nvSpPr>
          <p:cNvPr id="59" name="Lbl2"/>
          <p:cNvSpPr/>
          <p:nvPr/>
        </p:nvSpPr>
        <p:spPr>
          <a:xfrm>
            <a:off x="6450807" y="4100000"/>
            <a:ext cx="1800000" cy="600000"/>
          </a:xfrm>
          <a:prstGeom prst="rect">
            <a:avLst/>
          </a:prstGeom>
          <a:noFill/>
          <a:ln>
            <a:noFill/>
          </a:ln>
        </p:spPr>
        <p:txBody>
          <a:bodyPr wrap="square" lIns="0" tIns="0" rIns="0" bIns="0" rtlCol="0" anchor="t"/>
          <a:lstStyle/>
          <a:p>
            <a:pPr algn="ctr"/>
            <a:r>
              <a:rPr lang="en-US" sz="1500" b="1" dirty="0">
                <a:solidFill>
                  <a:srgbClr val="9A66CA"/>
                </a:solidFill>
                <a:latin typeface="Calibri"/>
              </a:rPr>
              <a:t>Context</a:t>
            </a:r>
          </a:p>
          <a:p>
            <a:pPr algn="ctr"/>
            <a:r>
              <a:rPr lang="en-US" sz="1500" b="1" dirty="0">
                <a:solidFill>
                  <a:srgbClr val="9A66CA"/>
                </a:solidFill>
                <a:latin typeface="Calibri"/>
              </a:rPr>
              <a:t>Builder</a:t>
            </a:r>
          </a:p>
        </p:txBody>
      </p:sp>
      <p:sp>
        <p:nvSpPr>
          <p:cNvPr id="60" name="Line2"/>
          <p:cNvSpPr/>
          <p:nvPr/>
        </p:nvSpPr>
        <p:spPr>
          <a:xfrm>
            <a:off x="6950807" y="4680000"/>
            <a:ext cx="800000" cy="14000"/>
          </a:xfrm>
          <a:prstGeom prst="rect">
            <a:avLst/>
          </a:prstGeom>
          <a:solidFill>
            <a:srgbClr val="9A66CA"/>
          </a:solidFill>
          <a:ln>
            <a:noFill/>
          </a:ln>
        </p:spPr>
        <p:txBody>
          <a:bodyPr/>
          <a:lstStyle/>
          <a:p>
            <a:endParaRPr/>
          </a:p>
        </p:txBody>
      </p:sp>
      <p:sp>
        <p:nvSpPr>
          <p:cNvPr id="61" name="Arr2"/>
          <p:cNvSpPr/>
          <p:nvPr/>
        </p:nvSpPr>
        <p:spPr>
          <a:xfrm>
            <a:off x="8250807" y="3460000"/>
            <a:ext cx="706560" cy="180000"/>
          </a:xfrm>
          <a:prstGeom prst="rightArrow">
            <a:avLst/>
          </a:prstGeom>
          <a:solidFill>
            <a:schemeClr val="tx1">
              <a:lumMod val="65000"/>
            </a:schemeClr>
          </a:solidFill>
          <a:ln>
            <a:noFill/>
          </a:ln>
        </p:spPr>
        <p:txBody>
          <a:bodyPr/>
          <a:lstStyle/>
          <a:p>
            <a:endParaRPr/>
          </a:p>
        </p:txBody>
      </p:sp>
      <p:sp>
        <p:nvSpPr>
          <p:cNvPr id="62" name="Icon3"/>
          <p:cNvSpPr/>
          <p:nvPr/>
        </p:nvSpPr>
        <p:spPr>
          <a:xfrm>
            <a:off x="8970710" y="3080000"/>
            <a:ext cx="1800000" cy="900000"/>
          </a:xfrm>
          <a:prstGeom prst="rect">
            <a:avLst/>
          </a:prstGeom>
          <a:noFill/>
          <a:ln>
            <a:noFill/>
          </a:ln>
        </p:spPr>
        <p:txBody>
          <a:bodyPr wrap="square" lIns="0" tIns="0" rIns="0" bIns="0" rtlCol="0" anchor="ctr"/>
          <a:lstStyle/>
          <a:p>
            <a:pPr algn="ctr"/>
            <a:r>
              <a:rPr lang="en-US" sz="5000" dirty="0">
                <a:latin typeface="Segoe UI Emoji"/>
              </a:rPr>
              <a:t>🧠</a:t>
            </a:r>
          </a:p>
        </p:txBody>
      </p:sp>
      <p:sp>
        <p:nvSpPr>
          <p:cNvPr id="63" name="Lbl3"/>
          <p:cNvSpPr/>
          <p:nvPr/>
        </p:nvSpPr>
        <p:spPr>
          <a:xfrm>
            <a:off x="8957367" y="4100000"/>
            <a:ext cx="1800000" cy="600000"/>
          </a:xfrm>
          <a:prstGeom prst="rect">
            <a:avLst/>
          </a:prstGeom>
          <a:noFill/>
          <a:ln>
            <a:noFill/>
          </a:ln>
        </p:spPr>
        <p:txBody>
          <a:bodyPr wrap="square" lIns="0" tIns="0" rIns="0" bIns="0" rtlCol="0" anchor="t"/>
          <a:lstStyle/>
          <a:p>
            <a:pPr algn="ctr"/>
            <a:r>
              <a:rPr lang="en-US" sz="1500" b="1" dirty="0">
                <a:solidFill>
                  <a:srgbClr val="DE9C3C"/>
                </a:solidFill>
                <a:latin typeface="Calibri"/>
              </a:rPr>
              <a:t>LLM</a:t>
            </a:r>
          </a:p>
          <a:p>
            <a:pPr algn="ctr"/>
            <a:r>
              <a:rPr lang="en-US" sz="1500" b="1" dirty="0">
                <a:solidFill>
                  <a:srgbClr val="DE9C3C"/>
                </a:solidFill>
                <a:latin typeface="Calibri"/>
              </a:rPr>
              <a:t>Engine</a:t>
            </a:r>
          </a:p>
        </p:txBody>
      </p:sp>
      <p:sp>
        <p:nvSpPr>
          <p:cNvPr id="64" name="Line3"/>
          <p:cNvSpPr/>
          <p:nvPr/>
        </p:nvSpPr>
        <p:spPr>
          <a:xfrm>
            <a:off x="9457367" y="4680000"/>
            <a:ext cx="800000" cy="14000"/>
          </a:xfrm>
          <a:prstGeom prst="rect">
            <a:avLst/>
          </a:prstGeom>
          <a:solidFill>
            <a:srgbClr val="DE9C3C"/>
          </a:solidFill>
          <a:ln>
            <a:noFill/>
          </a:ln>
        </p:spPr>
        <p:txBody>
          <a:bodyPr/>
          <a:lstStyle/>
          <a:p>
            <a:endParaRPr/>
          </a:p>
        </p:txBody>
      </p:sp>
      <p:sp>
        <p:nvSpPr>
          <p:cNvPr id="5" name="UserSub">
            <a:extLst>
              <a:ext uri="{FF2B5EF4-FFF2-40B4-BE49-F238E27FC236}">
                <a16:creationId xmlns:a16="http://schemas.microsoft.com/office/drawing/2014/main" id="{5D041609-D53F-B655-6B15-52CF1BD15742}"/>
              </a:ext>
            </a:extLst>
          </p:cNvPr>
          <p:cNvSpPr/>
          <p:nvPr/>
        </p:nvSpPr>
        <p:spPr>
          <a:xfrm>
            <a:off x="1595772" y="4759929"/>
            <a:ext cx="1400000" cy="599999"/>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LLM (</a:t>
            </a:r>
            <a:r>
              <a:rPr lang="en-US" sz="1000" dirty="0" err="1">
                <a:solidFill>
                  <a:schemeClr val="tx1">
                    <a:lumMod val="95000"/>
                  </a:schemeClr>
                </a:solidFill>
                <a:latin typeface="Calibri"/>
              </a:rPr>
              <a:t>LLaMA</a:t>
            </a:r>
            <a:r>
              <a:rPr lang="en-US" sz="1000" dirty="0">
                <a:solidFill>
                  <a:schemeClr val="tx1">
                    <a:lumMod val="95000"/>
                  </a:schemeClr>
                </a:solidFill>
                <a:latin typeface="Calibri"/>
              </a:rPr>
              <a:t> 3.3  70B) </a:t>
            </a:r>
          </a:p>
          <a:p>
            <a:pPr algn="ctr"/>
            <a:endParaRPr lang="en-US" sz="1000" dirty="0">
              <a:solidFill>
                <a:schemeClr val="tx1">
                  <a:lumMod val="95000"/>
                </a:schemeClr>
              </a:solidFill>
              <a:latin typeface="Calibri"/>
            </a:endParaRPr>
          </a:p>
          <a:p>
            <a:pPr algn="ctr"/>
            <a:r>
              <a:rPr lang="en-US" sz="1000" dirty="0">
                <a:solidFill>
                  <a:schemeClr val="tx1">
                    <a:lumMod val="95000"/>
                  </a:schemeClr>
                </a:solidFill>
                <a:latin typeface="Calibri"/>
              </a:rPr>
              <a:t>REGEX </a:t>
            </a:r>
          </a:p>
        </p:txBody>
      </p:sp>
      <p:sp>
        <p:nvSpPr>
          <p:cNvPr id="6" name="UserSub">
            <a:extLst>
              <a:ext uri="{FF2B5EF4-FFF2-40B4-BE49-F238E27FC236}">
                <a16:creationId xmlns:a16="http://schemas.microsoft.com/office/drawing/2014/main" id="{66FC96E2-7D1A-412D-0704-F126C3BC65D1}"/>
              </a:ext>
            </a:extLst>
          </p:cNvPr>
          <p:cNvSpPr/>
          <p:nvPr/>
        </p:nvSpPr>
        <p:spPr>
          <a:xfrm>
            <a:off x="4100807" y="4759928"/>
            <a:ext cx="1400000" cy="1026822"/>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ML Models </a:t>
            </a:r>
          </a:p>
          <a:p>
            <a:pPr algn="ctr"/>
            <a:endParaRPr lang="en-US" sz="1000" dirty="0">
              <a:solidFill>
                <a:schemeClr val="tx1">
                  <a:lumMod val="95000"/>
                </a:schemeClr>
              </a:solidFill>
              <a:latin typeface="Calibri"/>
            </a:endParaRPr>
          </a:p>
          <a:p>
            <a:pPr algn="ctr"/>
            <a:r>
              <a:rPr lang="en-US" sz="1000" dirty="0">
                <a:solidFill>
                  <a:schemeClr val="tx1">
                    <a:lumMod val="95000"/>
                  </a:schemeClr>
                </a:solidFill>
                <a:latin typeface="Calibri"/>
              </a:rPr>
              <a:t>Live Features </a:t>
            </a:r>
          </a:p>
          <a:p>
            <a:pPr algn="ctr"/>
            <a:endParaRPr lang="en-US" sz="1000" dirty="0">
              <a:solidFill>
                <a:schemeClr val="tx1">
                  <a:lumMod val="95000"/>
                </a:schemeClr>
              </a:solidFill>
              <a:latin typeface="Calibri"/>
            </a:endParaRPr>
          </a:p>
          <a:p>
            <a:pPr algn="ctr"/>
            <a:r>
              <a:rPr lang="en-US" sz="1000" dirty="0">
                <a:solidFill>
                  <a:schemeClr val="tx1">
                    <a:lumMod val="95000"/>
                  </a:schemeClr>
                </a:solidFill>
                <a:latin typeface="Calibri"/>
              </a:rPr>
              <a:t>RAG/ News  </a:t>
            </a:r>
          </a:p>
        </p:txBody>
      </p:sp>
      <p:sp>
        <p:nvSpPr>
          <p:cNvPr id="7" name="UserSub">
            <a:extLst>
              <a:ext uri="{FF2B5EF4-FFF2-40B4-BE49-F238E27FC236}">
                <a16:creationId xmlns:a16="http://schemas.microsoft.com/office/drawing/2014/main" id="{9A74F023-53EA-B8E1-D738-6AEB5629786E}"/>
              </a:ext>
            </a:extLst>
          </p:cNvPr>
          <p:cNvSpPr/>
          <p:nvPr/>
        </p:nvSpPr>
        <p:spPr>
          <a:xfrm>
            <a:off x="6650807" y="4694000"/>
            <a:ext cx="1400000" cy="1026822"/>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History</a:t>
            </a:r>
          </a:p>
          <a:p>
            <a:pPr algn="ctr"/>
            <a:endParaRPr lang="en-US" sz="1000" dirty="0">
              <a:solidFill>
                <a:schemeClr val="tx1">
                  <a:lumMod val="95000"/>
                </a:schemeClr>
              </a:solidFill>
              <a:latin typeface="Calibri"/>
            </a:endParaRPr>
          </a:p>
          <a:p>
            <a:pPr algn="ctr"/>
            <a:r>
              <a:rPr lang="en-US" sz="1000" dirty="0">
                <a:solidFill>
                  <a:schemeClr val="tx1">
                    <a:lumMod val="95000"/>
                  </a:schemeClr>
                </a:solidFill>
                <a:latin typeface="Calibri"/>
              </a:rPr>
              <a:t>Indicators</a:t>
            </a:r>
          </a:p>
          <a:p>
            <a:pPr algn="ctr"/>
            <a:endParaRPr lang="en-US" sz="1000" dirty="0">
              <a:solidFill>
                <a:schemeClr val="tx1">
                  <a:lumMod val="95000"/>
                </a:schemeClr>
              </a:solidFill>
              <a:latin typeface="Calibri"/>
            </a:endParaRPr>
          </a:p>
          <a:p>
            <a:pPr algn="ctr"/>
            <a:r>
              <a:rPr lang="en-US" sz="1000" dirty="0">
                <a:solidFill>
                  <a:schemeClr val="tx1">
                    <a:lumMod val="95000"/>
                  </a:schemeClr>
                </a:solidFill>
                <a:latin typeface="Calibri"/>
              </a:rPr>
              <a:t>Intent specific prompt  </a:t>
            </a:r>
          </a:p>
        </p:txBody>
      </p:sp>
      <p:sp>
        <p:nvSpPr>
          <p:cNvPr id="8" name="UserSub">
            <a:extLst>
              <a:ext uri="{FF2B5EF4-FFF2-40B4-BE49-F238E27FC236}">
                <a16:creationId xmlns:a16="http://schemas.microsoft.com/office/drawing/2014/main" id="{1AED69E3-A19A-2986-DDAA-72D9F85EA994}"/>
              </a:ext>
            </a:extLst>
          </p:cNvPr>
          <p:cNvSpPr/>
          <p:nvPr/>
        </p:nvSpPr>
        <p:spPr>
          <a:xfrm>
            <a:off x="9157367" y="4680000"/>
            <a:ext cx="1400000" cy="1026822"/>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LLM (</a:t>
            </a:r>
            <a:r>
              <a:rPr lang="en-US" sz="1000" dirty="0" err="1">
                <a:solidFill>
                  <a:schemeClr val="tx1">
                    <a:lumMod val="95000"/>
                  </a:schemeClr>
                </a:solidFill>
                <a:latin typeface="Calibri"/>
              </a:rPr>
              <a:t>LLaMA</a:t>
            </a:r>
            <a:r>
              <a:rPr lang="en-US" sz="1000" dirty="0">
                <a:solidFill>
                  <a:schemeClr val="tx1">
                    <a:lumMod val="95000"/>
                  </a:schemeClr>
                </a:solidFill>
                <a:latin typeface="Calibri"/>
              </a:rPr>
              <a:t> 3.3  70B) </a:t>
            </a:r>
          </a:p>
          <a:p>
            <a:pPr algn="ctr"/>
            <a:endParaRPr lang="en-US" sz="1000" dirty="0">
              <a:solidFill>
                <a:schemeClr val="tx1">
                  <a:lumMod val="95000"/>
                </a:schemeClr>
              </a:solidFill>
              <a:latin typeface="Calibri"/>
            </a:endParaRPr>
          </a:p>
          <a:p>
            <a:pPr algn="ctr"/>
            <a:r>
              <a:rPr lang="en-US" sz="1000" dirty="0">
                <a:solidFill>
                  <a:schemeClr val="tx1">
                    <a:lumMod val="95000"/>
                  </a:schemeClr>
                </a:solidFill>
                <a:latin typeface="Calibri"/>
              </a:rPr>
              <a:t>Structured 280 words analyze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0" y="0"/>
            <a:ext cx="12192000" cy="520000"/>
          </a:xfrm>
          <a:prstGeom prst="rect">
            <a:avLst/>
          </a:prstGeom>
          <a:solidFill>
            <a:srgbClr val="1A2535"/>
          </a:solidFill>
          <a:ln>
            <a:noFill/>
          </a:ln>
        </p:spPr>
        <p:txBody>
          <a:bodyPr wrap="square" lIns="365760" tIns="0" rIns="0" bIns="0" rtlCol="0" anchor="ctr"/>
          <a:lstStyle/>
          <a:p>
            <a:r>
              <a:rPr lang="en-US" sz="2200" b="1" dirty="0">
                <a:solidFill>
                  <a:srgbClr val="FFFFFF"/>
                </a:solidFill>
                <a:latin typeface="Calibri"/>
              </a:rPr>
              <a:t>Intent Detection &amp; </a:t>
            </a:r>
            <a:r>
              <a:rPr lang="en-US" sz="2200" b="1" dirty="0">
                <a:solidFill>
                  <a:srgbClr val="00BFA5"/>
                </a:solidFill>
                <a:latin typeface="Calibri"/>
              </a:rPr>
              <a:t>Routing</a:t>
            </a:r>
          </a:p>
        </p:txBody>
      </p:sp>
      <p:sp>
        <p:nvSpPr>
          <p:cNvPr id="3" name="TitleLine"/>
          <p:cNvSpPr/>
          <p:nvPr/>
        </p:nvSpPr>
        <p:spPr>
          <a:xfrm>
            <a:off x="0" y="516000"/>
            <a:ext cx="12192000" cy="16000"/>
          </a:xfrm>
          <a:prstGeom prst="rect">
            <a:avLst/>
          </a:prstGeom>
          <a:solidFill>
            <a:srgbClr val="00BFA5"/>
          </a:solidFill>
          <a:ln>
            <a:noFill/>
          </a:ln>
        </p:spPr>
        <p:txBody>
          <a:bodyPr/>
          <a:lstStyle/>
          <a:p>
            <a:endParaRPr/>
          </a:p>
        </p:txBody>
      </p:sp>
      <p:sp>
        <p:nvSpPr>
          <p:cNvPr id="10" name="UserIcon"/>
          <p:cNvSpPr/>
          <p:nvPr/>
        </p:nvSpPr>
        <p:spPr>
          <a:xfrm>
            <a:off x="5296000" y="590000"/>
            <a:ext cx="1600000" cy="560000"/>
          </a:xfrm>
          <a:prstGeom prst="rect">
            <a:avLst/>
          </a:prstGeom>
          <a:noFill/>
          <a:ln>
            <a:noFill/>
          </a:ln>
        </p:spPr>
        <p:txBody>
          <a:bodyPr wrap="square" lIns="0" tIns="0" rIns="0" bIns="0" rtlCol="0" anchor="ctr"/>
          <a:lstStyle/>
          <a:p>
            <a:pPr algn="ctr"/>
            <a:r>
              <a:rPr lang="en-US" sz="3200" dirty="0">
                <a:latin typeface="Segoe UI Emoji"/>
              </a:rPr>
              <a:t>💬</a:t>
            </a:r>
          </a:p>
        </p:txBody>
      </p:sp>
      <p:sp>
        <p:nvSpPr>
          <p:cNvPr id="11" name="UserLabel"/>
          <p:cNvSpPr/>
          <p:nvPr/>
        </p:nvSpPr>
        <p:spPr>
          <a:xfrm>
            <a:off x="5096000" y="1170000"/>
            <a:ext cx="2000000" cy="280000"/>
          </a:xfrm>
          <a:prstGeom prst="rect">
            <a:avLst/>
          </a:prstGeom>
          <a:noFill/>
          <a:ln>
            <a:noFill/>
          </a:ln>
        </p:spPr>
        <p:txBody>
          <a:bodyPr wrap="square" lIns="0" tIns="0" rIns="0" bIns="0" rtlCol="0" anchor="ctr"/>
          <a:lstStyle/>
          <a:p>
            <a:pPr algn="ctr"/>
            <a:r>
              <a:rPr lang="en-US" sz="1400" b="1" dirty="0">
                <a:solidFill>
                  <a:srgbClr val="FFFFFF"/>
                </a:solidFill>
                <a:latin typeface="Calibri"/>
              </a:rPr>
              <a:t>USER QUESTION</a:t>
            </a:r>
          </a:p>
        </p:txBody>
      </p:sp>
      <p:sp>
        <p:nvSpPr>
          <p:cNvPr id="14" name="ArrDown"/>
          <p:cNvSpPr/>
          <p:nvPr/>
        </p:nvSpPr>
        <p:spPr>
          <a:xfrm rot="5400000">
            <a:off x="5946000" y="1460000"/>
            <a:ext cx="200000" cy="340000"/>
          </a:xfrm>
          <a:prstGeom prst="rightArrow">
            <a:avLst/>
          </a:prstGeom>
          <a:solidFill>
            <a:schemeClr val="tx1">
              <a:lumMod val="85000"/>
            </a:schemeClr>
          </a:solidFill>
          <a:ln>
            <a:noFill/>
          </a:ln>
        </p:spPr>
        <p:txBody>
          <a:bodyPr/>
          <a:lstStyle/>
          <a:p>
            <a:endParaRPr>
              <a:solidFill>
                <a:schemeClr val="tx1">
                  <a:lumMod val="85000"/>
                </a:schemeClr>
              </a:solidFill>
            </a:endParaRPr>
          </a:p>
        </p:txBody>
      </p:sp>
      <p:sp>
        <p:nvSpPr>
          <p:cNvPr id="20" name="ClassBox"/>
          <p:cNvSpPr/>
          <p:nvPr/>
        </p:nvSpPr>
        <p:spPr>
          <a:xfrm>
            <a:off x="4496000" y="1820000"/>
            <a:ext cx="3200000" cy="560000"/>
          </a:xfrm>
          <a:prstGeom prst="rect">
            <a:avLst/>
          </a:prstGeom>
          <a:solidFill>
            <a:srgbClr val="0D1B2A"/>
          </a:solidFill>
          <a:ln w="25400">
            <a:solidFill>
              <a:srgbClr val="F7931A"/>
            </a:solidFill>
          </a:ln>
        </p:spPr>
        <p:txBody>
          <a:bodyPr/>
          <a:lstStyle/>
          <a:p>
            <a:endParaRPr/>
          </a:p>
        </p:txBody>
      </p:sp>
      <p:sp>
        <p:nvSpPr>
          <p:cNvPr id="21" name="ClassTxt"/>
          <p:cNvSpPr/>
          <p:nvPr/>
        </p:nvSpPr>
        <p:spPr>
          <a:xfrm>
            <a:off x="4496000" y="1820000"/>
            <a:ext cx="3200000" cy="560000"/>
          </a:xfrm>
          <a:prstGeom prst="rect">
            <a:avLst/>
          </a:prstGeom>
          <a:noFill/>
          <a:ln>
            <a:noFill/>
          </a:ln>
        </p:spPr>
        <p:txBody>
          <a:bodyPr wrap="square" lIns="91440" tIns="0" rIns="91440" bIns="0" rtlCol="0" anchor="ctr"/>
          <a:lstStyle/>
          <a:p>
            <a:pPr algn="ctr"/>
            <a:r>
              <a:rPr lang="en-US" sz="1600" b="1" dirty="0">
                <a:solidFill>
                  <a:srgbClr val="F7931A"/>
                </a:solidFill>
                <a:latin typeface="Calibri"/>
              </a:rPr>
              <a:t>🤖  LLM CLASSIFIER / REGEX  </a:t>
            </a:r>
          </a:p>
          <a:p>
            <a:pPr algn="ctr"/>
            <a:r>
              <a:rPr lang="en-US" sz="1000" dirty="0">
                <a:solidFill>
                  <a:schemeClr val="tx1">
                    <a:lumMod val="95000"/>
                  </a:schemeClr>
                </a:solidFill>
                <a:latin typeface="Calibri"/>
              </a:rPr>
              <a:t>LLaMA 3.3 70B  •  returns {intent, coin}</a:t>
            </a:r>
          </a:p>
        </p:txBody>
      </p:sp>
      <p:sp>
        <p:nvSpPr>
          <p:cNvPr id="30" name="Stem"/>
          <p:cNvSpPr/>
          <p:nvPr/>
        </p:nvSpPr>
        <p:spPr>
          <a:xfrm>
            <a:off x="6086000" y="2380000"/>
            <a:ext cx="20000" cy="300000"/>
          </a:xfrm>
          <a:prstGeom prst="rect">
            <a:avLst/>
          </a:prstGeom>
          <a:solidFill>
            <a:srgbClr val="334455"/>
          </a:solidFill>
          <a:ln>
            <a:noFill/>
          </a:ln>
        </p:spPr>
        <p:txBody>
          <a:bodyPr/>
          <a:lstStyle/>
          <a:p>
            <a:endParaRPr/>
          </a:p>
        </p:txBody>
      </p:sp>
      <p:sp>
        <p:nvSpPr>
          <p:cNvPr id="31" name="HBar"/>
          <p:cNvSpPr/>
          <p:nvPr/>
        </p:nvSpPr>
        <p:spPr>
          <a:xfrm>
            <a:off x="182880" y="2680000"/>
            <a:ext cx="11826240" cy="20000"/>
          </a:xfrm>
          <a:prstGeom prst="rect">
            <a:avLst/>
          </a:prstGeom>
          <a:solidFill>
            <a:srgbClr val="334455"/>
          </a:solidFill>
          <a:ln>
            <a:noFill/>
          </a:ln>
        </p:spPr>
        <p:txBody>
          <a:bodyPr/>
          <a:lstStyle/>
          <a:p>
            <a:endParaRPr/>
          </a:p>
        </p:txBody>
      </p:sp>
      <p:sp>
        <p:nvSpPr>
          <p:cNvPr id="40" name="VDrop0"/>
          <p:cNvSpPr/>
          <p:nvPr/>
        </p:nvSpPr>
        <p:spPr>
          <a:xfrm>
            <a:off x="822880" y="2700000"/>
            <a:ext cx="20000" cy="210000"/>
          </a:xfrm>
          <a:prstGeom prst="rect">
            <a:avLst/>
          </a:prstGeom>
          <a:solidFill>
            <a:srgbClr val="334455"/>
          </a:solidFill>
          <a:ln>
            <a:noFill/>
          </a:ln>
        </p:spPr>
        <p:txBody>
          <a:bodyPr/>
          <a:lstStyle/>
          <a:p>
            <a:endParaRPr/>
          </a:p>
        </p:txBody>
      </p:sp>
      <p:sp>
        <p:nvSpPr>
          <p:cNvPr id="41" name="Card0"/>
          <p:cNvSpPr/>
          <p:nvPr/>
        </p:nvSpPr>
        <p:spPr>
          <a:xfrm>
            <a:off x="182880" y="2900000"/>
            <a:ext cx="1280000" cy="1688733"/>
          </a:xfrm>
          <a:prstGeom prst="rect">
            <a:avLst/>
          </a:prstGeom>
          <a:solidFill>
            <a:srgbClr val="0D1B2A"/>
          </a:solidFill>
          <a:ln w="19050">
            <a:solidFill>
              <a:srgbClr val="F7931A"/>
            </a:solidFill>
          </a:ln>
        </p:spPr>
        <p:txBody>
          <a:bodyPr/>
          <a:lstStyle/>
          <a:p>
            <a:endParaRPr/>
          </a:p>
        </p:txBody>
      </p:sp>
      <p:sp>
        <p:nvSpPr>
          <p:cNvPr id="42" name="CBar0"/>
          <p:cNvSpPr/>
          <p:nvPr/>
        </p:nvSpPr>
        <p:spPr>
          <a:xfrm>
            <a:off x="182880" y="2900000"/>
            <a:ext cx="1280000" cy="60000"/>
          </a:xfrm>
          <a:prstGeom prst="rect">
            <a:avLst/>
          </a:prstGeom>
          <a:solidFill>
            <a:srgbClr val="F7931A"/>
          </a:solidFill>
          <a:ln>
            <a:noFill/>
          </a:ln>
        </p:spPr>
        <p:txBody>
          <a:bodyPr/>
          <a:lstStyle/>
          <a:p>
            <a:endParaRPr/>
          </a:p>
        </p:txBody>
      </p:sp>
      <p:sp>
        <p:nvSpPr>
          <p:cNvPr id="43" name="CTxt0"/>
          <p:cNvSpPr/>
          <p:nvPr/>
        </p:nvSpPr>
        <p:spPr>
          <a:xfrm>
            <a:off x="182880" y="2980000"/>
            <a:ext cx="1280000" cy="918001"/>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F7931A"/>
                </a:solidFill>
                <a:latin typeface="Calibri"/>
              </a:rPr>
              <a:t>Greeting</a:t>
            </a:r>
          </a:p>
          <a:p>
            <a:endParaRPr lang="en-US" sz="700" dirty="0"/>
          </a:p>
          <a:p>
            <a:pPr algn="ctr"/>
            <a:endParaRPr lang="en-US" sz="1000" dirty="0">
              <a:solidFill>
                <a:schemeClr val="tx1">
                  <a:lumMod val="95000"/>
                </a:schemeClr>
              </a:solidFill>
              <a:latin typeface="Calibri"/>
            </a:endParaRPr>
          </a:p>
        </p:txBody>
      </p:sp>
      <p:sp>
        <p:nvSpPr>
          <p:cNvPr id="44" name="Tag0"/>
          <p:cNvSpPr/>
          <p:nvPr/>
        </p:nvSpPr>
        <p:spPr>
          <a:xfrm>
            <a:off x="262880" y="4227229"/>
            <a:ext cx="1120000" cy="260000"/>
          </a:xfrm>
          <a:prstGeom prst="roundRect">
            <a:avLst>
              <a:gd name="adj" fmla="val 30000"/>
            </a:avLst>
          </a:prstGeom>
          <a:solidFill>
            <a:srgbClr val="111B27"/>
          </a:solidFill>
          <a:ln w="16000">
            <a:solidFill>
              <a:srgbClr val="F7931A"/>
            </a:solidFill>
          </a:ln>
        </p:spPr>
        <p:txBody>
          <a:bodyPr wrap="square" lIns="60000" tIns="0" rIns="60000" bIns="0" rtlCol="0" anchor="ctr"/>
          <a:lstStyle/>
          <a:p>
            <a:pPr algn="ctr"/>
            <a:r>
              <a:rPr lang="en-US" sz="850" b="1" dirty="0">
                <a:solidFill>
                  <a:srgbClr val="F7931A"/>
                </a:solidFill>
                <a:latin typeface="Calibri"/>
              </a:rPr>
              <a:t>⚡ Keyword routed</a:t>
            </a:r>
          </a:p>
        </p:txBody>
      </p:sp>
      <p:sp>
        <p:nvSpPr>
          <p:cNvPr id="46" name="VDrop1"/>
          <p:cNvSpPr/>
          <p:nvPr/>
        </p:nvSpPr>
        <p:spPr>
          <a:xfrm>
            <a:off x="2329485" y="2700000"/>
            <a:ext cx="20000" cy="210000"/>
          </a:xfrm>
          <a:prstGeom prst="rect">
            <a:avLst/>
          </a:prstGeom>
          <a:solidFill>
            <a:srgbClr val="334455"/>
          </a:solidFill>
          <a:ln>
            <a:noFill/>
          </a:ln>
        </p:spPr>
        <p:txBody>
          <a:bodyPr/>
          <a:lstStyle/>
          <a:p>
            <a:endParaRPr/>
          </a:p>
        </p:txBody>
      </p:sp>
      <p:sp>
        <p:nvSpPr>
          <p:cNvPr id="47" name="Card1"/>
          <p:cNvSpPr/>
          <p:nvPr/>
        </p:nvSpPr>
        <p:spPr>
          <a:xfrm>
            <a:off x="1689485" y="2900000"/>
            <a:ext cx="1280000" cy="1701810"/>
          </a:xfrm>
          <a:prstGeom prst="rect">
            <a:avLst/>
          </a:prstGeom>
          <a:solidFill>
            <a:srgbClr val="0D1B2A"/>
          </a:solidFill>
          <a:ln w="19050">
            <a:solidFill>
              <a:srgbClr val="00BFA5"/>
            </a:solidFill>
          </a:ln>
        </p:spPr>
        <p:txBody>
          <a:bodyPr/>
          <a:lstStyle/>
          <a:p>
            <a:endParaRPr/>
          </a:p>
        </p:txBody>
      </p:sp>
      <p:sp>
        <p:nvSpPr>
          <p:cNvPr id="48" name="CBar1"/>
          <p:cNvSpPr/>
          <p:nvPr/>
        </p:nvSpPr>
        <p:spPr>
          <a:xfrm>
            <a:off x="1689485" y="2900000"/>
            <a:ext cx="1280000" cy="60000"/>
          </a:xfrm>
          <a:prstGeom prst="rect">
            <a:avLst/>
          </a:prstGeom>
          <a:solidFill>
            <a:srgbClr val="00BFA5"/>
          </a:solidFill>
          <a:ln>
            <a:noFill/>
          </a:ln>
        </p:spPr>
        <p:txBody>
          <a:bodyPr/>
          <a:lstStyle/>
          <a:p>
            <a:endParaRPr/>
          </a:p>
        </p:txBody>
      </p:sp>
      <p:sp>
        <p:nvSpPr>
          <p:cNvPr id="49" name="CTxt1"/>
          <p:cNvSpPr/>
          <p:nvPr/>
        </p:nvSpPr>
        <p:spPr>
          <a:xfrm>
            <a:off x="1689485" y="2980000"/>
            <a:ext cx="1280000" cy="918001"/>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00BFA5"/>
                </a:solidFill>
                <a:latin typeface="Calibri"/>
              </a:rPr>
              <a:t>Prediction</a:t>
            </a:r>
          </a:p>
          <a:p>
            <a:endParaRPr lang="en-US" sz="700" dirty="0"/>
          </a:p>
          <a:p>
            <a:pPr algn="ctr"/>
            <a:endParaRPr lang="en-US" sz="1000" dirty="0">
              <a:solidFill>
                <a:schemeClr val="tx1">
                  <a:lumMod val="95000"/>
                </a:schemeClr>
              </a:solidFill>
              <a:latin typeface="Calibri"/>
            </a:endParaRPr>
          </a:p>
        </p:txBody>
      </p:sp>
      <p:sp>
        <p:nvSpPr>
          <p:cNvPr id="50" name="Tag1"/>
          <p:cNvSpPr/>
          <p:nvPr/>
        </p:nvSpPr>
        <p:spPr>
          <a:xfrm>
            <a:off x="1776233" y="4230661"/>
            <a:ext cx="1120000" cy="260000"/>
          </a:xfrm>
          <a:prstGeom prst="roundRect">
            <a:avLst>
              <a:gd name="adj" fmla="val 30000"/>
            </a:avLst>
          </a:prstGeom>
          <a:solidFill>
            <a:srgbClr val="111B27"/>
          </a:solidFill>
          <a:ln w="16000">
            <a:solidFill>
              <a:srgbClr val="00BFA5"/>
            </a:solidFill>
          </a:ln>
        </p:spPr>
        <p:txBody>
          <a:bodyPr wrap="square" lIns="60000" tIns="0" rIns="60000" bIns="0" rtlCol="0" anchor="ctr"/>
          <a:lstStyle/>
          <a:p>
            <a:pPr algn="ctr"/>
            <a:r>
              <a:rPr lang="en-US" sz="850" b="1" dirty="0">
                <a:solidFill>
                  <a:srgbClr val="00BFA5"/>
                </a:solidFill>
                <a:latin typeface="Calibri"/>
              </a:rPr>
              <a:t>🤖 LLM routed</a:t>
            </a:r>
          </a:p>
        </p:txBody>
      </p:sp>
      <p:sp>
        <p:nvSpPr>
          <p:cNvPr id="52" name="VDrop2"/>
          <p:cNvSpPr/>
          <p:nvPr/>
        </p:nvSpPr>
        <p:spPr>
          <a:xfrm>
            <a:off x="3836090" y="2700000"/>
            <a:ext cx="20000" cy="210000"/>
          </a:xfrm>
          <a:prstGeom prst="rect">
            <a:avLst/>
          </a:prstGeom>
          <a:solidFill>
            <a:srgbClr val="334455"/>
          </a:solidFill>
          <a:ln>
            <a:noFill/>
          </a:ln>
        </p:spPr>
        <p:txBody>
          <a:bodyPr/>
          <a:lstStyle/>
          <a:p>
            <a:endParaRPr/>
          </a:p>
        </p:txBody>
      </p:sp>
      <p:sp>
        <p:nvSpPr>
          <p:cNvPr id="53" name="Card2"/>
          <p:cNvSpPr/>
          <p:nvPr/>
        </p:nvSpPr>
        <p:spPr>
          <a:xfrm>
            <a:off x="3196090" y="2899999"/>
            <a:ext cx="1280000" cy="1701811"/>
          </a:xfrm>
          <a:prstGeom prst="rect">
            <a:avLst/>
          </a:prstGeom>
          <a:solidFill>
            <a:srgbClr val="0D1B2A"/>
          </a:solidFill>
          <a:ln w="19050">
            <a:solidFill>
              <a:srgbClr val="4A9CCC"/>
            </a:solidFill>
          </a:ln>
        </p:spPr>
        <p:txBody>
          <a:bodyPr/>
          <a:lstStyle/>
          <a:p>
            <a:endParaRPr/>
          </a:p>
        </p:txBody>
      </p:sp>
      <p:sp>
        <p:nvSpPr>
          <p:cNvPr id="54" name="CBar2"/>
          <p:cNvSpPr/>
          <p:nvPr/>
        </p:nvSpPr>
        <p:spPr>
          <a:xfrm>
            <a:off x="3196090" y="2900000"/>
            <a:ext cx="1280000" cy="60000"/>
          </a:xfrm>
          <a:prstGeom prst="rect">
            <a:avLst/>
          </a:prstGeom>
          <a:solidFill>
            <a:srgbClr val="4A9CCC"/>
          </a:solidFill>
          <a:ln>
            <a:noFill/>
          </a:ln>
        </p:spPr>
        <p:txBody>
          <a:bodyPr/>
          <a:lstStyle/>
          <a:p>
            <a:endParaRPr/>
          </a:p>
        </p:txBody>
      </p:sp>
      <p:sp>
        <p:nvSpPr>
          <p:cNvPr id="55" name="CTxt2"/>
          <p:cNvSpPr/>
          <p:nvPr/>
        </p:nvSpPr>
        <p:spPr>
          <a:xfrm>
            <a:off x="3196090" y="2980000"/>
            <a:ext cx="1280000" cy="990926"/>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4A9CCC"/>
                </a:solidFill>
                <a:latin typeface="Calibri"/>
              </a:rPr>
              <a:t>Explanation</a:t>
            </a:r>
          </a:p>
          <a:p>
            <a:endParaRPr lang="en-US" sz="700" dirty="0"/>
          </a:p>
          <a:p>
            <a:pPr algn="ctr"/>
            <a:endParaRPr lang="en-US" sz="1000" dirty="0">
              <a:solidFill>
                <a:schemeClr val="tx1">
                  <a:lumMod val="95000"/>
                </a:schemeClr>
              </a:solidFill>
              <a:latin typeface="Calibri"/>
            </a:endParaRPr>
          </a:p>
        </p:txBody>
      </p:sp>
      <p:sp>
        <p:nvSpPr>
          <p:cNvPr id="56" name="Tag2"/>
          <p:cNvSpPr/>
          <p:nvPr/>
        </p:nvSpPr>
        <p:spPr>
          <a:xfrm>
            <a:off x="3291454" y="4241830"/>
            <a:ext cx="1120000" cy="260000"/>
          </a:xfrm>
          <a:prstGeom prst="roundRect">
            <a:avLst>
              <a:gd name="adj" fmla="val 30000"/>
            </a:avLst>
          </a:prstGeom>
          <a:solidFill>
            <a:srgbClr val="111B27"/>
          </a:solidFill>
          <a:ln w="16000">
            <a:solidFill>
              <a:srgbClr val="00BFA5"/>
            </a:solidFill>
          </a:ln>
        </p:spPr>
        <p:txBody>
          <a:bodyPr wrap="square" lIns="60000" tIns="0" rIns="60000" bIns="0" rtlCol="0" anchor="ctr"/>
          <a:lstStyle/>
          <a:p>
            <a:pPr algn="ctr"/>
            <a:r>
              <a:rPr lang="en-US" sz="850" b="1" dirty="0">
                <a:solidFill>
                  <a:srgbClr val="00BFA5"/>
                </a:solidFill>
                <a:latin typeface="Calibri"/>
              </a:rPr>
              <a:t>🤖 LLM routed</a:t>
            </a:r>
          </a:p>
        </p:txBody>
      </p:sp>
      <p:sp>
        <p:nvSpPr>
          <p:cNvPr id="58" name="VDrop3"/>
          <p:cNvSpPr/>
          <p:nvPr/>
        </p:nvSpPr>
        <p:spPr>
          <a:xfrm>
            <a:off x="5342695" y="2700000"/>
            <a:ext cx="20000" cy="210000"/>
          </a:xfrm>
          <a:prstGeom prst="rect">
            <a:avLst/>
          </a:prstGeom>
          <a:solidFill>
            <a:srgbClr val="334455"/>
          </a:solidFill>
          <a:ln>
            <a:noFill/>
          </a:ln>
        </p:spPr>
        <p:txBody>
          <a:bodyPr/>
          <a:lstStyle/>
          <a:p>
            <a:endParaRPr/>
          </a:p>
        </p:txBody>
      </p:sp>
      <p:sp>
        <p:nvSpPr>
          <p:cNvPr id="59" name="Card3"/>
          <p:cNvSpPr/>
          <p:nvPr/>
        </p:nvSpPr>
        <p:spPr>
          <a:xfrm>
            <a:off x="4702695" y="2900000"/>
            <a:ext cx="1280000" cy="1701810"/>
          </a:xfrm>
          <a:prstGeom prst="rect">
            <a:avLst/>
          </a:prstGeom>
          <a:solidFill>
            <a:srgbClr val="0D1B2A"/>
          </a:solidFill>
          <a:ln w="19050">
            <a:solidFill>
              <a:srgbClr val="9A66CA"/>
            </a:solidFill>
          </a:ln>
        </p:spPr>
        <p:txBody>
          <a:bodyPr/>
          <a:lstStyle/>
          <a:p>
            <a:endParaRPr/>
          </a:p>
        </p:txBody>
      </p:sp>
      <p:sp>
        <p:nvSpPr>
          <p:cNvPr id="60" name="CBar3"/>
          <p:cNvSpPr/>
          <p:nvPr/>
        </p:nvSpPr>
        <p:spPr>
          <a:xfrm>
            <a:off x="4702695" y="2900000"/>
            <a:ext cx="1280000" cy="60000"/>
          </a:xfrm>
          <a:prstGeom prst="rect">
            <a:avLst/>
          </a:prstGeom>
          <a:solidFill>
            <a:srgbClr val="9A66CA"/>
          </a:solidFill>
          <a:ln>
            <a:noFill/>
          </a:ln>
        </p:spPr>
        <p:txBody>
          <a:bodyPr/>
          <a:lstStyle/>
          <a:p>
            <a:endParaRPr/>
          </a:p>
        </p:txBody>
      </p:sp>
      <p:sp>
        <p:nvSpPr>
          <p:cNvPr id="61" name="CTxt3"/>
          <p:cNvSpPr/>
          <p:nvPr/>
        </p:nvSpPr>
        <p:spPr>
          <a:xfrm>
            <a:off x="4702695" y="2980000"/>
            <a:ext cx="1280000" cy="1139553"/>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9A66CA"/>
                </a:solidFill>
                <a:latin typeface="Calibri"/>
              </a:rPr>
              <a:t>Market</a:t>
            </a:r>
          </a:p>
          <a:p>
            <a:pPr algn="ctr"/>
            <a:r>
              <a:rPr lang="en-US" sz="1300" b="1" dirty="0">
                <a:solidFill>
                  <a:srgbClr val="9A66CA"/>
                </a:solidFill>
                <a:latin typeface="Calibri"/>
              </a:rPr>
              <a:t>Overview</a:t>
            </a:r>
          </a:p>
          <a:p>
            <a:endParaRPr lang="en-US" sz="700" dirty="0"/>
          </a:p>
        </p:txBody>
      </p:sp>
      <p:sp>
        <p:nvSpPr>
          <p:cNvPr id="62" name="Tag3"/>
          <p:cNvSpPr/>
          <p:nvPr/>
        </p:nvSpPr>
        <p:spPr>
          <a:xfrm>
            <a:off x="4772756" y="4241830"/>
            <a:ext cx="1120000" cy="260000"/>
          </a:xfrm>
          <a:prstGeom prst="roundRect">
            <a:avLst>
              <a:gd name="adj" fmla="val 30000"/>
            </a:avLst>
          </a:prstGeom>
          <a:solidFill>
            <a:srgbClr val="111B27"/>
          </a:solidFill>
          <a:ln w="16000">
            <a:solidFill>
              <a:srgbClr val="00BFA5"/>
            </a:solidFill>
          </a:ln>
        </p:spPr>
        <p:txBody>
          <a:bodyPr wrap="square" lIns="60000" tIns="0" rIns="60000" bIns="0" rtlCol="0" anchor="ctr"/>
          <a:lstStyle/>
          <a:p>
            <a:pPr algn="ctr"/>
            <a:r>
              <a:rPr lang="en-US" sz="850" b="1" dirty="0">
                <a:solidFill>
                  <a:srgbClr val="00BFA5"/>
                </a:solidFill>
                <a:latin typeface="Calibri"/>
              </a:rPr>
              <a:t>🤖 LLM routed</a:t>
            </a:r>
          </a:p>
        </p:txBody>
      </p:sp>
      <p:sp>
        <p:nvSpPr>
          <p:cNvPr id="64" name="VDrop4"/>
          <p:cNvSpPr/>
          <p:nvPr/>
        </p:nvSpPr>
        <p:spPr>
          <a:xfrm>
            <a:off x="6849300" y="2700000"/>
            <a:ext cx="20000" cy="210000"/>
          </a:xfrm>
          <a:prstGeom prst="rect">
            <a:avLst/>
          </a:prstGeom>
          <a:solidFill>
            <a:srgbClr val="334455"/>
          </a:solidFill>
          <a:ln>
            <a:noFill/>
          </a:ln>
        </p:spPr>
        <p:txBody>
          <a:bodyPr/>
          <a:lstStyle/>
          <a:p>
            <a:endParaRPr/>
          </a:p>
        </p:txBody>
      </p:sp>
      <p:sp>
        <p:nvSpPr>
          <p:cNvPr id="65" name="Card4"/>
          <p:cNvSpPr/>
          <p:nvPr/>
        </p:nvSpPr>
        <p:spPr>
          <a:xfrm>
            <a:off x="6209300" y="2900000"/>
            <a:ext cx="1280000" cy="1701810"/>
          </a:xfrm>
          <a:prstGeom prst="rect">
            <a:avLst/>
          </a:prstGeom>
          <a:solidFill>
            <a:srgbClr val="0D1B2A"/>
          </a:solidFill>
          <a:ln w="19050">
            <a:solidFill>
              <a:srgbClr val="DE9C3C"/>
            </a:solidFill>
          </a:ln>
        </p:spPr>
        <p:txBody>
          <a:bodyPr/>
          <a:lstStyle/>
          <a:p>
            <a:endParaRPr/>
          </a:p>
        </p:txBody>
      </p:sp>
      <p:sp>
        <p:nvSpPr>
          <p:cNvPr id="66" name="CBar4"/>
          <p:cNvSpPr/>
          <p:nvPr/>
        </p:nvSpPr>
        <p:spPr>
          <a:xfrm>
            <a:off x="6209300" y="2900000"/>
            <a:ext cx="1280000" cy="60000"/>
          </a:xfrm>
          <a:prstGeom prst="rect">
            <a:avLst/>
          </a:prstGeom>
          <a:solidFill>
            <a:srgbClr val="DE9C3C"/>
          </a:solidFill>
          <a:ln>
            <a:noFill/>
          </a:ln>
        </p:spPr>
        <p:txBody>
          <a:bodyPr/>
          <a:lstStyle/>
          <a:p>
            <a:endParaRPr/>
          </a:p>
        </p:txBody>
      </p:sp>
      <p:sp>
        <p:nvSpPr>
          <p:cNvPr id="67" name="CTxt4"/>
          <p:cNvSpPr/>
          <p:nvPr/>
        </p:nvSpPr>
        <p:spPr>
          <a:xfrm>
            <a:off x="6209300" y="2980000"/>
            <a:ext cx="1280000" cy="1079553"/>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DE9C3C"/>
                </a:solidFill>
                <a:latin typeface="Calibri"/>
              </a:rPr>
              <a:t>Investment</a:t>
            </a:r>
          </a:p>
          <a:p>
            <a:pPr algn="ctr"/>
            <a:r>
              <a:rPr lang="en-US" sz="1300" b="1" dirty="0">
                <a:solidFill>
                  <a:srgbClr val="DE9C3C"/>
                </a:solidFill>
                <a:latin typeface="Calibri"/>
              </a:rPr>
              <a:t>Advice</a:t>
            </a:r>
          </a:p>
          <a:p>
            <a:endParaRPr lang="en-US" sz="700" dirty="0"/>
          </a:p>
        </p:txBody>
      </p:sp>
      <p:sp>
        <p:nvSpPr>
          <p:cNvPr id="68" name="Tag4"/>
          <p:cNvSpPr/>
          <p:nvPr/>
        </p:nvSpPr>
        <p:spPr>
          <a:xfrm>
            <a:off x="6289300" y="4237383"/>
            <a:ext cx="1120000" cy="260000"/>
          </a:xfrm>
          <a:prstGeom prst="roundRect">
            <a:avLst>
              <a:gd name="adj" fmla="val 30000"/>
            </a:avLst>
          </a:prstGeom>
          <a:solidFill>
            <a:srgbClr val="111B27"/>
          </a:solidFill>
          <a:ln w="16000">
            <a:solidFill>
              <a:srgbClr val="00BFA5"/>
            </a:solidFill>
          </a:ln>
        </p:spPr>
        <p:txBody>
          <a:bodyPr wrap="square" lIns="60000" tIns="0" rIns="60000" bIns="0" rtlCol="0" anchor="ctr"/>
          <a:lstStyle/>
          <a:p>
            <a:pPr algn="ctr"/>
            <a:r>
              <a:rPr lang="en-US" sz="850" b="1" dirty="0">
                <a:solidFill>
                  <a:srgbClr val="00BFA5"/>
                </a:solidFill>
                <a:latin typeface="Calibri"/>
              </a:rPr>
              <a:t>🤖 LLM routed</a:t>
            </a:r>
          </a:p>
        </p:txBody>
      </p:sp>
      <p:sp>
        <p:nvSpPr>
          <p:cNvPr id="70" name="VDrop5"/>
          <p:cNvSpPr/>
          <p:nvPr/>
        </p:nvSpPr>
        <p:spPr>
          <a:xfrm>
            <a:off x="8355905" y="2700000"/>
            <a:ext cx="20000" cy="210000"/>
          </a:xfrm>
          <a:prstGeom prst="rect">
            <a:avLst/>
          </a:prstGeom>
          <a:solidFill>
            <a:srgbClr val="334455"/>
          </a:solidFill>
          <a:ln>
            <a:noFill/>
          </a:ln>
        </p:spPr>
        <p:txBody>
          <a:bodyPr/>
          <a:lstStyle/>
          <a:p>
            <a:endParaRPr/>
          </a:p>
        </p:txBody>
      </p:sp>
      <p:sp>
        <p:nvSpPr>
          <p:cNvPr id="71" name="Card5"/>
          <p:cNvSpPr/>
          <p:nvPr/>
        </p:nvSpPr>
        <p:spPr>
          <a:xfrm>
            <a:off x="7715905" y="2900000"/>
            <a:ext cx="1280000" cy="1701810"/>
          </a:xfrm>
          <a:prstGeom prst="rect">
            <a:avLst/>
          </a:prstGeom>
          <a:solidFill>
            <a:srgbClr val="0D1B2A"/>
          </a:solidFill>
          <a:ln w="19050">
            <a:solidFill>
              <a:srgbClr val="9EC544"/>
            </a:solidFill>
          </a:ln>
        </p:spPr>
        <p:txBody>
          <a:bodyPr/>
          <a:lstStyle/>
          <a:p>
            <a:endParaRPr/>
          </a:p>
        </p:txBody>
      </p:sp>
      <p:sp>
        <p:nvSpPr>
          <p:cNvPr id="72" name="CBar5"/>
          <p:cNvSpPr/>
          <p:nvPr/>
        </p:nvSpPr>
        <p:spPr>
          <a:xfrm>
            <a:off x="7715905" y="2900000"/>
            <a:ext cx="1280000" cy="60000"/>
          </a:xfrm>
          <a:prstGeom prst="rect">
            <a:avLst/>
          </a:prstGeom>
          <a:solidFill>
            <a:srgbClr val="9EC544"/>
          </a:solidFill>
          <a:ln>
            <a:noFill/>
          </a:ln>
        </p:spPr>
        <p:txBody>
          <a:bodyPr/>
          <a:lstStyle/>
          <a:p>
            <a:endParaRPr/>
          </a:p>
        </p:txBody>
      </p:sp>
      <p:sp>
        <p:nvSpPr>
          <p:cNvPr id="73" name="CTxt5"/>
          <p:cNvSpPr/>
          <p:nvPr/>
        </p:nvSpPr>
        <p:spPr>
          <a:xfrm>
            <a:off x="7715905" y="2980000"/>
            <a:ext cx="1280000" cy="1079553"/>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9EC544"/>
                </a:solidFill>
                <a:latin typeface="Calibri"/>
              </a:rPr>
              <a:t>Factual</a:t>
            </a:r>
          </a:p>
          <a:p>
            <a:pPr algn="ctr"/>
            <a:r>
              <a:rPr lang="en-US" sz="1300" b="1" dirty="0">
                <a:solidFill>
                  <a:srgbClr val="9EC544"/>
                </a:solidFill>
                <a:latin typeface="Calibri"/>
              </a:rPr>
              <a:t>Crypto</a:t>
            </a:r>
          </a:p>
          <a:p>
            <a:endParaRPr lang="en-US" sz="700" dirty="0"/>
          </a:p>
        </p:txBody>
      </p:sp>
      <p:sp>
        <p:nvSpPr>
          <p:cNvPr id="74" name="Tag5"/>
          <p:cNvSpPr/>
          <p:nvPr/>
        </p:nvSpPr>
        <p:spPr>
          <a:xfrm>
            <a:off x="7795905" y="4256574"/>
            <a:ext cx="1120000" cy="260000"/>
          </a:xfrm>
          <a:prstGeom prst="roundRect">
            <a:avLst>
              <a:gd name="adj" fmla="val 30000"/>
            </a:avLst>
          </a:prstGeom>
          <a:solidFill>
            <a:srgbClr val="111B27"/>
          </a:solidFill>
          <a:ln w="16000">
            <a:solidFill>
              <a:srgbClr val="00BFA5"/>
            </a:solidFill>
          </a:ln>
        </p:spPr>
        <p:txBody>
          <a:bodyPr wrap="square" lIns="60000" tIns="0" rIns="60000" bIns="0" rtlCol="0" anchor="ctr"/>
          <a:lstStyle/>
          <a:p>
            <a:pPr algn="ctr"/>
            <a:r>
              <a:rPr lang="en-US" sz="850" b="1" dirty="0">
                <a:solidFill>
                  <a:srgbClr val="00BFA5"/>
                </a:solidFill>
                <a:latin typeface="Calibri"/>
              </a:rPr>
              <a:t>🤖 LLM routed</a:t>
            </a:r>
          </a:p>
        </p:txBody>
      </p:sp>
      <p:sp>
        <p:nvSpPr>
          <p:cNvPr id="76" name="VDrop6"/>
          <p:cNvSpPr/>
          <p:nvPr/>
        </p:nvSpPr>
        <p:spPr>
          <a:xfrm>
            <a:off x="9862510" y="2700000"/>
            <a:ext cx="20000" cy="210000"/>
          </a:xfrm>
          <a:prstGeom prst="rect">
            <a:avLst/>
          </a:prstGeom>
          <a:solidFill>
            <a:srgbClr val="334455"/>
          </a:solidFill>
          <a:ln>
            <a:noFill/>
          </a:ln>
        </p:spPr>
        <p:txBody>
          <a:bodyPr/>
          <a:lstStyle/>
          <a:p>
            <a:endParaRPr/>
          </a:p>
        </p:txBody>
      </p:sp>
      <p:sp>
        <p:nvSpPr>
          <p:cNvPr id="77" name="Card6"/>
          <p:cNvSpPr/>
          <p:nvPr/>
        </p:nvSpPr>
        <p:spPr>
          <a:xfrm>
            <a:off x="10748993" y="2918272"/>
            <a:ext cx="1280000" cy="1707018"/>
          </a:xfrm>
          <a:prstGeom prst="rect">
            <a:avLst/>
          </a:prstGeom>
          <a:solidFill>
            <a:srgbClr val="0D1B2A"/>
          </a:solidFill>
          <a:ln w="19050">
            <a:solidFill>
              <a:srgbClr val="50BEA3"/>
            </a:solidFill>
          </a:ln>
        </p:spPr>
        <p:txBody>
          <a:bodyPr/>
          <a:lstStyle/>
          <a:p>
            <a:endParaRPr/>
          </a:p>
        </p:txBody>
      </p:sp>
      <p:sp>
        <p:nvSpPr>
          <p:cNvPr id="78" name="CBar6"/>
          <p:cNvSpPr/>
          <p:nvPr/>
        </p:nvSpPr>
        <p:spPr>
          <a:xfrm>
            <a:off x="10748993" y="2900000"/>
            <a:ext cx="1280000" cy="45719"/>
          </a:xfrm>
          <a:prstGeom prst="rect">
            <a:avLst/>
          </a:prstGeom>
          <a:solidFill>
            <a:srgbClr val="50BEA3"/>
          </a:solidFill>
          <a:ln>
            <a:noFill/>
          </a:ln>
        </p:spPr>
        <p:txBody>
          <a:bodyPr/>
          <a:lstStyle/>
          <a:p>
            <a:endParaRPr/>
          </a:p>
        </p:txBody>
      </p:sp>
      <p:sp>
        <p:nvSpPr>
          <p:cNvPr id="79" name="CTxt6"/>
          <p:cNvSpPr/>
          <p:nvPr/>
        </p:nvSpPr>
        <p:spPr>
          <a:xfrm>
            <a:off x="10748993" y="3001512"/>
            <a:ext cx="1280000" cy="444627"/>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50BEA3"/>
                </a:solidFill>
                <a:latin typeface="Calibri"/>
              </a:rPr>
              <a:t>Follow-up</a:t>
            </a:r>
          </a:p>
          <a:p>
            <a:endParaRPr lang="en-US" sz="700" dirty="0"/>
          </a:p>
          <a:p>
            <a:pPr algn="ctr"/>
            <a:endParaRPr lang="en-US" sz="1000" dirty="0">
              <a:solidFill>
                <a:schemeClr val="tx1">
                  <a:lumMod val="95000"/>
                </a:schemeClr>
              </a:solidFill>
              <a:latin typeface="Calibri"/>
            </a:endParaRPr>
          </a:p>
        </p:txBody>
      </p:sp>
      <p:sp>
        <p:nvSpPr>
          <p:cNvPr id="80" name="Tag6"/>
          <p:cNvSpPr/>
          <p:nvPr/>
        </p:nvSpPr>
        <p:spPr>
          <a:xfrm>
            <a:off x="10828993" y="4263496"/>
            <a:ext cx="1120000" cy="292498"/>
          </a:xfrm>
          <a:prstGeom prst="roundRect">
            <a:avLst>
              <a:gd name="adj" fmla="val 30000"/>
            </a:avLst>
          </a:prstGeom>
          <a:solidFill>
            <a:srgbClr val="111B27"/>
          </a:solidFill>
          <a:ln w="16000">
            <a:solidFill>
              <a:srgbClr val="9A66CA"/>
            </a:solidFill>
          </a:ln>
        </p:spPr>
        <p:txBody>
          <a:bodyPr wrap="square" lIns="60000" tIns="0" rIns="60000" bIns="0" rtlCol="0" anchor="ctr"/>
          <a:lstStyle/>
          <a:p>
            <a:pPr algn="ctr"/>
            <a:r>
              <a:rPr lang="en-US" sz="850" b="1" dirty="0">
                <a:solidFill>
                  <a:srgbClr val="9A66CA"/>
                </a:solidFill>
                <a:latin typeface="Calibri"/>
              </a:rPr>
              <a:t>🔁 Regex routed</a:t>
            </a:r>
          </a:p>
        </p:txBody>
      </p:sp>
      <p:sp>
        <p:nvSpPr>
          <p:cNvPr id="82" name="VDrop7"/>
          <p:cNvSpPr/>
          <p:nvPr/>
        </p:nvSpPr>
        <p:spPr>
          <a:xfrm>
            <a:off x="11369115" y="2700000"/>
            <a:ext cx="20000" cy="210000"/>
          </a:xfrm>
          <a:prstGeom prst="rect">
            <a:avLst/>
          </a:prstGeom>
          <a:solidFill>
            <a:srgbClr val="334455"/>
          </a:solidFill>
          <a:ln>
            <a:noFill/>
          </a:ln>
        </p:spPr>
        <p:txBody>
          <a:bodyPr/>
          <a:lstStyle/>
          <a:p>
            <a:endParaRPr/>
          </a:p>
        </p:txBody>
      </p:sp>
      <p:sp>
        <p:nvSpPr>
          <p:cNvPr id="83" name="Card7"/>
          <p:cNvSpPr/>
          <p:nvPr/>
        </p:nvSpPr>
        <p:spPr>
          <a:xfrm>
            <a:off x="9242388" y="2909999"/>
            <a:ext cx="1280000" cy="1715291"/>
          </a:xfrm>
          <a:prstGeom prst="rect">
            <a:avLst/>
          </a:prstGeom>
          <a:solidFill>
            <a:srgbClr val="0D1B2A"/>
          </a:solidFill>
          <a:ln w="19050">
            <a:solidFill>
              <a:srgbClr val="C54F71"/>
            </a:solidFill>
          </a:ln>
        </p:spPr>
        <p:txBody>
          <a:bodyPr/>
          <a:lstStyle/>
          <a:p>
            <a:endParaRPr/>
          </a:p>
        </p:txBody>
      </p:sp>
      <p:sp>
        <p:nvSpPr>
          <p:cNvPr id="84" name="CBar7"/>
          <p:cNvSpPr/>
          <p:nvPr/>
        </p:nvSpPr>
        <p:spPr>
          <a:xfrm>
            <a:off x="9242388" y="2909999"/>
            <a:ext cx="1280000" cy="78639"/>
          </a:xfrm>
          <a:prstGeom prst="rect">
            <a:avLst/>
          </a:prstGeom>
          <a:solidFill>
            <a:srgbClr val="C54F71"/>
          </a:solidFill>
          <a:ln>
            <a:noFill/>
          </a:ln>
        </p:spPr>
        <p:txBody>
          <a:bodyPr/>
          <a:lstStyle/>
          <a:p>
            <a:endParaRPr/>
          </a:p>
        </p:txBody>
      </p:sp>
      <p:sp>
        <p:nvSpPr>
          <p:cNvPr id="85" name="CTxt7"/>
          <p:cNvSpPr/>
          <p:nvPr/>
        </p:nvSpPr>
        <p:spPr>
          <a:xfrm>
            <a:off x="9242388" y="3014853"/>
            <a:ext cx="1280000" cy="966062"/>
          </a:xfrm>
          <a:prstGeom prst="rect">
            <a:avLst/>
          </a:prstGeom>
          <a:noFill/>
          <a:ln>
            <a:noFill/>
          </a:ln>
        </p:spPr>
        <p:txBody>
          <a:bodyPr wrap="square" lIns="60000" tIns="80000" rIns="60000" bIns="60000" rtlCol="0" anchor="t"/>
          <a:lstStyle/>
          <a:p>
            <a:pPr algn="ctr"/>
            <a:r>
              <a:rPr lang="en-US" sz="2800" dirty="0">
                <a:latin typeface="Segoe UI Emoji"/>
              </a:rPr>
              <a:t>🚫</a:t>
            </a:r>
          </a:p>
          <a:p>
            <a:endParaRPr lang="en-US" sz="800" dirty="0"/>
          </a:p>
          <a:p>
            <a:pPr algn="ctr"/>
            <a:r>
              <a:rPr lang="en-US" sz="1300" b="1" dirty="0">
                <a:solidFill>
                  <a:srgbClr val="C54F71"/>
                </a:solidFill>
                <a:latin typeface="Calibri"/>
              </a:rPr>
              <a:t>Off-topic</a:t>
            </a:r>
          </a:p>
          <a:p>
            <a:endParaRPr lang="en-US" sz="700" dirty="0"/>
          </a:p>
        </p:txBody>
      </p:sp>
      <p:sp>
        <p:nvSpPr>
          <p:cNvPr id="86" name="Tag7"/>
          <p:cNvSpPr/>
          <p:nvPr/>
        </p:nvSpPr>
        <p:spPr>
          <a:xfrm>
            <a:off x="9322388" y="4263495"/>
            <a:ext cx="1120000" cy="271270"/>
          </a:xfrm>
          <a:prstGeom prst="roundRect">
            <a:avLst>
              <a:gd name="adj" fmla="val 30000"/>
            </a:avLst>
          </a:prstGeom>
          <a:solidFill>
            <a:srgbClr val="111B27"/>
          </a:solidFill>
          <a:ln w="16000">
            <a:solidFill>
              <a:srgbClr val="00BFA5"/>
            </a:solidFill>
          </a:ln>
        </p:spPr>
        <p:txBody>
          <a:bodyPr wrap="square" lIns="60000" tIns="0" rIns="60000" bIns="0" rtlCol="0" anchor="ctr"/>
          <a:lstStyle/>
          <a:p>
            <a:pPr algn="ctr"/>
            <a:r>
              <a:rPr lang="en-US" sz="850" b="1" dirty="0">
                <a:solidFill>
                  <a:srgbClr val="00BFA5"/>
                </a:solidFill>
                <a:latin typeface="Calibri"/>
              </a:rPr>
              <a:t>🤖 LLM routed</a:t>
            </a:r>
          </a:p>
        </p:txBody>
      </p:sp>
      <p:sp>
        <p:nvSpPr>
          <p:cNvPr id="7" name="TextBox 6">
            <a:extLst>
              <a:ext uri="{FF2B5EF4-FFF2-40B4-BE49-F238E27FC236}">
                <a16:creationId xmlns:a16="http://schemas.microsoft.com/office/drawing/2014/main" id="{281B36C4-DF60-11C2-4BD4-3223D7C930DA}"/>
              </a:ext>
            </a:extLst>
          </p:cNvPr>
          <p:cNvSpPr txBox="1"/>
          <p:nvPr/>
        </p:nvSpPr>
        <p:spPr>
          <a:xfrm>
            <a:off x="182880" y="5571016"/>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Hardcoded list</a:t>
            </a:r>
          </a:p>
          <a:p>
            <a:pPr algn="ctr"/>
            <a:r>
              <a:rPr lang="en-US" sz="1000" dirty="0">
                <a:solidFill>
                  <a:schemeClr val="tx1">
                    <a:lumMod val="95000"/>
                  </a:schemeClr>
                </a:solidFill>
                <a:latin typeface="Calibri"/>
              </a:rPr>
              <a:t>before LLM call</a:t>
            </a:r>
          </a:p>
        </p:txBody>
      </p:sp>
      <p:sp>
        <p:nvSpPr>
          <p:cNvPr id="8" name="TextBox 7">
            <a:extLst>
              <a:ext uri="{FF2B5EF4-FFF2-40B4-BE49-F238E27FC236}">
                <a16:creationId xmlns:a16="http://schemas.microsoft.com/office/drawing/2014/main" id="{253E99EF-06BB-7CA1-5C26-450AC1385411}"/>
              </a:ext>
            </a:extLst>
          </p:cNvPr>
          <p:cNvSpPr txBox="1"/>
          <p:nvPr/>
        </p:nvSpPr>
        <p:spPr>
          <a:xfrm>
            <a:off x="1714370" y="5615335"/>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ML model</a:t>
            </a:r>
          </a:p>
          <a:p>
            <a:pPr algn="ctr"/>
            <a:r>
              <a:rPr lang="en-US" sz="1000" dirty="0">
                <a:solidFill>
                  <a:schemeClr val="tx1">
                    <a:lumMod val="95000"/>
                  </a:schemeClr>
                </a:solidFill>
                <a:latin typeface="Calibri"/>
              </a:rPr>
              <a:t>+ News</a:t>
            </a:r>
          </a:p>
        </p:txBody>
      </p:sp>
      <p:sp>
        <p:nvSpPr>
          <p:cNvPr id="9" name="TextBox 8">
            <a:extLst>
              <a:ext uri="{FF2B5EF4-FFF2-40B4-BE49-F238E27FC236}">
                <a16:creationId xmlns:a16="http://schemas.microsoft.com/office/drawing/2014/main" id="{2F799065-2EA0-3259-31C4-48A54417F4D0}"/>
              </a:ext>
            </a:extLst>
          </p:cNvPr>
          <p:cNvSpPr txBox="1"/>
          <p:nvPr/>
        </p:nvSpPr>
        <p:spPr>
          <a:xfrm>
            <a:off x="3238817" y="5615335"/>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ML + Live</a:t>
            </a:r>
          </a:p>
          <a:p>
            <a:pPr algn="ctr"/>
            <a:r>
              <a:rPr lang="en-US" sz="1000" dirty="0">
                <a:solidFill>
                  <a:schemeClr val="tx1">
                    <a:lumMod val="95000"/>
                  </a:schemeClr>
                </a:solidFill>
                <a:latin typeface="Calibri"/>
              </a:rPr>
              <a:t>features + News</a:t>
            </a:r>
          </a:p>
        </p:txBody>
      </p:sp>
      <p:sp>
        <p:nvSpPr>
          <p:cNvPr id="12" name="TextBox 11">
            <a:extLst>
              <a:ext uri="{FF2B5EF4-FFF2-40B4-BE49-F238E27FC236}">
                <a16:creationId xmlns:a16="http://schemas.microsoft.com/office/drawing/2014/main" id="{39372C70-9D85-4690-D2B8-3A6158C45C4A}"/>
              </a:ext>
            </a:extLst>
          </p:cNvPr>
          <p:cNvSpPr txBox="1"/>
          <p:nvPr/>
        </p:nvSpPr>
        <p:spPr>
          <a:xfrm>
            <a:off x="4738487" y="5596779"/>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News only</a:t>
            </a:r>
          </a:p>
          <a:p>
            <a:pPr algn="ctr"/>
            <a:r>
              <a:rPr lang="en-US" sz="1000" dirty="0">
                <a:solidFill>
                  <a:schemeClr val="tx1">
                    <a:lumMod val="95000"/>
                  </a:schemeClr>
                </a:solidFill>
                <a:latin typeface="Calibri"/>
              </a:rPr>
              <a:t>BTC + ETH</a:t>
            </a:r>
          </a:p>
        </p:txBody>
      </p:sp>
      <p:sp>
        <p:nvSpPr>
          <p:cNvPr id="13" name="TextBox 12">
            <a:extLst>
              <a:ext uri="{FF2B5EF4-FFF2-40B4-BE49-F238E27FC236}">
                <a16:creationId xmlns:a16="http://schemas.microsoft.com/office/drawing/2014/main" id="{B99A5D7D-5B06-E501-1BA0-47D0FF6E288D}"/>
              </a:ext>
            </a:extLst>
          </p:cNvPr>
          <p:cNvSpPr txBox="1"/>
          <p:nvPr/>
        </p:nvSpPr>
        <p:spPr>
          <a:xfrm>
            <a:off x="6231209" y="5615335"/>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ML model</a:t>
            </a:r>
          </a:p>
          <a:p>
            <a:pPr algn="ctr"/>
            <a:r>
              <a:rPr lang="en-US" sz="1000" dirty="0">
                <a:solidFill>
                  <a:schemeClr val="tx1">
                    <a:lumMod val="95000"/>
                  </a:schemeClr>
                </a:solidFill>
                <a:latin typeface="Calibri"/>
              </a:rPr>
              <a:t>+ News</a:t>
            </a:r>
          </a:p>
        </p:txBody>
      </p:sp>
      <p:sp>
        <p:nvSpPr>
          <p:cNvPr id="15" name="TextBox 14">
            <a:extLst>
              <a:ext uri="{FF2B5EF4-FFF2-40B4-BE49-F238E27FC236}">
                <a16:creationId xmlns:a16="http://schemas.microsoft.com/office/drawing/2014/main" id="{4D7F9DE8-3E3F-21D3-1F77-0BA3860B3E03}"/>
              </a:ext>
            </a:extLst>
          </p:cNvPr>
          <p:cNvSpPr txBox="1"/>
          <p:nvPr/>
        </p:nvSpPr>
        <p:spPr>
          <a:xfrm>
            <a:off x="7758632" y="5615335"/>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Pure LLM</a:t>
            </a:r>
          </a:p>
          <a:p>
            <a:pPr algn="ctr"/>
            <a:r>
              <a:rPr lang="en-US" sz="1000" dirty="0">
                <a:solidFill>
                  <a:schemeClr val="tx1">
                    <a:lumMod val="95000"/>
                  </a:schemeClr>
                </a:solidFill>
                <a:latin typeface="Calibri"/>
              </a:rPr>
              <a:t>no data</a:t>
            </a:r>
          </a:p>
        </p:txBody>
      </p:sp>
      <p:sp>
        <p:nvSpPr>
          <p:cNvPr id="16" name="TextBox 15">
            <a:extLst>
              <a:ext uri="{FF2B5EF4-FFF2-40B4-BE49-F238E27FC236}">
                <a16:creationId xmlns:a16="http://schemas.microsoft.com/office/drawing/2014/main" id="{1CEF22AB-E4C1-EC67-783F-C5F0A5AA813B}"/>
              </a:ext>
            </a:extLst>
          </p:cNvPr>
          <p:cNvSpPr txBox="1"/>
          <p:nvPr/>
        </p:nvSpPr>
        <p:spPr>
          <a:xfrm>
            <a:off x="9255872" y="5621729"/>
            <a:ext cx="1260122" cy="400110"/>
          </a:xfrm>
          <a:prstGeom prst="rect">
            <a:avLst/>
          </a:prstGeom>
          <a:noFill/>
        </p:spPr>
        <p:txBody>
          <a:bodyPr wrap="square">
            <a:spAutoFit/>
          </a:bodyPr>
          <a:lstStyle/>
          <a:p>
            <a:pPr algn="ctr"/>
            <a:r>
              <a:rPr lang="en-US" sz="1000" dirty="0">
                <a:solidFill>
                  <a:schemeClr val="tx1">
                    <a:lumMod val="95000"/>
                  </a:schemeClr>
                </a:solidFill>
                <a:latin typeface="Calibri"/>
              </a:rPr>
              <a:t>Friendly</a:t>
            </a:r>
          </a:p>
          <a:p>
            <a:pPr algn="ctr"/>
            <a:r>
              <a:rPr lang="en-US" sz="1000" dirty="0">
                <a:solidFill>
                  <a:schemeClr val="tx1">
                    <a:lumMod val="95000"/>
                  </a:schemeClr>
                </a:solidFill>
                <a:latin typeface="Calibri"/>
              </a:rPr>
              <a:t>redirect</a:t>
            </a:r>
          </a:p>
        </p:txBody>
      </p:sp>
      <p:sp>
        <p:nvSpPr>
          <p:cNvPr id="17" name="TextBox 16">
            <a:extLst>
              <a:ext uri="{FF2B5EF4-FFF2-40B4-BE49-F238E27FC236}">
                <a16:creationId xmlns:a16="http://schemas.microsoft.com/office/drawing/2014/main" id="{27E2FBB0-963A-9320-A858-CD783C81E97D}"/>
              </a:ext>
            </a:extLst>
          </p:cNvPr>
          <p:cNvSpPr txBox="1"/>
          <p:nvPr/>
        </p:nvSpPr>
        <p:spPr>
          <a:xfrm>
            <a:off x="10806329" y="5603514"/>
            <a:ext cx="1260122" cy="553998"/>
          </a:xfrm>
          <a:prstGeom prst="rect">
            <a:avLst/>
          </a:prstGeom>
          <a:noFill/>
        </p:spPr>
        <p:txBody>
          <a:bodyPr wrap="square">
            <a:spAutoFit/>
          </a:bodyPr>
          <a:lstStyle/>
          <a:p>
            <a:pPr algn="ctr"/>
            <a:r>
              <a:rPr lang="en-US" sz="1000" dirty="0">
                <a:solidFill>
                  <a:schemeClr val="tx1">
                    <a:lumMod val="95000"/>
                  </a:schemeClr>
                </a:solidFill>
                <a:latin typeface="Calibri"/>
              </a:rPr>
              <a:t>fires after LLM returns off topic + history detected</a:t>
            </a:r>
          </a:p>
        </p:txBody>
      </p:sp>
      <p:sp>
        <p:nvSpPr>
          <p:cNvPr id="18" name="SepL">
            <a:extLst>
              <a:ext uri="{FF2B5EF4-FFF2-40B4-BE49-F238E27FC236}">
                <a16:creationId xmlns:a16="http://schemas.microsoft.com/office/drawing/2014/main" id="{2C156949-8538-3AE1-87D0-013115D596C1}"/>
              </a:ext>
            </a:extLst>
          </p:cNvPr>
          <p:cNvSpPr/>
          <p:nvPr/>
        </p:nvSpPr>
        <p:spPr>
          <a:xfrm>
            <a:off x="182879" y="5256940"/>
            <a:ext cx="5253043" cy="45719"/>
          </a:xfrm>
          <a:prstGeom prst="rect">
            <a:avLst/>
          </a:prstGeom>
          <a:solidFill>
            <a:schemeClr val="bg2">
              <a:lumMod val="50000"/>
            </a:schemeClr>
          </a:solidFill>
          <a:ln>
            <a:noFill/>
          </a:ln>
        </p:spPr>
        <p:txBody>
          <a:bodyPr/>
          <a:lstStyle/>
          <a:p>
            <a:endParaRPr/>
          </a:p>
        </p:txBody>
      </p:sp>
      <p:sp>
        <p:nvSpPr>
          <p:cNvPr id="22" name="SepTxt">
            <a:extLst>
              <a:ext uri="{FF2B5EF4-FFF2-40B4-BE49-F238E27FC236}">
                <a16:creationId xmlns:a16="http://schemas.microsoft.com/office/drawing/2014/main" id="{24EAFCA5-AEE7-FC46-DDE5-A28EE454B42B}"/>
              </a:ext>
            </a:extLst>
          </p:cNvPr>
          <p:cNvSpPr/>
          <p:nvPr/>
        </p:nvSpPr>
        <p:spPr>
          <a:xfrm>
            <a:off x="5631383" y="5171532"/>
            <a:ext cx="949105" cy="220000"/>
          </a:xfrm>
          <a:prstGeom prst="rect">
            <a:avLst/>
          </a:prstGeom>
          <a:noFill/>
          <a:ln>
            <a:noFill/>
          </a:ln>
        </p:spPr>
        <p:txBody>
          <a:bodyPr wrap="square" lIns="0" tIns="0" rIns="0" bIns="0" rtlCol="0" anchor="ctr"/>
          <a:lstStyle/>
          <a:p>
            <a:pPr algn="ctr"/>
            <a:r>
              <a:rPr lang="en-US" sz="1400" b="1" dirty="0">
                <a:solidFill>
                  <a:schemeClr val="tx2">
                    <a:lumMod val="75000"/>
                  </a:schemeClr>
                </a:solidFill>
                <a:latin typeface="Calibri"/>
              </a:rPr>
              <a:t>Chatbot rooting</a:t>
            </a:r>
          </a:p>
        </p:txBody>
      </p:sp>
      <p:sp>
        <p:nvSpPr>
          <p:cNvPr id="23" name="VDrop0">
            <a:extLst>
              <a:ext uri="{FF2B5EF4-FFF2-40B4-BE49-F238E27FC236}">
                <a16:creationId xmlns:a16="http://schemas.microsoft.com/office/drawing/2014/main" id="{FB128B3D-6309-247E-B9BA-690BE9601676}"/>
              </a:ext>
            </a:extLst>
          </p:cNvPr>
          <p:cNvSpPr/>
          <p:nvPr/>
        </p:nvSpPr>
        <p:spPr>
          <a:xfrm>
            <a:off x="783454" y="5307847"/>
            <a:ext cx="20000" cy="210000"/>
          </a:xfrm>
          <a:prstGeom prst="rect">
            <a:avLst/>
          </a:prstGeom>
          <a:solidFill>
            <a:schemeClr val="bg2">
              <a:lumMod val="50000"/>
            </a:schemeClr>
          </a:solidFill>
          <a:ln>
            <a:noFill/>
          </a:ln>
        </p:spPr>
        <p:txBody>
          <a:bodyPr/>
          <a:lstStyle/>
          <a:p>
            <a:endParaRPr dirty="0"/>
          </a:p>
        </p:txBody>
      </p:sp>
      <p:sp>
        <p:nvSpPr>
          <p:cNvPr id="24" name="VDrop0">
            <a:extLst>
              <a:ext uri="{FF2B5EF4-FFF2-40B4-BE49-F238E27FC236}">
                <a16:creationId xmlns:a16="http://schemas.microsoft.com/office/drawing/2014/main" id="{C5BF65C9-B514-A23E-3E2A-90E88DDEA437}"/>
              </a:ext>
            </a:extLst>
          </p:cNvPr>
          <p:cNvSpPr/>
          <p:nvPr/>
        </p:nvSpPr>
        <p:spPr>
          <a:xfrm>
            <a:off x="2342620" y="5313179"/>
            <a:ext cx="20000" cy="210000"/>
          </a:xfrm>
          <a:prstGeom prst="rect">
            <a:avLst/>
          </a:prstGeom>
          <a:solidFill>
            <a:schemeClr val="bg2">
              <a:lumMod val="50000"/>
            </a:schemeClr>
          </a:solidFill>
          <a:ln>
            <a:noFill/>
          </a:ln>
        </p:spPr>
        <p:txBody>
          <a:bodyPr/>
          <a:lstStyle/>
          <a:p>
            <a:endParaRPr/>
          </a:p>
        </p:txBody>
      </p:sp>
      <p:sp>
        <p:nvSpPr>
          <p:cNvPr id="25" name="VDrop0">
            <a:extLst>
              <a:ext uri="{FF2B5EF4-FFF2-40B4-BE49-F238E27FC236}">
                <a16:creationId xmlns:a16="http://schemas.microsoft.com/office/drawing/2014/main" id="{6550F6D0-D7BB-667D-FA3C-9997D42C8776}"/>
              </a:ext>
            </a:extLst>
          </p:cNvPr>
          <p:cNvSpPr/>
          <p:nvPr/>
        </p:nvSpPr>
        <p:spPr>
          <a:xfrm>
            <a:off x="3858090" y="5313177"/>
            <a:ext cx="20000" cy="210000"/>
          </a:xfrm>
          <a:prstGeom prst="rect">
            <a:avLst/>
          </a:prstGeom>
          <a:solidFill>
            <a:schemeClr val="bg2">
              <a:lumMod val="50000"/>
            </a:schemeClr>
          </a:solidFill>
          <a:ln>
            <a:noFill/>
          </a:ln>
        </p:spPr>
        <p:txBody>
          <a:bodyPr/>
          <a:lstStyle/>
          <a:p>
            <a:endParaRPr/>
          </a:p>
        </p:txBody>
      </p:sp>
      <p:sp>
        <p:nvSpPr>
          <p:cNvPr id="26" name="VDrop0">
            <a:extLst>
              <a:ext uri="{FF2B5EF4-FFF2-40B4-BE49-F238E27FC236}">
                <a16:creationId xmlns:a16="http://schemas.microsoft.com/office/drawing/2014/main" id="{89DCCE67-9B60-5683-55F3-1C8ED589EC4C}"/>
              </a:ext>
            </a:extLst>
          </p:cNvPr>
          <p:cNvSpPr/>
          <p:nvPr/>
        </p:nvSpPr>
        <p:spPr>
          <a:xfrm>
            <a:off x="5311919" y="5306940"/>
            <a:ext cx="20000" cy="210000"/>
          </a:xfrm>
          <a:prstGeom prst="rect">
            <a:avLst/>
          </a:prstGeom>
          <a:solidFill>
            <a:schemeClr val="bg2">
              <a:lumMod val="50000"/>
            </a:schemeClr>
          </a:solidFill>
          <a:ln>
            <a:noFill/>
          </a:ln>
        </p:spPr>
        <p:txBody>
          <a:bodyPr/>
          <a:lstStyle/>
          <a:p>
            <a:endParaRPr/>
          </a:p>
        </p:txBody>
      </p:sp>
      <p:sp>
        <p:nvSpPr>
          <p:cNvPr id="27" name="VDrop0">
            <a:extLst>
              <a:ext uri="{FF2B5EF4-FFF2-40B4-BE49-F238E27FC236}">
                <a16:creationId xmlns:a16="http://schemas.microsoft.com/office/drawing/2014/main" id="{1000B620-BC62-B231-07E2-6554BB247F6C}"/>
              </a:ext>
            </a:extLst>
          </p:cNvPr>
          <p:cNvSpPr/>
          <p:nvPr/>
        </p:nvSpPr>
        <p:spPr>
          <a:xfrm>
            <a:off x="6853613" y="5313492"/>
            <a:ext cx="20000" cy="210000"/>
          </a:xfrm>
          <a:prstGeom prst="rect">
            <a:avLst/>
          </a:prstGeom>
          <a:solidFill>
            <a:schemeClr val="bg2">
              <a:lumMod val="50000"/>
            </a:schemeClr>
          </a:solidFill>
          <a:ln>
            <a:noFill/>
          </a:ln>
        </p:spPr>
        <p:txBody>
          <a:bodyPr/>
          <a:lstStyle/>
          <a:p>
            <a:endParaRPr/>
          </a:p>
        </p:txBody>
      </p:sp>
      <p:sp>
        <p:nvSpPr>
          <p:cNvPr id="28" name="VDrop0">
            <a:extLst>
              <a:ext uri="{FF2B5EF4-FFF2-40B4-BE49-F238E27FC236}">
                <a16:creationId xmlns:a16="http://schemas.microsoft.com/office/drawing/2014/main" id="{C3FA82D9-8A25-C711-FFC8-14191B241050}"/>
              </a:ext>
            </a:extLst>
          </p:cNvPr>
          <p:cNvSpPr/>
          <p:nvPr/>
        </p:nvSpPr>
        <p:spPr>
          <a:xfrm>
            <a:off x="8371081" y="5304701"/>
            <a:ext cx="20000" cy="210000"/>
          </a:xfrm>
          <a:prstGeom prst="rect">
            <a:avLst/>
          </a:prstGeom>
          <a:solidFill>
            <a:schemeClr val="bg2">
              <a:lumMod val="50000"/>
            </a:schemeClr>
          </a:solidFill>
          <a:ln>
            <a:noFill/>
          </a:ln>
        </p:spPr>
        <p:txBody>
          <a:bodyPr/>
          <a:lstStyle/>
          <a:p>
            <a:endParaRPr/>
          </a:p>
        </p:txBody>
      </p:sp>
      <p:sp>
        <p:nvSpPr>
          <p:cNvPr id="29" name="VDrop0">
            <a:extLst>
              <a:ext uri="{FF2B5EF4-FFF2-40B4-BE49-F238E27FC236}">
                <a16:creationId xmlns:a16="http://schemas.microsoft.com/office/drawing/2014/main" id="{B270AB0B-AC52-0699-5FFB-27C54DE6F76C}"/>
              </a:ext>
            </a:extLst>
          </p:cNvPr>
          <p:cNvSpPr/>
          <p:nvPr/>
        </p:nvSpPr>
        <p:spPr>
          <a:xfrm>
            <a:off x="9904678" y="5310064"/>
            <a:ext cx="20000" cy="210000"/>
          </a:xfrm>
          <a:prstGeom prst="rect">
            <a:avLst/>
          </a:prstGeom>
          <a:solidFill>
            <a:schemeClr val="bg2">
              <a:lumMod val="50000"/>
            </a:schemeClr>
          </a:solidFill>
          <a:ln>
            <a:noFill/>
          </a:ln>
        </p:spPr>
        <p:txBody>
          <a:bodyPr/>
          <a:lstStyle/>
          <a:p>
            <a:endParaRPr/>
          </a:p>
        </p:txBody>
      </p:sp>
      <p:sp>
        <p:nvSpPr>
          <p:cNvPr id="32" name="VDrop0">
            <a:extLst>
              <a:ext uri="{FF2B5EF4-FFF2-40B4-BE49-F238E27FC236}">
                <a16:creationId xmlns:a16="http://schemas.microsoft.com/office/drawing/2014/main" id="{3ADE6DCB-D8AF-C0CA-576B-1C8534633011}"/>
              </a:ext>
            </a:extLst>
          </p:cNvPr>
          <p:cNvSpPr/>
          <p:nvPr/>
        </p:nvSpPr>
        <p:spPr>
          <a:xfrm>
            <a:off x="11434934" y="5304701"/>
            <a:ext cx="20000" cy="210000"/>
          </a:xfrm>
          <a:prstGeom prst="rect">
            <a:avLst/>
          </a:prstGeom>
          <a:solidFill>
            <a:schemeClr val="bg2">
              <a:lumMod val="50000"/>
            </a:schemeClr>
          </a:solidFill>
          <a:ln>
            <a:noFill/>
          </a:ln>
        </p:spPr>
        <p:txBody>
          <a:bodyPr/>
          <a:lstStyle/>
          <a:p>
            <a:endParaRPr/>
          </a:p>
        </p:txBody>
      </p:sp>
      <p:sp>
        <p:nvSpPr>
          <p:cNvPr id="33" name="SepL">
            <a:extLst>
              <a:ext uri="{FF2B5EF4-FFF2-40B4-BE49-F238E27FC236}">
                <a16:creationId xmlns:a16="http://schemas.microsoft.com/office/drawing/2014/main" id="{DCCD0D47-953D-F464-B66F-3B81B34DD21E}"/>
              </a:ext>
            </a:extLst>
          </p:cNvPr>
          <p:cNvSpPr/>
          <p:nvPr/>
        </p:nvSpPr>
        <p:spPr>
          <a:xfrm>
            <a:off x="6775950" y="5274948"/>
            <a:ext cx="5253043" cy="45719"/>
          </a:xfrm>
          <a:prstGeom prst="rect">
            <a:avLst/>
          </a:prstGeom>
          <a:solidFill>
            <a:schemeClr val="bg2">
              <a:lumMod val="50000"/>
            </a:schemeClr>
          </a:solidFill>
          <a:ln>
            <a:noFill/>
          </a:ln>
        </p:spPr>
        <p:txBody>
          <a:body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5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500"/>
                                        <p:tgtEl>
                                          <p:spTgt spid="3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00"/>
                                        <p:tgtEl>
                                          <p:spTgt spid="1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2" grpId="0"/>
      <p:bldP spid="13" grpId="0"/>
      <p:bldP spid="15" grpId="0"/>
      <p:bldP spid="16" grpId="0"/>
      <p:bldP spid="17" grpId="0"/>
      <p:bldP spid="18" grpId="0" animBg="1"/>
      <p:bldP spid="22" grpId="0"/>
      <p:bldP spid="23" grpId="0" animBg="1"/>
      <p:bldP spid="24" grpId="0" animBg="1"/>
      <p:bldP spid="25" grpId="0" animBg="1"/>
      <p:bldP spid="26" grpId="0" animBg="1"/>
      <p:bldP spid="27" grpId="0" animBg="1"/>
      <p:bldP spid="28" grpId="0" animBg="1"/>
      <p:bldP spid="29" grpId="0" animBg="1"/>
      <p:bldP spid="32" grpId="0" animBg="1"/>
      <p:bldP spid="3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g"/>
          <p:cNvSpPr/>
          <p:nvPr/>
        </p:nvSpPr>
        <p:spPr>
          <a:xfrm>
            <a:off x="0" y="0"/>
            <a:ext cx="12192000" cy="520000"/>
          </a:xfrm>
          <a:prstGeom prst="rect">
            <a:avLst/>
          </a:prstGeom>
          <a:solidFill>
            <a:srgbClr val="1A2535"/>
          </a:solidFill>
          <a:ln>
            <a:noFill/>
          </a:ln>
        </p:spPr>
        <p:txBody>
          <a:bodyPr/>
          <a:lstStyle/>
          <a:p>
            <a:endParaRPr/>
          </a:p>
        </p:txBody>
      </p:sp>
      <p:sp>
        <p:nvSpPr>
          <p:cNvPr id="3" name="TTxt"/>
          <p:cNvSpPr/>
          <p:nvPr/>
        </p:nvSpPr>
        <p:spPr>
          <a:xfrm>
            <a:off x="0" y="0"/>
            <a:ext cx="12192000" cy="520000"/>
          </a:xfrm>
          <a:prstGeom prst="rect">
            <a:avLst/>
          </a:prstGeom>
          <a:noFill/>
          <a:ln>
            <a:noFill/>
          </a:ln>
        </p:spPr>
        <p:txBody>
          <a:bodyPr wrap="square" lIns="365760" tIns="0" rIns="0" bIns="0" rtlCol="0" anchor="ctr"/>
          <a:lstStyle/>
          <a:p>
            <a:r>
              <a:rPr lang="en-US" sz="2200" b="1" dirty="0">
                <a:solidFill>
                  <a:srgbClr val="FFFFFF"/>
                </a:solidFill>
                <a:latin typeface="Calibri"/>
              </a:rPr>
              <a:t>RAG Pipeline — </a:t>
            </a:r>
            <a:r>
              <a:rPr lang="en-US" sz="2200" b="1" dirty="0">
                <a:solidFill>
                  <a:srgbClr val="00BFA5"/>
                </a:solidFill>
                <a:latin typeface="Calibri"/>
              </a:rPr>
              <a:t>Selecting What Matters</a:t>
            </a:r>
          </a:p>
        </p:txBody>
      </p:sp>
      <p:sp>
        <p:nvSpPr>
          <p:cNvPr id="4" name="TLine"/>
          <p:cNvSpPr/>
          <p:nvPr/>
        </p:nvSpPr>
        <p:spPr>
          <a:xfrm>
            <a:off x="0" y="516000"/>
            <a:ext cx="12192000" cy="16000"/>
          </a:xfrm>
          <a:prstGeom prst="rect">
            <a:avLst/>
          </a:prstGeom>
          <a:solidFill>
            <a:srgbClr val="00BFA5"/>
          </a:solidFill>
          <a:ln>
            <a:noFill/>
          </a:ln>
        </p:spPr>
        <p:txBody>
          <a:bodyPr/>
          <a:lstStyle/>
          <a:p>
            <a:endParaRPr/>
          </a:p>
        </p:txBody>
      </p:sp>
      <p:sp>
        <p:nvSpPr>
          <p:cNvPr id="10" name="Ic0"/>
          <p:cNvSpPr/>
          <p:nvPr/>
        </p:nvSpPr>
        <p:spPr>
          <a:xfrm>
            <a:off x="182880" y="1452519"/>
            <a:ext cx="1700000" cy="820000"/>
          </a:xfrm>
          <a:prstGeom prst="rect">
            <a:avLst/>
          </a:prstGeom>
          <a:noFill/>
          <a:ln>
            <a:noFill/>
          </a:ln>
        </p:spPr>
        <p:txBody>
          <a:bodyPr wrap="square" lIns="0" tIns="0" rIns="0" bIns="0" rtlCol="0" anchor="ctr"/>
          <a:lstStyle/>
          <a:p>
            <a:pPr algn="ctr"/>
            <a:r>
              <a:rPr lang="en-US" sz="4200" dirty="0">
                <a:latin typeface="Segoe UI Emoji"/>
              </a:rPr>
              <a:t>📡</a:t>
            </a:r>
          </a:p>
        </p:txBody>
      </p:sp>
      <p:sp>
        <p:nvSpPr>
          <p:cNvPr id="11" name="Lb0"/>
          <p:cNvSpPr/>
          <p:nvPr/>
        </p:nvSpPr>
        <p:spPr>
          <a:xfrm>
            <a:off x="182880" y="2372519"/>
            <a:ext cx="1700000" cy="360000"/>
          </a:xfrm>
          <a:prstGeom prst="rect">
            <a:avLst/>
          </a:prstGeom>
          <a:noFill/>
          <a:ln>
            <a:noFill/>
          </a:ln>
        </p:spPr>
        <p:txBody>
          <a:bodyPr wrap="square" lIns="0" tIns="0" rIns="0" bIns="0" rtlCol="0" anchor="ctr"/>
          <a:lstStyle/>
          <a:p>
            <a:pPr algn="ctr"/>
            <a:r>
              <a:rPr lang="en-US" sz="1500" b="1" dirty="0">
                <a:solidFill>
                  <a:srgbClr val="F7931A"/>
                </a:solidFill>
                <a:latin typeface="Calibri"/>
              </a:rPr>
              <a:t>Tavily</a:t>
            </a:r>
          </a:p>
          <a:p>
            <a:pPr algn="ctr"/>
            <a:r>
              <a:rPr lang="en-US" sz="1500" b="1" dirty="0">
                <a:solidFill>
                  <a:srgbClr val="F7931A"/>
                </a:solidFill>
                <a:latin typeface="Calibri"/>
              </a:rPr>
              <a:t>Fetch</a:t>
            </a:r>
          </a:p>
        </p:txBody>
      </p:sp>
      <p:sp>
        <p:nvSpPr>
          <p:cNvPr id="12" name="Ds0"/>
          <p:cNvSpPr/>
          <p:nvPr/>
        </p:nvSpPr>
        <p:spPr>
          <a:xfrm>
            <a:off x="174880" y="2602519"/>
            <a:ext cx="1700000" cy="101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6 parallel queries * 8 articles </a:t>
            </a:r>
          </a:p>
          <a:p>
            <a:pPr algn="ctr"/>
            <a:r>
              <a:rPr lang="en-US" sz="1000" dirty="0">
                <a:solidFill>
                  <a:schemeClr val="tx1">
                    <a:lumMod val="95000"/>
                  </a:schemeClr>
                </a:solidFill>
                <a:latin typeface="Calibri"/>
              </a:rPr>
              <a:t>3 coin-specific</a:t>
            </a:r>
          </a:p>
          <a:p>
            <a:pPr algn="ctr"/>
            <a:r>
              <a:rPr lang="en-US" sz="1000" dirty="0">
                <a:solidFill>
                  <a:schemeClr val="tx1">
                    <a:lumMod val="95000"/>
                  </a:schemeClr>
                </a:solidFill>
                <a:latin typeface="Calibri"/>
              </a:rPr>
              <a:t>3 macro queries</a:t>
            </a:r>
          </a:p>
        </p:txBody>
      </p:sp>
      <p:sp>
        <p:nvSpPr>
          <p:cNvPr id="14" name="Ar0"/>
          <p:cNvSpPr/>
          <p:nvPr/>
        </p:nvSpPr>
        <p:spPr>
          <a:xfrm>
            <a:off x="1882880" y="1832519"/>
            <a:ext cx="325248" cy="130000"/>
          </a:xfrm>
          <a:prstGeom prst="rightArrow">
            <a:avLst/>
          </a:prstGeom>
          <a:solidFill>
            <a:schemeClr val="tx1">
              <a:lumMod val="85000"/>
            </a:schemeClr>
          </a:solidFill>
          <a:ln>
            <a:noFill/>
          </a:ln>
        </p:spPr>
        <p:txBody>
          <a:bodyPr/>
          <a:lstStyle/>
          <a:p>
            <a:endParaRPr/>
          </a:p>
        </p:txBody>
      </p:sp>
      <p:sp>
        <p:nvSpPr>
          <p:cNvPr id="16" name="Ic1"/>
          <p:cNvSpPr/>
          <p:nvPr/>
        </p:nvSpPr>
        <p:spPr>
          <a:xfrm>
            <a:off x="2208128" y="1452519"/>
            <a:ext cx="1700000" cy="820000"/>
          </a:xfrm>
          <a:prstGeom prst="rect">
            <a:avLst/>
          </a:prstGeom>
          <a:noFill/>
          <a:ln>
            <a:noFill/>
          </a:ln>
        </p:spPr>
        <p:txBody>
          <a:bodyPr wrap="square" lIns="0" tIns="0" rIns="0" bIns="0" rtlCol="0" anchor="ctr"/>
          <a:lstStyle/>
          <a:p>
            <a:pPr algn="ctr"/>
            <a:r>
              <a:rPr lang="en-US" sz="4200" dirty="0">
                <a:latin typeface="Segoe UI Emoji"/>
              </a:rPr>
              <a:t>🚫</a:t>
            </a:r>
          </a:p>
        </p:txBody>
      </p:sp>
      <p:sp>
        <p:nvSpPr>
          <p:cNvPr id="17" name="Lb1"/>
          <p:cNvSpPr/>
          <p:nvPr/>
        </p:nvSpPr>
        <p:spPr>
          <a:xfrm>
            <a:off x="2208128" y="2372519"/>
            <a:ext cx="1700000" cy="360000"/>
          </a:xfrm>
          <a:prstGeom prst="rect">
            <a:avLst/>
          </a:prstGeom>
          <a:noFill/>
          <a:ln>
            <a:noFill/>
          </a:ln>
        </p:spPr>
        <p:txBody>
          <a:bodyPr wrap="square" lIns="0" tIns="0" rIns="0" bIns="0" rtlCol="0" anchor="ctr"/>
          <a:lstStyle/>
          <a:p>
            <a:pPr algn="ctr"/>
            <a:r>
              <a:rPr lang="en-US" sz="1500" b="1" dirty="0">
                <a:solidFill>
                  <a:srgbClr val="DE9C3C"/>
                </a:solidFill>
                <a:latin typeface="Calibri"/>
              </a:rPr>
              <a:t>Crypto</a:t>
            </a:r>
          </a:p>
          <a:p>
            <a:pPr algn="ctr"/>
            <a:r>
              <a:rPr lang="en-US" sz="1500" b="1" dirty="0">
                <a:solidFill>
                  <a:srgbClr val="DE9C3C"/>
                </a:solidFill>
                <a:latin typeface="Calibri"/>
              </a:rPr>
              <a:t>Filter</a:t>
            </a:r>
          </a:p>
        </p:txBody>
      </p:sp>
      <p:sp>
        <p:nvSpPr>
          <p:cNvPr id="18" name="Ds1"/>
          <p:cNvSpPr/>
          <p:nvPr/>
        </p:nvSpPr>
        <p:spPr>
          <a:xfrm>
            <a:off x="2184128" y="2857569"/>
            <a:ext cx="1700000" cy="36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24-keyword blocklist</a:t>
            </a:r>
          </a:p>
          <a:p>
            <a:pPr algn="ctr"/>
            <a:r>
              <a:rPr lang="en-US" sz="1000" dirty="0">
                <a:solidFill>
                  <a:schemeClr val="tx1">
                    <a:lumMod val="95000"/>
                  </a:schemeClr>
                </a:solidFill>
                <a:latin typeface="Calibri"/>
              </a:rPr>
              <a:t>removes off-topic</a:t>
            </a:r>
          </a:p>
        </p:txBody>
      </p:sp>
      <p:sp>
        <p:nvSpPr>
          <p:cNvPr id="20" name="Ar1"/>
          <p:cNvSpPr/>
          <p:nvPr/>
        </p:nvSpPr>
        <p:spPr>
          <a:xfrm>
            <a:off x="3908128" y="1832519"/>
            <a:ext cx="325248" cy="130000"/>
          </a:xfrm>
          <a:prstGeom prst="rightArrow">
            <a:avLst/>
          </a:prstGeom>
          <a:solidFill>
            <a:schemeClr val="tx1">
              <a:lumMod val="85000"/>
            </a:schemeClr>
          </a:solidFill>
          <a:ln>
            <a:noFill/>
          </a:ln>
        </p:spPr>
        <p:txBody>
          <a:bodyPr/>
          <a:lstStyle/>
          <a:p>
            <a:endParaRPr/>
          </a:p>
        </p:txBody>
      </p:sp>
      <p:sp>
        <p:nvSpPr>
          <p:cNvPr id="22" name="Ic2"/>
          <p:cNvSpPr/>
          <p:nvPr/>
        </p:nvSpPr>
        <p:spPr>
          <a:xfrm>
            <a:off x="4233376" y="1452519"/>
            <a:ext cx="1700000" cy="820000"/>
          </a:xfrm>
          <a:prstGeom prst="rect">
            <a:avLst/>
          </a:prstGeom>
          <a:noFill/>
          <a:ln>
            <a:noFill/>
          </a:ln>
        </p:spPr>
        <p:txBody>
          <a:bodyPr wrap="square" lIns="0" tIns="0" rIns="0" bIns="0" rtlCol="0" anchor="ctr"/>
          <a:lstStyle/>
          <a:p>
            <a:pPr algn="ctr"/>
            <a:r>
              <a:rPr lang="en-US" sz="4200" dirty="0">
                <a:latin typeface="Segoe UI Emoji"/>
              </a:rPr>
              <a:t>🧮</a:t>
            </a:r>
          </a:p>
        </p:txBody>
      </p:sp>
      <p:sp>
        <p:nvSpPr>
          <p:cNvPr id="23" name="Lb2"/>
          <p:cNvSpPr/>
          <p:nvPr/>
        </p:nvSpPr>
        <p:spPr>
          <a:xfrm>
            <a:off x="4233376" y="2372519"/>
            <a:ext cx="1700000" cy="360000"/>
          </a:xfrm>
          <a:prstGeom prst="rect">
            <a:avLst/>
          </a:prstGeom>
          <a:noFill/>
          <a:ln>
            <a:noFill/>
          </a:ln>
        </p:spPr>
        <p:txBody>
          <a:bodyPr wrap="square" lIns="0" tIns="0" rIns="0" bIns="0" rtlCol="0" anchor="ctr"/>
          <a:lstStyle/>
          <a:p>
            <a:pPr algn="ctr"/>
            <a:r>
              <a:rPr lang="en-US" sz="1350" b="1" dirty="0">
                <a:solidFill>
                  <a:srgbClr val="4A9CCC"/>
                </a:solidFill>
                <a:latin typeface="Calibri"/>
              </a:rPr>
              <a:t>TF-IDF</a:t>
            </a:r>
          </a:p>
          <a:p>
            <a:pPr algn="ctr"/>
            <a:r>
              <a:rPr lang="en-US" sz="1350" b="1" dirty="0">
                <a:solidFill>
                  <a:srgbClr val="4A9CCC"/>
                </a:solidFill>
                <a:latin typeface="Calibri"/>
              </a:rPr>
              <a:t>Scoring</a:t>
            </a:r>
          </a:p>
        </p:txBody>
      </p:sp>
      <p:sp>
        <p:nvSpPr>
          <p:cNvPr id="24" name="Ds2"/>
          <p:cNvSpPr/>
          <p:nvPr/>
        </p:nvSpPr>
        <p:spPr>
          <a:xfrm>
            <a:off x="4241376" y="2854237"/>
            <a:ext cx="1700000" cy="36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cosine similarity</a:t>
            </a:r>
          </a:p>
          <a:p>
            <a:pPr algn="ctr"/>
            <a:r>
              <a:rPr lang="en-US" sz="1000" dirty="0">
                <a:solidFill>
                  <a:schemeClr val="tx1">
                    <a:lumMod val="95000"/>
                  </a:schemeClr>
                </a:solidFill>
                <a:latin typeface="Calibri"/>
              </a:rPr>
              <a:t>range [0 → 1]</a:t>
            </a:r>
          </a:p>
        </p:txBody>
      </p:sp>
      <p:sp>
        <p:nvSpPr>
          <p:cNvPr id="26" name="Ar2"/>
          <p:cNvSpPr/>
          <p:nvPr/>
        </p:nvSpPr>
        <p:spPr>
          <a:xfrm>
            <a:off x="5933376" y="1832519"/>
            <a:ext cx="325248" cy="130000"/>
          </a:xfrm>
          <a:prstGeom prst="rightArrow">
            <a:avLst/>
          </a:prstGeom>
          <a:solidFill>
            <a:schemeClr val="tx1">
              <a:lumMod val="85000"/>
            </a:schemeClr>
          </a:solidFill>
          <a:ln>
            <a:noFill/>
          </a:ln>
        </p:spPr>
        <p:txBody>
          <a:bodyPr/>
          <a:lstStyle/>
          <a:p>
            <a:endParaRPr/>
          </a:p>
        </p:txBody>
      </p:sp>
      <p:sp>
        <p:nvSpPr>
          <p:cNvPr id="28" name="Ic3"/>
          <p:cNvSpPr/>
          <p:nvPr/>
        </p:nvSpPr>
        <p:spPr>
          <a:xfrm>
            <a:off x="6258624" y="1452519"/>
            <a:ext cx="1700000" cy="820000"/>
          </a:xfrm>
          <a:prstGeom prst="rect">
            <a:avLst/>
          </a:prstGeom>
          <a:noFill/>
          <a:ln>
            <a:noFill/>
          </a:ln>
        </p:spPr>
        <p:txBody>
          <a:bodyPr wrap="square" lIns="0" tIns="0" rIns="0" bIns="0" rtlCol="0" anchor="ctr"/>
          <a:lstStyle/>
          <a:p>
            <a:pPr algn="ctr"/>
            <a:r>
              <a:rPr lang="en-US" sz="4200" dirty="0">
                <a:latin typeface="Segoe UI Emoji"/>
              </a:rPr>
              <a:t>⚡</a:t>
            </a:r>
          </a:p>
        </p:txBody>
      </p:sp>
      <p:sp>
        <p:nvSpPr>
          <p:cNvPr id="29" name="Lb3"/>
          <p:cNvSpPr/>
          <p:nvPr/>
        </p:nvSpPr>
        <p:spPr>
          <a:xfrm>
            <a:off x="6258624" y="2372519"/>
            <a:ext cx="1700000" cy="360000"/>
          </a:xfrm>
          <a:prstGeom prst="rect">
            <a:avLst/>
          </a:prstGeom>
          <a:noFill/>
          <a:ln>
            <a:noFill/>
          </a:ln>
        </p:spPr>
        <p:txBody>
          <a:bodyPr wrap="square" lIns="0" tIns="0" rIns="0" bIns="0" rtlCol="0" anchor="ctr"/>
          <a:lstStyle/>
          <a:p>
            <a:pPr algn="ctr"/>
            <a:r>
              <a:rPr lang="en-US" sz="1350" b="1" dirty="0">
                <a:solidFill>
                  <a:srgbClr val="9A66CA"/>
                </a:solidFill>
                <a:latin typeface="Calibri"/>
              </a:rPr>
              <a:t>Keyword</a:t>
            </a:r>
          </a:p>
          <a:p>
            <a:pPr algn="ctr"/>
            <a:r>
              <a:rPr lang="en-US" sz="1350" b="1" dirty="0">
                <a:solidFill>
                  <a:srgbClr val="9A66CA"/>
                </a:solidFill>
                <a:latin typeface="Calibri"/>
              </a:rPr>
              <a:t>Boost</a:t>
            </a:r>
          </a:p>
        </p:txBody>
      </p:sp>
      <p:sp>
        <p:nvSpPr>
          <p:cNvPr id="30" name="Ds3"/>
          <p:cNvSpPr/>
          <p:nvPr/>
        </p:nvSpPr>
        <p:spPr>
          <a:xfrm>
            <a:off x="6258624" y="2817111"/>
            <a:ext cx="1700000" cy="36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coin + macro terms</a:t>
            </a:r>
          </a:p>
          <a:p>
            <a:pPr algn="ctr"/>
            <a:r>
              <a:rPr lang="en-US" sz="1000" dirty="0">
                <a:solidFill>
                  <a:schemeClr val="tx1">
                    <a:lumMod val="95000"/>
                  </a:schemeClr>
                </a:solidFill>
                <a:latin typeface="Calibri"/>
              </a:rPr>
              <a:t>normalized [0 → 1]</a:t>
            </a:r>
          </a:p>
        </p:txBody>
      </p:sp>
      <p:sp>
        <p:nvSpPr>
          <p:cNvPr id="32" name="Ar3"/>
          <p:cNvSpPr/>
          <p:nvPr/>
        </p:nvSpPr>
        <p:spPr>
          <a:xfrm>
            <a:off x="7958624" y="1832519"/>
            <a:ext cx="325248" cy="130000"/>
          </a:xfrm>
          <a:prstGeom prst="rightArrow">
            <a:avLst/>
          </a:prstGeom>
          <a:solidFill>
            <a:schemeClr val="tx1">
              <a:lumMod val="85000"/>
            </a:schemeClr>
          </a:solidFill>
          <a:ln>
            <a:noFill/>
          </a:ln>
        </p:spPr>
        <p:txBody>
          <a:bodyPr/>
          <a:lstStyle/>
          <a:p>
            <a:endParaRPr/>
          </a:p>
        </p:txBody>
      </p:sp>
      <p:sp>
        <p:nvSpPr>
          <p:cNvPr id="34" name="Ic4"/>
          <p:cNvSpPr/>
          <p:nvPr/>
        </p:nvSpPr>
        <p:spPr>
          <a:xfrm>
            <a:off x="8283872" y="1452519"/>
            <a:ext cx="1700000" cy="820000"/>
          </a:xfrm>
          <a:prstGeom prst="rect">
            <a:avLst/>
          </a:prstGeom>
          <a:noFill/>
          <a:ln>
            <a:noFill/>
          </a:ln>
        </p:spPr>
        <p:txBody>
          <a:bodyPr wrap="square" lIns="0" tIns="0" rIns="0" bIns="0" rtlCol="0" anchor="ctr"/>
          <a:lstStyle/>
          <a:p>
            <a:pPr algn="ctr"/>
            <a:r>
              <a:rPr lang="en-US" sz="4200" dirty="0">
                <a:latin typeface="Segoe UI Emoji"/>
              </a:rPr>
              <a:t>🕐</a:t>
            </a:r>
          </a:p>
        </p:txBody>
      </p:sp>
      <p:sp>
        <p:nvSpPr>
          <p:cNvPr id="35" name="Lb4"/>
          <p:cNvSpPr/>
          <p:nvPr/>
        </p:nvSpPr>
        <p:spPr>
          <a:xfrm>
            <a:off x="8283872" y="2372519"/>
            <a:ext cx="1700000" cy="360000"/>
          </a:xfrm>
          <a:prstGeom prst="rect">
            <a:avLst/>
          </a:prstGeom>
          <a:noFill/>
          <a:ln>
            <a:noFill/>
          </a:ln>
        </p:spPr>
        <p:txBody>
          <a:bodyPr wrap="square" lIns="0" tIns="0" rIns="0" bIns="0" rtlCol="0" anchor="ctr"/>
          <a:lstStyle/>
          <a:p>
            <a:pPr algn="ctr"/>
            <a:r>
              <a:rPr lang="en-US" sz="1350" b="1" dirty="0">
                <a:solidFill>
                  <a:srgbClr val="F7931A"/>
                </a:solidFill>
                <a:latin typeface="Calibri"/>
              </a:rPr>
              <a:t>Recency</a:t>
            </a:r>
          </a:p>
          <a:p>
            <a:pPr algn="ctr"/>
            <a:r>
              <a:rPr lang="en-US" sz="1350" b="1" dirty="0">
                <a:solidFill>
                  <a:srgbClr val="F7931A"/>
                </a:solidFill>
                <a:latin typeface="Calibri"/>
              </a:rPr>
              <a:t>Score</a:t>
            </a:r>
          </a:p>
        </p:txBody>
      </p:sp>
      <p:sp>
        <p:nvSpPr>
          <p:cNvPr id="36" name="Ds4"/>
          <p:cNvSpPr/>
          <p:nvPr/>
        </p:nvSpPr>
        <p:spPr>
          <a:xfrm>
            <a:off x="8283872" y="2830759"/>
            <a:ext cx="1700000" cy="36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1.0 = today</a:t>
            </a:r>
          </a:p>
          <a:p>
            <a:pPr algn="ctr"/>
            <a:r>
              <a:rPr lang="en-US" sz="1000" dirty="0">
                <a:solidFill>
                  <a:schemeClr val="tx1">
                    <a:lumMod val="95000"/>
                  </a:schemeClr>
                </a:solidFill>
                <a:latin typeface="Calibri"/>
              </a:rPr>
              <a:t>0.1 = 30 days old</a:t>
            </a:r>
          </a:p>
        </p:txBody>
      </p:sp>
      <p:sp>
        <p:nvSpPr>
          <p:cNvPr id="38" name="Ar4"/>
          <p:cNvSpPr/>
          <p:nvPr/>
        </p:nvSpPr>
        <p:spPr>
          <a:xfrm>
            <a:off x="9983872" y="1832519"/>
            <a:ext cx="325248" cy="130000"/>
          </a:xfrm>
          <a:prstGeom prst="rightArrow">
            <a:avLst/>
          </a:prstGeom>
          <a:solidFill>
            <a:schemeClr val="tx1">
              <a:lumMod val="85000"/>
            </a:schemeClr>
          </a:solidFill>
          <a:ln>
            <a:noFill/>
          </a:ln>
        </p:spPr>
        <p:txBody>
          <a:bodyPr/>
          <a:lstStyle/>
          <a:p>
            <a:endParaRPr/>
          </a:p>
        </p:txBody>
      </p:sp>
      <p:sp>
        <p:nvSpPr>
          <p:cNvPr id="40" name="Ic5"/>
          <p:cNvSpPr/>
          <p:nvPr/>
        </p:nvSpPr>
        <p:spPr>
          <a:xfrm>
            <a:off x="10309120" y="1452519"/>
            <a:ext cx="1700000" cy="820000"/>
          </a:xfrm>
          <a:prstGeom prst="rect">
            <a:avLst/>
          </a:prstGeom>
          <a:noFill/>
          <a:ln>
            <a:noFill/>
          </a:ln>
        </p:spPr>
        <p:txBody>
          <a:bodyPr wrap="square" lIns="0" tIns="0" rIns="0" bIns="0" rtlCol="0" anchor="ctr"/>
          <a:lstStyle/>
          <a:p>
            <a:pPr algn="ctr"/>
            <a:r>
              <a:rPr lang="en-US" sz="4200" dirty="0">
                <a:latin typeface="Segoe UI Emoji"/>
              </a:rPr>
              <a:t>⭐</a:t>
            </a:r>
          </a:p>
        </p:txBody>
      </p:sp>
      <p:sp>
        <p:nvSpPr>
          <p:cNvPr id="41" name="Lb5"/>
          <p:cNvSpPr/>
          <p:nvPr/>
        </p:nvSpPr>
        <p:spPr>
          <a:xfrm>
            <a:off x="10309120" y="2372519"/>
            <a:ext cx="1700000" cy="360000"/>
          </a:xfrm>
          <a:prstGeom prst="rect">
            <a:avLst/>
          </a:prstGeom>
          <a:noFill/>
          <a:ln>
            <a:noFill/>
          </a:ln>
        </p:spPr>
        <p:txBody>
          <a:bodyPr wrap="square" lIns="0" tIns="0" rIns="0" bIns="0" rtlCol="0" anchor="ctr"/>
          <a:lstStyle/>
          <a:p>
            <a:pPr algn="ctr"/>
            <a:r>
              <a:rPr lang="en-US" sz="1350" b="1" dirty="0">
                <a:solidFill>
                  <a:srgbClr val="9EC544"/>
                </a:solidFill>
                <a:latin typeface="Calibri"/>
              </a:rPr>
              <a:t>Tavily</a:t>
            </a:r>
          </a:p>
          <a:p>
            <a:pPr algn="ctr"/>
            <a:r>
              <a:rPr lang="en-US" sz="1350" b="1" dirty="0">
                <a:solidFill>
                  <a:srgbClr val="9EC544"/>
                </a:solidFill>
                <a:latin typeface="Calibri"/>
              </a:rPr>
              <a:t>Score</a:t>
            </a:r>
          </a:p>
        </p:txBody>
      </p:sp>
      <p:sp>
        <p:nvSpPr>
          <p:cNvPr id="42" name="Ds5"/>
          <p:cNvSpPr/>
          <p:nvPr/>
        </p:nvSpPr>
        <p:spPr>
          <a:xfrm>
            <a:off x="10309120" y="2830759"/>
            <a:ext cx="1700000" cy="360000"/>
          </a:xfrm>
          <a:prstGeom prst="rect">
            <a:avLst/>
          </a:prstGeom>
          <a:noFill/>
          <a:ln>
            <a:noFill/>
          </a:ln>
        </p:spPr>
        <p:txBody>
          <a:bodyPr wrap="square" lIns="0" tIns="0" rIns="0" bIns="0" rtlCol="0" anchor="ctr"/>
          <a:lstStyle/>
          <a:p>
            <a:pPr algn="ctr"/>
            <a:r>
              <a:rPr lang="en-US" sz="1000" dirty="0">
                <a:solidFill>
                  <a:schemeClr val="tx1">
                    <a:lumMod val="95000"/>
                  </a:schemeClr>
                </a:solidFill>
                <a:latin typeface="Calibri"/>
              </a:rPr>
              <a:t>source quality</a:t>
            </a:r>
          </a:p>
          <a:p>
            <a:pPr algn="ctr"/>
            <a:r>
              <a:rPr lang="en-US" sz="1000" dirty="0">
                <a:solidFill>
                  <a:schemeClr val="tx1">
                    <a:lumMod val="95000"/>
                  </a:schemeClr>
                </a:solidFill>
                <a:latin typeface="Calibri"/>
              </a:rPr>
              <a:t>range [0 → 1]</a:t>
            </a:r>
          </a:p>
        </p:txBody>
      </p:sp>
      <p:sp>
        <p:nvSpPr>
          <p:cNvPr id="100" name="Wt0"/>
          <p:cNvSpPr/>
          <p:nvPr/>
        </p:nvSpPr>
        <p:spPr>
          <a:xfrm>
            <a:off x="4216752" y="3380891"/>
            <a:ext cx="1700000" cy="700000"/>
          </a:xfrm>
          <a:prstGeom prst="rect">
            <a:avLst/>
          </a:prstGeom>
          <a:noFill/>
          <a:ln>
            <a:noFill/>
          </a:ln>
        </p:spPr>
        <p:txBody>
          <a:bodyPr wrap="square" lIns="0" tIns="0" rIns="0" bIns="0" rtlCol="0" anchor="ctr"/>
          <a:lstStyle/>
          <a:p>
            <a:pPr algn="ctr"/>
            <a:r>
              <a:rPr lang="en-US" sz="3600" b="1" dirty="0">
                <a:solidFill>
                  <a:srgbClr val="4A9CCC"/>
                </a:solidFill>
                <a:latin typeface="Calibri"/>
              </a:rPr>
              <a:t>x 0.50</a:t>
            </a:r>
          </a:p>
        </p:txBody>
      </p:sp>
      <p:sp>
        <p:nvSpPr>
          <p:cNvPr id="105" name="Wt1"/>
          <p:cNvSpPr/>
          <p:nvPr/>
        </p:nvSpPr>
        <p:spPr>
          <a:xfrm>
            <a:off x="6244624" y="3356691"/>
            <a:ext cx="1700000" cy="700000"/>
          </a:xfrm>
          <a:prstGeom prst="rect">
            <a:avLst/>
          </a:prstGeom>
          <a:noFill/>
          <a:ln>
            <a:noFill/>
          </a:ln>
        </p:spPr>
        <p:txBody>
          <a:bodyPr wrap="square" lIns="0" tIns="0" rIns="0" bIns="0" rtlCol="0" anchor="ctr"/>
          <a:lstStyle/>
          <a:p>
            <a:pPr algn="ctr"/>
            <a:r>
              <a:rPr lang="en-US" sz="3600" b="1" dirty="0">
                <a:solidFill>
                  <a:srgbClr val="9A66CA"/>
                </a:solidFill>
                <a:latin typeface="Calibri"/>
              </a:rPr>
              <a:t>x 0.20</a:t>
            </a:r>
          </a:p>
        </p:txBody>
      </p:sp>
      <p:sp>
        <p:nvSpPr>
          <p:cNvPr id="110" name="Wt2"/>
          <p:cNvSpPr/>
          <p:nvPr/>
        </p:nvSpPr>
        <p:spPr>
          <a:xfrm>
            <a:off x="8247872" y="3362191"/>
            <a:ext cx="1700000" cy="700000"/>
          </a:xfrm>
          <a:prstGeom prst="rect">
            <a:avLst/>
          </a:prstGeom>
          <a:noFill/>
          <a:ln>
            <a:noFill/>
          </a:ln>
        </p:spPr>
        <p:txBody>
          <a:bodyPr wrap="square" lIns="0" tIns="0" rIns="0" bIns="0" rtlCol="0" anchor="ctr"/>
          <a:lstStyle/>
          <a:p>
            <a:pPr algn="ctr"/>
            <a:r>
              <a:rPr lang="en-US" sz="3600" b="1" dirty="0">
                <a:solidFill>
                  <a:srgbClr val="F7931A"/>
                </a:solidFill>
                <a:latin typeface="Calibri"/>
              </a:rPr>
              <a:t>x 0.20</a:t>
            </a:r>
          </a:p>
        </p:txBody>
      </p:sp>
      <p:sp>
        <p:nvSpPr>
          <p:cNvPr id="115" name="Wt3"/>
          <p:cNvSpPr/>
          <p:nvPr/>
        </p:nvSpPr>
        <p:spPr>
          <a:xfrm>
            <a:off x="10257120" y="3343066"/>
            <a:ext cx="1700000" cy="700000"/>
          </a:xfrm>
          <a:prstGeom prst="rect">
            <a:avLst/>
          </a:prstGeom>
          <a:noFill/>
          <a:ln>
            <a:noFill/>
          </a:ln>
        </p:spPr>
        <p:txBody>
          <a:bodyPr wrap="square" lIns="0" tIns="0" rIns="0" bIns="0" rtlCol="0" anchor="ctr"/>
          <a:lstStyle/>
          <a:p>
            <a:pPr algn="ctr"/>
            <a:r>
              <a:rPr lang="en-US" sz="3600" b="1" dirty="0">
                <a:solidFill>
                  <a:srgbClr val="9EC544"/>
                </a:solidFill>
                <a:latin typeface="Calibri"/>
              </a:rPr>
              <a:t>x 0.10</a:t>
            </a:r>
          </a:p>
        </p:txBody>
      </p:sp>
      <p:sp>
        <p:nvSpPr>
          <p:cNvPr id="140" name="Plus0"/>
          <p:cNvSpPr/>
          <p:nvPr/>
        </p:nvSpPr>
        <p:spPr>
          <a:xfrm>
            <a:off x="5936000" y="3479091"/>
            <a:ext cx="320000" cy="500000"/>
          </a:xfrm>
          <a:prstGeom prst="rect">
            <a:avLst/>
          </a:prstGeom>
          <a:noFill/>
          <a:ln>
            <a:noFill/>
          </a:ln>
        </p:spPr>
        <p:txBody>
          <a:bodyPr wrap="square" lIns="0" tIns="0" rIns="0" bIns="0" rtlCol="0" anchor="ctr"/>
          <a:lstStyle/>
          <a:p>
            <a:pPr algn="ctr"/>
            <a:r>
              <a:rPr lang="en-US" sz="2800" b="1" dirty="0">
                <a:solidFill>
                  <a:srgbClr val="2A3A4A"/>
                </a:solidFill>
                <a:latin typeface="Calibri"/>
              </a:rPr>
              <a:t>+</a:t>
            </a:r>
          </a:p>
        </p:txBody>
      </p:sp>
      <p:sp>
        <p:nvSpPr>
          <p:cNvPr id="141" name="Plus1"/>
          <p:cNvSpPr/>
          <p:nvPr/>
        </p:nvSpPr>
        <p:spPr>
          <a:xfrm>
            <a:off x="7961248" y="3479091"/>
            <a:ext cx="320000" cy="500000"/>
          </a:xfrm>
          <a:prstGeom prst="rect">
            <a:avLst/>
          </a:prstGeom>
          <a:noFill/>
          <a:ln>
            <a:noFill/>
          </a:ln>
        </p:spPr>
        <p:txBody>
          <a:bodyPr wrap="square" lIns="0" tIns="0" rIns="0" bIns="0" rtlCol="0" anchor="ctr"/>
          <a:lstStyle/>
          <a:p>
            <a:pPr algn="ctr"/>
            <a:r>
              <a:rPr lang="en-US" sz="2800" b="1" dirty="0">
                <a:solidFill>
                  <a:srgbClr val="2A3A4A"/>
                </a:solidFill>
                <a:latin typeface="Calibri"/>
              </a:rPr>
              <a:t>+</a:t>
            </a:r>
          </a:p>
        </p:txBody>
      </p:sp>
      <p:sp>
        <p:nvSpPr>
          <p:cNvPr id="142" name="Plus2"/>
          <p:cNvSpPr/>
          <p:nvPr/>
        </p:nvSpPr>
        <p:spPr>
          <a:xfrm>
            <a:off x="9986496" y="3479091"/>
            <a:ext cx="320000" cy="500000"/>
          </a:xfrm>
          <a:prstGeom prst="rect">
            <a:avLst/>
          </a:prstGeom>
          <a:noFill/>
          <a:ln>
            <a:noFill/>
          </a:ln>
        </p:spPr>
        <p:txBody>
          <a:bodyPr wrap="square" lIns="0" tIns="0" rIns="0" bIns="0" rtlCol="0" anchor="ctr"/>
          <a:lstStyle/>
          <a:p>
            <a:pPr algn="ctr"/>
            <a:r>
              <a:rPr lang="en-US" sz="2800" b="1" dirty="0">
                <a:solidFill>
                  <a:srgbClr val="2A3A4A"/>
                </a:solidFill>
                <a:latin typeface="Calibri"/>
              </a:rPr>
              <a:t>+</a:t>
            </a:r>
          </a:p>
        </p:txBody>
      </p:sp>
      <p:sp>
        <p:nvSpPr>
          <p:cNvPr id="143" name="ResBg"/>
          <p:cNvSpPr/>
          <p:nvPr/>
        </p:nvSpPr>
        <p:spPr>
          <a:xfrm>
            <a:off x="130880" y="4942790"/>
            <a:ext cx="11826240" cy="825931"/>
          </a:xfrm>
          <a:prstGeom prst="rect">
            <a:avLst/>
          </a:prstGeom>
          <a:solidFill>
            <a:srgbClr val="0D1B2A"/>
          </a:solidFill>
          <a:ln w="22860">
            <a:solidFill>
              <a:srgbClr val="9EC544"/>
            </a:solidFill>
          </a:ln>
        </p:spPr>
        <p:txBody>
          <a:bodyPr/>
          <a:lstStyle/>
          <a:p>
            <a:endParaRPr/>
          </a:p>
        </p:txBody>
      </p:sp>
      <p:sp>
        <p:nvSpPr>
          <p:cNvPr id="145" name="ResTxt"/>
          <p:cNvSpPr/>
          <p:nvPr/>
        </p:nvSpPr>
        <p:spPr>
          <a:xfrm>
            <a:off x="130880" y="4870479"/>
            <a:ext cx="11826240" cy="886471"/>
          </a:xfrm>
          <a:prstGeom prst="rect">
            <a:avLst/>
          </a:prstGeom>
          <a:noFill/>
          <a:ln>
            <a:noFill/>
          </a:ln>
        </p:spPr>
        <p:txBody>
          <a:bodyPr wrap="square" lIns="0" tIns="0" rIns="0" bIns="0" rtlCol="0" anchor="ctr"/>
          <a:lstStyle/>
          <a:p>
            <a:pPr algn="ctr"/>
            <a:r>
              <a:rPr lang="en-US" sz="3200" dirty="0">
                <a:latin typeface="Segoe UI Emoji"/>
              </a:rPr>
              <a:t>🏆</a:t>
            </a:r>
            <a:r>
              <a:rPr lang="en-US" sz="2400" b="1" dirty="0">
                <a:solidFill>
                  <a:srgbClr val="9EC544"/>
                </a:solidFill>
                <a:latin typeface="Calibri"/>
              </a:rPr>
              <a:t>  = TOP 6 SELECTED</a:t>
            </a:r>
          </a:p>
          <a:p>
            <a:pPr algn="ctr"/>
            <a:r>
              <a:rPr lang="en-US" sz="1050" dirty="0">
                <a:solidFill>
                  <a:schemeClr val="tx1">
                    <a:lumMod val="95000"/>
                  </a:schemeClr>
                </a:solidFill>
                <a:latin typeface="Calibri"/>
              </a:rPr>
              <a:t>Min score: 0.20  •  sorted by final score  •  top 6 from ~48 fetched articles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0"/>
                                        </p:tgtEl>
                                        <p:attrNameLst>
                                          <p:attrName>style.visibility</p:attrName>
                                        </p:attrNameLst>
                                      </p:cBhvr>
                                      <p:to>
                                        <p:strVal val="visible"/>
                                      </p:to>
                                    </p:set>
                                    <p:animEffect transition="in" filter="fade">
                                      <p:cBhvr>
                                        <p:cTn id="10" dur="500"/>
                                        <p:tgtEl>
                                          <p:spTgt spid="1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1"/>
                                        </p:tgtEl>
                                        <p:attrNameLst>
                                          <p:attrName>style.visibility</p:attrName>
                                        </p:attrNameLst>
                                      </p:cBhvr>
                                      <p:to>
                                        <p:strVal val="visible"/>
                                      </p:to>
                                    </p:set>
                                    <p:animEffect transition="in" filter="fade">
                                      <p:cBhvr>
                                        <p:cTn id="16" dur="500"/>
                                        <p:tgtEl>
                                          <p:spTgt spid="14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500"/>
                                        <p:tgtEl>
                                          <p:spTgt spid="1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2"/>
                                        </p:tgtEl>
                                        <p:attrNameLst>
                                          <p:attrName>style.visibility</p:attrName>
                                        </p:attrNameLst>
                                      </p:cBhvr>
                                      <p:to>
                                        <p:strVal val="visible"/>
                                      </p:to>
                                    </p:set>
                                    <p:animEffect transition="in" filter="fade">
                                      <p:cBhvr>
                                        <p:cTn id="22" dur="500"/>
                                        <p:tgtEl>
                                          <p:spTgt spid="14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5"/>
                                        </p:tgtEl>
                                        <p:attrNameLst>
                                          <p:attrName>style.visibility</p:attrName>
                                        </p:attrNameLst>
                                      </p:cBhvr>
                                      <p:to>
                                        <p:strVal val="visible"/>
                                      </p:to>
                                    </p:set>
                                    <p:animEffect transition="in" filter="fade">
                                      <p:cBhvr>
                                        <p:cTn id="25" dur="500"/>
                                        <p:tgtEl>
                                          <p:spTgt spid="1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3"/>
                                        </p:tgtEl>
                                        <p:attrNameLst>
                                          <p:attrName>style.visibility</p:attrName>
                                        </p:attrNameLst>
                                      </p:cBhvr>
                                      <p:to>
                                        <p:strVal val="visible"/>
                                      </p:to>
                                    </p:set>
                                    <p:animEffect transition="in" filter="fade">
                                      <p:cBhvr>
                                        <p:cTn id="28" dur="500"/>
                                        <p:tgtEl>
                                          <p:spTgt spid="14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5"/>
                                        </p:tgtEl>
                                        <p:attrNameLst>
                                          <p:attrName>style.visibility</p:attrName>
                                        </p:attrNameLst>
                                      </p:cBhvr>
                                      <p:to>
                                        <p:strVal val="visible"/>
                                      </p:to>
                                    </p:set>
                                    <p:animEffect transition="in" filter="fade">
                                      <p:cBhvr>
                                        <p:cTn id="31" dur="5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5" grpId="0"/>
      <p:bldP spid="110" grpId="0"/>
      <p:bldP spid="115" grpId="0"/>
      <p:bldP spid="140" grpId="0"/>
      <p:bldP spid="141" grpId="0"/>
      <p:bldP spid="142" grpId="0"/>
      <p:bldP spid="143" grpId="0" animBg="1"/>
      <p:bldP spid="14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g"/>
          <p:cNvSpPr/>
          <p:nvPr/>
        </p:nvSpPr>
        <p:spPr>
          <a:xfrm>
            <a:off x="0" y="0"/>
            <a:ext cx="12192000" cy="520000"/>
          </a:xfrm>
          <a:prstGeom prst="rect">
            <a:avLst/>
          </a:prstGeom>
          <a:solidFill>
            <a:srgbClr val="1A2535"/>
          </a:solidFill>
          <a:ln>
            <a:noFill/>
          </a:ln>
        </p:spPr>
        <p:txBody>
          <a:bodyPr/>
          <a:lstStyle/>
          <a:p>
            <a:endParaRPr/>
          </a:p>
        </p:txBody>
      </p:sp>
      <p:sp>
        <p:nvSpPr>
          <p:cNvPr id="3" name="TTxt"/>
          <p:cNvSpPr/>
          <p:nvPr/>
        </p:nvSpPr>
        <p:spPr>
          <a:xfrm>
            <a:off x="0" y="0"/>
            <a:ext cx="12192000" cy="520000"/>
          </a:xfrm>
          <a:prstGeom prst="rect">
            <a:avLst/>
          </a:prstGeom>
          <a:noFill/>
          <a:ln>
            <a:noFill/>
          </a:ln>
        </p:spPr>
        <p:txBody>
          <a:bodyPr wrap="square" lIns="365760" tIns="0" rIns="0" bIns="0" rtlCol="0" anchor="ctr"/>
          <a:lstStyle/>
          <a:p>
            <a:r>
              <a:rPr lang="en-US" sz="2200" b="1" dirty="0">
                <a:solidFill>
                  <a:srgbClr val="FFFFFF"/>
                </a:solidFill>
                <a:latin typeface="Calibri"/>
              </a:rPr>
              <a:t>LLM &amp; </a:t>
            </a:r>
            <a:r>
              <a:rPr lang="en-US" sz="2200" b="1" dirty="0">
                <a:solidFill>
                  <a:srgbClr val="DE9C3C"/>
                </a:solidFill>
                <a:latin typeface="Calibri"/>
              </a:rPr>
              <a:t>Response Generation</a:t>
            </a:r>
          </a:p>
        </p:txBody>
      </p:sp>
      <p:sp>
        <p:nvSpPr>
          <p:cNvPr id="4" name="TLine"/>
          <p:cNvSpPr/>
          <p:nvPr/>
        </p:nvSpPr>
        <p:spPr>
          <a:xfrm>
            <a:off x="0" y="516000"/>
            <a:ext cx="12192000" cy="16000"/>
          </a:xfrm>
          <a:prstGeom prst="rect">
            <a:avLst/>
          </a:prstGeom>
          <a:solidFill>
            <a:srgbClr val="DE9C3C"/>
          </a:solidFill>
          <a:ln>
            <a:noFill/>
          </a:ln>
        </p:spPr>
        <p:txBody>
          <a:bodyPr/>
          <a:lstStyle/>
          <a:p>
            <a:endParaRPr/>
          </a:p>
        </p:txBody>
      </p:sp>
      <p:sp>
        <p:nvSpPr>
          <p:cNvPr id="10" name="LBg"/>
          <p:cNvSpPr/>
          <p:nvPr/>
        </p:nvSpPr>
        <p:spPr>
          <a:xfrm>
            <a:off x="182880" y="590000"/>
            <a:ext cx="2170000" cy="6108000"/>
          </a:xfrm>
          <a:prstGeom prst="rect">
            <a:avLst/>
          </a:prstGeom>
          <a:solidFill>
            <a:srgbClr val="0D1B2A"/>
          </a:solidFill>
          <a:ln w="22860">
            <a:solidFill>
              <a:srgbClr val="9A66CA"/>
            </a:solidFill>
          </a:ln>
        </p:spPr>
        <p:txBody>
          <a:bodyPr/>
          <a:lstStyle/>
          <a:p>
            <a:endParaRPr/>
          </a:p>
        </p:txBody>
      </p:sp>
      <p:sp>
        <p:nvSpPr>
          <p:cNvPr id="11" name="LBar"/>
          <p:cNvSpPr/>
          <p:nvPr/>
        </p:nvSpPr>
        <p:spPr>
          <a:xfrm>
            <a:off x="182880" y="590000"/>
            <a:ext cx="2170000" cy="80000"/>
          </a:xfrm>
          <a:prstGeom prst="rect">
            <a:avLst/>
          </a:prstGeom>
          <a:solidFill>
            <a:srgbClr val="9A66CA"/>
          </a:solidFill>
          <a:ln>
            <a:noFill/>
          </a:ln>
        </p:spPr>
        <p:txBody>
          <a:bodyPr/>
          <a:lstStyle/>
          <a:p>
            <a:endParaRPr/>
          </a:p>
        </p:txBody>
      </p:sp>
      <p:sp>
        <p:nvSpPr>
          <p:cNvPr id="12" name="LTitle"/>
          <p:cNvSpPr/>
          <p:nvPr/>
        </p:nvSpPr>
        <p:spPr>
          <a:xfrm>
            <a:off x="182880" y="670000"/>
            <a:ext cx="2170000" cy="320000"/>
          </a:xfrm>
          <a:prstGeom prst="rect">
            <a:avLst/>
          </a:prstGeom>
          <a:noFill/>
          <a:ln>
            <a:noFill/>
          </a:ln>
        </p:spPr>
        <p:txBody>
          <a:bodyPr wrap="square" lIns="91440" tIns="60000" rIns="91440" bIns="60000" rtlCol="0" anchor="ctr"/>
          <a:lstStyle/>
          <a:p>
            <a:pPr algn="ctr"/>
            <a:r>
              <a:rPr lang="en-US" sz="1500" b="1" dirty="0">
                <a:solidFill>
                  <a:srgbClr val="9A66CA"/>
                </a:solidFill>
                <a:latin typeface="Calibri"/>
              </a:rPr>
              <a:t>CONTEXT BUILDER</a:t>
            </a:r>
          </a:p>
        </p:txBody>
      </p:sp>
      <p:sp>
        <p:nvSpPr>
          <p:cNvPr id="13" name="LSubtitle"/>
          <p:cNvSpPr/>
          <p:nvPr/>
        </p:nvSpPr>
        <p:spPr>
          <a:xfrm>
            <a:off x="182880" y="1020000"/>
            <a:ext cx="2170000" cy="260000"/>
          </a:xfrm>
          <a:prstGeom prst="rect">
            <a:avLst/>
          </a:prstGeom>
          <a:noFill/>
          <a:ln>
            <a:noFill/>
          </a:ln>
        </p:spPr>
        <p:txBody>
          <a:bodyPr wrap="square" lIns="91440" tIns="60000" rIns="91440" bIns="60000" rtlCol="0" anchor="ctr"/>
          <a:lstStyle/>
          <a:p>
            <a:pPr algn="ctr"/>
            <a:r>
              <a:rPr lang="en-US" sz="1000" b="0" i="1" dirty="0">
                <a:solidFill>
                  <a:schemeClr val="tx1">
                    <a:lumMod val="95000"/>
                  </a:schemeClr>
                </a:solidFill>
                <a:latin typeface="Calibri"/>
              </a:rPr>
              <a:t>what goes into the prompt</a:t>
            </a:r>
          </a:p>
        </p:txBody>
      </p:sp>
      <p:sp>
        <p:nvSpPr>
          <p:cNvPr id="20" name="IIc0"/>
          <p:cNvSpPr/>
          <p:nvPr/>
        </p:nvSpPr>
        <p:spPr>
          <a:xfrm>
            <a:off x="262880" y="1390000"/>
            <a:ext cx="400000" cy="860000"/>
          </a:xfrm>
          <a:prstGeom prst="rect">
            <a:avLst/>
          </a:prstGeom>
          <a:noFill/>
          <a:ln>
            <a:noFill/>
          </a:ln>
        </p:spPr>
        <p:txBody>
          <a:bodyPr wrap="square" lIns="0" tIns="0" rIns="0" bIns="0" rtlCol="0" anchor="ctr"/>
          <a:lstStyle/>
          <a:p>
            <a:pPr algn="ctr"/>
            <a:r>
              <a:rPr lang="en-US" sz="2200" dirty="0">
                <a:latin typeface="Segoe UI Emoji"/>
              </a:rPr>
              <a:t>💬</a:t>
            </a:r>
          </a:p>
        </p:txBody>
      </p:sp>
      <p:sp>
        <p:nvSpPr>
          <p:cNvPr id="21" name="ILb0"/>
          <p:cNvSpPr/>
          <p:nvPr/>
        </p:nvSpPr>
        <p:spPr>
          <a:xfrm>
            <a:off x="702880" y="1390000"/>
            <a:ext cx="1800000" cy="860000"/>
          </a:xfrm>
          <a:prstGeom prst="rect">
            <a:avLst/>
          </a:prstGeom>
          <a:noFill/>
          <a:ln>
            <a:noFill/>
          </a:ln>
        </p:spPr>
        <p:txBody>
          <a:bodyPr wrap="square" lIns="91440" tIns="60000" rIns="91440" bIns="60000" rtlCol="0" anchor="ctr"/>
          <a:lstStyle/>
          <a:p>
            <a:pPr algn="l"/>
            <a:r>
              <a:rPr lang="en-US" sz="1150" b="1" dirty="0">
                <a:solidFill>
                  <a:srgbClr val="AAAAAA"/>
                </a:solidFill>
                <a:latin typeface="Calibri"/>
              </a:rPr>
              <a:t>Conversation History</a:t>
            </a:r>
          </a:p>
        </p:txBody>
      </p:sp>
      <p:sp>
        <p:nvSpPr>
          <p:cNvPr id="22" name="IAcc0"/>
          <p:cNvSpPr/>
          <p:nvPr/>
        </p:nvSpPr>
        <p:spPr>
          <a:xfrm>
            <a:off x="642880" y="1590000"/>
            <a:ext cx="8000" cy="460000"/>
          </a:xfrm>
          <a:prstGeom prst="rect">
            <a:avLst/>
          </a:prstGeom>
          <a:solidFill>
            <a:srgbClr val="AAAAAA"/>
          </a:solidFill>
          <a:ln>
            <a:noFill/>
          </a:ln>
        </p:spPr>
        <p:txBody>
          <a:bodyPr/>
          <a:lstStyle/>
          <a:p>
            <a:endParaRPr/>
          </a:p>
        </p:txBody>
      </p:sp>
      <p:sp>
        <p:nvSpPr>
          <p:cNvPr id="24" name="IIc1"/>
          <p:cNvSpPr/>
          <p:nvPr/>
        </p:nvSpPr>
        <p:spPr>
          <a:xfrm>
            <a:off x="262880" y="2250000"/>
            <a:ext cx="400000" cy="860000"/>
          </a:xfrm>
          <a:prstGeom prst="rect">
            <a:avLst/>
          </a:prstGeom>
          <a:noFill/>
          <a:ln>
            <a:noFill/>
          </a:ln>
        </p:spPr>
        <p:txBody>
          <a:bodyPr wrap="square" lIns="0" tIns="0" rIns="0" bIns="0" rtlCol="0" anchor="ctr"/>
          <a:lstStyle/>
          <a:p>
            <a:pPr algn="ctr"/>
            <a:r>
              <a:rPr lang="en-US" sz="2200" dirty="0">
                <a:latin typeface="Segoe UI Emoji"/>
              </a:rPr>
              <a:t>📊</a:t>
            </a:r>
          </a:p>
        </p:txBody>
      </p:sp>
      <p:sp>
        <p:nvSpPr>
          <p:cNvPr id="25" name="ILb1"/>
          <p:cNvSpPr/>
          <p:nvPr/>
        </p:nvSpPr>
        <p:spPr>
          <a:xfrm>
            <a:off x="702880" y="2250000"/>
            <a:ext cx="1800000" cy="860000"/>
          </a:xfrm>
          <a:prstGeom prst="rect">
            <a:avLst/>
          </a:prstGeom>
          <a:noFill/>
          <a:ln>
            <a:noFill/>
          </a:ln>
        </p:spPr>
        <p:txBody>
          <a:bodyPr wrap="square" lIns="91440" tIns="60000" rIns="91440" bIns="60000" rtlCol="0" anchor="ctr"/>
          <a:lstStyle/>
          <a:p>
            <a:pPr algn="l"/>
            <a:r>
              <a:rPr lang="en-US" sz="1150" b="1" dirty="0">
                <a:solidFill>
                  <a:srgbClr val="DE9C3C"/>
                </a:solidFill>
                <a:latin typeface="Calibri"/>
              </a:rPr>
              <a:t>ML Prediction</a:t>
            </a:r>
          </a:p>
        </p:txBody>
      </p:sp>
      <p:sp>
        <p:nvSpPr>
          <p:cNvPr id="26" name="IAcc1"/>
          <p:cNvSpPr/>
          <p:nvPr/>
        </p:nvSpPr>
        <p:spPr>
          <a:xfrm>
            <a:off x="642880" y="2450000"/>
            <a:ext cx="8000" cy="460000"/>
          </a:xfrm>
          <a:prstGeom prst="rect">
            <a:avLst/>
          </a:prstGeom>
          <a:solidFill>
            <a:srgbClr val="DE9C3C"/>
          </a:solidFill>
          <a:ln>
            <a:noFill/>
          </a:ln>
        </p:spPr>
        <p:txBody>
          <a:bodyPr/>
          <a:lstStyle/>
          <a:p>
            <a:endParaRPr/>
          </a:p>
        </p:txBody>
      </p:sp>
      <p:sp>
        <p:nvSpPr>
          <p:cNvPr id="28" name="IIc2"/>
          <p:cNvSpPr/>
          <p:nvPr/>
        </p:nvSpPr>
        <p:spPr>
          <a:xfrm>
            <a:off x="262880" y="3110000"/>
            <a:ext cx="400000" cy="860000"/>
          </a:xfrm>
          <a:prstGeom prst="rect">
            <a:avLst/>
          </a:prstGeom>
          <a:noFill/>
          <a:ln>
            <a:noFill/>
          </a:ln>
        </p:spPr>
        <p:txBody>
          <a:bodyPr wrap="square" lIns="0" tIns="0" rIns="0" bIns="0" rtlCol="0" anchor="ctr"/>
          <a:lstStyle/>
          <a:p>
            <a:pPr algn="ctr"/>
            <a:r>
              <a:rPr lang="en-US" sz="2200" dirty="0">
                <a:latin typeface="Segoe UI Emoji"/>
              </a:rPr>
              <a:t>📈</a:t>
            </a:r>
          </a:p>
        </p:txBody>
      </p:sp>
      <p:sp>
        <p:nvSpPr>
          <p:cNvPr id="29" name="ILb2"/>
          <p:cNvSpPr/>
          <p:nvPr/>
        </p:nvSpPr>
        <p:spPr>
          <a:xfrm>
            <a:off x="702880" y="3110000"/>
            <a:ext cx="1800000" cy="860000"/>
          </a:xfrm>
          <a:prstGeom prst="rect">
            <a:avLst/>
          </a:prstGeom>
          <a:noFill/>
          <a:ln>
            <a:noFill/>
          </a:ln>
        </p:spPr>
        <p:txBody>
          <a:bodyPr wrap="square" lIns="91440" tIns="60000" rIns="91440" bIns="60000" rtlCol="0" anchor="ctr"/>
          <a:lstStyle/>
          <a:p>
            <a:pPr algn="l"/>
            <a:r>
              <a:rPr lang="en-US" sz="1150" b="1" dirty="0">
                <a:solidFill>
                  <a:srgbClr val="4A9CCC"/>
                </a:solidFill>
                <a:latin typeface="Calibri"/>
              </a:rPr>
              <a:t>Live Tech Indicators</a:t>
            </a:r>
          </a:p>
        </p:txBody>
      </p:sp>
      <p:sp>
        <p:nvSpPr>
          <p:cNvPr id="30" name="IAcc2"/>
          <p:cNvSpPr/>
          <p:nvPr/>
        </p:nvSpPr>
        <p:spPr>
          <a:xfrm>
            <a:off x="642880" y="3310000"/>
            <a:ext cx="8000" cy="460000"/>
          </a:xfrm>
          <a:prstGeom prst="rect">
            <a:avLst/>
          </a:prstGeom>
          <a:solidFill>
            <a:srgbClr val="4A9CCC"/>
          </a:solidFill>
          <a:ln>
            <a:noFill/>
          </a:ln>
        </p:spPr>
        <p:txBody>
          <a:bodyPr/>
          <a:lstStyle/>
          <a:p>
            <a:endParaRPr/>
          </a:p>
        </p:txBody>
      </p:sp>
      <p:sp>
        <p:nvSpPr>
          <p:cNvPr id="32" name="IIc3"/>
          <p:cNvSpPr/>
          <p:nvPr/>
        </p:nvSpPr>
        <p:spPr>
          <a:xfrm>
            <a:off x="262880" y="3970000"/>
            <a:ext cx="400000" cy="860000"/>
          </a:xfrm>
          <a:prstGeom prst="rect">
            <a:avLst/>
          </a:prstGeom>
          <a:noFill/>
          <a:ln>
            <a:noFill/>
          </a:ln>
        </p:spPr>
        <p:txBody>
          <a:bodyPr wrap="square" lIns="0" tIns="0" rIns="0" bIns="0" rtlCol="0" anchor="ctr"/>
          <a:lstStyle/>
          <a:p>
            <a:pPr algn="ctr"/>
            <a:r>
              <a:rPr lang="en-US" sz="2200" dirty="0">
                <a:latin typeface="Segoe UI Emoji"/>
              </a:rPr>
              <a:t>📰</a:t>
            </a:r>
          </a:p>
        </p:txBody>
      </p:sp>
      <p:sp>
        <p:nvSpPr>
          <p:cNvPr id="33" name="ILb3"/>
          <p:cNvSpPr/>
          <p:nvPr/>
        </p:nvSpPr>
        <p:spPr>
          <a:xfrm>
            <a:off x="702880" y="3970000"/>
            <a:ext cx="1800000" cy="860000"/>
          </a:xfrm>
          <a:prstGeom prst="rect">
            <a:avLst/>
          </a:prstGeom>
          <a:noFill/>
          <a:ln>
            <a:noFill/>
          </a:ln>
        </p:spPr>
        <p:txBody>
          <a:bodyPr wrap="square" lIns="91440" tIns="60000" rIns="91440" bIns="60000" rtlCol="0" anchor="ctr"/>
          <a:lstStyle/>
          <a:p>
            <a:pPr algn="l"/>
            <a:r>
              <a:rPr lang="en-US" sz="1150" b="1" dirty="0">
                <a:solidFill>
                  <a:srgbClr val="00BFA5"/>
                </a:solidFill>
                <a:latin typeface="Calibri"/>
              </a:rPr>
              <a:t>TOP News Articles</a:t>
            </a:r>
          </a:p>
        </p:txBody>
      </p:sp>
      <p:sp>
        <p:nvSpPr>
          <p:cNvPr id="34" name="IAcc3"/>
          <p:cNvSpPr/>
          <p:nvPr/>
        </p:nvSpPr>
        <p:spPr>
          <a:xfrm>
            <a:off x="642880" y="4170000"/>
            <a:ext cx="8000" cy="460000"/>
          </a:xfrm>
          <a:prstGeom prst="rect">
            <a:avLst/>
          </a:prstGeom>
          <a:solidFill>
            <a:srgbClr val="00BFA5"/>
          </a:solidFill>
          <a:ln>
            <a:noFill/>
          </a:ln>
        </p:spPr>
        <p:txBody>
          <a:bodyPr/>
          <a:lstStyle/>
          <a:p>
            <a:endParaRPr/>
          </a:p>
        </p:txBody>
      </p:sp>
      <p:sp>
        <p:nvSpPr>
          <p:cNvPr id="36" name="IIc4"/>
          <p:cNvSpPr/>
          <p:nvPr/>
        </p:nvSpPr>
        <p:spPr>
          <a:xfrm>
            <a:off x="262880" y="4830000"/>
            <a:ext cx="400000" cy="860000"/>
          </a:xfrm>
          <a:prstGeom prst="rect">
            <a:avLst/>
          </a:prstGeom>
          <a:noFill/>
          <a:ln>
            <a:noFill/>
          </a:ln>
        </p:spPr>
        <p:txBody>
          <a:bodyPr wrap="square" lIns="0" tIns="0" rIns="0" bIns="0" rtlCol="0" anchor="ctr"/>
          <a:lstStyle/>
          <a:p>
            <a:pPr algn="ctr"/>
            <a:r>
              <a:rPr lang="en-US" sz="2200" dirty="0">
                <a:latin typeface="Segoe UI Emoji"/>
              </a:rPr>
              <a:t>📋</a:t>
            </a:r>
          </a:p>
        </p:txBody>
      </p:sp>
      <p:sp>
        <p:nvSpPr>
          <p:cNvPr id="37" name="ILb4"/>
          <p:cNvSpPr/>
          <p:nvPr/>
        </p:nvSpPr>
        <p:spPr>
          <a:xfrm>
            <a:off x="702880" y="4830000"/>
            <a:ext cx="1800000" cy="860000"/>
          </a:xfrm>
          <a:prstGeom prst="rect">
            <a:avLst/>
          </a:prstGeom>
          <a:noFill/>
          <a:ln>
            <a:noFill/>
          </a:ln>
        </p:spPr>
        <p:txBody>
          <a:bodyPr wrap="square" lIns="91440" tIns="60000" rIns="91440" bIns="60000" rtlCol="0" anchor="ctr"/>
          <a:lstStyle/>
          <a:p>
            <a:pPr algn="l"/>
            <a:r>
              <a:rPr lang="en-US" sz="1150" b="1" dirty="0">
                <a:solidFill>
                  <a:srgbClr val="9EC544"/>
                </a:solidFill>
                <a:latin typeface="Calibri"/>
              </a:rPr>
              <a:t>Intent specific Prompt</a:t>
            </a:r>
          </a:p>
        </p:txBody>
      </p:sp>
      <p:sp>
        <p:nvSpPr>
          <p:cNvPr id="38" name="IAcc4"/>
          <p:cNvSpPr/>
          <p:nvPr/>
        </p:nvSpPr>
        <p:spPr>
          <a:xfrm>
            <a:off x="642880" y="5030000"/>
            <a:ext cx="8000" cy="460000"/>
          </a:xfrm>
          <a:prstGeom prst="rect">
            <a:avLst/>
          </a:prstGeom>
          <a:solidFill>
            <a:srgbClr val="9EC544"/>
          </a:solidFill>
          <a:ln>
            <a:noFill/>
          </a:ln>
        </p:spPr>
        <p:txBody>
          <a:bodyPr/>
          <a:lstStyle/>
          <a:p>
            <a:endParaRPr/>
          </a:p>
        </p:txBody>
      </p:sp>
      <p:sp>
        <p:nvSpPr>
          <p:cNvPr id="55" name="Arr1"/>
          <p:cNvSpPr/>
          <p:nvPr/>
        </p:nvSpPr>
        <p:spPr>
          <a:xfrm>
            <a:off x="2352880" y="3464000"/>
            <a:ext cx="284592" cy="360000"/>
          </a:xfrm>
          <a:prstGeom prst="rightArrow">
            <a:avLst/>
          </a:prstGeom>
          <a:solidFill>
            <a:srgbClr val="9A66CA"/>
          </a:solidFill>
          <a:ln>
            <a:noFill/>
          </a:ln>
        </p:spPr>
        <p:txBody>
          <a:bodyPr/>
          <a:lstStyle/>
          <a:p>
            <a:endParaRPr/>
          </a:p>
        </p:txBody>
      </p:sp>
      <p:sp>
        <p:nvSpPr>
          <p:cNvPr id="60" name="CBg"/>
          <p:cNvSpPr/>
          <p:nvPr/>
        </p:nvSpPr>
        <p:spPr>
          <a:xfrm>
            <a:off x="2653224" y="590000"/>
            <a:ext cx="1900000" cy="6108000"/>
          </a:xfrm>
          <a:prstGeom prst="rect">
            <a:avLst/>
          </a:prstGeom>
          <a:solidFill>
            <a:srgbClr val="0D1B2A"/>
          </a:solidFill>
          <a:ln w="25400">
            <a:solidFill>
              <a:srgbClr val="DE9C3C"/>
            </a:solidFill>
          </a:ln>
        </p:spPr>
        <p:txBody>
          <a:bodyPr/>
          <a:lstStyle/>
          <a:p>
            <a:endParaRPr/>
          </a:p>
        </p:txBody>
      </p:sp>
      <p:sp>
        <p:nvSpPr>
          <p:cNvPr id="61" name="CBar"/>
          <p:cNvSpPr/>
          <p:nvPr/>
        </p:nvSpPr>
        <p:spPr>
          <a:xfrm>
            <a:off x="2653224" y="590000"/>
            <a:ext cx="1900000" cy="65000"/>
          </a:xfrm>
          <a:prstGeom prst="rect">
            <a:avLst/>
          </a:prstGeom>
          <a:solidFill>
            <a:srgbClr val="DE9C3C"/>
          </a:solidFill>
          <a:ln>
            <a:noFill/>
          </a:ln>
        </p:spPr>
        <p:txBody>
          <a:bodyPr/>
          <a:lstStyle/>
          <a:p>
            <a:endParaRPr/>
          </a:p>
        </p:txBody>
      </p:sp>
      <p:sp>
        <p:nvSpPr>
          <p:cNvPr id="62" name="Brain"/>
          <p:cNvSpPr/>
          <p:nvPr/>
        </p:nvSpPr>
        <p:spPr>
          <a:xfrm>
            <a:off x="2782880" y="790000"/>
            <a:ext cx="1900000" cy="1200000"/>
          </a:xfrm>
          <a:prstGeom prst="rect">
            <a:avLst/>
          </a:prstGeom>
          <a:noFill/>
          <a:ln>
            <a:noFill/>
          </a:ln>
        </p:spPr>
        <p:txBody>
          <a:bodyPr wrap="square" lIns="0" tIns="0" rIns="0" bIns="0" rtlCol="0" anchor="ctr"/>
          <a:lstStyle/>
          <a:p>
            <a:pPr algn="ctr"/>
            <a:r>
              <a:rPr lang="en-US" sz="5600" dirty="0">
                <a:latin typeface="Segoe UI Emoji"/>
              </a:rPr>
              <a:t>🧠</a:t>
            </a:r>
          </a:p>
        </p:txBody>
      </p:sp>
      <p:sp>
        <p:nvSpPr>
          <p:cNvPr id="63" name="CTitle"/>
          <p:cNvSpPr/>
          <p:nvPr/>
        </p:nvSpPr>
        <p:spPr>
          <a:xfrm>
            <a:off x="2782880" y="2040000"/>
            <a:ext cx="1900000" cy="400000"/>
          </a:xfrm>
          <a:prstGeom prst="rect">
            <a:avLst/>
          </a:prstGeom>
          <a:noFill/>
          <a:ln>
            <a:noFill/>
          </a:ln>
        </p:spPr>
        <p:txBody>
          <a:bodyPr wrap="square" lIns="91440" tIns="60000" rIns="91440" bIns="60000" rtlCol="0" anchor="ctr"/>
          <a:lstStyle/>
          <a:p>
            <a:pPr algn="ctr"/>
            <a:r>
              <a:rPr lang="en-US" sz="2200" b="1" dirty="0">
                <a:solidFill>
                  <a:srgbClr val="DE9C3C"/>
                </a:solidFill>
                <a:latin typeface="Calibri"/>
              </a:rPr>
              <a:t>LLM</a:t>
            </a:r>
          </a:p>
          <a:p>
            <a:pPr algn="ctr"/>
            <a:r>
              <a:rPr lang="en-US" sz="2200" b="1" dirty="0">
                <a:solidFill>
                  <a:srgbClr val="DE9C3C"/>
                </a:solidFill>
                <a:latin typeface="Calibri"/>
              </a:rPr>
              <a:t>ENGINE</a:t>
            </a:r>
          </a:p>
        </p:txBody>
      </p:sp>
      <p:sp>
        <p:nvSpPr>
          <p:cNvPr id="64" name="CModel"/>
          <p:cNvSpPr/>
          <p:nvPr/>
        </p:nvSpPr>
        <p:spPr>
          <a:xfrm>
            <a:off x="2782880" y="2950000"/>
            <a:ext cx="1615408" cy="300000"/>
          </a:xfrm>
          <a:prstGeom prst="rect">
            <a:avLst/>
          </a:prstGeom>
          <a:noFill/>
          <a:ln>
            <a:noFill/>
          </a:ln>
        </p:spPr>
        <p:txBody>
          <a:bodyPr wrap="square" lIns="91440" tIns="60000" rIns="91440" bIns="60000" rtlCol="0" anchor="ctr"/>
          <a:lstStyle/>
          <a:p>
            <a:pPr algn="ctr"/>
            <a:r>
              <a:rPr lang="en-US" sz="1300" b="1" dirty="0">
                <a:solidFill>
                  <a:srgbClr val="FFFFFF"/>
                </a:solidFill>
                <a:latin typeface="Calibri"/>
              </a:rPr>
              <a:t>LLaMA 3.3 70B</a:t>
            </a:r>
          </a:p>
        </p:txBody>
      </p:sp>
      <p:sp>
        <p:nvSpPr>
          <p:cNvPr id="65" name="CGroq"/>
          <p:cNvSpPr/>
          <p:nvPr/>
        </p:nvSpPr>
        <p:spPr>
          <a:xfrm>
            <a:off x="2782880" y="3270000"/>
            <a:ext cx="1615408" cy="260000"/>
          </a:xfrm>
          <a:prstGeom prst="rect">
            <a:avLst/>
          </a:prstGeom>
          <a:noFill/>
          <a:ln>
            <a:noFill/>
          </a:ln>
        </p:spPr>
        <p:txBody>
          <a:bodyPr wrap="square" lIns="91440" tIns="60000" rIns="91440" bIns="60000" rtlCol="0" anchor="ctr"/>
          <a:lstStyle/>
          <a:p>
            <a:pPr algn="ctr"/>
            <a:r>
              <a:rPr lang="en-US" sz="1000" b="0" i="1" dirty="0">
                <a:solidFill>
                  <a:schemeClr val="tx1">
                    <a:lumMod val="95000"/>
                  </a:schemeClr>
                </a:solidFill>
                <a:latin typeface="Calibri"/>
              </a:rPr>
              <a:t>via</a:t>
            </a:r>
            <a:r>
              <a:rPr lang="en-US" sz="1000" b="0" i="1" dirty="0">
                <a:solidFill>
                  <a:srgbClr val="777777"/>
                </a:solidFill>
                <a:latin typeface="Calibri"/>
              </a:rPr>
              <a:t> </a:t>
            </a:r>
            <a:r>
              <a:rPr lang="en-US" sz="1000" b="0" i="1" dirty="0">
                <a:solidFill>
                  <a:schemeClr val="tx1">
                    <a:lumMod val="95000"/>
                  </a:schemeClr>
                </a:solidFill>
                <a:latin typeface="Calibri"/>
              </a:rPr>
              <a:t>Groq</a:t>
            </a:r>
            <a:r>
              <a:rPr lang="en-US" sz="1000" b="0" i="1" dirty="0">
                <a:solidFill>
                  <a:srgbClr val="777777"/>
                </a:solidFill>
                <a:latin typeface="Calibri"/>
              </a:rPr>
              <a:t> </a:t>
            </a:r>
            <a:r>
              <a:rPr lang="en-US" sz="1000" b="0" i="1" dirty="0">
                <a:solidFill>
                  <a:schemeClr val="tx1">
                    <a:lumMod val="95000"/>
                  </a:schemeClr>
                </a:solidFill>
                <a:latin typeface="Calibri"/>
              </a:rPr>
              <a:t>API</a:t>
            </a:r>
          </a:p>
        </p:txBody>
      </p:sp>
      <p:sp>
        <p:nvSpPr>
          <p:cNvPr id="70" name="Pill0"/>
          <p:cNvSpPr/>
          <p:nvPr/>
        </p:nvSpPr>
        <p:spPr>
          <a:xfrm>
            <a:off x="2794640" y="3690000"/>
            <a:ext cx="720000" cy="520000"/>
          </a:xfrm>
          <a:prstGeom prst="rect">
            <a:avLst/>
          </a:prstGeom>
          <a:solidFill>
            <a:srgbClr val="111B27"/>
          </a:solidFill>
          <a:ln w="16000">
            <a:solidFill>
              <a:srgbClr val="4A9CCC"/>
            </a:solidFill>
          </a:ln>
        </p:spPr>
        <p:txBody>
          <a:bodyPr/>
          <a:lstStyle/>
          <a:p>
            <a:endParaRPr/>
          </a:p>
        </p:txBody>
      </p:sp>
      <p:sp>
        <p:nvSpPr>
          <p:cNvPr id="71" name="PillTxt0"/>
          <p:cNvSpPr/>
          <p:nvPr/>
        </p:nvSpPr>
        <p:spPr>
          <a:xfrm>
            <a:off x="2801464" y="3690000"/>
            <a:ext cx="720000" cy="520000"/>
          </a:xfrm>
          <a:prstGeom prst="rect">
            <a:avLst/>
          </a:prstGeom>
          <a:noFill/>
          <a:ln>
            <a:noFill/>
          </a:ln>
        </p:spPr>
        <p:txBody>
          <a:bodyPr wrap="square" lIns="91440" tIns="60000" rIns="91440" bIns="60000" rtlCol="0" anchor="ctr"/>
          <a:lstStyle/>
          <a:p>
            <a:pPr algn="ctr"/>
            <a:r>
              <a:rPr lang="en-US" sz="1600" b="1" dirty="0">
                <a:solidFill>
                  <a:srgbClr val="4A9CCC"/>
                </a:solidFill>
                <a:latin typeface="Calibri"/>
              </a:rPr>
              <a:t>0.3</a:t>
            </a:r>
          </a:p>
          <a:p>
            <a:pPr algn="ctr"/>
            <a:r>
              <a:rPr lang="en-US" sz="900" b="0" dirty="0">
                <a:solidFill>
                  <a:srgbClr val="555555"/>
                </a:solidFill>
                <a:latin typeface="Calibri"/>
              </a:rPr>
              <a:t>Temp</a:t>
            </a:r>
          </a:p>
        </p:txBody>
      </p:sp>
      <p:sp>
        <p:nvSpPr>
          <p:cNvPr id="73" name="Pill1"/>
          <p:cNvSpPr/>
          <p:nvPr/>
        </p:nvSpPr>
        <p:spPr>
          <a:xfrm>
            <a:off x="3678288" y="3690000"/>
            <a:ext cx="720000" cy="520000"/>
          </a:xfrm>
          <a:prstGeom prst="rect">
            <a:avLst/>
          </a:prstGeom>
          <a:solidFill>
            <a:srgbClr val="111B27"/>
          </a:solidFill>
          <a:ln w="16000">
            <a:solidFill>
              <a:srgbClr val="9EC544"/>
            </a:solidFill>
          </a:ln>
        </p:spPr>
        <p:txBody>
          <a:bodyPr/>
          <a:lstStyle/>
          <a:p>
            <a:endParaRPr/>
          </a:p>
        </p:txBody>
      </p:sp>
      <p:sp>
        <p:nvSpPr>
          <p:cNvPr id="74" name="PillTxt1"/>
          <p:cNvSpPr/>
          <p:nvPr/>
        </p:nvSpPr>
        <p:spPr>
          <a:xfrm>
            <a:off x="3678288" y="3690000"/>
            <a:ext cx="720000" cy="520000"/>
          </a:xfrm>
          <a:prstGeom prst="rect">
            <a:avLst/>
          </a:prstGeom>
          <a:noFill/>
          <a:ln>
            <a:noFill/>
          </a:ln>
        </p:spPr>
        <p:txBody>
          <a:bodyPr wrap="square" lIns="91440" tIns="60000" rIns="91440" bIns="60000" rtlCol="0" anchor="ctr"/>
          <a:lstStyle/>
          <a:p>
            <a:pPr algn="ctr"/>
            <a:r>
              <a:rPr lang="en-US" sz="1600" b="1" dirty="0">
                <a:solidFill>
                  <a:srgbClr val="9EC544"/>
                </a:solidFill>
                <a:latin typeface="Calibri"/>
              </a:rPr>
              <a:t>1024</a:t>
            </a:r>
          </a:p>
          <a:p>
            <a:pPr algn="ctr"/>
            <a:r>
              <a:rPr lang="en-US" sz="900" b="0" dirty="0">
                <a:solidFill>
                  <a:srgbClr val="555555"/>
                </a:solidFill>
                <a:latin typeface="Calibri"/>
              </a:rPr>
              <a:t>Tokens</a:t>
            </a:r>
          </a:p>
        </p:txBody>
      </p:sp>
      <p:sp>
        <p:nvSpPr>
          <p:cNvPr id="76" name="CReason"/>
          <p:cNvSpPr/>
          <p:nvPr/>
        </p:nvSpPr>
        <p:spPr>
          <a:xfrm>
            <a:off x="2782880" y="4389999"/>
            <a:ext cx="1615408" cy="823445"/>
          </a:xfrm>
          <a:prstGeom prst="rect">
            <a:avLst/>
          </a:prstGeom>
          <a:noFill/>
          <a:ln>
            <a:noFill/>
          </a:ln>
        </p:spPr>
        <p:txBody>
          <a:bodyPr wrap="square" lIns="91440" tIns="60000" rIns="91440" bIns="60000" rtlCol="0" anchor="ctr"/>
          <a:lstStyle/>
          <a:p>
            <a:pPr algn="ctr"/>
            <a:r>
              <a:rPr lang="en-US" sz="1000" i="1" dirty="0">
                <a:solidFill>
                  <a:schemeClr val="tx1">
                    <a:lumMod val="95000"/>
                  </a:schemeClr>
                </a:solidFill>
                <a:latin typeface="Calibri"/>
              </a:rPr>
              <a:t>R</a:t>
            </a:r>
            <a:r>
              <a:rPr lang="en-US" sz="1000" b="0" i="1" dirty="0">
                <a:solidFill>
                  <a:schemeClr val="tx1">
                    <a:lumMod val="95000"/>
                  </a:schemeClr>
                </a:solidFill>
                <a:latin typeface="Calibri"/>
              </a:rPr>
              <a:t>easons over</a:t>
            </a:r>
          </a:p>
          <a:p>
            <a:pPr algn="ctr"/>
            <a:r>
              <a:rPr lang="en-US" sz="1000" b="0" i="1" dirty="0">
                <a:solidFill>
                  <a:schemeClr val="tx1">
                    <a:lumMod val="95000"/>
                  </a:schemeClr>
                </a:solidFill>
                <a:latin typeface="Calibri"/>
              </a:rPr>
              <a:t>full context</a:t>
            </a:r>
          </a:p>
          <a:p>
            <a:pPr algn="ctr"/>
            <a:r>
              <a:rPr lang="en-US" sz="1000" b="0" i="1" dirty="0">
                <a:solidFill>
                  <a:schemeClr val="tx1">
                    <a:lumMod val="95000"/>
                  </a:schemeClr>
                </a:solidFill>
                <a:latin typeface="Calibri"/>
              </a:rPr>
              <a:t>generates structured</a:t>
            </a:r>
          </a:p>
          <a:p>
            <a:pPr algn="ctr"/>
            <a:r>
              <a:rPr lang="en-US" sz="1000" b="0" i="1" dirty="0">
                <a:solidFill>
                  <a:schemeClr val="tx1">
                    <a:lumMod val="95000"/>
                  </a:schemeClr>
                </a:solidFill>
                <a:latin typeface="Calibri"/>
              </a:rPr>
              <a:t>response</a:t>
            </a:r>
          </a:p>
        </p:txBody>
      </p:sp>
      <p:sp>
        <p:nvSpPr>
          <p:cNvPr id="77" name="Arr2"/>
          <p:cNvSpPr/>
          <p:nvPr/>
        </p:nvSpPr>
        <p:spPr>
          <a:xfrm>
            <a:off x="4568976" y="3485418"/>
            <a:ext cx="313904" cy="360000"/>
          </a:xfrm>
          <a:prstGeom prst="rightArrow">
            <a:avLst/>
          </a:prstGeom>
          <a:solidFill>
            <a:srgbClr val="DE9C3C"/>
          </a:solidFill>
          <a:ln>
            <a:noFill/>
          </a:ln>
        </p:spPr>
        <p:txBody>
          <a:bodyPr/>
          <a:lstStyle/>
          <a:p>
            <a:endParaRPr/>
          </a:p>
        </p:txBody>
      </p:sp>
      <p:grpSp>
        <p:nvGrpSpPr>
          <p:cNvPr id="6" name="Group 5">
            <a:extLst>
              <a:ext uri="{FF2B5EF4-FFF2-40B4-BE49-F238E27FC236}">
                <a16:creationId xmlns:a16="http://schemas.microsoft.com/office/drawing/2014/main" id="{FAB6A4CA-9090-66DD-860D-E04B52FD22A3}"/>
              </a:ext>
            </a:extLst>
          </p:cNvPr>
          <p:cNvGrpSpPr/>
          <p:nvPr/>
        </p:nvGrpSpPr>
        <p:grpSpPr>
          <a:xfrm>
            <a:off x="4882880" y="1966845"/>
            <a:ext cx="7126240" cy="3155805"/>
            <a:chOff x="4882880" y="1966845"/>
            <a:chExt cx="7126240" cy="3155805"/>
          </a:xfrm>
        </p:grpSpPr>
        <p:sp>
          <p:nvSpPr>
            <p:cNvPr id="90" name="TC0"/>
            <p:cNvSpPr/>
            <p:nvPr/>
          </p:nvSpPr>
          <p:spPr>
            <a:xfrm>
              <a:off x="4882880" y="1968650"/>
              <a:ext cx="1377248" cy="3154000"/>
            </a:xfrm>
            <a:prstGeom prst="rect">
              <a:avLst/>
            </a:prstGeom>
            <a:solidFill>
              <a:srgbClr val="0D1B2A"/>
            </a:solidFill>
            <a:ln w="19050">
              <a:solidFill>
                <a:srgbClr val="F7931A"/>
              </a:solidFill>
            </a:ln>
          </p:spPr>
          <p:txBody>
            <a:bodyPr/>
            <a:lstStyle/>
            <a:p>
              <a:endParaRPr/>
            </a:p>
          </p:txBody>
        </p:sp>
        <p:sp>
          <p:nvSpPr>
            <p:cNvPr id="91" name="TCB0"/>
            <p:cNvSpPr/>
            <p:nvPr/>
          </p:nvSpPr>
          <p:spPr>
            <a:xfrm>
              <a:off x="4882880" y="1968650"/>
              <a:ext cx="1377248" cy="65000"/>
            </a:xfrm>
            <a:prstGeom prst="rect">
              <a:avLst/>
            </a:prstGeom>
            <a:solidFill>
              <a:srgbClr val="F7931A"/>
            </a:solidFill>
            <a:ln>
              <a:noFill/>
            </a:ln>
          </p:spPr>
          <p:txBody>
            <a:bodyPr/>
            <a:lstStyle/>
            <a:p>
              <a:endParaRPr/>
            </a:p>
          </p:txBody>
        </p:sp>
        <p:sp>
          <p:nvSpPr>
            <p:cNvPr id="92" name="TTl0"/>
            <p:cNvSpPr/>
            <p:nvPr/>
          </p:nvSpPr>
          <p:spPr>
            <a:xfrm>
              <a:off x="4882880" y="2048650"/>
              <a:ext cx="1377248" cy="400000"/>
            </a:xfrm>
            <a:prstGeom prst="rect">
              <a:avLst/>
            </a:prstGeom>
            <a:noFill/>
            <a:ln>
              <a:noFill/>
            </a:ln>
          </p:spPr>
          <p:txBody>
            <a:bodyPr wrap="square" lIns="91440" tIns="60000" rIns="91440" bIns="60000" rtlCol="0" anchor="ctr"/>
            <a:lstStyle/>
            <a:p>
              <a:pPr algn="ctr"/>
              <a:r>
                <a:rPr lang="en-US" sz="1150" b="1" dirty="0">
                  <a:solidFill>
                    <a:srgbClr val="F7931A"/>
                  </a:solidFill>
                  <a:latin typeface="Calibri"/>
                </a:rPr>
                <a:t>PREDICTION</a:t>
              </a:r>
            </a:p>
          </p:txBody>
        </p:sp>
        <p:sp>
          <p:nvSpPr>
            <p:cNvPr id="93" name="TDiv0"/>
            <p:cNvSpPr/>
            <p:nvPr/>
          </p:nvSpPr>
          <p:spPr>
            <a:xfrm>
              <a:off x="4962880" y="2468650"/>
              <a:ext cx="1217248" cy="8000"/>
            </a:xfrm>
            <a:prstGeom prst="rect">
              <a:avLst/>
            </a:prstGeom>
            <a:solidFill>
              <a:srgbClr val="F7931A"/>
            </a:solidFill>
            <a:ln>
              <a:noFill/>
            </a:ln>
          </p:spPr>
          <p:txBody>
            <a:bodyPr/>
            <a:lstStyle/>
            <a:p>
              <a:endParaRPr/>
            </a:p>
          </p:txBody>
        </p:sp>
        <p:sp>
          <p:nvSpPr>
            <p:cNvPr id="94" name="TIc00"/>
            <p:cNvSpPr/>
            <p:nvPr/>
          </p:nvSpPr>
          <p:spPr>
            <a:xfrm>
              <a:off x="4922880" y="25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95" name="TLb00"/>
            <p:cNvSpPr/>
            <p:nvPr/>
          </p:nvSpPr>
          <p:spPr>
            <a:xfrm>
              <a:off x="5242880" y="25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ML Signal</a:t>
              </a:r>
            </a:p>
          </p:txBody>
        </p:sp>
        <p:sp>
          <p:nvSpPr>
            <p:cNvPr id="96" name="TIc01"/>
            <p:cNvSpPr/>
            <p:nvPr/>
          </p:nvSpPr>
          <p:spPr>
            <a:xfrm>
              <a:off x="4922880" y="29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97" name="TLb01"/>
            <p:cNvSpPr/>
            <p:nvPr/>
          </p:nvSpPr>
          <p:spPr>
            <a:xfrm>
              <a:off x="5242880" y="29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Key News</a:t>
              </a:r>
            </a:p>
          </p:txBody>
        </p:sp>
        <p:sp>
          <p:nvSpPr>
            <p:cNvPr id="98" name="TIc02"/>
            <p:cNvSpPr/>
            <p:nvPr/>
          </p:nvSpPr>
          <p:spPr>
            <a:xfrm>
              <a:off x="4922880" y="33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99" name="TLb02"/>
            <p:cNvSpPr/>
            <p:nvPr/>
          </p:nvSpPr>
          <p:spPr>
            <a:xfrm>
              <a:off x="5242880" y="33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Bullish Signals</a:t>
              </a:r>
            </a:p>
          </p:txBody>
        </p:sp>
        <p:sp>
          <p:nvSpPr>
            <p:cNvPr id="100" name="TIc03"/>
            <p:cNvSpPr/>
            <p:nvPr/>
          </p:nvSpPr>
          <p:spPr>
            <a:xfrm>
              <a:off x="4922880" y="37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01" name="TLb03"/>
            <p:cNvSpPr/>
            <p:nvPr/>
          </p:nvSpPr>
          <p:spPr>
            <a:xfrm>
              <a:off x="5242880" y="37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Risk Factors</a:t>
              </a:r>
            </a:p>
          </p:txBody>
        </p:sp>
        <p:sp>
          <p:nvSpPr>
            <p:cNvPr id="102" name="TIc04"/>
            <p:cNvSpPr/>
            <p:nvPr/>
          </p:nvSpPr>
          <p:spPr>
            <a:xfrm>
              <a:off x="4922880" y="41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03" name="TLb04"/>
            <p:cNvSpPr/>
            <p:nvPr/>
          </p:nvSpPr>
          <p:spPr>
            <a:xfrm>
              <a:off x="5242880" y="41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Short-Term Outlook</a:t>
              </a:r>
            </a:p>
          </p:txBody>
        </p:sp>
        <p:sp>
          <p:nvSpPr>
            <p:cNvPr id="110" name="TC1"/>
            <p:cNvSpPr/>
            <p:nvPr/>
          </p:nvSpPr>
          <p:spPr>
            <a:xfrm>
              <a:off x="6320128" y="1968650"/>
              <a:ext cx="1377248" cy="3146536"/>
            </a:xfrm>
            <a:prstGeom prst="rect">
              <a:avLst/>
            </a:prstGeom>
            <a:solidFill>
              <a:srgbClr val="0D1B2A"/>
            </a:solidFill>
            <a:ln w="19050">
              <a:solidFill>
                <a:srgbClr val="00BFA5"/>
              </a:solidFill>
            </a:ln>
          </p:spPr>
          <p:txBody>
            <a:bodyPr/>
            <a:lstStyle/>
            <a:p>
              <a:endParaRPr/>
            </a:p>
          </p:txBody>
        </p:sp>
        <p:sp>
          <p:nvSpPr>
            <p:cNvPr id="111" name="TCB1"/>
            <p:cNvSpPr/>
            <p:nvPr/>
          </p:nvSpPr>
          <p:spPr>
            <a:xfrm>
              <a:off x="6327503" y="1966845"/>
              <a:ext cx="1377248" cy="65000"/>
            </a:xfrm>
            <a:prstGeom prst="rect">
              <a:avLst/>
            </a:prstGeom>
            <a:solidFill>
              <a:srgbClr val="00BFA5"/>
            </a:solidFill>
            <a:ln>
              <a:noFill/>
            </a:ln>
          </p:spPr>
          <p:txBody>
            <a:bodyPr/>
            <a:lstStyle/>
            <a:p>
              <a:endParaRPr/>
            </a:p>
          </p:txBody>
        </p:sp>
        <p:sp>
          <p:nvSpPr>
            <p:cNvPr id="112" name="TTl1"/>
            <p:cNvSpPr/>
            <p:nvPr/>
          </p:nvSpPr>
          <p:spPr>
            <a:xfrm>
              <a:off x="6320128" y="2048650"/>
              <a:ext cx="1377248" cy="400000"/>
            </a:xfrm>
            <a:prstGeom prst="rect">
              <a:avLst/>
            </a:prstGeom>
            <a:noFill/>
            <a:ln>
              <a:noFill/>
            </a:ln>
          </p:spPr>
          <p:txBody>
            <a:bodyPr wrap="square" lIns="91440" tIns="60000" rIns="91440" bIns="60000" rtlCol="0" anchor="ctr"/>
            <a:lstStyle/>
            <a:p>
              <a:pPr algn="ctr"/>
              <a:r>
                <a:rPr lang="en-US" sz="1150" b="1" dirty="0">
                  <a:solidFill>
                    <a:srgbClr val="00BFA5"/>
                  </a:solidFill>
                  <a:latin typeface="Calibri"/>
                </a:rPr>
                <a:t>EXPLANATION</a:t>
              </a:r>
            </a:p>
          </p:txBody>
        </p:sp>
        <p:sp>
          <p:nvSpPr>
            <p:cNvPr id="113" name="TDiv1"/>
            <p:cNvSpPr/>
            <p:nvPr/>
          </p:nvSpPr>
          <p:spPr>
            <a:xfrm>
              <a:off x="6400128" y="2468650"/>
              <a:ext cx="1217248" cy="8000"/>
            </a:xfrm>
            <a:prstGeom prst="rect">
              <a:avLst/>
            </a:prstGeom>
            <a:solidFill>
              <a:srgbClr val="00BFA5"/>
            </a:solidFill>
            <a:ln>
              <a:noFill/>
            </a:ln>
          </p:spPr>
          <p:txBody>
            <a:bodyPr/>
            <a:lstStyle/>
            <a:p>
              <a:endParaRPr/>
            </a:p>
          </p:txBody>
        </p:sp>
        <p:sp>
          <p:nvSpPr>
            <p:cNvPr id="114" name="TIc10"/>
            <p:cNvSpPr/>
            <p:nvPr/>
          </p:nvSpPr>
          <p:spPr>
            <a:xfrm>
              <a:off x="6360128" y="25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15" name="TLb10"/>
            <p:cNvSpPr/>
            <p:nvPr/>
          </p:nvSpPr>
          <p:spPr>
            <a:xfrm>
              <a:off x="6680128" y="25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What's Happening</a:t>
              </a:r>
            </a:p>
          </p:txBody>
        </p:sp>
        <p:sp>
          <p:nvSpPr>
            <p:cNvPr id="116" name="TIc11"/>
            <p:cNvSpPr/>
            <p:nvPr/>
          </p:nvSpPr>
          <p:spPr>
            <a:xfrm>
              <a:off x="6360128" y="29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18" name="TIc12"/>
            <p:cNvSpPr/>
            <p:nvPr/>
          </p:nvSpPr>
          <p:spPr>
            <a:xfrm>
              <a:off x="6360128" y="33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19" name="TLb12"/>
            <p:cNvSpPr/>
            <p:nvPr/>
          </p:nvSpPr>
          <p:spPr>
            <a:xfrm>
              <a:off x="6680128" y="33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Technical Picture</a:t>
              </a:r>
            </a:p>
          </p:txBody>
        </p:sp>
        <p:sp>
          <p:nvSpPr>
            <p:cNvPr id="120" name="TIc13"/>
            <p:cNvSpPr/>
            <p:nvPr/>
          </p:nvSpPr>
          <p:spPr>
            <a:xfrm>
              <a:off x="6360128" y="37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21" name="TLb13"/>
            <p:cNvSpPr/>
            <p:nvPr/>
          </p:nvSpPr>
          <p:spPr>
            <a:xfrm>
              <a:off x="6680128" y="37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Connections</a:t>
              </a:r>
            </a:p>
          </p:txBody>
        </p:sp>
        <p:sp>
          <p:nvSpPr>
            <p:cNvPr id="122" name="TIc14"/>
            <p:cNvSpPr/>
            <p:nvPr/>
          </p:nvSpPr>
          <p:spPr>
            <a:xfrm>
              <a:off x="6360128" y="412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23" name="TLb14"/>
            <p:cNvSpPr/>
            <p:nvPr/>
          </p:nvSpPr>
          <p:spPr>
            <a:xfrm>
              <a:off x="6680128" y="41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Summary</a:t>
              </a:r>
            </a:p>
          </p:txBody>
        </p:sp>
        <p:sp>
          <p:nvSpPr>
            <p:cNvPr id="130" name="TC2"/>
            <p:cNvSpPr/>
            <p:nvPr/>
          </p:nvSpPr>
          <p:spPr>
            <a:xfrm>
              <a:off x="7757376" y="1968650"/>
              <a:ext cx="1377248" cy="3154000"/>
            </a:xfrm>
            <a:prstGeom prst="rect">
              <a:avLst/>
            </a:prstGeom>
            <a:solidFill>
              <a:srgbClr val="0D1B2A"/>
            </a:solidFill>
            <a:ln w="19050">
              <a:solidFill>
                <a:srgbClr val="4A9CCC"/>
              </a:solidFill>
            </a:ln>
          </p:spPr>
          <p:txBody>
            <a:bodyPr/>
            <a:lstStyle/>
            <a:p>
              <a:endParaRPr dirty="0"/>
            </a:p>
          </p:txBody>
        </p:sp>
        <p:sp>
          <p:nvSpPr>
            <p:cNvPr id="131" name="TCB2"/>
            <p:cNvSpPr/>
            <p:nvPr/>
          </p:nvSpPr>
          <p:spPr>
            <a:xfrm>
              <a:off x="7757376" y="1968650"/>
              <a:ext cx="1377248" cy="65000"/>
            </a:xfrm>
            <a:prstGeom prst="rect">
              <a:avLst/>
            </a:prstGeom>
            <a:solidFill>
              <a:srgbClr val="4A9CCC"/>
            </a:solidFill>
            <a:ln>
              <a:noFill/>
            </a:ln>
          </p:spPr>
          <p:txBody>
            <a:bodyPr/>
            <a:lstStyle/>
            <a:p>
              <a:endParaRPr/>
            </a:p>
          </p:txBody>
        </p:sp>
        <p:sp>
          <p:nvSpPr>
            <p:cNvPr id="132" name="TTl2"/>
            <p:cNvSpPr/>
            <p:nvPr/>
          </p:nvSpPr>
          <p:spPr>
            <a:xfrm>
              <a:off x="7757376" y="2048650"/>
              <a:ext cx="1377248" cy="323000"/>
            </a:xfrm>
            <a:prstGeom prst="rect">
              <a:avLst/>
            </a:prstGeom>
            <a:noFill/>
            <a:ln>
              <a:noFill/>
            </a:ln>
          </p:spPr>
          <p:txBody>
            <a:bodyPr wrap="square" lIns="91440" tIns="60000" rIns="91440" bIns="60000" rtlCol="0" anchor="ctr"/>
            <a:lstStyle/>
            <a:p>
              <a:pPr algn="ctr"/>
              <a:r>
                <a:rPr lang="en-US" sz="1150" b="1" dirty="0">
                  <a:solidFill>
                    <a:srgbClr val="4A9CCC"/>
                  </a:solidFill>
                  <a:latin typeface="Calibri"/>
                </a:rPr>
                <a:t>MARKET</a:t>
              </a:r>
            </a:p>
            <a:p>
              <a:pPr algn="ctr"/>
              <a:r>
                <a:rPr lang="en-US" sz="1150" b="1" dirty="0">
                  <a:solidFill>
                    <a:srgbClr val="4A9CCC"/>
                  </a:solidFill>
                  <a:latin typeface="Calibri"/>
                </a:rPr>
                <a:t>OVERVIEW</a:t>
              </a:r>
            </a:p>
          </p:txBody>
        </p:sp>
        <p:sp>
          <p:nvSpPr>
            <p:cNvPr id="133" name="TDiv2"/>
            <p:cNvSpPr/>
            <p:nvPr/>
          </p:nvSpPr>
          <p:spPr>
            <a:xfrm>
              <a:off x="7837376" y="2460626"/>
              <a:ext cx="1217248" cy="8000"/>
            </a:xfrm>
            <a:prstGeom prst="rect">
              <a:avLst/>
            </a:prstGeom>
            <a:solidFill>
              <a:srgbClr val="4A9CCC"/>
            </a:solidFill>
            <a:ln>
              <a:noFill/>
            </a:ln>
          </p:spPr>
          <p:txBody>
            <a:bodyPr/>
            <a:lstStyle/>
            <a:p>
              <a:endParaRPr/>
            </a:p>
          </p:txBody>
        </p:sp>
        <p:sp>
          <p:nvSpPr>
            <p:cNvPr id="134" name="TIc20"/>
            <p:cNvSpPr/>
            <p:nvPr/>
          </p:nvSpPr>
          <p:spPr>
            <a:xfrm>
              <a:off x="7797376" y="25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35" name="TLb20"/>
            <p:cNvSpPr/>
            <p:nvPr/>
          </p:nvSpPr>
          <p:spPr>
            <a:xfrm>
              <a:off x="8117376" y="25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Market Snapshot</a:t>
              </a:r>
            </a:p>
          </p:txBody>
        </p:sp>
        <p:sp>
          <p:nvSpPr>
            <p:cNvPr id="136" name="TIc21"/>
            <p:cNvSpPr/>
            <p:nvPr/>
          </p:nvSpPr>
          <p:spPr>
            <a:xfrm>
              <a:off x="7797376" y="29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37" name="TLb21"/>
            <p:cNvSpPr/>
            <p:nvPr/>
          </p:nvSpPr>
          <p:spPr>
            <a:xfrm>
              <a:off x="8117376" y="29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Top Stories</a:t>
              </a:r>
            </a:p>
          </p:txBody>
        </p:sp>
        <p:sp>
          <p:nvSpPr>
            <p:cNvPr id="138" name="TIc22"/>
            <p:cNvSpPr/>
            <p:nvPr/>
          </p:nvSpPr>
          <p:spPr>
            <a:xfrm>
              <a:off x="7797376" y="33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39" name="TLb22"/>
            <p:cNvSpPr/>
            <p:nvPr/>
          </p:nvSpPr>
          <p:spPr>
            <a:xfrm>
              <a:off x="8117376" y="33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Sentiment</a:t>
              </a:r>
            </a:p>
          </p:txBody>
        </p:sp>
        <p:sp>
          <p:nvSpPr>
            <p:cNvPr id="140" name="TIc23"/>
            <p:cNvSpPr/>
            <p:nvPr/>
          </p:nvSpPr>
          <p:spPr>
            <a:xfrm>
              <a:off x="7797376" y="37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41" name="TLb23"/>
            <p:cNvSpPr/>
            <p:nvPr/>
          </p:nvSpPr>
          <p:spPr>
            <a:xfrm>
              <a:off x="8117376" y="37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Factors to Watch</a:t>
              </a:r>
            </a:p>
          </p:txBody>
        </p:sp>
        <p:sp>
          <p:nvSpPr>
            <p:cNvPr id="150" name="TC3"/>
            <p:cNvSpPr/>
            <p:nvPr/>
          </p:nvSpPr>
          <p:spPr>
            <a:xfrm>
              <a:off x="9194624" y="1968650"/>
              <a:ext cx="1377248" cy="3154000"/>
            </a:xfrm>
            <a:prstGeom prst="rect">
              <a:avLst/>
            </a:prstGeom>
            <a:solidFill>
              <a:srgbClr val="0D1B2A"/>
            </a:solidFill>
            <a:ln w="19050">
              <a:solidFill>
                <a:srgbClr val="9A66CA"/>
              </a:solidFill>
            </a:ln>
          </p:spPr>
          <p:txBody>
            <a:bodyPr/>
            <a:lstStyle/>
            <a:p>
              <a:endParaRPr/>
            </a:p>
          </p:txBody>
        </p:sp>
        <p:sp>
          <p:nvSpPr>
            <p:cNvPr id="151" name="TCB3"/>
            <p:cNvSpPr/>
            <p:nvPr/>
          </p:nvSpPr>
          <p:spPr>
            <a:xfrm>
              <a:off x="9194624" y="1968650"/>
              <a:ext cx="1377248" cy="65000"/>
            </a:xfrm>
            <a:prstGeom prst="rect">
              <a:avLst/>
            </a:prstGeom>
            <a:solidFill>
              <a:srgbClr val="9A66CA"/>
            </a:solidFill>
            <a:ln>
              <a:noFill/>
            </a:ln>
          </p:spPr>
          <p:txBody>
            <a:bodyPr/>
            <a:lstStyle/>
            <a:p>
              <a:endParaRPr/>
            </a:p>
          </p:txBody>
        </p:sp>
        <p:sp>
          <p:nvSpPr>
            <p:cNvPr id="152" name="TTl3"/>
            <p:cNvSpPr/>
            <p:nvPr/>
          </p:nvSpPr>
          <p:spPr>
            <a:xfrm>
              <a:off x="9194624" y="2048650"/>
              <a:ext cx="1377248" cy="330000"/>
            </a:xfrm>
            <a:prstGeom prst="rect">
              <a:avLst/>
            </a:prstGeom>
            <a:noFill/>
            <a:ln>
              <a:noFill/>
            </a:ln>
          </p:spPr>
          <p:txBody>
            <a:bodyPr wrap="square" lIns="91440" tIns="60000" rIns="91440" bIns="60000" rtlCol="0" anchor="ctr"/>
            <a:lstStyle/>
            <a:p>
              <a:pPr algn="ctr"/>
              <a:r>
                <a:rPr lang="en-US" sz="1150" b="1" dirty="0">
                  <a:solidFill>
                    <a:srgbClr val="9A66CA"/>
                  </a:solidFill>
                  <a:latin typeface="Calibri"/>
                </a:rPr>
                <a:t>INVESTMENT</a:t>
              </a:r>
            </a:p>
            <a:p>
              <a:pPr algn="ctr"/>
              <a:r>
                <a:rPr lang="en-US" sz="1150" b="1" dirty="0">
                  <a:solidFill>
                    <a:srgbClr val="9A66CA"/>
                  </a:solidFill>
                  <a:latin typeface="Calibri"/>
                </a:rPr>
                <a:t>ADVICE</a:t>
              </a:r>
            </a:p>
          </p:txBody>
        </p:sp>
        <p:sp>
          <p:nvSpPr>
            <p:cNvPr id="153" name="TDiv3"/>
            <p:cNvSpPr/>
            <p:nvPr/>
          </p:nvSpPr>
          <p:spPr>
            <a:xfrm>
              <a:off x="9274624" y="2460629"/>
              <a:ext cx="1217248" cy="8000"/>
            </a:xfrm>
            <a:prstGeom prst="rect">
              <a:avLst/>
            </a:prstGeom>
            <a:solidFill>
              <a:srgbClr val="9A66CA"/>
            </a:solidFill>
            <a:ln>
              <a:noFill/>
            </a:ln>
          </p:spPr>
          <p:txBody>
            <a:bodyPr/>
            <a:lstStyle/>
            <a:p>
              <a:endParaRPr/>
            </a:p>
          </p:txBody>
        </p:sp>
        <p:sp>
          <p:nvSpPr>
            <p:cNvPr id="154" name="TIc30"/>
            <p:cNvSpPr/>
            <p:nvPr/>
          </p:nvSpPr>
          <p:spPr>
            <a:xfrm>
              <a:off x="9234624" y="286865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55" name="TLb30"/>
            <p:cNvSpPr/>
            <p:nvPr/>
          </p:nvSpPr>
          <p:spPr>
            <a:xfrm>
              <a:off x="9554624" y="25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M</a:t>
              </a:r>
              <a:r>
                <a:rPr lang="en-US" sz="1000" dirty="0">
                  <a:solidFill>
                    <a:srgbClr val="CCCCCC"/>
                  </a:solidFill>
                  <a:latin typeface="Calibri"/>
                </a:rPr>
                <a:t>L</a:t>
              </a:r>
              <a:r>
                <a:rPr lang="en-US" sz="1000" b="0" dirty="0">
                  <a:solidFill>
                    <a:srgbClr val="CCCCCC"/>
                  </a:solidFill>
                  <a:latin typeface="Calibri"/>
                </a:rPr>
                <a:t> Signal</a:t>
              </a:r>
            </a:p>
          </p:txBody>
        </p:sp>
        <p:sp>
          <p:nvSpPr>
            <p:cNvPr id="156" name="TIc31"/>
            <p:cNvSpPr/>
            <p:nvPr/>
          </p:nvSpPr>
          <p:spPr>
            <a:xfrm>
              <a:off x="9234624" y="29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57" name="TLb31"/>
            <p:cNvSpPr/>
            <p:nvPr/>
          </p:nvSpPr>
          <p:spPr>
            <a:xfrm>
              <a:off x="9554624" y="29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Market Context</a:t>
              </a:r>
            </a:p>
          </p:txBody>
        </p:sp>
        <p:sp>
          <p:nvSpPr>
            <p:cNvPr id="158" name="TIc32"/>
            <p:cNvSpPr/>
            <p:nvPr/>
          </p:nvSpPr>
          <p:spPr>
            <a:xfrm>
              <a:off x="9234624" y="33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59" name="TLb32"/>
            <p:cNvSpPr/>
            <p:nvPr/>
          </p:nvSpPr>
          <p:spPr>
            <a:xfrm>
              <a:off x="9554624" y="33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Arguments For</a:t>
              </a:r>
            </a:p>
          </p:txBody>
        </p:sp>
        <p:sp>
          <p:nvSpPr>
            <p:cNvPr id="160" name="TIc33"/>
            <p:cNvSpPr/>
            <p:nvPr/>
          </p:nvSpPr>
          <p:spPr>
            <a:xfrm>
              <a:off x="9234624" y="37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61" name="TLb33"/>
            <p:cNvSpPr/>
            <p:nvPr/>
          </p:nvSpPr>
          <p:spPr>
            <a:xfrm>
              <a:off x="9554624" y="37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Arguments Against</a:t>
              </a:r>
            </a:p>
          </p:txBody>
        </p:sp>
        <p:sp>
          <p:nvSpPr>
            <p:cNvPr id="162" name="TIc34"/>
            <p:cNvSpPr/>
            <p:nvPr/>
          </p:nvSpPr>
          <p:spPr>
            <a:xfrm>
              <a:off x="9234624" y="41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63" name="TLb34"/>
            <p:cNvSpPr/>
            <p:nvPr/>
          </p:nvSpPr>
          <p:spPr>
            <a:xfrm>
              <a:off x="9554624" y="41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Neutral Assessment</a:t>
              </a:r>
            </a:p>
          </p:txBody>
        </p:sp>
        <p:sp>
          <p:nvSpPr>
            <p:cNvPr id="170" name="TC4"/>
            <p:cNvSpPr/>
            <p:nvPr/>
          </p:nvSpPr>
          <p:spPr>
            <a:xfrm>
              <a:off x="10631872" y="1968650"/>
              <a:ext cx="1377248" cy="3154000"/>
            </a:xfrm>
            <a:prstGeom prst="rect">
              <a:avLst/>
            </a:prstGeom>
            <a:solidFill>
              <a:srgbClr val="0D1B2A"/>
            </a:solidFill>
            <a:ln w="19050">
              <a:solidFill>
                <a:srgbClr val="9EC544"/>
              </a:solidFill>
            </a:ln>
          </p:spPr>
          <p:txBody>
            <a:bodyPr/>
            <a:lstStyle/>
            <a:p>
              <a:endParaRPr/>
            </a:p>
          </p:txBody>
        </p:sp>
        <p:sp>
          <p:nvSpPr>
            <p:cNvPr id="171" name="TCB4"/>
            <p:cNvSpPr/>
            <p:nvPr/>
          </p:nvSpPr>
          <p:spPr>
            <a:xfrm>
              <a:off x="10631872" y="1968650"/>
              <a:ext cx="1377248" cy="65000"/>
            </a:xfrm>
            <a:prstGeom prst="rect">
              <a:avLst/>
            </a:prstGeom>
            <a:solidFill>
              <a:srgbClr val="9EC544"/>
            </a:solidFill>
            <a:ln>
              <a:noFill/>
            </a:ln>
          </p:spPr>
          <p:txBody>
            <a:bodyPr/>
            <a:lstStyle/>
            <a:p>
              <a:endParaRPr/>
            </a:p>
          </p:txBody>
        </p:sp>
        <p:sp>
          <p:nvSpPr>
            <p:cNvPr id="172" name="TTl4"/>
            <p:cNvSpPr/>
            <p:nvPr/>
          </p:nvSpPr>
          <p:spPr>
            <a:xfrm>
              <a:off x="10631872" y="2048650"/>
              <a:ext cx="1377248" cy="314000"/>
            </a:xfrm>
            <a:prstGeom prst="rect">
              <a:avLst/>
            </a:prstGeom>
            <a:noFill/>
            <a:ln>
              <a:noFill/>
            </a:ln>
          </p:spPr>
          <p:txBody>
            <a:bodyPr wrap="square" lIns="91440" tIns="60000" rIns="91440" bIns="60000" rtlCol="0" anchor="ctr"/>
            <a:lstStyle/>
            <a:p>
              <a:pPr algn="ctr"/>
              <a:r>
                <a:rPr lang="en-US" sz="1150" b="1" dirty="0">
                  <a:solidFill>
                    <a:srgbClr val="9EC544"/>
                  </a:solidFill>
                  <a:latin typeface="Calibri"/>
                </a:rPr>
                <a:t>FACTUAL</a:t>
              </a:r>
            </a:p>
            <a:p>
              <a:pPr algn="ctr"/>
              <a:r>
                <a:rPr lang="en-US" sz="1150" b="1" dirty="0">
                  <a:solidFill>
                    <a:srgbClr val="9EC544"/>
                  </a:solidFill>
                  <a:latin typeface="Calibri"/>
                </a:rPr>
                <a:t>CRYPTO</a:t>
              </a:r>
            </a:p>
          </p:txBody>
        </p:sp>
        <p:sp>
          <p:nvSpPr>
            <p:cNvPr id="173" name="TDiv4"/>
            <p:cNvSpPr/>
            <p:nvPr/>
          </p:nvSpPr>
          <p:spPr>
            <a:xfrm>
              <a:off x="10711872" y="2467450"/>
              <a:ext cx="1217248" cy="8000"/>
            </a:xfrm>
            <a:prstGeom prst="rect">
              <a:avLst/>
            </a:prstGeom>
            <a:solidFill>
              <a:srgbClr val="9EC544"/>
            </a:solidFill>
            <a:ln>
              <a:noFill/>
            </a:ln>
          </p:spPr>
          <p:txBody>
            <a:bodyPr/>
            <a:lstStyle/>
            <a:p>
              <a:endParaRPr/>
            </a:p>
          </p:txBody>
        </p:sp>
        <p:sp>
          <p:nvSpPr>
            <p:cNvPr id="174" name="TIc40"/>
            <p:cNvSpPr/>
            <p:nvPr/>
          </p:nvSpPr>
          <p:spPr>
            <a:xfrm>
              <a:off x="10671872" y="2513805"/>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75" name="TLb40"/>
            <p:cNvSpPr/>
            <p:nvPr/>
          </p:nvSpPr>
          <p:spPr>
            <a:xfrm>
              <a:off x="10991872" y="2513805"/>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Pure LLM knowledge</a:t>
              </a:r>
            </a:p>
          </p:txBody>
        </p:sp>
        <p:sp>
          <p:nvSpPr>
            <p:cNvPr id="180" name="TIc43"/>
            <p:cNvSpPr/>
            <p:nvPr/>
          </p:nvSpPr>
          <p:spPr>
            <a:xfrm>
              <a:off x="10671872" y="2840344"/>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81" name="TLb43"/>
            <p:cNvSpPr/>
            <p:nvPr/>
          </p:nvSpPr>
          <p:spPr>
            <a:xfrm>
              <a:off x="10991872" y="2840344"/>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Max 200 words</a:t>
              </a:r>
            </a:p>
          </p:txBody>
        </p:sp>
        <p:sp>
          <p:nvSpPr>
            <p:cNvPr id="182" name="TIc44"/>
            <p:cNvSpPr/>
            <p:nvPr/>
          </p:nvSpPr>
          <p:spPr>
            <a:xfrm>
              <a:off x="10671872" y="3240344"/>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sp>
          <p:nvSpPr>
            <p:cNvPr id="183" name="TLb44"/>
            <p:cNvSpPr/>
            <p:nvPr/>
          </p:nvSpPr>
          <p:spPr>
            <a:xfrm>
              <a:off x="10991872" y="3240344"/>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No fixed structure</a:t>
              </a:r>
            </a:p>
          </p:txBody>
        </p:sp>
        <p:sp>
          <p:nvSpPr>
            <p:cNvPr id="5" name="TIc00">
              <a:extLst>
                <a:ext uri="{FF2B5EF4-FFF2-40B4-BE49-F238E27FC236}">
                  <a16:creationId xmlns:a16="http://schemas.microsoft.com/office/drawing/2014/main" id="{06744B1A-E36F-5604-6368-843B06007B53}"/>
                </a:ext>
              </a:extLst>
            </p:cNvPr>
            <p:cNvSpPr/>
            <p:nvPr/>
          </p:nvSpPr>
          <p:spPr>
            <a:xfrm>
              <a:off x="9238776" y="2510000"/>
              <a:ext cx="300000" cy="400000"/>
            </a:xfrm>
            <a:prstGeom prst="rect">
              <a:avLst/>
            </a:prstGeom>
            <a:noFill/>
            <a:ln>
              <a:noFill/>
            </a:ln>
          </p:spPr>
          <p:txBody>
            <a:bodyPr wrap="square" lIns="0" tIns="0" rIns="0" bIns="0" rtlCol="0" anchor="ctr"/>
            <a:lstStyle/>
            <a:p>
              <a:pPr algn="ctr"/>
              <a:r>
                <a:rPr lang="en-US" sz="1500" dirty="0">
                  <a:latin typeface="Segoe UI Emoji"/>
                </a:rPr>
                <a:t>📊</a:t>
              </a:r>
            </a:p>
          </p:txBody>
        </p:sp>
      </p:grpSp>
      <p:sp>
        <p:nvSpPr>
          <p:cNvPr id="7" name="TLb11">
            <a:extLst>
              <a:ext uri="{FF2B5EF4-FFF2-40B4-BE49-F238E27FC236}">
                <a16:creationId xmlns:a16="http://schemas.microsoft.com/office/drawing/2014/main" id="{9AA49F77-5AE9-1A5F-112E-2ED6F4474DCD}"/>
              </a:ext>
            </a:extLst>
          </p:cNvPr>
          <p:cNvSpPr/>
          <p:nvPr/>
        </p:nvSpPr>
        <p:spPr>
          <a:xfrm>
            <a:off x="6680128" y="2928650"/>
            <a:ext cx="977248" cy="400000"/>
          </a:xfrm>
          <a:prstGeom prst="rect">
            <a:avLst/>
          </a:prstGeom>
          <a:noFill/>
          <a:ln>
            <a:noFill/>
          </a:ln>
        </p:spPr>
        <p:txBody>
          <a:bodyPr wrap="square" lIns="91440" tIns="60000" rIns="91440" bIns="60000" rtlCol="0" anchor="ctr"/>
          <a:lstStyle/>
          <a:p>
            <a:pPr algn="l"/>
            <a:r>
              <a:rPr lang="en-US" sz="1000" b="0" dirty="0">
                <a:solidFill>
                  <a:srgbClr val="CCCCCC"/>
                </a:solidFill>
                <a:latin typeface="Calibri"/>
              </a:rPr>
              <a:t>News Drivers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5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5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6"/>
                                        </p:tgtEl>
                                        <p:attrNameLst>
                                          <p:attrName>style.visibility</p:attrName>
                                        </p:attrNameLst>
                                      </p:cBhvr>
                                      <p:to>
                                        <p:strVal val="visible"/>
                                      </p:to>
                                    </p:set>
                                    <p:animEffect transition="in" filter="fade">
                                      <p:cBhvr>
                                        <p:cTn id="16" dur="500"/>
                                        <p:tgtEl>
                                          <p:spTgt spid="7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0"/>
                                        </p:tgtEl>
                                        <p:attrNameLst>
                                          <p:attrName>style.visibility</p:attrName>
                                        </p:attrNameLst>
                                      </p:cBhvr>
                                      <p:to>
                                        <p:strVal val="visible"/>
                                      </p:to>
                                    </p:set>
                                    <p:animEffect transition="in" filter="fade">
                                      <p:cBhvr>
                                        <p:cTn id="19" dur="500"/>
                                        <p:tgtEl>
                                          <p:spTgt spid="7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fade">
                                      <p:cBhvr>
                                        <p:cTn id="22" dur="500"/>
                                        <p:tgtEl>
                                          <p:spTgt spid="7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3"/>
                                        </p:tgtEl>
                                        <p:attrNameLst>
                                          <p:attrName>style.visibility</p:attrName>
                                        </p:attrNameLst>
                                      </p:cBhvr>
                                      <p:to>
                                        <p:strVal val="visible"/>
                                      </p:to>
                                    </p:set>
                                    <p:animEffect transition="in" filter="fade">
                                      <p:cBhvr>
                                        <p:cTn id="25" dur="500"/>
                                        <p:tgtEl>
                                          <p:spTgt spid="7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4"/>
                                        </p:tgtEl>
                                        <p:attrNameLst>
                                          <p:attrName>style.visibility</p:attrName>
                                        </p:attrNameLst>
                                      </p:cBhvr>
                                      <p:to>
                                        <p:strVal val="visible"/>
                                      </p:to>
                                    </p:set>
                                    <p:animEffect transition="in" filter="fade">
                                      <p:cBhvr>
                                        <p:cTn id="28" dur="500"/>
                                        <p:tgtEl>
                                          <p:spTgt spid="7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5"/>
                                        </p:tgtEl>
                                        <p:attrNameLst>
                                          <p:attrName>style.visibility</p:attrName>
                                        </p:attrNameLst>
                                      </p:cBhvr>
                                      <p:to>
                                        <p:strVal val="visible"/>
                                      </p:to>
                                    </p:set>
                                    <p:animEffect transition="in" filter="fade">
                                      <p:cBhvr>
                                        <p:cTn id="31" dur="500"/>
                                        <p:tgtEl>
                                          <p:spTgt spid="6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4"/>
                                        </p:tgtEl>
                                        <p:attrNameLst>
                                          <p:attrName>style.visibility</p:attrName>
                                        </p:attrNameLst>
                                      </p:cBhvr>
                                      <p:to>
                                        <p:strVal val="visible"/>
                                      </p:to>
                                    </p:set>
                                    <p:animEffect transition="in" filter="fade">
                                      <p:cBhvr>
                                        <p:cTn id="34" dur="500"/>
                                        <p:tgtEl>
                                          <p:spTgt spid="6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3"/>
                                        </p:tgtEl>
                                        <p:attrNameLst>
                                          <p:attrName>style.visibility</p:attrName>
                                        </p:attrNameLst>
                                      </p:cBhvr>
                                      <p:to>
                                        <p:strVal val="visible"/>
                                      </p:to>
                                    </p:set>
                                    <p:animEffect transition="in" filter="fade">
                                      <p:cBhvr>
                                        <p:cTn id="37" dur="500"/>
                                        <p:tgtEl>
                                          <p:spTgt spid="6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2"/>
                                        </p:tgtEl>
                                        <p:attrNameLst>
                                          <p:attrName>style.visibility</p:attrName>
                                        </p:attrNameLst>
                                      </p:cBhvr>
                                      <p:to>
                                        <p:strVal val="visible"/>
                                      </p:to>
                                    </p:set>
                                    <p:animEffect transition="in" filter="fade">
                                      <p:cBhvr>
                                        <p:cTn id="40" dur="500"/>
                                        <p:tgtEl>
                                          <p:spTgt spid="6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childTnLst>
                                </p:cTn>
                              </p:par>
                              <p:par>
                                <p:cTn id="46" presetID="10" presetClass="entr" presetSubtype="0" fill="hold" nodeType="with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fade">
                                      <p:cBhvr>
                                        <p:cTn id="48" dur="500"/>
                                        <p:tgtEl>
                                          <p:spTgt spid="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
                                        </p:tgtEl>
                                        <p:attrNameLst>
                                          <p:attrName>style.visibility</p:attrName>
                                        </p:attrNameLst>
                                      </p:cBhvr>
                                      <p:to>
                                        <p:strVal val="visible"/>
                                      </p:to>
                                    </p:set>
                                    <p:animEffect transition="in" filter="fade">
                                      <p:cBhvr>
                                        <p:cTn id="5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60" grpId="0" animBg="1"/>
      <p:bldP spid="61" grpId="0" animBg="1"/>
      <p:bldP spid="62" grpId="0"/>
      <p:bldP spid="63" grpId="0"/>
      <p:bldP spid="64" grpId="0"/>
      <p:bldP spid="65" grpId="0"/>
      <p:bldP spid="70" grpId="0" animBg="1"/>
      <p:bldP spid="71" grpId="0"/>
      <p:bldP spid="73" grpId="0" animBg="1"/>
      <p:bldP spid="74" grpId="0"/>
      <p:bldP spid="76" grpId="0"/>
      <p:bldP spid="77" grpId="0" animBg="1"/>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3BE23-3D92-2F04-69ED-EABBA4CB22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47EDD90-D820-D3CE-B0C3-10BC686FF505}"/>
              </a:ext>
            </a:extLst>
          </p:cNvPr>
          <p:cNvSpPr txBox="1"/>
          <p:nvPr/>
        </p:nvSpPr>
        <p:spPr>
          <a:xfrm>
            <a:off x="3048568" y="2825087"/>
            <a:ext cx="6320619" cy="1323439"/>
          </a:xfrm>
          <a:prstGeom prst="rect">
            <a:avLst/>
          </a:prstGeom>
          <a:noFill/>
        </p:spPr>
        <p:txBody>
          <a:bodyPr wrap="square">
            <a:spAutoFit/>
          </a:bodyPr>
          <a:lstStyle/>
          <a:p>
            <a:pPr algn="ctr" defTabSz="457200">
              <a:lnSpc>
                <a:spcPct val="100000"/>
              </a:lnSpc>
              <a:tabLst>
                <a:tab pos="0" algn="l"/>
              </a:tabLst>
            </a:pPr>
            <a:r>
              <a:rPr lang="en-US" sz="4000" b="1" strike="noStrike" spc="-1" dirty="0" err="1">
                <a:solidFill>
                  <a:srgbClr val="FFFFFF"/>
                </a:solidFill>
                <a:latin typeface="Arial Black"/>
                <a:ea typeface="Arial Black"/>
              </a:rPr>
              <a:t>CoinTrend</a:t>
            </a:r>
            <a:r>
              <a:rPr lang="en-US" sz="4000" b="1" strike="noStrike" spc="-1" dirty="0">
                <a:solidFill>
                  <a:srgbClr val="FFFFFF"/>
                </a:solidFill>
                <a:latin typeface="Arial Black"/>
                <a:ea typeface="Arial Black"/>
              </a:rPr>
              <a:t> App </a:t>
            </a:r>
          </a:p>
          <a:p>
            <a:pPr algn="ctr" defTabSz="457200">
              <a:lnSpc>
                <a:spcPct val="100000"/>
              </a:lnSpc>
              <a:tabLst>
                <a:tab pos="0" algn="l"/>
              </a:tabLst>
            </a:pPr>
            <a:r>
              <a:rPr lang="en-US" sz="4000" b="1" strike="noStrike" spc="-1" dirty="0">
                <a:solidFill>
                  <a:srgbClr val="FFFFFF"/>
                </a:solidFill>
                <a:latin typeface="Arial Black"/>
                <a:ea typeface="Arial Black"/>
              </a:rPr>
              <a:t>Live Demo </a:t>
            </a:r>
            <a:endParaRPr lang="en-US" sz="4000" b="0" strike="noStrike" spc="-1" dirty="0">
              <a:solidFill>
                <a:srgbClr val="000000"/>
              </a:solidFill>
              <a:latin typeface="Arial"/>
            </a:endParaRPr>
          </a:p>
        </p:txBody>
      </p:sp>
    </p:spTree>
    <p:extLst>
      <p:ext uri="{BB962C8B-B14F-4D97-AF65-F5344CB8AC3E}">
        <p14:creationId xmlns:p14="http://schemas.microsoft.com/office/powerpoint/2010/main" val="127517667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Damask">
  <a:themeElements>
    <a:clrScheme name="Damask">
      <a:dk1>
        <a:sysClr val="windowText" lastClr="000000"/>
      </a:dk1>
      <a:lt1>
        <a:sysClr val="window" lastClr="FFFFFF"/>
      </a:lt1>
      <a:dk2>
        <a:srgbClr val="2A5B7F"/>
      </a:dk2>
      <a:lt2>
        <a:srgbClr val="ABDAFC"/>
      </a:lt2>
      <a:accent1>
        <a:srgbClr val="9EC544"/>
      </a:accent1>
      <a:accent2>
        <a:srgbClr val="50BEA3"/>
      </a:accent2>
      <a:accent3>
        <a:srgbClr val="4A9CCC"/>
      </a:accent3>
      <a:accent4>
        <a:srgbClr val="9A66CA"/>
      </a:accent4>
      <a:accent5>
        <a:srgbClr val="C54F71"/>
      </a:accent5>
      <a:accent6>
        <a:srgbClr val="DE9C3C"/>
      </a:accent6>
      <a:hlink>
        <a:srgbClr val="6BA9DA"/>
      </a:hlink>
      <a:folHlink>
        <a:srgbClr val="A0BCD3"/>
      </a:folHlink>
    </a:clrScheme>
    <a:fontScheme name="Damask">
      <a:majorFont>
        <a:latin typeface="Bookman Old Style" panose="02050604050505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panose="020606030202050204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amask">
      <a:fillStyleLst>
        <a:solidFill>
          <a:schemeClr val="phClr"/>
        </a:solidFill>
        <a:gradFill rotWithShape="1">
          <a:gsLst>
            <a:gs pos="0">
              <a:schemeClr val="phClr">
                <a:tint val="48000"/>
                <a:satMod val="105000"/>
                <a:lumMod val="110000"/>
              </a:schemeClr>
            </a:gs>
            <a:gs pos="100000">
              <a:schemeClr val="phClr">
                <a:tint val="78000"/>
                <a:satMod val="109000"/>
                <a:lumMod val="100000"/>
              </a:schemeClr>
            </a:gs>
          </a:gsLst>
          <a:lin ang="5400000" scaled="0"/>
        </a:gradFill>
        <a:gradFill rotWithShape="1">
          <a:gsLst>
            <a:gs pos="0">
              <a:schemeClr val="phClr">
                <a:tint val="94000"/>
                <a:satMod val="100000"/>
                <a:lumMod val="104000"/>
              </a:schemeClr>
            </a:gs>
            <a:gs pos="69000">
              <a:schemeClr val="phClr">
                <a:shade val="86000"/>
                <a:satMod val="130000"/>
                <a:lumMod val="102000"/>
              </a:schemeClr>
            </a:gs>
            <a:gs pos="100000">
              <a:schemeClr val="phClr">
                <a:shade val="72000"/>
                <a:satMod val="130000"/>
                <a:lumMod val="100000"/>
              </a:schemeClr>
            </a:gs>
          </a:gsLst>
          <a:lin ang="5400000" scaled="0"/>
        </a:gradFill>
      </a:fillStyleLst>
      <a:lnStyleLst>
        <a:ln w="12700"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38100" dir="5400000" sy="96000" rotWithShape="0">
              <a:srgbClr val="000000">
                <a:alpha val="54000"/>
              </a:srgbClr>
            </a:outerShdw>
          </a:effectLst>
        </a:effectStyle>
        <a:effectStyle>
          <a:effectLst>
            <a:outerShdw blurRad="76200" dist="38100" dir="5400000" algn="ctr" rotWithShape="0">
              <a:srgbClr val="000000">
                <a:alpha val="76000"/>
              </a:srgbClr>
            </a:outerShdw>
          </a:effectLst>
          <a:scene3d>
            <a:camera prst="orthographicFront">
              <a:rot lat="0" lon="0" rev="0"/>
            </a:camera>
            <a:lightRig rig="balanced" dir="t"/>
          </a:scene3d>
          <a:sp3d prstMaterial="matte">
            <a:bevelT w="25400" h="25400" prst="relaxedInset"/>
          </a:sp3d>
        </a:effectStyle>
      </a:effectStyleLst>
      <a:bgFillStyleLst>
        <a:solidFill>
          <a:schemeClr val="phClr"/>
        </a:solidFill>
        <a:solidFill>
          <a:schemeClr val="phClr">
            <a:tint val="95000"/>
            <a:satMod val="170000"/>
          </a:schemeClr>
        </a:solidFill>
        <a:blipFill rotWithShape="1">
          <a:blip xmlns:r="http://schemas.openxmlformats.org/officeDocument/2006/relationships" r:embed="rId1">
            <a:duotone>
              <a:schemeClr val="phClr">
                <a:shade val="18000"/>
                <a:satMod val="160000"/>
                <a:lumMod val="28000"/>
              </a:schemeClr>
              <a:schemeClr val="phClr">
                <a:tint val="95000"/>
                <a:satMod val="160000"/>
                <a:lumMod val="116000"/>
              </a:schemeClr>
            </a:duotone>
          </a:blip>
          <a:stretch/>
        </a:blipFill>
      </a:bgFillStyleLst>
    </a:fmtScheme>
  </a:themeElements>
  <a:objectDefaults/>
  <a:extraClrSchemeLst/>
  <a:extLst>
    <a:ext uri="{05A4C25C-085E-4340-85A3-A5531E510DB2}">
      <thm15:themeFamily xmlns:thm15="http://schemas.microsoft.com/office/thememl/2012/main" name="Damask" id="{F9A299A0-33D0-4E0F-9F3F-7163E3744208}" vid="{746EEEEA-FB6A-406B-B510-531588D5481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4142</TotalTime>
  <Words>5546</Words>
  <Application>Microsoft Office PowerPoint</Application>
  <PresentationFormat>Widescreen</PresentationFormat>
  <Paragraphs>1193</Paragraphs>
  <Slides>29</Slides>
  <Notes>21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Aptos</vt:lpstr>
      <vt:lpstr>Arial</vt:lpstr>
      <vt:lpstr>Arial Black</vt:lpstr>
      <vt:lpstr>Bookman Old Style</vt:lpstr>
      <vt:lpstr>Calibri</vt:lpstr>
      <vt:lpstr>Rockwell</vt:lpstr>
      <vt:lpstr>Segoe UI Emoji</vt:lpstr>
      <vt:lpstr>Times New Roman</vt:lpstr>
      <vt:lpstr>Wingdings</vt:lpstr>
      <vt:lpstr>Damask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Maryem Tlili</dc:creator>
  <cp:lastModifiedBy>Maryem Tlili</cp:lastModifiedBy>
  <cp:revision>52</cp:revision>
  <dcterms:created xsi:type="dcterms:W3CDTF">2026-02-23T21:37:55Z</dcterms:created>
  <dcterms:modified xsi:type="dcterms:W3CDTF">2026-03-03T21:51:52Z</dcterms:modified>
</cp:coreProperties>
</file>