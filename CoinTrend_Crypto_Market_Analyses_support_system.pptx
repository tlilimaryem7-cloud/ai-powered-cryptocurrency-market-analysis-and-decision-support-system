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1"/>
  </p:notesMasterIdLst>
  <p:sldIdLst>
    <p:sldId id="257" r:id="rId2"/>
    <p:sldId id="258" r:id="rId3"/>
    <p:sldId id="259" r:id="rId4"/>
    <p:sldId id="256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270" r:id="rId14"/>
    <p:sldId id="271" r:id="rId15"/>
    <p:sldId id="272" r:id="rId16"/>
    <p:sldId id="278" r:id="rId17"/>
    <p:sldId id="273" r:id="rId18"/>
    <p:sldId id="274" r:id="rId19"/>
    <p:sldId id="276" r:id="rId20"/>
    <p:sldId id="277" r:id="rId21"/>
    <p:sldId id="279" r:id="rId22"/>
    <p:sldId id="280" r:id="rId23"/>
    <p:sldId id="281" r:id="rId24"/>
    <p:sldId id="291" r:id="rId25"/>
    <p:sldId id="287" r:id="rId26"/>
    <p:sldId id="288" r:id="rId27"/>
    <p:sldId id="289" r:id="rId28"/>
    <p:sldId id="286" r:id="rId29"/>
    <p:sldId id="290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90A3486-29A9-4F90-9EBD-71B831DC996F}">
          <p14:sldIdLst>
            <p14:sldId id="257"/>
            <p14:sldId id="258"/>
            <p14:sldId id="259"/>
            <p14:sldId id="256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270"/>
            <p14:sldId id="271"/>
            <p14:sldId id="272"/>
            <p14:sldId id="278"/>
            <p14:sldId id="273"/>
            <p14:sldId id="274"/>
            <p14:sldId id="276"/>
            <p14:sldId id="277"/>
            <p14:sldId id="279"/>
            <p14:sldId id="280"/>
            <p14:sldId id="281"/>
            <p14:sldId id="291"/>
            <p14:sldId id="287"/>
            <p14:sldId id="288"/>
            <p14:sldId id="289"/>
            <p14:sldId id="286"/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2238"/>
    <a:srgbClr val="2A5B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098" autoAdjust="0"/>
  </p:normalViewPr>
  <p:slideViewPr>
    <p:cSldViewPr snapToGrid="0">
      <p:cViewPr varScale="1">
        <p:scale>
          <a:sx n="150" d="100"/>
          <a:sy n="150" d="100"/>
        </p:scale>
        <p:origin x="624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0C3A51-3D09-4A32-8833-8B00BB06E6F5}" type="datetimeFigureOut">
              <a:rPr lang="en-DE" smtClean="0"/>
              <a:t>04/03/2026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89D7A5-2A41-4EFE-A9D9-E783F74D1BB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70194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7D898-A962-DDEA-FC33-E5EFDF168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C9C379-9CA4-9978-CB88-6E39625053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8B7E13-9446-F42C-F723-6F60B7F0AF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9D58F4-3724-E516-EE78-367D3E8D35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3694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7B124A6-18CC-4AC8-ABA4-11C46760B9FC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sz="1000" b="1" strike="noStrike" kern="1200" spc="-1" dirty="0">
              <a:solidFill>
                <a:srgbClr val="FFFFFF"/>
              </a:solidFill>
              <a:latin typeface="Calibri"/>
              <a:ea typeface="Calibri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4"/>
          </p:nvPr>
        </p:nvSpPr>
        <p:spPr/>
        <p:txBody>
          <a:bodyPr/>
          <a:lstStyle/>
          <a:p>
            <a:pPr indent="0" algn="r">
              <a:buNone/>
            </a:pPr>
            <a:fld id="{84B1E0E5-54B6-420A-A47B-6FAFB2A7B1CF}" type="slidenum"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14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206447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89D7A5-2A41-4EFE-A9D9-E783F74D1BBD}" type="slidenum">
              <a:rPr lang="en-DE" smtClean="0"/>
              <a:t>16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610215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89D7A5-2A41-4EFE-A9D9-E783F74D1BBD}" type="slidenum">
              <a:rPr lang="en-DE" smtClean="0"/>
              <a:t>21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751813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89D7A5-2A41-4EFE-A9D9-E783F74D1BBD}" type="slidenum">
              <a:rPr lang="en-DE" smtClean="0"/>
              <a:t>23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991195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89D7A5-2A41-4EFE-A9D9-E783F74D1BBD}" type="slidenum">
              <a:rPr lang="en-DE" smtClean="0"/>
              <a:t>25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343616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89D7A5-2A41-4EFE-A9D9-E783F74D1BBD}" type="slidenum">
              <a:rPr lang="en-DE" smtClean="0"/>
              <a:t>27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767540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DBF4A-E4C8-E850-814D-A7E7887C0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BECFDB-219E-3302-CF2E-7432A45693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1B1EC-6877-381A-AC1D-2B20EF15A6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3C62BE-17E7-928D-5A2C-9DC7A00AF2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89D7A5-2A41-4EFE-A9D9-E783F74D1BBD}" type="slidenum">
              <a:rPr lang="en-DE" smtClean="0"/>
              <a:t>29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59242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A1AF7-CAB7-4AE3-8A5D-6F799FB7CD90}" type="datetimeFigureOut">
              <a:rPr lang="en-DE" smtClean="0"/>
              <a:t>04/03/2026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ABF50-B652-401F-B196-8A1022A4332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35412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A1AF7-CAB7-4AE3-8A5D-6F799FB7CD90}" type="datetimeFigureOut">
              <a:rPr lang="en-DE" smtClean="0"/>
              <a:t>04/03/2026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ABF50-B652-401F-B196-8A1022A4332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3674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A1AF7-CAB7-4AE3-8A5D-6F799FB7CD90}" type="datetimeFigureOut">
              <a:rPr lang="en-DE" smtClean="0"/>
              <a:t>04/03/2026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ABF50-B652-401F-B196-8A1022A4332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17476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A1AF7-CAB7-4AE3-8A5D-6F799FB7CD90}" type="datetimeFigureOut">
              <a:rPr lang="en-DE" smtClean="0"/>
              <a:t>04/03/2026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ABF50-B652-401F-B196-8A1022A4332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48968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A1AF7-CAB7-4AE3-8A5D-6F799FB7CD90}" type="datetimeFigureOut">
              <a:rPr lang="en-DE" smtClean="0"/>
              <a:t>04/03/2026</a:t>
            </a:fld>
            <a:endParaRPr lang="en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ABF50-B652-401F-B196-8A1022A4332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78679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A1AF7-CAB7-4AE3-8A5D-6F799FB7CD90}" type="datetimeFigureOut">
              <a:rPr lang="en-DE" smtClean="0"/>
              <a:t>04/03/2026</a:t>
            </a:fld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ABF50-B652-401F-B196-8A1022A4332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31774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A1AF7-CAB7-4AE3-8A5D-6F799FB7CD90}" type="datetimeFigureOut">
              <a:rPr lang="en-DE" smtClean="0"/>
              <a:t>04/03/2026</a:t>
            </a:fld>
            <a:endParaRPr lang="en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ABF50-B652-401F-B196-8A1022A4332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0031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A1AF7-CAB7-4AE3-8A5D-6F799FB7CD90}" type="datetimeFigureOut">
              <a:rPr lang="en-DE" smtClean="0"/>
              <a:t>04/03/2026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ABF50-B652-401F-B196-8A1022A4332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76686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A1AF7-CAB7-4AE3-8A5D-6F799FB7CD90}" type="datetimeFigureOut">
              <a:rPr lang="en-DE" smtClean="0"/>
              <a:t>04/03/2026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ABF50-B652-401F-B196-8A1022A4332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57592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A1AF7-CAB7-4AE3-8A5D-6F799FB7CD90}" type="datetimeFigureOut">
              <a:rPr lang="en-DE" smtClean="0"/>
              <a:t>04/03/2026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ABF50-B652-401F-B196-8A1022A4332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8272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A1AF7-CAB7-4AE3-8A5D-6F799FB7CD90}" type="datetimeFigureOut">
              <a:rPr lang="en-DE" smtClean="0"/>
              <a:t>04/03/2026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ABF50-B652-401F-B196-8A1022A4332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387589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A1AF7-CAB7-4AE3-8A5D-6F799FB7CD90}" type="datetimeFigureOut">
              <a:rPr lang="en-DE" smtClean="0"/>
              <a:t>04/03/2026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ABF50-B652-401F-B196-8A1022A43325}" type="slidenum">
              <a:rPr lang="en-DE" smtClean="0"/>
              <a:t>‹#›</a:t>
            </a:fld>
            <a:endParaRPr lang="en-DE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875780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A1AF7-CAB7-4AE3-8A5D-6F799FB7CD90}" type="datetimeFigureOut">
              <a:rPr lang="en-DE" smtClean="0"/>
              <a:t>04/03/2026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ABF50-B652-401F-B196-8A1022A4332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426167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A1AF7-CAB7-4AE3-8A5D-6F799FB7CD90}" type="datetimeFigureOut">
              <a:rPr lang="en-DE" smtClean="0"/>
              <a:t>04/03/2026</a:t>
            </a:fld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ABF50-B652-401F-B196-8A1022A4332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563145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A1AF7-CAB7-4AE3-8A5D-6F799FB7CD90}" type="datetimeFigureOut">
              <a:rPr lang="en-DE" smtClean="0"/>
              <a:t>04/03/2026</a:t>
            </a:fld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ABF50-B652-401F-B196-8A1022A4332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094109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A1AF7-CAB7-4AE3-8A5D-6F799FB7CD90}" type="datetimeFigureOut">
              <a:rPr lang="en-DE" smtClean="0"/>
              <a:t>04/03/2026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ABF50-B652-401F-B196-8A1022A4332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38887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A1AF7-CAB7-4AE3-8A5D-6F799FB7CD90}" type="datetimeFigureOut">
              <a:rPr lang="en-DE" smtClean="0"/>
              <a:t>04/03/2026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ABF50-B652-401F-B196-8A1022A4332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414926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5786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5A1AF7-CAB7-4AE3-8A5D-6F799FB7CD90}" type="datetimeFigureOut">
              <a:rPr lang="en-DE" smtClean="0"/>
              <a:t>04/03/2026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0ABF50-B652-401F-B196-8A1022A4332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459757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  <p:sldLayoutId id="2147483714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sp>
        <p:nvSpPr>
          <p:cNvPr id="3" name="Shape 1"/>
          <p:cNvSpPr/>
          <p:nvPr/>
        </p:nvSpPr>
        <p:spPr>
          <a:xfrm>
            <a:off x="0" y="5974080"/>
            <a:ext cx="12192000" cy="88392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sp>
        <p:nvSpPr>
          <p:cNvPr id="4" name="Shape 2"/>
          <p:cNvSpPr/>
          <p:nvPr/>
        </p:nvSpPr>
        <p:spPr>
          <a:xfrm>
            <a:off x="7924800" y="-1463040"/>
            <a:ext cx="6705600" cy="6705600"/>
          </a:xfrm>
          <a:prstGeom prst="ellipse">
            <a:avLst/>
          </a:prstGeom>
          <a:solidFill>
            <a:srgbClr val="F7931A">
              <a:alpha val="12000"/>
            </a:srgbClr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sp>
        <p:nvSpPr>
          <p:cNvPr id="5" name="Shape 3"/>
          <p:cNvSpPr/>
          <p:nvPr/>
        </p:nvSpPr>
        <p:spPr>
          <a:xfrm>
            <a:off x="8778240" y="-609600"/>
            <a:ext cx="4632960" cy="4632960"/>
          </a:xfrm>
          <a:prstGeom prst="ellipse">
            <a:avLst/>
          </a:prstGeom>
          <a:solidFill>
            <a:srgbClr val="F7931A">
              <a:alpha val="18000"/>
            </a:srgbClr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sp>
        <p:nvSpPr>
          <p:cNvPr id="8" name="Text 6"/>
          <p:cNvSpPr/>
          <p:nvPr/>
        </p:nvSpPr>
        <p:spPr>
          <a:xfrm>
            <a:off x="470452" y="892994"/>
            <a:ext cx="97536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CoinTrend AI</a:t>
            </a:r>
            <a:endParaRPr lang="en-US" sz="6933" dirty="0"/>
          </a:p>
        </p:txBody>
      </p:sp>
      <p:sp>
        <p:nvSpPr>
          <p:cNvPr id="9" name="Text 7"/>
          <p:cNvSpPr/>
          <p:nvPr/>
        </p:nvSpPr>
        <p:spPr>
          <a:xfrm>
            <a:off x="636650" y="4023360"/>
            <a:ext cx="3239611" cy="5358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Cryptocurrency Market</a:t>
            </a:r>
            <a:endParaRPr lang="en-US" sz="1600" dirty="0"/>
          </a:p>
          <a:p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Decision Support System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609600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Maryem Tlili</a:t>
            </a: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Data Science &amp; Machine Learning | 2026</a:t>
            </a:r>
            <a:endParaRPr lang="en-US" sz="16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E52F1476-AC3D-5277-F8AE-4888F95ADC69}"/>
              </a:ext>
            </a:extLst>
          </p:cNvPr>
          <p:cNvSpPr/>
          <p:nvPr/>
        </p:nvSpPr>
        <p:spPr>
          <a:xfrm>
            <a:off x="3163512" y="1880777"/>
            <a:ext cx="2114614" cy="203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Step Ahead Of The Market 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87680" y="755904"/>
            <a:ext cx="1121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</a:t>
            </a:r>
            <a:endParaRPr lang="en-US" sz="3733" dirty="0"/>
          </a:p>
        </p:txBody>
      </p:sp>
      <p:sp>
        <p:nvSpPr>
          <p:cNvPr id="5" name="Shape 3"/>
          <p:cNvSpPr/>
          <p:nvPr/>
        </p:nvSpPr>
        <p:spPr>
          <a:xfrm>
            <a:off x="426720" y="1731264"/>
            <a:ext cx="2682240" cy="1194816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DE" sz="2400"/>
          </a:p>
        </p:txBody>
      </p:sp>
      <p:sp>
        <p:nvSpPr>
          <p:cNvPr id="6" name="Shape 4"/>
          <p:cNvSpPr/>
          <p:nvPr/>
        </p:nvSpPr>
        <p:spPr>
          <a:xfrm>
            <a:off x="426720" y="1731264"/>
            <a:ext cx="73152" cy="1194816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sp>
        <p:nvSpPr>
          <p:cNvPr id="7" name="Text 5"/>
          <p:cNvSpPr/>
          <p:nvPr/>
        </p:nvSpPr>
        <p:spPr>
          <a:xfrm>
            <a:off x="609600" y="1804416"/>
            <a:ext cx="60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67" dirty="0"/>
          </a:p>
        </p:txBody>
      </p:sp>
      <p:sp>
        <p:nvSpPr>
          <p:cNvPr id="8" name="Text 6"/>
          <p:cNvSpPr/>
          <p:nvPr/>
        </p:nvSpPr>
        <p:spPr>
          <a:xfrm>
            <a:off x="609600" y="2133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CoinTrend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? 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246278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problem do we solve?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731264"/>
            <a:ext cx="2682240" cy="1194816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DE" sz="2400"/>
          </a:p>
        </p:txBody>
      </p:sp>
      <p:sp>
        <p:nvSpPr>
          <p:cNvPr id="11" name="Shape 9"/>
          <p:cNvSpPr/>
          <p:nvPr/>
        </p:nvSpPr>
        <p:spPr>
          <a:xfrm>
            <a:off x="3291840" y="1731264"/>
            <a:ext cx="73152" cy="1194816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sp>
        <p:nvSpPr>
          <p:cNvPr id="12" name="Text 10"/>
          <p:cNvSpPr/>
          <p:nvPr/>
        </p:nvSpPr>
        <p:spPr>
          <a:xfrm>
            <a:off x="3474720" y="1804416"/>
            <a:ext cx="60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67" dirty="0"/>
          </a:p>
        </p:txBody>
      </p:sp>
      <p:sp>
        <p:nvSpPr>
          <p:cNvPr id="13" name="Text 11"/>
          <p:cNvSpPr/>
          <p:nvPr/>
        </p:nvSpPr>
        <p:spPr>
          <a:xfrm>
            <a:off x="3474720" y="2133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246278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 workflow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56960" y="1731264"/>
            <a:ext cx="2682240" cy="1194816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DE" sz="2400"/>
          </a:p>
        </p:txBody>
      </p:sp>
      <p:sp>
        <p:nvSpPr>
          <p:cNvPr id="16" name="Shape 14"/>
          <p:cNvSpPr/>
          <p:nvPr/>
        </p:nvSpPr>
        <p:spPr>
          <a:xfrm>
            <a:off x="6156960" y="1731264"/>
            <a:ext cx="73152" cy="119481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sp>
        <p:nvSpPr>
          <p:cNvPr id="17" name="Text 15"/>
          <p:cNvSpPr/>
          <p:nvPr/>
        </p:nvSpPr>
        <p:spPr>
          <a:xfrm>
            <a:off x="6339840" y="1804416"/>
            <a:ext cx="60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67" dirty="0"/>
          </a:p>
        </p:txBody>
      </p:sp>
      <p:sp>
        <p:nvSpPr>
          <p:cNvPr id="18" name="Text 16"/>
          <p:cNvSpPr/>
          <p:nvPr/>
        </p:nvSpPr>
        <p:spPr>
          <a:xfrm>
            <a:off x="6339840" y="2133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EDA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39840" y="246278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Sources, pipeline, insights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22080" y="1731264"/>
            <a:ext cx="2682240" cy="1194816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DE" sz="2400"/>
          </a:p>
        </p:txBody>
      </p:sp>
      <p:sp>
        <p:nvSpPr>
          <p:cNvPr id="21" name="Shape 19"/>
          <p:cNvSpPr/>
          <p:nvPr/>
        </p:nvSpPr>
        <p:spPr>
          <a:xfrm>
            <a:off x="9022080" y="1731264"/>
            <a:ext cx="73152" cy="119481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sp>
        <p:nvSpPr>
          <p:cNvPr id="22" name="Text 20"/>
          <p:cNvSpPr/>
          <p:nvPr/>
        </p:nvSpPr>
        <p:spPr>
          <a:xfrm>
            <a:off x="9204960" y="1804416"/>
            <a:ext cx="60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67" dirty="0"/>
          </a:p>
        </p:txBody>
      </p:sp>
      <p:sp>
        <p:nvSpPr>
          <p:cNvPr id="23" name="Text 21"/>
          <p:cNvSpPr/>
          <p:nvPr/>
        </p:nvSpPr>
        <p:spPr>
          <a:xfrm>
            <a:off x="9204960" y="2133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204960" y="2462784"/>
            <a:ext cx="249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Experiments, models and evaluation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6720" y="3145536"/>
            <a:ext cx="3535680" cy="1194816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DE" sz="2400" dirty="0"/>
          </a:p>
        </p:txBody>
      </p:sp>
      <p:sp>
        <p:nvSpPr>
          <p:cNvPr id="26" name="Shape 24"/>
          <p:cNvSpPr/>
          <p:nvPr/>
        </p:nvSpPr>
        <p:spPr>
          <a:xfrm>
            <a:off x="426720" y="3145536"/>
            <a:ext cx="73152" cy="1194816"/>
          </a:xfrm>
          <a:prstGeom prst="rect">
            <a:avLst/>
          </a:prstGeom>
          <a:solidFill>
            <a:srgbClr val="627EEA"/>
          </a:solidFill>
          <a:ln w="12700">
            <a:solidFill>
              <a:srgbClr val="627EEA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sp>
        <p:nvSpPr>
          <p:cNvPr id="27" name="Text 25"/>
          <p:cNvSpPr/>
          <p:nvPr/>
        </p:nvSpPr>
        <p:spPr>
          <a:xfrm>
            <a:off x="609600" y="3218688"/>
            <a:ext cx="60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62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67" dirty="0"/>
          </a:p>
        </p:txBody>
      </p:sp>
      <p:sp>
        <p:nvSpPr>
          <p:cNvPr id="28" name="Text 26"/>
          <p:cNvSpPr/>
          <p:nvPr/>
        </p:nvSpPr>
        <p:spPr>
          <a:xfrm>
            <a:off x="609600" y="3535680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Tracking system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09600" y="3864864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Monitoring, Drift detection and auto retraining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230624" y="3145536"/>
            <a:ext cx="3535680" cy="1194816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DE" sz="2400"/>
          </a:p>
        </p:txBody>
      </p:sp>
      <p:sp>
        <p:nvSpPr>
          <p:cNvPr id="31" name="Shape 29"/>
          <p:cNvSpPr/>
          <p:nvPr/>
        </p:nvSpPr>
        <p:spPr>
          <a:xfrm>
            <a:off x="4230624" y="3145536"/>
            <a:ext cx="73152" cy="1194816"/>
          </a:xfrm>
          <a:prstGeom prst="rect">
            <a:avLst/>
          </a:prstGeom>
          <a:solidFill>
            <a:srgbClr val="627EEA"/>
          </a:solidFill>
          <a:ln w="12700">
            <a:solidFill>
              <a:srgbClr val="627EEA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sp>
        <p:nvSpPr>
          <p:cNvPr id="32" name="Text 30"/>
          <p:cNvSpPr/>
          <p:nvPr/>
        </p:nvSpPr>
        <p:spPr>
          <a:xfrm>
            <a:off x="4413504" y="3218688"/>
            <a:ext cx="60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62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67" dirty="0"/>
          </a:p>
        </p:txBody>
      </p:sp>
      <p:sp>
        <p:nvSpPr>
          <p:cNvPr id="33" name="Text 31"/>
          <p:cNvSpPr/>
          <p:nvPr/>
        </p:nvSpPr>
        <p:spPr>
          <a:xfrm>
            <a:off x="4413504" y="3535680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Chatbot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413504" y="3864864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News retrieval and AI reasoning layer 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034528" y="3145536"/>
            <a:ext cx="3669792" cy="1194816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DE" sz="2400"/>
          </a:p>
        </p:txBody>
      </p:sp>
      <p:sp>
        <p:nvSpPr>
          <p:cNvPr id="36" name="Shape 34"/>
          <p:cNvSpPr/>
          <p:nvPr/>
        </p:nvSpPr>
        <p:spPr>
          <a:xfrm>
            <a:off x="8034528" y="3145536"/>
            <a:ext cx="73152" cy="1194816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sp>
        <p:nvSpPr>
          <p:cNvPr id="37" name="Text 35"/>
          <p:cNvSpPr/>
          <p:nvPr/>
        </p:nvSpPr>
        <p:spPr>
          <a:xfrm>
            <a:off x="8217408" y="3218688"/>
            <a:ext cx="60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67" dirty="0"/>
          </a:p>
        </p:txBody>
      </p:sp>
      <p:sp>
        <p:nvSpPr>
          <p:cNvPr id="38" name="Text 36"/>
          <p:cNvSpPr/>
          <p:nvPr/>
        </p:nvSpPr>
        <p:spPr>
          <a:xfrm>
            <a:off x="8217408" y="3535680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217408" y="3864864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and chatbot walkthrough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7680" y="268224"/>
            <a:ext cx="685137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</a:rPr>
              <a:t>O1</a:t>
            </a:r>
            <a:endParaRPr lang="en-US" sz="1067" dirty="0"/>
          </a:p>
        </p:txBody>
      </p:sp>
      <p:sp>
        <p:nvSpPr>
          <p:cNvPr id="4" name="Text 2"/>
          <p:cNvSpPr/>
          <p:nvPr/>
        </p:nvSpPr>
        <p:spPr>
          <a:xfrm>
            <a:off x="322580" y="70104"/>
            <a:ext cx="1121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7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the Crypto Market Need Intelligence?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EA6E07B-26F2-E393-2E0C-68B75B6E7860}"/>
              </a:ext>
            </a:extLst>
          </p:cNvPr>
          <p:cNvGrpSpPr/>
          <p:nvPr/>
        </p:nvGrpSpPr>
        <p:grpSpPr>
          <a:xfrm>
            <a:off x="7082028" y="2647696"/>
            <a:ext cx="3535680" cy="1767840"/>
            <a:chOff x="7082028" y="2647696"/>
            <a:chExt cx="3535680" cy="1767840"/>
          </a:xfrm>
        </p:grpSpPr>
        <p:sp>
          <p:nvSpPr>
            <p:cNvPr id="13" name="Shape 11"/>
            <p:cNvSpPr/>
            <p:nvPr/>
          </p:nvSpPr>
          <p:spPr>
            <a:xfrm>
              <a:off x="7082028" y="2647696"/>
              <a:ext cx="3535680" cy="17678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DE" sz="1600"/>
            </a:p>
          </p:txBody>
        </p:sp>
        <p:sp>
          <p:nvSpPr>
            <p:cNvPr id="14" name="Shape 12"/>
            <p:cNvSpPr/>
            <p:nvPr/>
          </p:nvSpPr>
          <p:spPr>
            <a:xfrm>
              <a:off x="7082028" y="2647696"/>
              <a:ext cx="73152" cy="1767840"/>
            </a:xfrm>
            <a:prstGeom prst="rect">
              <a:avLst/>
            </a:prstGeom>
            <a:solidFill>
              <a:srgbClr val="00D4AA"/>
            </a:solidFill>
            <a:ln w="12700">
              <a:solidFill>
                <a:srgbClr val="00D4AA"/>
              </a:solidFill>
              <a:prstDash val="solid"/>
            </a:ln>
          </p:spPr>
          <p:txBody>
            <a:bodyPr/>
            <a:lstStyle/>
            <a:p>
              <a:endParaRPr lang="en-DE" sz="1600"/>
            </a:p>
          </p:txBody>
        </p:sp>
        <p:sp>
          <p:nvSpPr>
            <p:cNvPr id="15" name="Text 13"/>
            <p:cNvSpPr/>
            <p:nvPr/>
          </p:nvSpPr>
          <p:spPr>
            <a:xfrm>
              <a:off x="7301484" y="2769616"/>
              <a:ext cx="3108960" cy="4632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600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😨  Market Sentiment</a:t>
              </a:r>
              <a:endParaRPr lang="en-US" sz="16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7301484" y="3232912"/>
              <a:ext cx="3108960" cy="1036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6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Fear driven selling or greed driven buying can amplify price swings.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B7EFC92-62B8-B280-22CB-F1340F636D4F}"/>
              </a:ext>
            </a:extLst>
          </p:cNvPr>
          <p:cNvGrpSpPr/>
          <p:nvPr/>
        </p:nvGrpSpPr>
        <p:grpSpPr>
          <a:xfrm>
            <a:off x="1430020" y="4659376"/>
            <a:ext cx="3535680" cy="1767840"/>
            <a:chOff x="1430020" y="4659376"/>
            <a:chExt cx="3535680" cy="1767840"/>
          </a:xfrm>
        </p:grpSpPr>
        <p:sp>
          <p:nvSpPr>
            <p:cNvPr id="17" name="Shape 15"/>
            <p:cNvSpPr/>
            <p:nvPr/>
          </p:nvSpPr>
          <p:spPr>
            <a:xfrm>
              <a:off x="1430020" y="4659376"/>
              <a:ext cx="3535680" cy="17678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DE" sz="1600"/>
            </a:p>
          </p:txBody>
        </p:sp>
        <p:sp>
          <p:nvSpPr>
            <p:cNvPr id="18" name="Shape 16"/>
            <p:cNvSpPr/>
            <p:nvPr/>
          </p:nvSpPr>
          <p:spPr>
            <a:xfrm>
              <a:off x="1430020" y="4659376"/>
              <a:ext cx="73152" cy="1767840"/>
            </a:xfrm>
            <a:prstGeom prst="rect">
              <a:avLst/>
            </a:prstGeom>
            <a:solidFill>
              <a:srgbClr val="E11D48"/>
            </a:solidFill>
            <a:ln w="12700">
              <a:solidFill>
                <a:srgbClr val="E11D48"/>
              </a:solidFill>
              <a:prstDash val="solid"/>
            </a:ln>
          </p:spPr>
          <p:txBody>
            <a:bodyPr/>
            <a:lstStyle/>
            <a:p>
              <a:endParaRPr lang="en-DE" sz="1600"/>
            </a:p>
          </p:txBody>
        </p:sp>
        <p:sp>
          <p:nvSpPr>
            <p:cNvPr id="19" name="Text 17"/>
            <p:cNvSpPr/>
            <p:nvPr/>
          </p:nvSpPr>
          <p:spPr>
            <a:xfrm>
              <a:off x="1649476" y="4781296"/>
              <a:ext cx="3108960" cy="4632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600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📊  Technical Signals</a:t>
              </a:r>
              <a:endParaRPr lang="en-US" sz="16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1649476" y="5244592"/>
              <a:ext cx="3108960" cy="1036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6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Price trends and momentum shifts that traders try to interpret.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1782DB8-8596-4EE0-20B9-76835322BC89}"/>
              </a:ext>
            </a:extLst>
          </p:cNvPr>
          <p:cNvGrpSpPr/>
          <p:nvPr/>
        </p:nvGrpSpPr>
        <p:grpSpPr>
          <a:xfrm>
            <a:off x="7082028" y="4659376"/>
            <a:ext cx="3535680" cy="1767840"/>
            <a:chOff x="7082028" y="4659376"/>
            <a:chExt cx="3535680" cy="1767840"/>
          </a:xfrm>
        </p:grpSpPr>
        <p:sp>
          <p:nvSpPr>
            <p:cNvPr id="25" name="Shape 23"/>
            <p:cNvSpPr/>
            <p:nvPr/>
          </p:nvSpPr>
          <p:spPr>
            <a:xfrm>
              <a:off x="7082028" y="4659376"/>
              <a:ext cx="3535680" cy="17678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r>
                <a:rPr lang="en-US" sz="1600" dirty="0"/>
                <a:t>Crypto moves in lo</a:t>
              </a:r>
              <a:endParaRPr lang="en-DE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</p:txBody>
        </p:sp>
        <p:sp>
          <p:nvSpPr>
            <p:cNvPr id="26" name="Shape 24"/>
            <p:cNvSpPr/>
            <p:nvPr/>
          </p:nvSpPr>
          <p:spPr>
            <a:xfrm>
              <a:off x="7082028" y="4659376"/>
              <a:ext cx="73152" cy="1767840"/>
            </a:xfrm>
            <a:prstGeom prst="rect">
              <a:avLst/>
            </a:prstGeom>
            <a:solidFill>
              <a:srgbClr val="627EEA"/>
            </a:solidFill>
            <a:ln w="12700">
              <a:solidFill>
                <a:srgbClr val="627EEA"/>
              </a:solidFill>
              <a:prstDash val="solid"/>
            </a:ln>
          </p:spPr>
          <p:txBody>
            <a:bodyPr/>
            <a:lstStyle/>
            <a:p>
              <a:endParaRPr lang="en-DE" sz="1600"/>
            </a:p>
          </p:txBody>
        </p:sp>
        <p:sp>
          <p:nvSpPr>
            <p:cNvPr id="27" name="Text 25"/>
            <p:cNvSpPr/>
            <p:nvPr/>
          </p:nvSpPr>
          <p:spPr>
            <a:xfrm>
              <a:off x="7301484" y="4781296"/>
              <a:ext cx="3108960" cy="4632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600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⏰  Market Cycles</a:t>
              </a:r>
              <a:endParaRPr lang="en-US" sz="16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7301484" y="5244592"/>
              <a:ext cx="3108960" cy="1036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6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Crypto moves in long bull and bear cycles.</a:t>
              </a:r>
              <a:br>
                <a:rPr lang="en-US" sz="16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6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Strategies that work in one phase often fail in another.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D7363A4D-DBCD-42A2-95AE-DEE24680A66B}"/>
              </a:ext>
            </a:extLst>
          </p:cNvPr>
          <p:cNvSpPr txBox="1"/>
          <p:nvPr/>
        </p:nvSpPr>
        <p:spPr>
          <a:xfrm>
            <a:off x="-165100" y="1324112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Cryptocurrencies are digital assets traded globally 24/7, with no central authority. </a:t>
            </a:r>
          </a:p>
          <a:p>
            <a:pPr algn="ctr"/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crypto market exceeds 2 trillions in total value and attracts retail investors, institutions, and governments.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2B851A9-97CA-8D87-77DE-E8AA016FF788}"/>
              </a:ext>
            </a:extLst>
          </p:cNvPr>
          <p:cNvGrpSpPr/>
          <p:nvPr/>
        </p:nvGrpSpPr>
        <p:grpSpPr>
          <a:xfrm>
            <a:off x="1423924" y="2602738"/>
            <a:ext cx="3535680" cy="1774444"/>
            <a:chOff x="1423924" y="2602738"/>
            <a:chExt cx="3535680" cy="1774444"/>
          </a:xfrm>
        </p:grpSpPr>
        <p:sp>
          <p:nvSpPr>
            <p:cNvPr id="31" name="Shape 7">
              <a:extLst>
                <a:ext uri="{FF2B5EF4-FFF2-40B4-BE49-F238E27FC236}">
                  <a16:creationId xmlns:a16="http://schemas.microsoft.com/office/drawing/2014/main" id="{620478CA-4C09-B86A-16CA-F73AEE8FE9EA}"/>
                </a:ext>
              </a:extLst>
            </p:cNvPr>
            <p:cNvSpPr/>
            <p:nvPr/>
          </p:nvSpPr>
          <p:spPr>
            <a:xfrm>
              <a:off x="1423924" y="2602738"/>
              <a:ext cx="3535680" cy="17678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DE" sz="1600"/>
            </a:p>
          </p:txBody>
        </p:sp>
        <p:sp>
          <p:nvSpPr>
            <p:cNvPr id="32" name="Shape 8">
              <a:extLst>
                <a:ext uri="{FF2B5EF4-FFF2-40B4-BE49-F238E27FC236}">
                  <a16:creationId xmlns:a16="http://schemas.microsoft.com/office/drawing/2014/main" id="{E1C5961C-F8D6-919D-5D6C-0BBC33D217FE}"/>
                </a:ext>
              </a:extLst>
            </p:cNvPr>
            <p:cNvSpPr/>
            <p:nvPr/>
          </p:nvSpPr>
          <p:spPr>
            <a:xfrm>
              <a:off x="1423924" y="2609342"/>
              <a:ext cx="73152" cy="1767840"/>
            </a:xfrm>
            <a:prstGeom prst="rect">
              <a:avLst/>
            </a:prstGeom>
            <a:solidFill>
              <a:srgbClr val="627EEA"/>
            </a:solidFill>
            <a:ln w="12700">
              <a:solidFill>
                <a:srgbClr val="627EEA"/>
              </a:solidFill>
              <a:prstDash val="solid"/>
            </a:ln>
          </p:spPr>
          <p:txBody>
            <a:bodyPr/>
            <a:lstStyle/>
            <a:p>
              <a:endParaRPr lang="en-DE" sz="1600" dirty="0"/>
            </a:p>
          </p:txBody>
        </p:sp>
        <p:sp>
          <p:nvSpPr>
            <p:cNvPr id="33" name="Text 9">
              <a:extLst>
                <a:ext uri="{FF2B5EF4-FFF2-40B4-BE49-F238E27FC236}">
                  <a16:creationId xmlns:a16="http://schemas.microsoft.com/office/drawing/2014/main" id="{17669F31-5E88-077B-8BC1-6C7CBF3D37EF}"/>
                </a:ext>
              </a:extLst>
            </p:cNvPr>
            <p:cNvSpPr/>
            <p:nvPr/>
          </p:nvSpPr>
          <p:spPr>
            <a:xfrm>
              <a:off x="1643380" y="2743962"/>
              <a:ext cx="3108960" cy="4632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600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🌍  News and Macro Economy</a:t>
              </a:r>
              <a:endParaRPr lang="en-US" sz="1600" dirty="0"/>
            </a:p>
          </p:txBody>
        </p:sp>
        <p:sp>
          <p:nvSpPr>
            <p:cNvPr id="34" name="Text 10">
              <a:extLst>
                <a:ext uri="{FF2B5EF4-FFF2-40B4-BE49-F238E27FC236}">
                  <a16:creationId xmlns:a16="http://schemas.microsoft.com/office/drawing/2014/main" id="{ABDCDD62-376B-B1B6-013E-7B9B50E5AE64}"/>
                </a:ext>
              </a:extLst>
            </p:cNvPr>
            <p:cNvSpPr/>
            <p:nvPr/>
          </p:nvSpPr>
          <p:spPr>
            <a:xfrm>
              <a:off x="1643380" y="3207258"/>
              <a:ext cx="3108960" cy="1036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6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Interest rate cut ,inflation ,the strength of the US dollar , countries taxing strategies and wars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21920"/>
            <a:ext cx="1219200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CoinTrend</a:t>
            </a:r>
            <a:r>
              <a:rPr lang="en-US" sz="26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System Architecture</a:t>
            </a:r>
            <a:endParaRPr lang="en-US" sz="2667" dirty="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058064A-DEF7-10E7-48A4-492F6AC7A75B}"/>
              </a:ext>
            </a:extLst>
          </p:cNvPr>
          <p:cNvGrpSpPr/>
          <p:nvPr/>
        </p:nvGrpSpPr>
        <p:grpSpPr>
          <a:xfrm>
            <a:off x="182880" y="1072896"/>
            <a:ext cx="1682496" cy="4047744"/>
            <a:chOff x="182880" y="1072896"/>
            <a:chExt cx="1682496" cy="4047744"/>
          </a:xfrm>
        </p:grpSpPr>
        <p:sp>
          <p:nvSpPr>
            <p:cNvPr id="5" name="Shape 3"/>
            <p:cNvSpPr/>
            <p:nvPr/>
          </p:nvSpPr>
          <p:spPr>
            <a:xfrm>
              <a:off x="182880" y="1072896"/>
              <a:ext cx="1682496" cy="4047744"/>
            </a:xfrm>
            <a:prstGeom prst="rect">
              <a:avLst/>
            </a:prstGeom>
            <a:solidFill>
              <a:srgbClr val="1E3A5F"/>
            </a:solidFill>
            <a:ln w="19050">
              <a:solidFill>
                <a:srgbClr val="F7931A"/>
              </a:solidFill>
              <a:prstDash val="solid"/>
            </a:ln>
          </p:spPr>
          <p:txBody>
            <a:bodyPr/>
            <a:lstStyle/>
            <a:p>
              <a:endParaRPr lang="en-DE" sz="12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182880" y="1072896"/>
              <a:ext cx="1682496" cy="73152"/>
            </a:xfrm>
            <a:prstGeom prst="rect">
              <a:avLst/>
            </a:prstGeom>
            <a:solidFill>
              <a:srgbClr val="F7931A"/>
            </a:solidFill>
            <a:ln w="12700">
              <a:solidFill>
                <a:srgbClr val="F7931A"/>
              </a:solidFill>
              <a:prstDash val="solid"/>
            </a:ln>
          </p:spPr>
          <p:txBody>
            <a:bodyPr/>
            <a:lstStyle/>
            <a:p>
              <a:endParaRPr lang="en-DE" sz="1200"/>
            </a:p>
          </p:txBody>
        </p:sp>
        <p:sp>
          <p:nvSpPr>
            <p:cNvPr id="7" name="Text 5"/>
            <p:cNvSpPr/>
            <p:nvPr/>
          </p:nvSpPr>
          <p:spPr>
            <a:xfrm>
              <a:off x="280416" y="1194816"/>
              <a:ext cx="1487424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b="1" dirty="0">
                  <a:solidFill>
                    <a:srgbClr val="F793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LIVE MARKET DATA</a:t>
              </a:r>
              <a:endParaRPr lang="en-US" sz="12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280416" y="1536192"/>
              <a:ext cx="1487424" cy="34625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20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</a:p>
            <a:p>
              <a:endParaRPr lang="en-US" sz="1200" dirty="0"/>
            </a:p>
            <a:p>
              <a:r>
                <a:rPr lang="en-US" sz="120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📈 Crypto prices  </a:t>
              </a:r>
            </a:p>
            <a:p>
              <a:r>
                <a:rPr lang="en-US" sz="120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😨 Fear &amp; Greed</a:t>
              </a:r>
              <a:endParaRPr lang="en-US" sz="1200" dirty="0"/>
            </a:p>
            <a:p>
              <a:r>
                <a:rPr lang="en-US" sz="120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      Global indicators</a:t>
              </a:r>
              <a:br>
                <a:rPr lang="en-US" sz="120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20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</a:p>
            <a:p>
              <a:endPara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endParaRPr lang="en-US" sz="1200" dirty="0"/>
            </a:p>
            <a:p>
              <a:r>
                <a:rPr lang="en-US" sz="120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Source :</a:t>
              </a:r>
              <a:r>
                <a:rPr lang="en-US" sz="1200" dirty="0" err="1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yahoofinance</a:t>
              </a:r>
              <a:r>
                <a:rPr lang="en-US" sz="120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/  alt.me</a:t>
              </a:r>
            </a:p>
            <a:p>
              <a:endPara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endPara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endPara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r>
                <a:rPr lang="en-US" sz="120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Automated fetch daily at 00:30 AM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F345FE1D-AAAD-BAFE-92BF-1F9BF5C37452}"/>
              </a:ext>
            </a:extLst>
          </p:cNvPr>
          <p:cNvGrpSpPr/>
          <p:nvPr/>
        </p:nvGrpSpPr>
        <p:grpSpPr>
          <a:xfrm>
            <a:off x="2109216" y="755904"/>
            <a:ext cx="1621536" cy="2121408"/>
            <a:chOff x="2109216" y="755904"/>
            <a:chExt cx="1621536" cy="2121408"/>
          </a:xfrm>
        </p:grpSpPr>
        <p:sp>
          <p:nvSpPr>
            <p:cNvPr id="3" name="Text 1"/>
            <p:cNvSpPr/>
            <p:nvPr/>
          </p:nvSpPr>
          <p:spPr>
            <a:xfrm>
              <a:off x="2109216" y="755904"/>
              <a:ext cx="1285834" cy="243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b="1" dirty="0">
                  <a:solidFill>
                    <a:srgbClr val="F793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▶   ML PIPELINE</a:t>
              </a:r>
              <a:endParaRPr lang="en-US" sz="12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2109216" y="1072896"/>
              <a:ext cx="1621536" cy="1804416"/>
            </a:xfrm>
            <a:prstGeom prst="rect">
              <a:avLst/>
            </a:prstGeom>
            <a:solidFill>
              <a:srgbClr val="1E3A5F"/>
            </a:solidFill>
            <a:ln w="19050">
              <a:solidFill>
                <a:srgbClr val="00D4AA"/>
              </a:solidFill>
              <a:prstDash val="solid"/>
            </a:ln>
          </p:spPr>
          <p:txBody>
            <a:bodyPr/>
            <a:lstStyle/>
            <a:p>
              <a:endParaRPr lang="en-DE" sz="1200"/>
            </a:p>
          </p:txBody>
        </p:sp>
        <p:sp>
          <p:nvSpPr>
            <p:cNvPr id="10" name="Shape 8"/>
            <p:cNvSpPr/>
            <p:nvPr/>
          </p:nvSpPr>
          <p:spPr>
            <a:xfrm>
              <a:off x="2109216" y="1072896"/>
              <a:ext cx="1621536" cy="73152"/>
            </a:xfrm>
            <a:prstGeom prst="rect">
              <a:avLst/>
            </a:prstGeom>
            <a:solidFill>
              <a:srgbClr val="00D4AA"/>
            </a:solidFill>
            <a:ln w="12700">
              <a:solidFill>
                <a:srgbClr val="00D4AA"/>
              </a:solidFill>
              <a:prstDash val="solid"/>
            </a:ln>
          </p:spPr>
          <p:txBody>
            <a:bodyPr/>
            <a:lstStyle/>
            <a:p>
              <a:endParaRPr lang="en-DE" sz="1200"/>
            </a:p>
          </p:txBody>
        </p:sp>
        <p:sp>
          <p:nvSpPr>
            <p:cNvPr id="11" name="Text 9"/>
            <p:cNvSpPr/>
            <p:nvPr/>
          </p:nvSpPr>
          <p:spPr>
            <a:xfrm>
              <a:off x="2206752" y="1194816"/>
              <a:ext cx="1426464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b="1" dirty="0">
                  <a:solidFill>
                    <a:srgbClr val="00D4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FEATURE ENGINEERING</a:t>
              </a:r>
              <a:endParaRPr lang="en-US" sz="12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2206752" y="1536192"/>
              <a:ext cx="1426464" cy="1219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20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Structured signals</a:t>
              </a:r>
              <a:br>
                <a:rPr lang="en-US" sz="120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20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Capturing trend, volatility &amp; sentiment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86FEF4A-7DF1-0713-50F0-54B8DAB1969A}"/>
              </a:ext>
            </a:extLst>
          </p:cNvPr>
          <p:cNvGrpSpPr/>
          <p:nvPr/>
        </p:nvGrpSpPr>
        <p:grpSpPr>
          <a:xfrm>
            <a:off x="3974592" y="1072896"/>
            <a:ext cx="1621536" cy="1804416"/>
            <a:chOff x="3974592" y="1072896"/>
            <a:chExt cx="1621536" cy="1804416"/>
          </a:xfrm>
        </p:grpSpPr>
        <p:sp>
          <p:nvSpPr>
            <p:cNvPr id="17" name="Shape 15"/>
            <p:cNvSpPr/>
            <p:nvPr/>
          </p:nvSpPr>
          <p:spPr>
            <a:xfrm>
              <a:off x="3974592" y="1072896"/>
              <a:ext cx="1621536" cy="1804416"/>
            </a:xfrm>
            <a:prstGeom prst="rect">
              <a:avLst/>
            </a:prstGeom>
            <a:solidFill>
              <a:srgbClr val="1E3A5F"/>
            </a:solidFill>
            <a:ln w="19050">
              <a:solidFill>
                <a:srgbClr val="F7931A"/>
              </a:solidFill>
              <a:prstDash val="solid"/>
            </a:ln>
          </p:spPr>
          <p:txBody>
            <a:bodyPr/>
            <a:lstStyle/>
            <a:p>
              <a:endParaRPr lang="en-DE" sz="1200"/>
            </a:p>
          </p:txBody>
        </p:sp>
        <p:sp>
          <p:nvSpPr>
            <p:cNvPr id="18" name="Shape 16"/>
            <p:cNvSpPr/>
            <p:nvPr/>
          </p:nvSpPr>
          <p:spPr>
            <a:xfrm>
              <a:off x="3974592" y="1072896"/>
              <a:ext cx="1621536" cy="73152"/>
            </a:xfrm>
            <a:prstGeom prst="rect">
              <a:avLst/>
            </a:prstGeom>
            <a:solidFill>
              <a:srgbClr val="F7931A"/>
            </a:solidFill>
            <a:ln w="12700">
              <a:solidFill>
                <a:srgbClr val="F7931A"/>
              </a:solidFill>
              <a:prstDash val="solid"/>
            </a:ln>
          </p:spPr>
          <p:txBody>
            <a:bodyPr/>
            <a:lstStyle/>
            <a:p>
              <a:endParaRPr lang="en-DE" sz="1200"/>
            </a:p>
          </p:txBody>
        </p:sp>
        <p:sp>
          <p:nvSpPr>
            <p:cNvPr id="19" name="Text 17"/>
            <p:cNvSpPr/>
            <p:nvPr/>
          </p:nvSpPr>
          <p:spPr>
            <a:xfrm>
              <a:off x="4072128" y="1194816"/>
              <a:ext cx="1426464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b="1" dirty="0">
                  <a:solidFill>
                    <a:srgbClr val="F793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ML MODELS</a:t>
              </a:r>
              <a:endParaRPr lang="en-US" sz="12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4072128" y="1536192"/>
              <a:ext cx="1426464" cy="1219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20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Trained on 9 years historical regimes</a:t>
              </a:r>
            </a:p>
            <a:p>
              <a:br>
                <a:rPr lang="en-US" sz="120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20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Learning price direction patterns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EE38812-E9A3-0A2E-1C94-B47474802BA7}"/>
              </a:ext>
            </a:extLst>
          </p:cNvPr>
          <p:cNvGrpSpPr/>
          <p:nvPr/>
        </p:nvGrpSpPr>
        <p:grpSpPr>
          <a:xfrm>
            <a:off x="3974592" y="3316224"/>
            <a:ext cx="1621536" cy="1804416"/>
            <a:chOff x="3974592" y="3316224"/>
            <a:chExt cx="1621536" cy="1804416"/>
          </a:xfrm>
        </p:grpSpPr>
        <p:sp>
          <p:nvSpPr>
            <p:cNvPr id="21" name="Shape 19"/>
            <p:cNvSpPr/>
            <p:nvPr/>
          </p:nvSpPr>
          <p:spPr>
            <a:xfrm>
              <a:off x="3974592" y="3316224"/>
              <a:ext cx="1621536" cy="1804416"/>
            </a:xfrm>
            <a:prstGeom prst="rect">
              <a:avLst/>
            </a:prstGeom>
            <a:solidFill>
              <a:srgbClr val="1E3A5F"/>
            </a:solidFill>
            <a:ln w="19050">
              <a:solidFill>
                <a:srgbClr val="00D4AA"/>
              </a:solidFill>
              <a:prstDash val="solid"/>
            </a:ln>
          </p:spPr>
          <p:txBody>
            <a:bodyPr/>
            <a:lstStyle/>
            <a:p>
              <a:endParaRPr lang="en-DE" sz="1200"/>
            </a:p>
          </p:txBody>
        </p:sp>
        <p:sp>
          <p:nvSpPr>
            <p:cNvPr id="22" name="Shape 20"/>
            <p:cNvSpPr/>
            <p:nvPr/>
          </p:nvSpPr>
          <p:spPr>
            <a:xfrm>
              <a:off x="3974592" y="3316224"/>
              <a:ext cx="1621536" cy="73152"/>
            </a:xfrm>
            <a:prstGeom prst="rect">
              <a:avLst/>
            </a:prstGeom>
            <a:solidFill>
              <a:srgbClr val="00D4AA"/>
            </a:solidFill>
            <a:ln w="12700">
              <a:solidFill>
                <a:srgbClr val="00D4AA"/>
              </a:solidFill>
              <a:prstDash val="solid"/>
            </a:ln>
          </p:spPr>
          <p:txBody>
            <a:bodyPr/>
            <a:lstStyle/>
            <a:p>
              <a:endParaRPr lang="en-DE" sz="1200"/>
            </a:p>
          </p:txBody>
        </p:sp>
        <p:sp>
          <p:nvSpPr>
            <p:cNvPr id="23" name="Text 21"/>
            <p:cNvSpPr/>
            <p:nvPr/>
          </p:nvSpPr>
          <p:spPr>
            <a:xfrm>
              <a:off x="4072128" y="3438144"/>
              <a:ext cx="1426464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b="1" dirty="0">
                  <a:solidFill>
                    <a:srgbClr val="00D4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RAG </a:t>
              </a:r>
              <a:endParaRPr lang="en-US" sz="12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4072128" y="3779520"/>
              <a:ext cx="1426464" cy="1219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20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Selecting the most impactful articles </a:t>
              </a:r>
            </a:p>
            <a:p>
              <a:endPara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328CD8F-65D4-BDB5-34FA-16A67C47DC69}"/>
              </a:ext>
            </a:extLst>
          </p:cNvPr>
          <p:cNvGrpSpPr/>
          <p:nvPr/>
        </p:nvGrpSpPr>
        <p:grpSpPr>
          <a:xfrm>
            <a:off x="5839968" y="1072896"/>
            <a:ext cx="1341120" cy="1804416"/>
            <a:chOff x="5839968" y="1072896"/>
            <a:chExt cx="1341120" cy="1804416"/>
          </a:xfrm>
        </p:grpSpPr>
        <p:sp>
          <p:nvSpPr>
            <p:cNvPr id="25" name="Shape 23"/>
            <p:cNvSpPr/>
            <p:nvPr/>
          </p:nvSpPr>
          <p:spPr>
            <a:xfrm>
              <a:off x="5839968" y="1072896"/>
              <a:ext cx="1341120" cy="1804416"/>
            </a:xfrm>
            <a:prstGeom prst="rect">
              <a:avLst/>
            </a:prstGeom>
            <a:solidFill>
              <a:srgbClr val="1E3A5F"/>
            </a:solidFill>
            <a:ln w="19050">
              <a:solidFill>
                <a:srgbClr val="22C55E"/>
              </a:solidFill>
              <a:prstDash val="solid"/>
            </a:ln>
          </p:spPr>
          <p:txBody>
            <a:bodyPr/>
            <a:lstStyle/>
            <a:p>
              <a:endParaRPr lang="en-DE" sz="1200"/>
            </a:p>
          </p:txBody>
        </p:sp>
        <p:sp>
          <p:nvSpPr>
            <p:cNvPr id="26" name="Shape 24"/>
            <p:cNvSpPr/>
            <p:nvPr/>
          </p:nvSpPr>
          <p:spPr>
            <a:xfrm>
              <a:off x="5839968" y="1072896"/>
              <a:ext cx="1341120" cy="73152"/>
            </a:xfrm>
            <a:prstGeom prst="rect">
              <a:avLst/>
            </a:prstGeom>
            <a:solidFill>
              <a:srgbClr val="22C55E"/>
            </a:solidFill>
            <a:ln w="12700">
              <a:solidFill>
                <a:srgbClr val="22C55E"/>
              </a:solidFill>
              <a:prstDash val="solid"/>
            </a:ln>
          </p:spPr>
          <p:txBody>
            <a:bodyPr/>
            <a:lstStyle/>
            <a:p>
              <a:endParaRPr lang="en-DE" sz="1200"/>
            </a:p>
          </p:txBody>
        </p:sp>
        <p:sp>
          <p:nvSpPr>
            <p:cNvPr id="27" name="Text 25"/>
            <p:cNvSpPr/>
            <p:nvPr/>
          </p:nvSpPr>
          <p:spPr>
            <a:xfrm>
              <a:off x="5937504" y="1194816"/>
              <a:ext cx="1146048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b="1" dirty="0">
                  <a:solidFill>
                    <a:srgbClr val="22C5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PREDICTION</a:t>
              </a:r>
              <a:endParaRPr lang="en-US" sz="12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5937504" y="1536192"/>
              <a:ext cx="1146048" cy="1219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20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Next day price direction: up/down</a:t>
              </a:r>
            </a:p>
            <a:p>
              <a:endPara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854B7BB5-484B-9E10-B988-F85E2F450374}"/>
              </a:ext>
            </a:extLst>
          </p:cNvPr>
          <p:cNvGrpSpPr/>
          <p:nvPr/>
        </p:nvGrpSpPr>
        <p:grpSpPr>
          <a:xfrm>
            <a:off x="5839968" y="3316224"/>
            <a:ext cx="1341120" cy="1804416"/>
            <a:chOff x="5839968" y="3316224"/>
            <a:chExt cx="1341120" cy="1804416"/>
          </a:xfrm>
        </p:grpSpPr>
        <p:sp>
          <p:nvSpPr>
            <p:cNvPr id="29" name="Shape 27"/>
            <p:cNvSpPr/>
            <p:nvPr/>
          </p:nvSpPr>
          <p:spPr>
            <a:xfrm>
              <a:off x="5839968" y="3316224"/>
              <a:ext cx="1341120" cy="1804416"/>
            </a:xfrm>
            <a:prstGeom prst="rect">
              <a:avLst/>
            </a:prstGeom>
            <a:solidFill>
              <a:srgbClr val="1E3A5F"/>
            </a:solidFill>
            <a:ln w="19050">
              <a:solidFill>
                <a:srgbClr val="627EEA"/>
              </a:solidFill>
              <a:prstDash val="solid"/>
            </a:ln>
          </p:spPr>
          <p:txBody>
            <a:bodyPr/>
            <a:lstStyle/>
            <a:p>
              <a:endParaRPr lang="en-DE" sz="12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5839968" y="3316224"/>
              <a:ext cx="1341120" cy="73152"/>
            </a:xfrm>
            <a:prstGeom prst="rect">
              <a:avLst/>
            </a:prstGeom>
            <a:solidFill>
              <a:srgbClr val="627EEA"/>
            </a:solidFill>
            <a:ln w="12700">
              <a:solidFill>
                <a:srgbClr val="627EEA"/>
              </a:solidFill>
              <a:prstDash val="solid"/>
            </a:ln>
          </p:spPr>
          <p:txBody>
            <a:bodyPr/>
            <a:lstStyle/>
            <a:p>
              <a:endParaRPr lang="en-DE" sz="1200"/>
            </a:p>
          </p:txBody>
        </p:sp>
        <p:sp>
          <p:nvSpPr>
            <p:cNvPr id="31" name="Text 29"/>
            <p:cNvSpPr/>
            <p:nvPr/>
          </p:nvSpPr>
          <p:spPr>
            <a:xfrm>
              <a:off x="5937504" y="3438144"/>
              <a:ext cx="1146048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b="1" dirty="0">
                  <a:solidFill>
                    <a:srgbClr val="627EE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LLM</a:t>
              </a:r>
              <a:endParaRPr lang="en-US" sz="12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5937504" y="3779520"/>
              <a:ext cx="1146048" cy="1219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20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ML +  RAG </a:t>
              </a:r>
            </a:p>
            <a:p>
              <a:endPara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r>
                <a:rPr lang="en-US" sz="120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Analyses the full context and generates a structured, market report</a:t>
              </a:r>
            </a:p>
            <a:p>
              <a:endParaRPr lang="en-US" sz="1200" dirty="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044CAA29-C1A8-9E4D-E44F-BF68E7294227}"/>
              </a:ext>
            </a:extLst>
          </p:cNvPr>
          <p:cNvGrpSpPr/>
          <p:nvPr/>
        </p:nvGrpSpPr>
        <p:grpSpPr>
          <a:xfrm>
            <a:off x="7424928" y="1072896"/>
            <a:ext cx="1341120" cy="4047744"/>
            <a:chOff x="7424928" y="1072896"/>
            <a:chExt cx="1341120" cy="4047744"/>
          </a:xfrm>
        </p:grpSpPr>
        <p:sp>
          <p:nvSpPr>
            <p:cNvPr id="33" name="Shape 31"/>
            <p:cNvSpPr/>
            <p:nvPr/>
          </p:nvSpPr>
          <p:spPr>
            <a:xfrm>
              <a:off x="7424928" y="1072896"/>
              <a:ext cx="1341120" cy="4047744"/>
            </a:xfrm>
            <a:prstGeom prst="rect">
              <a:avLst/>
            </a:prstGeom>
            <a:solidFill>
              <a:srgbClr val="1E3A5F"/>
            </a:solidFill>
            <a:ln w="19050">
              <a:solidFill>
                <a:srgbClr val="00D4AA"/>
              </a:solidFill>
              <a:prstDash val="solid"/>
            </a:ln>
          </p:spPr>
          <p:txBody>
            <a:bodyPr/>
            <a:lstStyle/>
            <a:p>
              <a:endParaRPr lang="en-DE" sz="1200"/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397DE4EC-DD5B-802A-BBF1-9A0B06253507}"/>
                </a:ext>
              </a:extLst>
            </p:cNvPr>
            <p:cNvGrpSpPr/>
            <p:nvPr/>
          </p:nvGrpSpPr>
          <p:grpSpPr>
            <a:xfrm>
              <a:off x="7424928" y="1072896"/>
              <a:ext cx="1341120" cy="3767328"/>
              <a:chOff x="7424928" y="1072896"/>
              <a:chExt cx="1341120" cy="3767328"/>
            </a:xfrm>
          </p:grpSpPr>
          <p:sp>
            <p:nvSpPr>
              <p:cNvPr id="34" name="Shape 32"/>
              <p:cNvSpPr/>
              <p:nvPr/>
            </p:nvSpPr>
            <p:spPr>
              <a:xfrm>
                <a:off x="7424928" y="1072896"/>
                <a:ext cx="1341120" cy="73152"/>
              </a:xfrm>
              <a:prstGeom prst="rect">
                <a:avLst/>
              </a:prstGeom>
              <a:solidFill>
                <a:srgbClr val="00D4AA"/>
              </a:solidFill>
              <a:ln w="12700">
                <a:solidFill>
                  <a:srgbClr val="00D4AA"/>
                </a:solidFill>
                <a:prstDash val="solid"/>
              </a:ln>
            </p:spPr>
            <p:txBody>
              <a:bodyPr/>
              <a:lstStyle/>
              <a:p>
                <a:endParaRPr lang="en-DE" sz="1200"/>
              </a:p>
            </p:txBody>
          </p:sp>
          <p:sp>
            <p:nvSpPr>
              <p:cNvPr id="35" name="Text 33"/>
              <p:cNvSpPr/>
              <p:nvPr/>
            </p:nvSpPr>
            <p:spPr>
              <a:xfrm>
                <a:off x="7510272" y="1194816"/>
                <a:ext cx="1170432" cy="26822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200" b="1" dirty="0">
                    <a:solidFill>
                      <a:srgbClr val="00D4A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DASHBOARD</a:t>
                </a:r>
                <a:endParaRPr lang="en-US" sz="1200" dirty="0"/>
              </a:p>
            </p:txBody>
          </p:sp>
          <p:sp>
            <p:nvSpPr>
              <p:cNvPr id="36" name="Text 34"/>
              <p:cNvSpPr/>
              <p:nvPr/>
            </p:nvSpPr>
            <p:spPr>
              <a:xfrm>
                <a:off x="7510272" y="1511808"/>
                <a:ext cx="1170432" cy="13411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r>
                  <a:rPr lang="en-US" sz="1200" dirty="0">
                    <a:solidFill>
                      <a:srgbClr val="CBD5E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Live price prediction with Technical signals and charts</a:t>
                </a:r>
              </a:p>
            </p:txBody>
          </p:sp>
          <p:sp>
            <p:nvSpPr>
              <p:cNvPr id="38" name="Text 36"/>
              <p:cNvSpPr/>
              <p:nvPr/>
            </p:nvSpPr>
            <p:spPr>
              <a:xfrm>
                <a:off x="7510272" y="3386659"/>
                <a:ext cx="1170432" cy="3169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200" b="1" dirty="0">
                    <a:solidFill>
                      <a:srgbClr val="F793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AI CHATBOT</a:t>
                </a:r>
                <a:endParaRPr lang="en-US" sz="1200" dirty="0"/>
              </a:p>
            </p:txBody>
          </p:sp>
          <p:sp>
            <p:nvSpPr>
              <p:cNvPr id="39" name="Text 37"/>
              <p:cNvSpPr/>
              <p:nvPr/>
            </p:nvSpPr>
            <p:spPr>
              <a:xfrm>
                <a:off x="7510272" y="3616960"/>
                <a:ext cx="1170432" cy="122326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endParaRPr lang="en-US" sz="120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r>
                  <a:rPr lang="en-US" sz="1200" dirty="0">
                    <a:solidFill>
                      <a:srgbClr val="CBD5E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Answers any crypto question</a:t>
                </a:r>
              </a:p>
            </p:txBody>
          </p:sp>
        </p:grp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48CC9A61-9D5A-4D96-64C3-B2815C69D2F9}"/>
              </a:ext>
            </a:extLst>
          </p:cNvPr>
          <p:cNvGrpSpPr/>
          <p:nvPr/>
        </p:nvGrpSpPr>
        <p:grpSpPr>
          <a:xfrm>
            <a:off x="9009888" y="1072896"/>
            <a:ext cx="2999232" cy="4047744"/>
            <a:chOff x="9009888" y="1072896"/>
            <a:chExt cx="2999232" cy="4047744"/>
          </a:xfrm>
        </p:grpSpPr>
        <p:sp>
          <p:nvSpPr>
            <p:cNvPr id="40" name="Shape 38"/>
            <p:cNvSpPr/>
            <p:nvPr/>
          </p:nvSpPr>
          <p:spPr>
            <a:xfrm>
              <a:off x="9009888" y="1072896"/>
              <a:ext cx="2999232" cy="4047744"/>
            </a:xfrm>
            <a:prstGeom prst="rect">
              <a:avLst/>
            </a:prstGeom>
            <a:solidFill>
              <a:srgbClr val="1E3A5F"/>
            </a:solidFill>
            <a:ln w="19050">
              <a:solidFill>
                <a:srgbClr val="F7931A"/>
              </a:solidFill>
              <a:prstDash val="solid"/>
            </a:ln>
          </p:spPr>
          <p:txBody>
            <a:bodyPr/>
            <a:lstStyle/>
            <a:p>
              <a:endParaRPr lang="en-DE" sz="1200"/>
            </a:p>
          </p:txBody>
        </p:sp>
        <p:sp>
          <p:nvSpPr>
            <p:cNvPr id="41" name="Shape 39"/>
            <p:cNvSpPr/>
            <p:nvPr/>
          </p:nvSpPr>
          <p:spPr>
            <a:xfrm>
              <a:off x="9009888" y="1072896"/>
              <a:ext cx="2999232" cy="73152"/>
            </a:xfrm>
            <a:prstGeom prst="rect">
              <a:avLst/>
            </a:prstGeom>
            <a:solidFill>
              <a:srgbClr val="F7931A"/>
            </a:solidFill>
            <a:ln w="12700">
              <a:solidFill>
                <a:srgbClr val="F7931A"/>
              </a:solidFill>
              <a:prstDash val="solid"/>
            </a:ln>
          </p:spPr>
          <p:txBody>
            <a:bodyPr/>
            <a:lstStyle/>
            <a:p>
              <a:endParaRPr lang="en-DE" sz="1200"/>
            </a:p>
          </p:txBody>
        </p:sp>
        <p:sp>
          <p:nvSpPr>
            <p:cNvPr id="42" name="Text 40"/>
            <p:cNvSpPr/>
            <p:nvPr/>
          </p:nvSpPr>
          <p:spPr>
            <a:xfrm>
              <a:off x="9119616" y="1194816"/>
              <a:ext cx="2779776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b="1" dirty="0">
                  <a:solidFill>
                    <a:srgbClr val="F793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STREAMLIT OUTPUT</a:t>
              </a:r>
              <a:endParaRPr lang="en-US" sz="1200" dirty="0"/>
            </a:p>
          </p:txBody>
        </p:sp>
        <p:pic>
          <p:nvPicPr>
            <p:cNvPr id="43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19616" y="1524000"/>
              <a:ext cx="2779776" cy="1524000"/>
            </a:xfrm>
            <a:prstGeom prst="rect">
              <a:avLst/>
            </a:prstGeom>
          </p:spPr>
        </p:pic>
        <p:sp>
          <p:nvSpPr>
            <p:cNvPr id="44" name="Text 41"/>
            <p:cNvSpPr/>
            <p:nvPr/>
          </p:nvSpPr>
          <p:spPr>
            <a:xfrm>
              <a:off x="9119616" y="3108960"/>
              <a:ext cx="2779776" cy="243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📊  Dashboard — AI Verdict, Charts, Signals</a:t>
              </a:r>
              <a:endParaRPr lang="en-US" sz="1200" dirty="0"/>
            </a:p>
          </p:txBody>
        </p:sp>
        <p:pic>
          <p:nvPicPr>
            <p:cNvPr id="45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119616" y="3413760"/>
              <a:ext cx="2779776" cy="1243584"/>
            </a:xfrm>
            <a:prstGeom prst="rect">
              <a:avLst/>
            </a:prstGeom>
          </p:spPr>
        </p:pic>
        <p:sp>
          <p:nvSpPr>
            <p:cNvPr id="46" name="Text 42"/>
            <p:cNvSpPr/>
            <p:nvPr/>
          </p:nvSpPr>
          <p:spPr>
            <a:xfrm>
              <a:off x="9119616" y="4718304"/>
              <a:ext cx="2779776" cy="243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🤖  AI Chatbot — Natural language market analysis</a:t>
              </a:r>
              <a:endParaRPr lang="en-US" sz="1200" dirty="0"/>
            </a:p>
          </p:txBody>
        </p:sp>
      </p:grpSp>
      <p:sp>
        <p:nvSpPr>
          <p:cNvPr id="47" name="Shape 43"/>
          <p:cNvSpPr/>
          <p:nvPr/>
        </p:nvSpPr>
        <p:spPr>
          <a:xfrm>
            <a:off x="1865376" y="1975104"/>
            <a:ext cx="2438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en-DE"/>
          </a:p>
        </p:txBody>
      </p:sp>
      <p:sp>
        <p:nvSpPr>
          <p:cNvPr id="48" name="Shape 44"/>
          <p:cNvSpPr/>
          <p:nvPr/>
        </p:nvSpPr>
        <p:spPr>
          <a:xfrm>
            <a:off x="1865376" y="4218432"/>
            <a:ext cx="2438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en-DE"/>
          </a:p>
        </p:txBody>
      </p:sp>
      <p:sp>
        <p:nvSpPr>
          <p:cNvPr id="49" name="Shape 45"/>
          <p:cNvSpPr/>
          <p:nvPr/>
        </p:nvSpPr>
        <p:spPr>
          <a:xfrm>
            <a:off x="3730752" y="1975104"/>
            <a:ext cx="2438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en-DE"/>
          </a:p>
        </p:txBody>
      </p:sp>
      <p:sp>
        <p:nvSpPr>
          <p:cNvPr id="50" name="Shape 46"/>
          <p:cNvSpPr/>
          <p:nvPr/>
        </p:nvSpPr>
        <p:spPr>
          <a:xfrm>
            <a:off x="3730752" y="4218432"/>
            <a:ext cx="2438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en-DE"/>
          </a:p>
        </p:txBody>
      </p:sp>
      <p:sp>
        <p:nvSpPr>
          <p:cNvPr id="51" name="Shape 47"/>
          <p:cNvSpPr/>
          <p:nvPr/>
        </p:nvSpPr>
        <p:spPr>
          <a:xfrm>
            <a:off x="5596128" y="1975104"/>
            <a:ext cx="2438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en-DE"/>
          </a:p>
        </p:txBody>
      </p:sp>
      <p:sp>
        <p:nvSpPr>
          <p:cNvPr id="52" name="Shape 48"/>
          <p:cNvSpPr/>
          <p:nvPr/>
        </p:nvSpPr>
        <p:spPr>
          <a:xfrm>
            <a:off x="5596128" y="4218432"/>
            <a:ext cx="2438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en-DE" dirty="0"/>
          </a:p>
        </p:txBody>
      </p:sp>
      <p:sp>
        <p:nvSpPr>
          <p:cNvPr id="53" name="Shape 49"/>
          <p:cNvSpPr/>
          <p:nvPr/>
        </p:nvSpPr>
        <p:spPr>
          <a:xfrm>
            <a:off x="7181088" y="1975104"/>
            <a:ext cx="2438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en-DE"/>
          </a:p>
        </p:txBody>
      </p:sp>
      <p:sp>
        <p:nvSpPr>
          <p:cNvPr id="54" name="Shape 50"/>
          <p:cNvSpPr/>
          <p:nvPr/>
        </p:nvSpPr>
        <p:spPr>
          <a:xfrm>
            <a:off x="7181088" y="4218432"/>
            <a:ext cx="2438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en-DE"/>
          </a:p>
        </p:txBody>
      </p:sp>
      <p:sp>
        <p:nvSpPr>
          <p:cNvPr id="55" name="Shape 51"/>
          <p:cNvSpPr/>
          <p:nvPr/>
        </p:nvSpPr>
        <p:spPr>
          <a:xfrm>
            <a:off x="8766048" y="3096768"/>
            <a:ext cx="2438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en-DE"/>
          </a:p>
        </p:txBody>
      </p:sp>
      <p:sp>
        <p:nvSpPr>
          <p:cNvPr id="61" name="Shape 49">
            <a:extLst>
              <a:ext uri="{FF2B5EF4-FFF2-40B4-BE49-F238E27FC236}">
                <a16:creationId xmlns:a16="http://schemas.microsoft.com/office/drawing/2014/main" id="{88BFD360-73C3-C9FE-38F9-8EDF2A6967A5}"/>
              </a:ext>
            </a:extLst>
          </p:cNvPr>
          <p:cNvSpPr/>
          <p:nvPr/>
        </p:nvSpPr>
        <p:spPr>
          <a:xfrm>
            <a:off x="6510528" y="2878668"/>
            <a:ext cx="5419" cy="43755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en-DE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DFD493B-EC6D-7C8E-FDC0-2AAB7C736B95}"/>
              </a:ext>
            </a:extLst>
          </p:cNvPr>
          <p:cNvGrpSpPr/>
          <p:nvPr/>
        </p:nvGrpSpPr>
        <p:grpSpPr>
          <a:xfrm>
            <a:off x="2100409" y="3048000"/>
            <a:ext cx="1623570" cy="2075339"/>
            <a:chOff x="2100409" y="3048000"/>
            <a:chExt cx="1623570" cy="2075339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08A6B1FD-206C-0542-D37F-836048CF0504}"/>
                </a:ext>
              </a:extLst>
            </p:cNvPr>
            <p:cNvGrpSpPr/>
            <p:nvPr/>
          </p:nvGrpSpPr>
          <p:grpSpPr>
            <a:xfrm>
              <a:off x="2100409" y="3048000"/>
              <a:ext cx="1621536" cy="2075339"/>
              <a:chOff x="2066544" y="3048000"/>
              <a:chExt cx="1621536" cy="2075339"/>
            </a:xfrm>
          </p:grpSpPr>
          <p:sp>
            <p:nvSpPr>
              <p:cNvPr id="13" name="Shape 11"/>
              <p:cNvSpPr/>
              <p:nvPr/>
            </p:nvSpPr>
            <p:spPr>
              <a:xfrm>
                <a:off x="2066544" y="3318923"/>
                <a:ext cx="1621536" cy="1804416"/>
              </a:xfrm>
              <a:prstGeom prst="rect">
                <a:avLst/>
              </a:prstGeom>
              <a:solidFill>
                <a:srgbClr val="1E3A5F"/>
              </a:solidFill>
              <a:ln w="19050">
                <a:solidFill>
                  <a:srgbClr val="627EEA"/>
                </a:solidFill>
                <a:prstDash val="solid"/>
              </a:ln>
            </p:spPr>
            <p:txBody>
              <a:bodyPr/>
              <a:lstStyle/>
              <a:p>
                <a:endParaRPr lang="en-DE" sz="1200"/>
              </a:p>
            </p:txBody>
          </p: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C303147B-930E-C95B-F2C9-C98D7331558D}"/>
                  </a:ext>
                </a:extLst>
              </p:cNvPr>
              <p:cNvGrpSpPr/>
              <p:nvPr/>
            </p:nvGrpSpPr>
            <p:grpSpPr>
              <a:xfrm>
                <a:off x="2109216" y="3048000"/>
                <a:ext cx="1524000" cy="1950720"/>
                <a:chOff x="2109216" y="3048000"/>
                <a:chExt cx="1524000" cy="1950720"/>
              </a:xfrm>
            </p:grpSpPr>
            <p:sp>
              <p:nvSpPr>
                <p:cNvPr id="4" name="Text 2"/>
                <p:cNvSpPr/>
                <p:nvPr/>
              </p:nvSpPr>
              <p:spPr>
                <a:xfrm>
                  <a:off x="2109216" y="3048000"/>
                  <a:ext cx="1518581" cy="24384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r>
                    <a:rPr lang="en-US" sz="1200" b="1" dirty="0">
                      <a:solidFill>
                        <a:srgbClr val="00D4AA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▶   RAG + LLM PIPELINE</a:t>
                  </a:r>
                  <a:endParaRPr lang="en-US" sz="1200" dirty="0"/>
                </a:p>
              </p:txBody>
            </p:sp>
            <p:sp>
              <p:nvSpPr>
                <p:cNvPr id="15" name="Text 13"/>
                <p:cNvSpPr/>
                <p:nvPr/>
              </p:nvSpPr>
              <p:spPr>
                <a:xfrm>
                  <a:off x="2206752" y="3438144"/>
                  <a:ext cx="1426464" cy="268224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r>
                    <a:rPr lang="en-US" sz="1200" b="1" dirty="0">
                      <a:solidFill>
                        <a:srgbClr val="627EEA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TAVILY  NEWS</a:t>
                  </a:r>
                  <a:endParaRPr lang="en-US" sz="1200" dirty="0"/>
                </a:p>
              </p:txBody>
            </p:sp>
            <p:sp>
              <p:nvSpPr>
                <p:cNvPr id="16" name="Text 14"/>
                <p:cNvSpPr/>
                <p:nvPr/>
              </p:nvSpPr>
              <p:spPr>
                <a:xfrm>
                  <a:off x="2206752" y="3779520"/>
                  <a:ext cx="1426464" cy="12192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t"/>
                <a:lstStyle/>
                <a:p>
                  <a:r>
                    <a:rPr lang="de-DE" sz="1200" dirty="0">
                      <a:solidFill>
                        <a:srgbClr val="CBD5E1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Real-time crypto &amp; macro headlines retrieval</a:t>
                  </a:r>
                  <a:endParaRPr lang="en-US" sz="1200" dirty="0">
                    <a:solidFill>
                      <a:srgbClr val="CBD5E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endParaRPr>
                </a:p>
              </p:txBody>
            </p:sp>
          </p:grpSp>
        </p:grpSp>
        <p:sp>
          <p:nvSpPr>
            <p:cNvPr id="75" name="Shape 12"/>
            <p:cNvSpPr/>
            <p:nvPr/>
          </p:nvSpPr>
          <p:spPr>
            <a:xfrm>
              <a:off x="2102443" y="3322997"/>
              <a:ext cx="1621536" cy="73152"/>
            </a:xfrm>
            <a:prstGeom prst="rect">
              <a:avLst/>
            </a:prstGeom>
            <a:solidFill>
              <a:srgbClr val="627EEA"/>
            </a:solidFill>
            <a:ln w="12700">
              <a:solidFill>
                <a:srgbClr val="627EEA"/>
              </a:solidFill>
              <a:prstDash val="solid"/>
            </a:ln>
          </p:spPr>
          <p:txBody>
            <a:bodyPr/>
            <a:lstStyle/>
            <a:p>
              <a:endParaRPr lang="en-DE" sz="1200"/>
            </a:p>
          </p:txBody>
        </p:sp>
      </p:grpSp>
      <p:sp>
        <p:nvSpPr>
          <p:cNvPr id="37" name="TIc20">
            <a:extLst>
              <a:ext uri="{FF2B5EF4-FFF2-40B4-BE49-F238E27FC236}">
                <a16:creationId xmlns:a16="http://schemas.microsoft.com/office/drawing/2014/main" id="{254484A3-CBED-1986-EEC5-08F7CD1AA013}"/>
              </a:ext>
            </a:extLst>
          </p:cNvPr>
          <p:cNvSpPr/>
          <p:nvPr/>
        </p:nvSpPr>
        <p:spPr>
          <a:xfrm>
            <a:off x="272239" y="2191774"/>
            <a:ext cx="174851" cy="1884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500" dirty="0">
                <a:latin typeface="Segoe UI Emoji"/>
              </a:rPr>
              <a:t>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6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1920"/>
            <a:ext cx="11460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Dataset</a:t>
            </a:r>
            <a:endParaRPr lang="en-US" sz="2667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2560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DATASET AT A GLANCE</a:t>
            </a:r>
            <a:endParaRPr lang="en-US" sz="1133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792249A-AADF-21B4-7AD6-8BA93916551A}"/>
              </a:ext>
            </a:extLst>
          </p:cNvPr>
          <p:cNvGrpSpPr/>
          <p:nvPr/>
        </p:nvGrpSpPr>
        <p:grpSpPr>
          <a:xfrm>
            <a:off x="365760" y="1011936"/>
            <a:ext cx="2682240" cy="1146048"/>
            <a:chOff x="365760" y="1011936"/>
            <a:chExt cx="2682240" cy="1146048"/>
          </a:xfrm>
        </p:grpSpPr>
        <p:sp>
          <p:nvSpPr>
            <p:cNvPr id="5" name="Shape 3"/>
            <p:cNvSpPr/>
            <p:nvPr/>
          </p:nvSpPr>
          <p:spPr>
            <a:xfrm>
              <a:off x="365760" y="1011936"/>
              <a:ext cx="2682240" cy="1097280"/>
            </a:xfrm>
            <a:prstGeom prst="rect">
              <a:avLst/>
            </a:prstGeom>
            <a:solidFill>
              <a:srgbClr val="F1F5F9"/>
            </a:solidFill>
            <a:ln w="15240">
              <a:solidFill>
                <a:srgbClr val="F7931A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6" name="Shape 4"/>
            <p:cNvSpPr/>
            <p:nvPr/>
          </p:nvSpPr>
          <p:spPr>
            <a:xfrm>
              <a:off x="365760" y="1011936"/>
              <a:ext cx="2682240" cy="60960"/>
            </a:xfrm>
            <a:prstGeom prst="rect">
              <a:avLst/>
            </a:prstGeom>
            <a:solidFill>
              <a:srgbClr val="F7931A"/>
            </a:solidFill>
            <a:ln w="12700">
              <a:solidFill>
                <a:srgbClr val="F7931A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7" name="Text 5"/>
            <p:cNvSpPr/>
            <p:nvPr/>
          </p:nvSpPr>
          <p:spPr>
            <a:xfrm>
              <a:off x="487680" y="1085088"/>
              <a:ext cx="243840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3200" b="1" dirty="0">
                  <a:solidFill>
                    <a:srgbClr val="F793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6,346</a:t>
              </a:r>
              <a:endParaRPr lang="en-US" sz="32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87680" y="1621536"/>
              <a:ext cx="243840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Total rows</a:t>
              </a:r>
              <a:endParaRPr lang="en-US" sz="12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487680" y="1889760"/>
              <a:ext cx="243840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000" i="1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BTC + ETH combined</a:t>
              </a:r>
              <a:endParaRPr lang="en-US" sz="1000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5DEAB63-67FF-FFFE-74FC-44A12EC7BC1D}"/>
              </a:ext>
            </a:extLst>
          </p:cNvPr>
          <p:cNvGrpSpPr/>
          <p:nvPr/>
        </p:nvGrpSpPr>
        <p:grpSpPr>
          <a:xfrm>
            <a:off x="3206496" y="1011936"/>
            <a:ext cx="2682240" cy="1146048"/>
            <a:chOff x="3206496" y="1011936"/>
            <a:chExt cx="2682240" cy="1146048"/>
          </a:xfrm>
        </p:grpSpPr>
        <p:sp>
          <p:nvSpPr>
            <p:cNvPr id="10" name="Shape 8"/>
            <p:cNvSpPr/>
            <p:nvPr/>
          </p:nvSpPr>
          <p:spPr>
            <a:xfrm>
              <a:off x="3206496" y="1011936"/>
              <a:ext cx="2682240" cy="1097280"/>
            </a:xfrm>
            <a:prstGeom prst="rect">
              <a:avLst/>
            </a:prstGeom>
            <a:solidFill>
              <a:srgbClr val="F1F5F9"/>
            </a:solidFill>
            <a:ln w="15240">
              <a:solidFill>
                <a:srgbClr val="627EEA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11" name="Shape 9"/>
            <p:cNvSpPr/>
            <p:nvPr/>
          </p:nvSpPr>
          <p:spPr>
            <a:xfrm>
              <a:off x="3206496" y="1011936"/>
              <a:ext cx="2682240" cy="60960"/>
            </a:xfrm>
            <a:prstGeom prst="rect">
              <a:avLst/>
            </a:prstGeom>
            <a:solidFill>
              <a:srgbClr val="627EEA"/>
            </a:solidFill>
            <a:ln w="12700">
              <a:solidFill>
                <a:srgbClr val="627EEA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12" name="Text 10"/>
            <p:cNvSpPr/>
            <p:nvPr/>
          </p:nvSpPr>
          <p:spPr>
            <a:xfrm>
              <a:off x="3328416" y="1085088"/>
              <a:ext cx="243840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3200" b="1" dirty="0">
                  <a:solidFill>
                    <a:srgbClr val="627EE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</a:t>
              </a:r>
              <a:endParaRPr lang="en-US" sz="32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328416" y="1621536"/>
              <a:ext cx="243840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Raw columns</a:t>
              </a:r>
              <a:endParaRPr lang="en-US" sz="12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3328416" y="1889760"/>
              <a:ext cx="243840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000" i="1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Price · Macro · Sentiment</a:t>
              </a:r>
              <a:endParaRPr lang="en-US" sz="1000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FF1D28D-C698-AA82-81D7-504CAC354282}"/>
              </a:ext>
            </a:extLst>
          </p:cNvPr>
          <p:cNvGrpSpPr/>
          <p:nvPr/>
        </p:nvGrpSpPr>
        <p:grpSpPr>
          <a:xfrm>
            <a:off x="6047232" y="1011936"/>
            <a:ext cx="2682240" cy="1146048"/>
            <a:chOff x="6047232" y="1011936"/>
            <a:chExt cx="2682240" cy="1146048"/>
          </a:xfrm>
        </p:grpSpPr>
        <p:sp>
          <p:nvSpPr>
            <p:cNvPr id="15" name="Shape 13"/>
            <p:cNvSpPr/>
            <p:nvPr/>
          </p:nvSpPr>
          <p:spPr>
            <a:xfrm>
              <a:off x="6047232" y="1011936"/>
              <a:ext cx="2682240" cy="1097280"/>
            </a:xfrm>
            <a:prstGeom prst="rect">
              <a:avLst/>
            </a:prstGeom>
            <a:solidFill>
              <a:srgbClr val="F1F5F9"/>
            </a:solidFill>
            <a:ln w="15240">
              <a:solidFill>
                <a:srgbClr val="00D4AA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16" name="Shape 14"/>
            <p:cNvSpPr/>
            <p:nvPr/>
          </p:nvSpPr>
          <p:spPr>
            <a:xfrm>
              <a:off x="6047232" y="1011936"/>
              <a:ext cx="2682240" cy="60960"/>
            </a:xfrm>
            <a:prstGeom prst="rect">
              <a:avLst/>
            </a:prstGeom>
            <a:solidFill>
              <a:srgbClr val="00D4AA"/>
            </a:solidFill>
            <a:ln w="12700">
              <a:solidFill>
                <a:srgbClr val="00D4AA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17" name="Text 15"/>
            <p:cNvSpPr/>
            <p:nvPr/>
          </p:nvSpPr>
          <p:spPr>
            <a:xfrm>
              <a:off x="6169152" y="1085088"/>
              <a:ext cx="243840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3200" b="1" dirty="0">
                  <a:solidFill>
                    <a:srgbClr val="00D4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 Years</a:t>
              </a:r>
              <a:endParaRPr lang="en-US" sz="32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6169152" y="1621536"/>
              <a:ext cx="243840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Date range</a:t>
              </a:r>
              <a:endParaRPr lang="en-US" sz="12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6169152" y="1889760"/>
              <a:ext cx="243840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000" i="1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Jan 2017 → Feb 2026</a:t>
              </a:r>
              <a:endParaRPr lang="en-US" sz="1000" dirty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D55058C-288B-5600-AFE8-E921E9CC282E}"/>
              </a:ext>
            </a:extLst>
          </p:cNvPr>
          <p:cNvGrpSpPr/>
          <p:nvPr/>
        </p:nvGrpSpPr>
        <p:grpSpPr>
          <a:xfrm>
            <a:off x="8887968" y="1011936"/>
            <a:ext cx="2682240" cy="1146048"/>
            <a:chOff x="8887968" y="1011936"/>
            <a:chExt cx="2682240" cy="1146048"/>
          </a:xfrm>
        </p:grpSpPr>
        <p:sp>
          <p:nvSpPr>
            <p:cNvPr id="20" name="Shape 18"/>
            <p:cNvSpPr/>
            <p:nvPr/>
          </p:nvSpPr>
          <p:spPr>
            <a:xfrm>
              <a:off x="8887968" y="1011936"/>
              <a:ext cx="2682240" cy="1097280"/>
            </a:xfrm>
            <a:prstGeom prst="rect">
              <a:avLst/>
            </a:prstGeom>
            <a:solidFill>
              <a:srgbClr val="F1F5F9"/>
            </a:solidFill>
            <a:ln w="1524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4FF71174-DA43-87E7-8DFF-348C0D32A8D8}"/>
                </a:ext>
              </a:extLst>
            </p:cNvPr>
            <p:cNvGrpSpPr/>
            <p:nvPr/>
          </p:nvGrpSpPr>
          <p:grpSpPr>
            <a:xfrm>
              <a:off x="8887968" y="1011936"/>
              <a:ext cx="2682240" cy="1146048"/>
              <a:chOff x="8887968" y="1011936"/>
              <a:chExt cx="2682240" cy="1146048"/>
            </a:xfrm>
          </p:grpSpPr>
          <p:sp>
            <p:nvSpPr>
              <p:cNvPr id="21" name="Shape 19"/>
              <p:cNvSpPr/>
              <p:nvPr/>
            </p:nvSpPr>
            <p:spPr>
              <a:xfrm>
                <a:off x="8887968" y="1011936"/>
                <a:ext cx="2682240" cy="60960"/>
              </a:xfrm>
              <a:prstGeom prst="rect">
                <a:avLst/>
              </a:prstGeom>
              <a:solidFill>
                <a:srgbClr val="2563EB"/>
              </a:solidFill>
              <a:ln w="12700">
                <a:solidFill>
                  <a:srgbClr val="2563EB"/>
                </a:solidFill>
                <a:prstDash val="solid"/>
              </a:ln>
            </p:spPr>
            <p:txBody>
              <a:bodyPr/>
              <a:lstStyle/>
              <a:p>
                <a:endParaRPr lang="en-DE" sz="2400"/>
              </a:p>
            </p:txBody>
          </p:sp>
          <p:sp>
            <p:nvSpPr>
              <p:cNvPr id="22" name="Text 20"/>
              <p:cNvSpPr/>
              <p:nvPr/>
            </p:nvSpPr>
            <p:spPr>
              <a:xfrm>
                <a:off x="9009888" y="1085088"/>
                <a:ext cx="2438400" cy="51206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3200" b="1" dirty="0">
                    <a:solidFill>
                      <a:srgbClr val="2563E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2 Coins</a:t>
                </a:r>
                <a:endParaRPr lang="en-US" sz="3200" dirty="0"/>
              </a:p>
            </p:txBody>
          </p:sp>
          <p:sp>
            <p:nvSpPr>
              <p:cNvPr id="23" name="Text 21"/>
              <p:cNvSpPr/>
              <p:nvPr/>
            </p:nvSpPr>
            <p:spPr>
              <a:xfrm>
                <a:off x="9009888" y="1621536"/>
                <a:ext cx="2438400" cy="26822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200" b="1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BTC + ETH</a:t>
                </a:r>
                <a:endParaRPr lang="en-US" sz="1200" dirty="0"/>
              </a:p>
            </p:txBody>
          </p:sp>
          <p:sp>
            <p:nvSpPr>
              <p:cNvPr id="24" name="Text 22"/>
              <p:cNvSpPr/>
              <p:nvPr/>
            </p:nvSpPr>
            <p:spPr>
              <a:xfrm>
                <a:off x="9009888" y="1889760"/>
                <a:ext cx="2438400" cy="26822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000" i="1" dirty="0">
                    <a:solidFill>
                      <a:srgbClr val="94A3B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3,329 BTC · 3,017 ETH</a:t>
                </a:r>
                <a:endParaRPr lang="en-US" sz="1000" dirty="0"/>
              </a:p>
            </p:txBody>
          </p:sp>
        </p:grpSp>
      </p:grpSp>
      <p:sp>
        <p:nvSpPr>
          <p:cNvPr id="25" name="Text 23"/>
          <p:cNvSpPr/>
          <p:nvPr/>
        </p:nvSpPr>
        <p:spPr>
          <a:xfrm>
            <a:off x="365760" y="2243328"/>
            <a:ext cx="2363893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  RAW COLUMNS</a:t>
            </a:r>
            <a:endParaRPr lang="en-US" sz="1133" dirty="0"/>
          </a:p>
        </p:txBody>
      </p:sp>
      <p:sp>
        <p:nvSpPr>
          <p:cNvPr id="26" name="Text 24"/>
          <p:cNvSpPr/>
          <p:nvPr/>
        </p:nvSpPr>
        <p:spPr>
          <a:xfrm>
            <a:off x="6217920" y="2243328"/>
            <a:ext cx="2221653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KEY STATISTICS</a:t>
            </a:r>
            <a:endParaRPr lang="en-US" sz="1133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/>
        </p:nvGraphicFramePr>
        <p:xfrm>
          <a:off x="365760" y="2511552"/>
          <a:ext cx="5608320" cy="2611120"/>
        </p:xfrm>
        <a:graphic>
          <a:graphicData uri="http://schemas.openxmlformats.org/drawingml/2006/table">
            <a:tbl>
              <a:tblPr/>
              <a:tblGrid>
                <a:gridCol w="158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it ?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of observation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BTC or ETH closing price that 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units traded that 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BTC or ETH identifier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spy_return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stock market daily return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dxy_return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dollar daily return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vix / vix_change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fear level + daily 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fear_greed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Investor sentiment score  (0 = panic · 100 = greed)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62" name="Group 61">
            <a:extLst>
              <a:ext uri="{FF2B5EF4-FFF2-40B4-BE49-F238E27FC236}">
                <a16:creationId xmlns:a16="http://schemas.microsoft.com/office/drawing/2014/main" id="{7689D424-2E80-5B57-5EBA-1D6CCA56DBE4}"/>
              </a:ext>
            </a:extLst>
          </p:cNvPr>
          <p:cNvGrpSpPr/>
          <p:nvPr/>
        </p:nvGrpSpPr>
        <p:grpSpPr>
          <a:xfrm>
            <a:off x="6217920" y="2511552"/>
            <a:ext cx="5608320" cy="566928"/>
            <a:chOff x="6217920" y="2511552"/>
            <a:chExt cx="5608320" cy="566928"/>
          </a:xfrm>
        </p:grpSpPr>
        <p:sp>
          <p:nvSpPr>
            <p:cNvPr id="28" name="Shape 25"/>
            <p:cNvSpPr/>
            <p:nvPr/>
          </p:nvSpPr>
          <p:spPr>
            <a:xfrm>
              <a:off x="6217920" y="2511552"/>
              <a:ext cx="5608320" cy="566928"/>
            </a:xfrm>
            <a:prstGeom prst="rect">
              <a:avLst/>
            </a:prstGeom>
            <a:solidFill>
              <a:srgbClr val="F1F5F9"/>
            </a:solidFill>
            <a:ln w="1270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29" name="Shape 26"/>
            <p:cNvSpPr/>
            <p:nvPr/>
          </p:nvSpPr>
          <p:spPr>
            <a:xfrm>
              <a:off x="6217920" y="2511552"/>
              <a:ext cx="54864" cy="566928"/>
            </a:xfrm>
            <a:prstGeom prst="rect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en-DE" sz="2400" dirty="0"/>
            </a:p>
          </p:txBody>
        </p:sp>
        <p:sp>
          <p:nvSpPr>
            <p:cNvPr id="30" name="Text 27"/>
            <p:cNvSpPr/>
            <p:nvPr/>
          </p:nvSpPr>
          <p:spPr>
            <a:xfrm>
              <a:off x="6364224" y="2535936"/>
              <a:ext cx="5364480" cy="243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33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Price : highly skewed</a:t>
              </a:r>
              <a:endParaRPr lang="en-US" sz="1133" dirty="0"/>
            </a:p>
          </p:txBody>
        </p:sp>
        <p:sp>
          <p:nvSpPr>
            <p:cNvPr id="31" name="Text 28"/>
            <p:cNvSpPr/>
            <p:nvPr/>
          </p:nvSpPr>
          <p:spPr>
            <a:xfrm>
              <a:off x="6364224" y="2791968"/>
              <a:ext cx="536448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$84 → $124,000 range · std of $28,604</a:t>
              </a:r>
              <a:endParaRPr lang="en-US" sz="1000" dirty="0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A19C6127-0D9D-1F86-6228-BB2DF0C84921}"/>
              </a:ext>
            </a:extLst>
          </p:cNvPr>
          <p:cNvGrpSpPr/>
          <p:nvPr/>
        </p:nvGrpSpPr>
        <p:grpSpPr>
          <a:xfrm>
            <a:off x="6217920" y="3482402"/>
            <a:ext cx="5608320" cy="566928"/>
            <a:chOff x="6217920" y="3482402"/>
            <a:chExt cx="5608320" cy="566928"/>
          </a:xfrm>
        </p:grpSpPr>
        <p:sp>
          <p:nvSpPr>
            <p:cNvPr id="32" name="Shape 29"/>
            <p:cNvSpPr/>
            <p:nvPr/>
          </p:nvSpPr>
          <p:spPr>
            <a:xfrm>
              <a:off x="6217920" y="3482402"/>
              <a:ext cx="5608320" cy="566928"/>
            </a:xfrm>
            <a:prstGeom prst="rect">
              <a:avLst/>
            </a:prstGeom>
            <a:solidFill>
              <a:srgbClr val="F1F5F9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33" name="Shape 30"/>
            <p:cNvSpPr/>
            <p:nvPr/>
          </p:nvSpPr>
          <p:spPr>
            <a:xfrm>
              <a:off x="6217920" y="3482402"/>
              <a:ext cx="54864" cy="566928"/>
            </a:xfrm>
            <a:prstGeom prst="rect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34" name="Text 31"/>
            <p:cNvSpPr/>
            <p:nvPr/>
          </p:nvSpPr>
          <p:spPr>
            <a:xfrm>
              <a:off x="6364224" y="3506786"/>
              <a:ext cx="5364480" cy="243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33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VIX : fat tails</a:t>
              </a:r>
              <a:endParaRPr lang="en-US" sz="1133" dirty="0"/>
            </a:p>
          </p:txBody>
        </p:sp>
        <p:sp>
          <p:nvSpPr>
            <p:cNvPr id="35" name="Text 32"/>
            <p:cNvSpPr/>
            <p:nvPr/>
          </p:nvSpPr>
          <p:spPr>
            <a:xfrm>
              <a:off x="6364224" y="3762818"/>
              <a:ext cx="536448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Mean 19 · peaked at 82 during COVID</a:t>
              </a:r>
            </a:p>
            <a:p>
              <a:r>
                <a:rPr lang="en-US" sz="10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Presence of outliers </a:t>
              </a:r>
              <a:endParaRPr lang="en-US" sz="1000" dirty="0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F986730-47D7-AE70-B751-9F64D979C7AB}"/>
              </a:ext>
            </a:extLst>
          </p:cNvPr>
          <p:cNvGrpSpPr/>
          <p:nvPr/>
        </p:nvGrpSpPr>
        <p:grpSpPr>
          <a:xfrm>
            <a:off x="6217920" y="4443307"/>
            <a:ext cx="5608320" cy="573701"/>
            <a:chOff x="6217920" y="4443307"/>
            <a:chExt cx="5608320" cy="573701"/>
          </a:xfrm>
        </p:grpSpPr>
        <p:sp>
          <p:nvSpPr>
            <p:cNvPr id="40" name="Shape 37"/>
            <p:cNvSpPr/>
            <p:nvPr/>
          </p:nvSpPr>
          <p:spPr>
            <a:xfrm>
              <a:off x="6217920" y="4443307"/>
              <a:ext cx="5608320" cy="566928"/>
            </a:xfrm>
            <a:prstGeom prst="rect">
              <a:avLst/>
            </a:prstGeom>
            <a:solidFill>
              <a:srgbClr val="F1F5F9"/>
            </a:solidFill>
            <a:ln w="12700">
              <a:solidFill>
                <a:srgbClr val="00D4AA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41" name="Shape 38"/>
            <p:cNvSpPr/>
            <p:nvPr/>
          </p:nvSpPr>
          <p:spPr>
            <a:xfrm>
              <a:off x="6217920" y="4450080"/>
              <a:ext cx="54864" cy="566928"/>
            </a:xfrm>
            <a:prstGeom prst="rect">
              <a:avLst/>
            </a:prstGeom>
            <a:solidFill>
              <a:srgbClr val="00D4AA"/>
            </a:solidFill>
            <a:ln w="12700">
              <a:solidFill>
                <a:srgbClr val="00D4AA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42" name="Text 39"/>
            <p:cNvSpPr/>
            <p:nvPr/>
          </p:nvSpPr>
          <p:spPr>
            <a:xfrm>
              <a:off x="6364224" y="4474464"/>
              <a:ext cx="5364480" cy="243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33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Fear &amp; Greed — healthy</a:t>
              </a:r>
              <a:endParaRPr lang="en-US" sz="1133" dirty="0"/>
            </a:p>
          </p:txBody>
        </p:sp>
        <p:sp>
          <p:nvSpPr>
            <p:cNvPr id="43" name="Text 40"/>
            <p:cNvSpPr/>
            <p:nvPr/>
          </p:nvSpPr>
          <p:spPr>
            <a:xfrm>
              <a:off x="6364224" y="4730496"/>
              <a:ext cx="536448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Mean 47 · full range 5 → 95 used</a:t>
              </a:r>
              <a:endParaRPr lang="en-US" sz="1000" dirty="0"/>
            </a:p>
            <a:p>
              <a:r>
                <a:rPr lang="en-US" sz="10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Slightly fear-leaning on average</a:t>
              </a:r>
              <a:endParaRPr lang="en-US" sz="1000" dirty="0"/>
            </a:p>
          </p:txBody>
        </p:sp>
      </p:grpSp>
      <p:sp>
        <p:nvSpPr>
          <p:cNvPr id="44" name="Text 41"/>
          <p:cNvSpPr/>
          <p:nvPr/>
        </p:nvSpPr>
        <p:spPr>
          <a:xfrm>
            <a:off x="365760" y="5242560"/>
            <a:ext cx="114604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MISSING DATA</a:t>
            </a:r>
            <a:endParaRPr lang="en-US" sz="1133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85D525A-83A2-C766-2829-A5623D72ACFE}"/>
              </a:ext>
            </a:extLst>
          </p:cNvPr>
          <p:cNvGrpSpPr/>
          <p:nvPr/>
        </p:nvGrpSpPr>
        <p:grpSpPr>
          <a:xfrm>
            <a:off x="365760" y="5510784"/>
            <a:ext cx="11436096" cy="755904"/>
            <a:chOff x="365760" y="5510784"/>
            <a:chExt cx="11436096" cy="755904"/>
          </a:xfrm>
        </p:grpSpPr>
        <p:sp>
          <p:nvSpPr>
            <p:cNvPr id="45" name="Shape 42"/>
            <p:cNvSpPr/>
            <p:nvPr/>
          </p:nvSpPr>
          <p:spPr>
            <a:xfrm>
              <a:off x="365760" y="5510784"/>
              <a:ext cx="5608320" cy="755904"/>
            </a:xfrm>
            <a:prstGeom prst="rect">
              <a:avLst/>
            </a:prstGeom>
            <a:solidFill>
              <a:srgbClr val="F1F5F9"/>
            </a:solidFill>
            <a:ln w="15240">
              <a:solidFill>
                <a:srgbClr val="627EEA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46" name="Shape 43"/>
            <p:cNvSpPr/>
            <p:nvPr/>
          </p:nvSpPr>
          <p:spPr>
            <a:xfrm>
              <a:off x="365760" y="5510784"/>
              <a:ext cx="5608320" cy="60960"/>
            </a:xfrm>
            <a:prstGeom prst="rect">
              <a:avLst/>
            </a:prstGeom>
            <a:solidFill>
              <a:srgbClr val="627EEA"/>
            </a:solidFill>
            <a:ln w="12700">
              <a:solidFill>
                <a:srgbClr val="627EEA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47" name="Shape 44"/>
            <p:cNvSpPr/>
            <p:nvPr/>
          </p:nvSpPr>
          <p:spPr>
            <a:xfrm>
              <a:off x="487680" y="5632704"/>
              <a:ext cx="682752" cy="512064"/>
            </a:xfrm>
            <a:prstGeom prst="rect">
              <a:avLst/>
            </a:prstGeom>
            <a:solidFill>
              <a:srgbClr val="627EEA"/>
            </a:solidFill>
            <a:ln w="12700">
              <a:solidFill>
                <a:srgbClr val="627EEA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48" name="Text 45"/>
            <p:cNvSpPr/>
            <p:nvPr/>
          </p:nvSpPr>
          <p:spPr>
            <a:xfrm>
              <a:off x="487680" y="5632704"/>
              <a:ext cx="682752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867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31%</a:t>
              </a:r>
              <a:endParaRPr lang="en-US" sz="1867" dirty="0"/>
            </a:p>
          </p:txBody>
        </p:sp>
        <p:sp>
          <p:nvSpPr>
            <p:cNvPr id="49" name="Text 46"/>
            <p:cNvSpPr/>
            <p:nvPr/>
          </p:nvSpPr>
          <p:spPr>
            <a:xfrm>
              <a:off x="1267968" y="5608320"/>
              <a:ext cx="4608576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SPY · DXY · VIX</a:t>
              </a:r>
              <a:endParaRPr lang="en-US" sz="1200" dirty="0"/>
            </a:p>
          </p:txBody>
        </p:sp>
        <p:sp>
          <p:nvSpPr>
            <p:cNvPr id="50" name="Text 47"/>
            <p:cNvSpPr/>
            <p:nvPr/>
          </p:nvSpPr>
          <p:spPr>
            <a:xfrm>
              <a:off x="1267968" y="5876544"/>
              <a:ext cx="4608576" cy="195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0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Why: No stock market data on weekends &amp; holidays purely structural gap</a:t>
              </a:r>
              <a:endParaRPr lang="en-US" sz="1000" dirty="0"/>
            </a:p>
          </p:txBody>
        </p:sp>
        <p:sp>
          <p:nvSpPr>
            <p:cNvPr id="52" name="Shape 49"/>
            <p:cNvSpPr/>
            <p:nvPr/>
          </p:nvSpPr>
          <p:spPr>
            <a:xfrm>
              <a:off x="6193536" y="5510784"/>
              <a:ext cx="5608320" cy="755904"/>
            </a:xfrm>
            <a:prstGeom prst="rect">
              <a:avLst/>
            </a:prstGeom>
            <a:solidFill>
              <a:srgbClr val="F1F5F9"/>
            </a:solidFill>
            <a:ln w="15240">
              <a:solidFill>
                <a:srgbClr val="00D4AA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53" name="Shape 50"/>
            <p:cNvSpPr/>
            <p:nvPr/>
          </p:nvSpPr>
          <p:spPr>
            <a:xfrm>
              <a:off x="6193536" y="5510784"/>
              <a:ext cx="5608320" cy="60960"/>
            </a:xfrm>
            <a:prstGeom prst="rect">
              <a:avLst/>
            </a:prstGeom>
            <a:solidFill>
              <a:srgbClr val="00D4AA"/>
            </a:solidFill>
            <a:ln w="12700">
              <a:solidFill>
                <a:srgbClr val="00D4AA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54" name="Shape 51"/>
            <p:cNvSpPr/>
            <p:nvPr/>
          </p:nvSpPr>
          <p:spPr>
            <a:xfrm>
              <a:off x="6315456" y="5632704"/>
              <a:ext cx="682752" cy="512064"/>
            </a:xfrm>
            <a:prstGeom prst="rect">
              <a:avLst/>
            </a:prstGeom>
            <a:solidFill>
              <a:srgbClr val="00D4AA"/>
            </a:solidFill>
            <a:ln w="12700">
              <a:solidFill>
                <a:srgbClr val="00D4AA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55" name="Text 52"/>
            <p:cNvSpPr/>
            <p:nvPr/>
          </p:nvSpPr>
          <p:spPr>
            <a:xfrm>
              <a:off x="6315456" y="5632704"/>
              <a:ext cx="682752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867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7.7%</a:t>
              </a:r>
              <a:endParaRPr lang="en-US" sz="1867" dirty="0"/>
            </a:p>
          </p:txBody>
        </p:sp>
        <p:sp>
          <p:nvSpPr>
            <p:cNvPr id="56" name="Text 53"/>
            <p:cNvSpPr/>
            <p:nvPr/>
          </p:nvSpPr>
          <p:spPr>
            <a:xfrm>
              <a:off x="7095744" y="5608320"/>
              <a:ext cx="4608576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Fear &amp; Greed</a:t>
              </a:r>
              <a:endParaRPr lang="en-US" sz="1200" dirty="0"/>
            </a:p>
          </p:txBody>
        </p:sp>
        <p:sp>
          <p:nvSpPr>
            <p:cNvPr id="57" name="Text 54"/>
            <p:cNvSpPr/>
            <p:nvPr/>
          </p:nvSpPr>
          <p:spPr>
            <a:xfrm>
              <a:off x="7095744" y="5876544"/>
              <a:ext cx="4608576" cy="195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0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Why: Index only starts in February 2018  nothing missing after that</a:t>
              </a:r>
              <a:endParaRPr lang="en-US" sz="1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5" grpId="0" animBg="1"/>
      <p:bldP spid="26" grpId="0" animBg="1"/>
      <p:bldP spid="4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C23194-EDE7-C14D-FD0E-20BDE2194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2926F56-BC10-FA8A-5B16-259F43157E3D}"/>
              </a:ext>
            </a:extLst>
          </p:cNvPr>
          <p:cNvSpPr/>
          <p:nvPr/>
        </p:nvSpPr>
        <p:spPr>
          <a:xfrm>
            <a:off x="365760" y="121920"/>
            <a:ext cx="1146048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Sources, Preprocessing and Feature Engineering</a:t>
            </a:r>
            <a:endParaRPr lang="en-US" sz="2667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9FF81DA-C0E1-F1D9-A258-389F0C2DDAE3}"/>
              </a:ext>
            </a:extLst>
          </p:cNvPr>
          <p:cNvSpPr/>
          <p:nvPr/>
        </p:nvSpPr>
        <p:spPr>
          <a:xfrm>
            <a:off x="365760" y="792480"/>
            <a:ext cx="4876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DATA SOURCES</a:t>
            </a:r>
            <a:endParaRPr lang="en-US" sz="1133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43BE430-1BA7-23B2-C37E-6A75708D85B1}"/>
              </a:ext>
            </a:extLst>
          </p:cNvPr>
          <p:cNvGrpSpPr/>
          <p:nvPr/>
        </p:nvGrpSpPr>
        <p:grpSpPr>
          <a:xfrm>
            <a:off x="365760" y="1121664"/>
            <a:ext cx="2779776" cy="1438656"/>
            <a:chOff x="365760" y="1121664"/>
            <a:chExt cx="2779776" cy="1438656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31110D3A-3667-520D-7B52-3C6EB61DA7B7}"/>
                </a:ext>
              </a:extLst>
            </p:cNvPr>
            <p:cNvSpPr/>
            <p:nvPr/>
          </p:nvSpPr>
          <p:spPr>
            <a:xfrm>
              <a:off x="365760" y="1121664"/>
              <a:ext cx="2779776" cy="1438656"/>
            </a:xfrm>
            <a:prstGeom prst="rect">
              <a:avLst/>
            </a:prstGeom>
            <a:solidFill>
              <a:srgbClr val="F1F5F9"/>
            </a:solidFill>
            <a:ln w="15240">
              <a:solidFill>
                <a:srgbClr val="F7931A"/>
              </a:solidFill>
              <a:prstDash val="solid"/>
            </a:ln>
            <a:effectLst>
              <a:outerShdw blurRad="50800" dist="12700" dir="81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CD028B5F-98E2-5A53-CA8D-9E36AD4C2096}"/>
                </a:ext>
              </a:extLst>
            </p:cNvPr>
            <p:cNvSpPr/>
            <p:nvPr/>
          </p:nvSpPr>
          <p:spPr>
            <a:xfrm>
              <a:off x="365760" y="1121664"/>
              <a:ext cx="67056" cy="1438656"/>
            </a:xfrm>
            <a:prstGeom prst="rect">
              <a:avLst/>
            </a:prstGeom>
            <a:solidFill>
              <a:srgbClr val="F7931A"/>
            </a:solidFill>
            <a:ln w="12700">
              <a:solidFill>
                <a:srgbClr val="F7931A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AB675531-F349-70A7-F180-B02C772CCDF9}"/>
                </a:ext>
              </a:extLst>
            </p:cNvPr>
            <p:cNvSpPr/>
            <p:nvPr/>
          </p:nvSpPr>
          <p:spPr>
            <a:xfrm>
              <a:off x="487680" y="1219200"/>
              <a:ext cx="4267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867" dirty="0">
                  <a:solidFill>
                    <a:srgbClr val="F793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₿</a:t>
              </a:r>
              <a:endParaRPr lang="en-US" sz="1867" dirty="0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C6D8ED61-35AF-838D-9158-1F3A0FF61D7F}"/>
                </a:ext>
              </a:extLst>
            </p:cNvPr>
            <p:cNvSpPr/>
            <p:nvPr/>
          </p:nvSpPr>
          <p:spPr>
            <a:xfrm>
              <a:off x="950976" y="1219200"/>
              <a:ext cx="2097024" cy="3413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b="1" dirty="0">
                  <a:solidFill>
                    <a:srgbClr val="13223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yfinance — Prices</a:t>
              </a:r>
              <a:endParaRPr lang="en-US" sz="1200" dirty="0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D513FEAE-AA13-19F2-89B8-DC742EE73B33}"/>
                </a:ext>
              </a:extLst>
            </p:cNvPr>
            <p:cNvSpPr/>
            <p:nvPr/>
          </p:nvSpPr>
          <p:spPr>
            <a:xfrm>
              <a:off x="487680" y="1633728"/>
              <a:ext cx="2560320" cy="8290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06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BTC &amp; ETH daily OHLCV prices</a:t>
              </a:r>
              <a:endParaRPr lang="en-US" sz="1067" dirty="0"/>
            </a:p>
            <a:p>
              <a:r>
                <a:rPr lang="en-US" sz="106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Volume · History from 2017</a:t>
              </a:r>
              <a:endParaRPr lang="en-US" sz="1067" dirty="0"/>
            </a:p>
            <a:p>
              <a:r>
                <a:rPr lang="en-US" sz="106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Updated daily</a:t>
              </a:r>
              <a:endParaRPr lang="en-US" sz="1067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40504D0-A0E1-839E-4045-57EEC6535647}"/>
              </a:ext>
            </a:extLst>
          </p:cNvPr>
          <p:cNvGrpSpPr/>
          <p:nvPr/>
        </p:nvGrpSpPr>
        <p:grpSpPr>
          <a:xfrm>
            <a:off x="3328416" y="1121664"/>
            <a:ext cx="5742432" cy="1438656"/>
            <a:chOff x="3328416" y="1121664"/>
            <a:chExt cx="5742432" cy="1438656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568E48A8-5E92-1415-D010-DD999A9829FB}"/>
                </a:ext>
              </a:extLst>
            </p:cNvPr>
            <p:cNvGrpSpPr/>
            <p:nvPr/>
          </p:nvGrpSpPr>
          <p:grpSpPr>
            <a:xfrm>
              <a:off x="3328416" y="1121664"/>
              <a:ext cx="2779776" cy="1438656"/>
              <a:chOff x="3328416" y="1121664"/>
              <a:chExt cx="2779776" cy="1438656"/>
            </a:xfrm>
          </p:grpSpPr>
          <p:sp>
            <p:nvSpPr>
              <p:cNvPr id="10" name="Shape 8">
                <a:extLst>
                  <a:ext uri="{FF2B5EF4-FFF2-40B4-BE49-F238E27FC236}">
                    <a16:creationId xmlns:a16="http://schemas.microsoft.com/office/drawing/2014/main" id="{D3165E9B-CD3E-C263-04C8-54F46D7D628D}"/>
                  </a:ext>
                </a:extLst>
              </p:cNvPr>
              <p:cNvSpPr/>
              <p:nvPr/>
            </p:nvSpPr>
            <p:spPr>
              <a:xfrm>
                <a:off x="3328416" y="1121664"/>
                <a:ext cx="2779776" cy="1438656"/>
              </a:xfrm>
              <a:prstGeom prst="rect">
                <a:avLst/>
              </a:prstGeom>
              <a:solidFill>
                <a:srgbClr val="F1F5F9"/>
              </a:solidFill>
              <a:ln w="15240">
                <a:solidFill>
                  <a:srgbClr val="627EEA"/>
                </a:solidFill>
                <a:prstDash val="solid"/>
              </a:ln>
              <a:effectLst>
                <a:outerShdw blurRad="50800" dist="12700" dir="8100000" algn="bl" rotWithShape="0">
                  <a:srgbClr val="000000">
                    <a:alpha val="6000"/>
                  </a:srgbClr>
                </a:outerShdw>
              </a:effectLst>
            </p:spPr>
            <p:txBody>
              <a:bodyPr/>
              <a:lstStyle/>
              <a:p>
                <a:endParaRPr lang="en-DE" sz="2400"/>
              </a:p>
            </p:txBody>
          </p:sp>
          <p:sp>
            <p:nvSpPr>
              <p:cNvPr id="11" name="Shape 9">
                <a:extLst>
                  <a:ext uri="{FF2B5EF4-FFF2-40B4-BE49-F238E27FC236}">
                    <a16:creationId xmlns:a16="http://schemas.microsoft.com/office/drawing/2014/main" id="{778A3BE9-9036-8F95-9F19-C20B6E1C551B}"/>
                  </a:ext>
                </a:extLst>
              </p:cNvPr>
              <p:cNvSpPr/>
              <p:nvPr/>
            </p:nvSpPr>
            <p:spPr>
              <a:xfrm>
                <a:off x="3328416" y="1121664"/>
                <a:ext cx="67056" cy="1438656"/>
              </a:xfrm>
              <a:prstGeom prst="rect">
                <a:avLst/>
              </a:prstGeom>
              <a:solidFill>
                <a:srgbClr val="627EEA"/>
              </a:solidFill>
              <a:ln w="12700">
                <a:solidFill>
                  <a:srgbClr val="627EEA"/>
                </a:solidFill>
                <a:prstDash val="solid"/>
              </a:ln>
            </p:spPr>
            <p:txBody>
              <a:bodyPr/>
              <a:lstStyle/>
              <a:p>
                <a:endParaRPr lang="en-DE" sz="2400"/>
              </a:p>
            </p:txBody>
          </p:sp>
          <p:sp>
            <p:nvSpPr>
              <p:cNvPr id="12" name="Text 10">
                <a:extLst>
                  <a:ext uri="{FF2B5EF4-FFF2-40B4-BE49-F238E27FC236}">
                    <a16:creationId xmlns:a16="http://schemas.microsoft.com/office/drawing/2014/main" id="{3DBAE6E2-F7AB-B992-5B1D-3C0C825AAD3F}"/>
                  </a:ext>
                </a:extLst>
              </p:cNvPr>
              <p:cNvSpPr/>
              <p:nvPr/>
            </p:nvSpPr>
            <p:spPr>
              <a:xfrm>
                <a:off x="3450336" y="1219200"/>
                <a:ext cx="42672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867" dirty="0">
                    <a:solidFill>
                      <a:srgbClr val="627EE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📈</a:t>
                </a:r>
                <a:endParaRPr lang="en-US" sz="1867" dirty="0"/>
              </a:p>
            </p:txBody>
          </p:sp>
          <p:sp>
            <p:nvSpPr>
              <p:cNvPr id="13" name="Text 11">
                <a:extLst>
                  <a:ext uri="{FF2B5EF4-FFF2-40B4-BE49-F238E27FC236}">
                    <a16:creationId xmlns:a16="http://schemas.microsoft.com/office/drawing/2014/main" id="{604D9CEC-1423-EF06-25DC-44963A65566E}"/>
                  </a:ext>
                </a:extLst>
              </p:cNvPr>
              <p:cNvSpPr/>
              <p:nvPr/>
            </p:nvSpPr>
            <p:spPr>
              <a:xfrm>
                <a:off x="3913632" y="1219200"/>
                <a:ext cx="2097024" cy="34137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200" b="1" dirty="0">
                    <a:solidFill>
                      <a:srgbClr val="13223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yfinance — Macro</a:t>
                </a:r>
                <a:endParaRPr lang="en-US" sz="1200" dirty="0"/>
              </a:p>
            </p:txBody>
          </p:sp>
          <p:sp>
            <p:nvSpPr>
              <p:cNvPr id="14" name="Text 12">
                <a:extLst>
                  <a:ext uri="{FF2B5EF4-FFF2-40B4-BE49-F238E27FC236}">
                    <a16:creationId xmlns:a16="http://schemas.microsoft.com/office/drawing/2014/main" id="{F2F75A0B-3C4F-7230-6916-2208FCDF56C5}"/>
                  </a:ext>
                </a:extLst>
              </p:cNvPr>
              <p:cNvSpPr/>
              <p:nvPr/>
            </p:nvSpPr>
            <p:spPr>
              <a:xfrm>
                <a:off x="3450336" y="1633728"/>
                <a:ext cx="2560320" cy="8290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r>
                  <a:rPr lang="en-US" sz="1067" dirty="0">
                    <a:solidFill>
                      <a:srgbClr val="4755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SPY : US stock market</a:t>
                </a:r>
                <a:endParaRPr lang="en-US" sz="1067" dirty="0"/>
              </a:p>
              <a:p>
                <a:r>
                  <a:rPr lang="en-US" sz="1067" dirty="0">
                    <a:solidFill>
                      <a:srgbClr val="4755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DXY : Dollar strength</a:t>
                </a:r>
                <a:endParaRPr lang="en-US" sz="1067" dirty="0"/>
              </a:p>
              <a:p>
                <a:r>
                  <a:rPr lang="en-US" sz="1067" dirty="0">
                    <a:solidFill>
                      <a:srgbClr val="4755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VIX : Global fear index</a:t>
                </a:r>
                <a:endParaRPr lang="en-US" sz="1067" dirty="0"/>
              </a:p>
            </p:txBody>
          </p:sp>
        </p:grpSp>
        <p:sp>
          <p:nvSpPr>
            <p:cNvPr id="15" name="Shape 13">
              <a:extLst>
                <a:ext uri="{FF2B5EF4-FFF2-40B4-BE49-F238E27FC236}">
                  <a16:creationId xmlns:a16="http://schemas.microsoft.com/office/drawing/2014/main" id="{728CCFB5-6CA0-DA96-56B9-ABDC678A2D00}"/>
                </a:ext>
              </a:extLst>
            </p:cNvPr>
            <p:cNvSpPr/>
            <p:nvPr/>
          </p:nvSpPr>
          <p:spPr>
            <a:xfrm>
              <a:off x="6291072" y="1121664"/>
              <a:ext cx="2779776" cy="1438656"/>
            </a:xfrm>
            <a:prstGeom prst="rect">
              <a:avLst/>
            </a:prstGeom>
            <a:solidFill>
              <a:srgbClr val="F1F5F9"/>
            </a:solidFill>
            <a:ln w="15240">
              <a:solidFill>
                <a:srgbClr val="00D4AA"/>
              </a:solidFill>
              <a:prstDash val="solid"/>
            </a:ln>
            <a:effectLst>
              <a:outerShdw blurRad="50800" dist="12700" dir="81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40F26F49-6DF8-413A-C8B6-D6DD57E1D797}"/>
                </a:ext>
              </a:extLst>
            </p:cNvPr>
            <p:cNvSpPr/>
            <p:nvPr/>
          </p:nvSpPr>
          <p:spPr>
            <a:xfrm>
              <a:off x="6291072" y="1121664"/>
              <a:ext cx="67056" cy="1438656"/>
            </a:xfrm>
            <a:prstGeom prst="rect">
              <a:avLst/>
            </a:prstGeom>
            <a:solidFill>
              <a:srgbClr val="00D4AA"/>
            </a:solidFill>
            <a:ln w="12700">
              <a:solidFill>
                <a:srgbClr val="00D4AA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14F7539B-22DA-DDFF-5E71-8DB00A9757F1}"/>
                </a:ext>
              </a:extLst>
            </p:cNvPr>
            <p:cNvSpPr/>
            <p:nvPr/>
          </p:nvSpPr>
          <p:spPr>
            <a:xfrm>
              <a:off x="6412992" y="1219200"/>
              <a:ext cx="4267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867" dirty="0">
                  <a:solidFill>
                    <a:srgbClr val="00D4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😨</a:t>
              </a:r>
              <a:endParaRPr lang="en-US" sz="1867" dirty="0"/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76BC27C9-D9D7-0CBB-C2AF-9DC30DC926BF}"/>
                </a:ext>
              </a:extLst>
            </p:cNvPr>
            <p:cNvSpPr/>
            <p:nvPr/>
          </p:nvSpPr>
          <p:spPr>
            <a:xfrm>
              <a:off x="6876288" y="1219200"/>
              <a:ext cx="2097024" cy="3413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b="1" dirty="0">
                  <a:solidFill>
                    <a:srgbClr val="13223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alternative.me</a:t>
              </a:r>
              <a:endParaRPr lang="en-US" sz="1200" dirty="0"/>
            </a:p>
          </p:txBody>
        </p:sp>
        <p:sp>
          <p:nvSpPr>
            <p:cNvPr id="19" name="Text 17">
              <a:extLst>
                <a:ext uri="{FF2B5EF4-FFF2-40B4-BE49-F238E27FC236}">
                  <a16:creationId xmlns:a16="http://schemas.microsoft.com/office/drawing/2014/main" id="{ED4CED83-FDCB-D83C-B9C8-4C0F90322A3D}"/>
                </a:ext>
              </a:extLst>
            </p:cNvPr>
            <p:cNvSpPr/>
            <p:nvPr/>
          </p:nvSpPr>
          <p:spPr>
            <a:xfrm>
              <a:off x="6412992" y="1633728"/>
              <a:ext cx="2560320" cy="8290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06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Fear &amp; Greed Index 0–100</a:t>
              </a:r>
              <a:endParaRPr lang="en-US" sz="1067" dirty="0"/>
            </a:p>
            <a:p>
              <a:r>
                <a:rPr lang="en-US" sz="106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 = extreme panic</a:t>
              </a:r>
              <a:endParaRPr lang="en-US" sz="1067" dirty="0"/>
            </a:p>
            <a:p>
              <a:r>
                <a:rPr lang="en-US" sz="106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100 = extreme greed</a:t>
              </a:r>
              <a:endParaRPr lang="en-US" sz="1067" dirty="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2E93CCE-FBB9-477F-249D-A1EAEBEF57A9}"/>
              </a:ext>
            </a:extLst>
          </p:cNvPr>
          <p:cNvGrpSpPr/>
          <p:nvPr/>
        </p:nvGrpSpPr>
        <p:grpSpPr>
          <a:xfrm>
            <a:off x="9253728" y="1121664"/>
            <a:ext cx="2779776" cy="1438656"/>
            <a:chOff x="9253728" y="1121664"/>
            <a:chExt cx="2779776" cy="1438656"/>
          </a:xfrm>
        </p:grpSpPr>
        <p:sp>
          <p:nvSpPr>
            <p:cNvPr id="20" name="Shape 18">
              <a:extLst>
                <a:ext uri="{FF2B5EF4-FFF2-40B4-BE49-F238E27FC236}">
                  <a16:creationId xmlns:a16="http://schemas.microsoft.com/office/drawing/2014/main" id="{A48B99CE-C0CE-B4BE-712D-021BF06D98ED}"/>
                </a:ext>
              </a:extLst>
            </p:cNvPr>
            <p:cNvSpPr/>
            <p:nvPr/>
          </p:nvSpPr>
          <p:spPr>
            <a:xfrm>
              <a:off x="9253728" y="1121664"/>
              <a:ext cx="2779776" cy="1438656"/>
            </a:xfrm>
            <a:prstGeom prst="rect">
              <a:avLst/>
            </a:prstGeom>
            <a:solidFill>
              <a:srgbClr val="F1F5F9"/>
            </a:solidFill>
            <a:ln w="15240">
              <a:solidFill>
                <a:srgbClr val="10B981"/>
              </a:solidFill>
              <a:prstDash val="solid"/>
            </a:ln>
            <a:effectLst>
              <a:outerShdw blurRad="50800" dist="12700" dir="81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21" name="Shape 19">
              <a:extLst>
                <a:ext uri="{FF2B5EF4-FFF2-40B4-BE49-F238E27FC236}">
                  <a16:creationId xmlns:a16="http://schemas.microsoft.com/office/drawing/2014/main" id="{1A996871-1723-D4F6-D093-8BC3CC099824}"/>
                </a:ext>
              </a:extLst>
            </p:cNvPr>
            <p:cNvSpPr/>
            <p:nvPr/>
          </p:nvSpPr>
          <p:spPr>
            <a:xfrm>
              <a:off x="9253728" y="1121664"/>
              <a:ext cx="67056" cy="1438656"/>
            </a:xfrm>
            <a:prstGeom prst="rect">
              <a:avLst/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D37AF3EE-A180-AC12-6413-378581107A55}"/>
                </a:ext>
              </a:extLst>
            </p:cNvPr>
            <p:cNvSpPr/>
            <p:nvPr/>
          </p:nvSpPr>
          <p:spPr>
            <a:xfrm>
              <a:off x="9375648" y="1219200"/>
              <a:ext cx="4267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867" dirty="0">
                  <a:solidFill>
                    <a:srgbClr val="10B98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📰</a:t>
              </a:r>
              <a:endParaRPr lang="en-US" sz="1867" dirty="0"/>
            </a:p>
          </p:txBody>
        </p:sp>
        <p:sp>
          <p:nvSpPr>
            <p:cNvPr id="23" name="Text 21">
              <a:extLst>
                <a:ext uri="{FF2B5EF4-FFF2-40B4-BE49-F238E27FC236}">
                  <a16:creationId xmlns:a16="http://schemas.microsoft.com/office/drawing/2014/main" id="{0DCB0E36-8C00-5AB6-3732-49CF33BEA0C0}"/>
                </a:ext>
              </a:extLst>
            </p:cNvPr>
            <p:cNvSpPr/>
            <p:nvPr/>
          </p:nvSpPr>
          <p:spPr>
            <a:xfrm>
              <a:off x="9838944" y="1219200"/>
              <a:ext cx="2097024" cy="3413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b="1" dirty="0">
                  <a:solidFill>
                    <a:srgbClr val="13223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Tavily API</a:t>
              </a:r>
              <a:endParaRPr lang="en-US" sz="1200" dirty="0"/>
            </a:p>
          </p:txBody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D0283D5A-4090-6D34-67D3-638768CE72A2}"/>
                </a:ext>
              </a:extLst>
            </p:cNvPr>
            <p:cNvSpPr/>
            <p:nvPr/>
          </p:nvSpPr>
          <p:spPr>
            <a:xfrm>
              <a:off x="9375648" y="1633728"/>
              <a:ext cx="2560320" cy="8290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06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Live crypto &amp; macro news</a:t>
              </a:r>
              <a:endParaRPr lang="en-US" sz="1067" dirty="0"/>
            </a:p>
            <a:p>
              <a:r>
                <a:rPr lang="en-US" sz="106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Real-time retrieval</a:t>
              </a:r>
              <a:endParaRPr lang="en-US" sz="1067" dirty="0"/>
            </a:p>
            <a:p>
              <a:r>
                <a:rPr lang="en-US" sz="106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Used by chatbot pipeline</a:t>
              </a:r>
              <a:endParaRPr lang="en-US" sz="1067" dirty="0"/>
            </a:p>
          </p:txBody>
        </p:sp>
      </p:grpSp>
      <p:sp>
        <p:nvSpPr>
          <p:cNvPr id="25" name="Text 23">
            <a:extLst>
              <a:ext uri="{FF2B5EF4-FFF2-40B4-BE49-F238E27FC236}">
                <a16:creationId xmlns:a16="http://schemas.microsoft.com/office/drawing/2014/main" id="{DF572DA9-5540-099E-A21E-000EBBB7337A}"/>
              </a:ext>
            </a:extLst>
          </p:cNvPr>
          <p:cNvSpPr/>
          <p:nvPr/>
        </p:nvSpPr>
        <p:spPr>
          <a:xfrm>
            <a:off x="365760" y="2657856"/>
            <a:ext cx="4876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DATA PREPARATION</a:t>
            </a:r>
            <a:endParaRPr lang="en-US" sz="1133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E2D9FE7-0351-7C3A-CF7D-45183FEB86E1}"/>
              </a:ext>
            </a:extLst>
          </p:cNvPr>
          <p:cNvGrpSpPr/>
          <p:nvPr/>
        </p:nvGrpSpPr>
        <p:grpSpPr>
          <a:xfrm>
            <a:off x="372386" y="2974848"/>
            <a:ext cx="1682496" cy="670560"/>
            <a:chOff x="365760" y="2974848"/>
            <a:chExt cx="1682496" cy="670560"/>
          </a:xfrm>
        </p:grpSpPr>
        <p:sp>
          <p:nvSpPr>
            <p:cNvPr id="26" name="Shape 24">
              <a:extLst>
                <a:ext uri="{FF2B5EF4-FFF2-40B4-BE49-F238E27FC236}">
                  <a16:creationId xmlns:a16="http://schemas.microsoft.com/office/drawing/2014/main" id="{E15ED2E2-7B8C-B3F7-42CA-8FC319394F21}"/>
                </a:ext>
              </a:extLst>
            </p:cNvPr>
            <p:cNvSpPr/>
            <p:nvPr/>
          </p:nvSpPr>
          <p:spPr>
            <a:xfrm>
              <a:off x="365760" y="2974848"/>
              <a:ext cx="1682496" cy="670560"/>
            </a:xfrm>
            <a:prstGeom prst="rect">
              <a:avLst/>
            </a:prstGeom>
            <a:solidFill>
              <a:srgbClr val="F1F5F9"/>
            </a:solidFill>
            <a:ln w="15240">
              <a:solidFill>
                <a:srgbClr val="F7931A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27" name="Shape 25">
              <a:extLst>
                <a:ext uri="{FF2B5EF4-FFF2-40B4-BE49-F238E27FC236}">
                  <a16:creationId xmlns:a16="http://schemas.microsoft.com/office/drawing/2014/main" id="{F6D5C389-EC7F-B9C2-E4EB-5541050FC6ED}"/>
                </a:ext>
              </a:extLst>
            </p:cNvPr>
            <p:cNvSpPr/>
            <p:nvPr/>
          </p:nvSpPr>
          <p:spPr>
            <a:xfrm>
              <a:off x="365760" y="2974848"/>
              <a:ext cx="1682496" cy="48768"/>
            </a:xfrm>
            <a:prstGeom prst="rect">
              <a:avLst/>
            </a:prstGeom>
            <a:solidFill>
              <a:srgbClr val="F7931A"/>
            </a:solidFill>
            <a:ln w="12700">
              <a:solidFill>
                <a:srgbClr val="F7931A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28" name="Text 26">
              <a:extLst>
                <a:ext uri="{FF2B5EF4-FFF2-40B4-BE49-F238E27FC236}">
                  <a16:creationId xmlns:a16="http://schemas.microsoft.com/office/drawing/2014/main" id="{8B70DE85-8FC5-CBC2-626C-820EC16DE8C4}"/>
                </a:ext>
              </a:extLst>
            </p:cNvPr>
            <p:cNvSpPr/>
            <p:nvPr/>
          </p:nvSpPr>
          <p:spPr>
            <a:xfrm>
              <a:off x="463296" y="3048000"/>
              <a:ext cx="1487424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133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Normalize</a:t>
              </a:r>
              <a:endParaRPr lang="en-US" sz="1133" dirty="0"/>
            </a:p>
          </p:txBody>
        </p:sp>
        <p:sp>
          <p:nvSpPr>
            <p:cNvPr id="29" name="Text 27">
              <a:extLst>
                <a:ext uri="{FF2B5EF4-FFF2-40B4-BE49-F238E27FC236}">
                  <a16:creationId xmlns:a16="http://schemas.microsoft.com/office/drawing/2014/main" id="{A84AE27E-2D8F-5E15-F12D-AC30FF239E9B}"/>
                </a:ext>
              </a:extLst>
            </p:cNvPr>
            <p:cNvSpPr/>
            <p:nvPr/>
          </p:nvSpPr>
          <p:spPr>
            <a:xfrm>
              <a:off x="463296" y="3340608"/>
              <a:ext cx="1487424" cy="243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000" i="1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Log transformation price and volume</a:t>
              </a:r>
              <a:endParaRPr lang="en-US" sz="1000" dirty="0"/>
            </a:p>
          </p:txBody>
        </p:sp>
      </p:grpSp>
      <p:sp>
        <p:nvSpPr>
          <p:cNvPr id="30" name="Shape 28">
            <a:extLst>
              <a:ext uri="{FF2B5EF4-FFF2-40B4-BE49-F238E27FC236}">
                <a16:creationId xmlns:a16="http://schemas.microsoft.com/office/drawing/2014/main" id="{A15F9D82-76A1-2672-EDA2-8C2386779FE3}"/>
              </a:ext>
            </a:extLst>
          </p:cNvPr>
          <p:cNvSpPr/>
          <p:nvPr/>
        </p:nvSpPr>
        <p:spPr>
          <a:xfrm>
            <a:off x="2079266" y="3310128"/>
            <a:ext cx="21945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en-DE" sz="240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5AFC38D-9BC1-F828-B7C6-A2DC8B8C3021}"/>
              </a:ext>
            </a:extLst>
          </p:cNvPr>
          <p:cNvGrpSpPr/>
          <p:nvPr/>
        </p:nvGrpSpPr>
        <p:grpSpPr>
          <a:xfrm>
            <a:off x="2298722" y="2974848"/>
            <a:ext cx="1682496" cy="670560"/>
            <a:chOff x="2292096" y="2974848"/>
            <a:chExt cx="1682496" cy="670560"/>
          </a:xfrm>
        </p:grpSpPr>
        <p:sp>
          <p:nvSpPr>
            <p:cNvPr id="31" name="Shape 29">
              <a:extLst>
                <a:ext uri="{FF2B5EF4-FFF2-40B4-BE49-F238E27FC236}">
                  <a16:creationId xmlns:a16="http://schemas.microsoft.com/office/drawing/2014/main" id="{B21C0A41-F499-C614-09B0-2EFCB74C6344}"/>
                </a:ext>
              </a:extLst>
            </p:cNvPr>
            <p:cNvSpPr/>
            <p:nvPr/>
          </p:nvSpPr>
          <p:spPr>
            <a:xfrm>
              <a:off x="2292096" y="2974848"/>
              <a:ext cx="1682496" cy="670560"/>
            </a:xfrm>
            <a:prstGeom prst="rect">
              <a:avLst/>
            </a:prstGeom>
            <a:solidFill>
              <a:srgbClr val="F1F5F9"/>
            </a:solidFill>
            <a:ln w="15240">
              <a:solidFill>
                <a:srgbClr val="627EEA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32" name="Shape 30">
              <a:extLst>
                <a:ext uri="{FF2B5EF4-FFF2-40B4-BE49-F238E27FC236}">
                  <a16:creationId xmlns:a16="http://schemas.microsoft.com/office/drawing/2014/main" id="{2036B651-029B-AB21-DCB1-87463C03E0B2}"/>
                </a:ext>
              </a:extLst>
            </p:cNvPr>
            <p:cNvSpPr/>
            <p:nvPr/>
          </p:nvSpPr>
          <p:spPr>
            <a:xfrm>
              <a:off x="2292096" y="2974848"/>
              <a:ext cx="1682496" cy="48768"/>
            </a:xfrm>
            <a:prstGeom prst="rect">
              <a:avLst/>
            </a:prstGeom>
            <a:solidFill>
              <a:srgbClr val="627EEA"/>
            </a:solidFill>
            <a:ln w="12700">
              <a:solidFill>
                <a:srgbClr val="627EEA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33" name="Text 31">
              <a:extLst>
                <a:ext uri="{FF2B5EF4-FFF2-40B4-BE49-F238E27FC236}">
                  <a16:creationId xmlns:a16="http://schemas.microsoft.com/office/drawing/2014/main" id="{72756A92-0526-8D35-A84B-B23EED9A31E4}"/>
                </a:ext>
              </a:extLst>
            </p:cNvPr>
            <p:cNvSpPr/>
            <p:nvPr/>
          </p:nvSpPr>
          <p:spPr>
            <a:xfrm>
              <a:off x="2389632" y="3048000"/>
              <a:ext cx="1487424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133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Fill Missing Days</a:t>
              </a:r>
              <a:endParaRPr lang="en-US" sz="1133" dirty="0"/>
            </a:p>
          </p:txBody>
        </p:sp>
        <p:sp>
          <p:nvSpPr>
            <p:cNvPr id="34" name="Text 32">
              <a:extLst>
                <a:ext uri="{FF2B5EF4-FFF2-40B4-BE49-F238E27FC236}">
                  <a16:creationId xmlns:a16="http://schemas.microsoft.com/office/drawing/2014/main" id="{97891642-908B-270D-0C48-16AB1BE0353C}"/>
                </a:ext>
              </a:extLst>
            </p:cNvPr>
            <p:cNvSpPr/>
            <p:nvPr/>
          </p:nvSpPr>
          <p:spPr>
            <a:xfrm>
              <a:off x="2389632" y="3340608"/>
              <a:ext cx="1487424" cy="243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000" i="1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Forward-fill gaps</a:t>
              </a:r>
              <a:endParaRPr lang="en-US" sz="1000" dirty="0"/>
            </a:p>
          </p:txBody>
        </p:sp>
      </p:grpSp>
      <p:sp>
        <p:nvSpPr>
          <p:cNvPr id="35" name="Shape 33">
            <a:extLst>
              <a:ext uri="{FF2B5EF4-FFF2-40B4-BE49-F238E27FC236}">
                <a16:creationId xmlns:a16="http://schemas.microsoft.com/office/drawing/2014/main" id="{C74DE833-43FD-3BB7-3463-684AD00017CC}"/>
              </a:ext>
            </a:extLst>
          </p:cNvPr>
          <p:cNvSpPr/>
          <p:nvPr/>
        </p:nvSpPr>
        <p:spPr>
          <a:xfrm>
            <a:off x="4005602" y="3310128"/>
            <a:ext cx="21945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en-DE" sz="240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0351722-D3CC-A306-0F44-9DE0DE896C0F}"/>
              </a:ext>
            </a:extLst>
          </p:cNvPr>
          <p:cNvGrpSpPr/>
          <p:nvPr/>
        </p:nvGrpSpPr>
        <p:grpSpPr>
          <a:xfrm>
            <a:off x="4225058" y="2974848"/>
            <a:ext cx="1682496" cy="670560"/>
            <a:chOff x="4218432" y="2974848"/>
            <a:chExt cx="1682496" cy="670560"/>
          </a:xfrm>
        </p:grpSpPr>
        <p:sp>
          <p:nvSpPr>
            <p:cNvPr id="36" name="Shape 34">
              <a:extLst>
                <a:ext uri="{FF2B5EF4-FFF2-40B4-BE49-F238E27FC236}">
                  <a16:creationId xmlns:a16="http://schemas.microsoft.com/office/drawing/2014/main" id="{86CA3E6F-1631-B5AA-66D6-64D58023F1BC}"/>
                </a:ext>
              </a:extLst>
            </p:cNvPr>
            <p:cNvSpPr/>
            <p:nvPr/>
          </p:nvSpPr>
          <p:spPr>
            <a:xfrm>
              <a:off x="4218432" y="2974848"/>
              <a:ext cx="1682496" cy="670560"/>
            </a:xfrm>
            <a:prstGeom prst="rect">
              <a:avLst/>
            </a:prstGeom>
            <a:solidFill>
              <a:srgbClr val="F1F5F9"/>
            </a:solidFill>
            <a:ln w="15240">
              <a:solidFill>
                <a:srgbClr val="00D4AA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37" name="Shape 35">
              <a:extLst>
                <a:ext uri="{FF2B5EF4-FFF2-40B4-BE49-F238E27FC236}">
                  <a16:creationId xmlns:a16="http://schemas.microsoft.com/office/drawing/2014/main" id="{8D3D23BD-D82F-C7B4-26D3-6F18FD6578A1}"/>
                </a:ext>
              </a:extLst>
            </p:cNvPr>
            <p:cNvSpPr/>
            <p:nvPr/>
          </p:nvSpPr>
          <p:spPr>
            <a:xfrm>
              <a:off x="4218432" y="2974848"/>
              <a:ext cx="1682496" cy="48768"/>
            </a:xfrm>
            <a:prstGeom prst="rect">
              <a:avLst/>
            </a:prstGeom>
            <a:solidFill>
              <a:srgbClr val="00D4AA"/>
            </a:solidFill>
            <a:ln w="12700">
              <a:solidFill>
                <a:srgbClr val="00D4AA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38" name="Text 36">
              <a:extLst>
                <a:ext uri="{FF2B5EF4-FFF2-40B4-BE49-F238E27FC236}">
                  <a16:creationId xmlns:a16="http://schemas.microsoft.com/office/drawing/2014/main" id="{255CE40C-D844-83F4-87E3-A38B9BAAE029}"/>
                </a:ext>
              </a:extLst>
            </p:cNvPr>
            <p:cNvSpPr/>
            <p:nvPr/>
          </p:nvSpPr>
          <p:spPr>
            <a:xfrm>
              <a:off x="4315968" y="3048000"/>
              <a:ext cx="1487424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133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Compute Features</a:t>
              </a:r>
              <a:endParaRPr lang="en-US" sz="1133" dirty="0"/>
            </a:p>
          </p:txBody>
        </p:sp>
        <p:sp>
          <p:nvSpPr>
            <p:cNvPr id="39" name="Text 37">
              <a:extLst>
                <a:ext uri="{FF2B5EF4-FFF2-40B4-BE49-F238E27FC236}">
                  <a16:creationId xmlns:a16="http://schemas.microsoft.com/office/drawing/2014/main" id="{A9231091-4E5B-AB37-0F70-FB3478935794}"/>
                </a:ext>
              </a:extLst>
            </p:cNvPr>
            <p:cNvSpPr/>
            <p:nvPr/>
          </p:nvSpPr>
          <p:spPr>
            <a:xfrm>
              <a:off x="4315968" y="3340608"/>
              <a:ext cx="1487424" cy="243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000" i="1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21 signals</a:t>
              </a:r>
              <a:endParaRPr lang="en-US" sz="1000" dirty="0"/>
            </a:p>
          </p:txBody>
        </p:sp>
      </p:grpSp>
      <p:sp>
        <p:nvSpPr>
          <p:cNvPr id="40" name="Shape 38">
            <a:extLst>
              <a:ext uri="{FF2B5EF4-FFF2-40B4-BE49-F238E27FC236}">
                <a16:creationId xmlns:a16="http://schemas.microsoft.com/office/drawing/2014/main" id="{55F38D8B-A54E-AF3B-6C9B-334C0FF1B985}"/>
              </a:ext>
            </a:extLst>
          </p:cNvPr>
          <p:cNvSpPr/>
          <p:nvPr/>
        </p:nvSpPr>
        <p:spPr>
          <a:xfrm>
            <a:off x="5931938" y="3310128"/>
            <a:ext cx="21945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en-DE" sz="240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ACDCAF4-9ACA-86B2-C109-EBA9E8152068}"/>
              </a:ext>
            </a:extLst>
          </p:cNvPr>
          <p:cNvGrpSpPr/>
          <p:nvPr/>
        </p:nvGrpSpPr>
        <p:grpSpPr>
          <a:xfrm>
            <a:off x="6151394" y="2974848"/>
            <a:ext cx="1682496" cy="670560"/>
            <a:chOff x="6144768" y="2974848"/>
            <a:chExt cx="1682496" cy="670560"/>
          </a:xfrm>
        </p:grpSpPr>
        <p:sp>
          <p:nvSpPr>
            <p:cNvPr id="41" name="Shape 39">
              <a:extLst>
                <a:ext uri="{FF2B5EF4-FFF2-40B4-BE49-F238E27FC236}">
                  <a16:creationId xmlns:a16="http://schemas.microsoft.com/office/drawing/2014/main" id="{2807A071-F49E-2C10-4CDD-50934CF8873B}"/>
                </a:ext>
              </a:extLst>
            </p:cNvPr>
            <p:cNvSpPr/>
            <p:nvPr/>
          </p:nvSpPr>
          <p:spPr>
            <a:xfrm>
              <a:off x="6144768" y="2974848"/>
              <a:ext cx="1682496" cy="670560"/>
            </a:xfrm>
            <a:prstGeom prst="rect">
              <a:avLst/>
            </a:prstGeom>
            <a:solidFill>
              <a:srgbClr val="F1F5F9"/>
            </a:solidFill>
            <a:ln w="1524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42" name="Shape 40">
              <a:extLst>
                <a:ext uri="{FF2B5EF4-FFF2-40B4-BE49-F238E27FC236}">
                  <a16:creationId xmlns:a16="http://schemas.microsoft.com/office/drawing/2014/main" id="{86A194CE-F999-5D2C-6AB6-CCFFC6C99B41}"/>
                </a:ext>
              </a:extLst>
            </p:cNvPr>
            <p:cNvSpPr/>
            <p:nvPr/>
          </p:nvSpPr>
          <p:spPr>
            <a:xfrm>
              <a:off x="6144768" y="2974848"/>
              <a:ext cx="1682496" cy="48768"/>
            </a:xfrm>
            <a:prstGeom prst="rect">
              <a:avLst/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43" name="Text 41">
              <a:extLst>
                <a:ext uri="{FF2B5EF4-FFF2-40B4-BE49-F238E27FC236}">
                  <a16:creationId xmlns:a16="http://schemas.microsoft.com/office/drawing/2014/main" id="{0765982A-873E-DC95-A979-8EE8C01CE952}"/>
                </a:ext>
              </a:extLst>
            </p:cNvPr>
            <p:cNvSpPr/>
            <p:nvPr/>
          </p:nvSpPr>
          <p:spPr>
            <a:xfrm>
              <a:off x="6242304" y="3048000"/>
              <a:ext cx="1487424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133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Transform to categorical</a:t>
              </a:r>
              <a:endParaRPr lang="en-US" sz="1133" dirty="0"/>
            </a:p>
          </p:txBody>
        </p:sp>
        <p:sp>
          <p:nvSpPr>
            <p:cNvPr id="44" name="Text 42">
              <a:extLst>
                <a:ext uri="{FF2B5EF4-FFF2-40B4-BE49-F238E27FC236}">
                  <a16:creationId xmlns:a16="http://schemas.microsoft.com/office/drawing/2014/main" id="{FA9A2AFC-0603-D6C8-B8B7-BE66EAE60E3A}"/>
                </a:ext>
              </a:extLst>
            </p:cNvPr>
            <p:cNvSpPr/>
            <p:nvPr/>
          </p:nvSpPr>
          <p:spPr>
            <a:xfrm>
              <a:off x="6242304" y="3340608"/>
              <a:ext cx="1487424" cy="243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000" i="1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Fear and greed index </a:t>
              </a:r>
              <a:endParaRPr lang="en-US" sz="1000" dirty="0"/>
            </a:p>
          </p:txBody>
        </p:sp>
      </p:grpSp>
      <p:sp>
        <p:nvSpPr>
          <p:cNvPr id="55" name="Text 53">
            <a:extLst>
              <a:ext uri="{FF2B5EF4-FFF2-40B4-BE49-F238E27FC236}">
                <a16:creationId xmlns:a16="http://schemas.microsoft.com/office/drawing/2014/main" id="{5369E62A-ABAB-A73D-335E-BCB02A6CC945}"/>
              </a:ext>
            </a:extLst>
          </p:cNvPr>
          <p:cNvSpPr/>
          <p:nvPr/>
        </p:nvSpPr>
        <p:spPr>
          <a:xfrm>
            <a:off x="365760" y="3779520"/>
            <a:ext cx="114604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ENGINEERED FEATURES  —  21 signals across 6 categories</a:t>
            </a:r>
            <a:endParaRPr lang="en-US" sz="1133" dirty="0"/>
          </a:p>
        </p:txBody>
      </p:sp>
      <p:graphicFrame>
        <p:nvGraphicFramePr>
          <p:cNvPr id="56" name="Table 0">
            <a:extLst>
              <a:ext uri="{FF2B5EF4-FFF2-40B4-BE49-F238E27FC236}">
                <a16:creationId xmlns:a16="http://schemas.microsoft.com/office/drawing/2014/main" id="{94CB9885-3094-A0C1-6C72-51D03E2C8C13}"/>
              </a:ext>
            </a:extLst>
          </p:cNvPr>
          <p:cNvGraphicFramePr>
            <a:graphicFrameLocks noGrp="1"/>
          </p:cNvGraphicFramePr>
          <p:nvPr/>
        </p:nvGraphicFramePr>
        <p:xfrm>
          <a:off x="365760" y="4084320"/>
          <a:ext cx="11460480" cy="2072640"/>
        </p:xfrm>
        <a:graphic>
          <a:graphicData uri="http://schemas.openxmlformats.org/drawingml/2006/table">
            <a:tbl>
              <a:tblPr/>
              <a:tblGrid>
                <a:gridCol w="1341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9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9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tells the model 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3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vs MA7 · MA30 · MA50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price above or below its short, medium and long-term average?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Momentum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7E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RSI 14 · MACD Histogram · Momentum Acceleration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market overbought? Is buying pressure rising or fading?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Volatility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Volatility 7d · 21d · Bollinger Width · Bollinger %B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wildly is the price moving, and where is it within its range?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SPY · DXY · VIX (returns, averages &amp; regimes)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global market rising, the dollar strengthening, fear spiking?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Fear &amp; Greed · Lag1 · Lag7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the investor mood today, yesterday and last week?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Bull/Bear Flag · Volatility Regime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market in an uptrend/downtrend, and is volatility above or bellow normal?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8" name="Shape 38">
            <a:extLst>
              <a:ext uri="{FF2B5EF4-FFF2-40B4-BE49-F238E27FC236}">
                <a16:creationId xmlns:a16="http://schemas.microsoft.com/office/drawing/2014/main" id="{3617AEEB-170F-6C90-46E0-D2E427E76F27}"/>
              </a:ext>
            </a:extLst>
          </p:cNvPr>
          <p:cNvSpPr/>
          <p:nvPr/>
        </p:nvSpPr>
        <p:spPr>
          <a:xfrm>
            <a:off x="7853506" y="3316756"/>
            <a:ext cx="21945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en-DE" sz="240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F9857B0-9AE9-3E9A-FB6A-248B3FED1A5D}"/>
              </a:ext>
            </a:extLst>
          </p:cNvPr>
          <p:cNvGrpSpPr/>
          <p:nvPr/>
        </p:nvGrpSpPr>
        <p:grpSpPr>
          <a:xfrm>
            <a:off x="8079586" y="2974850"/>
            <a:ext cx="1682496" cy="670560"/>
            <a:chOff x="6144768" y="2974848"/>
            <a:chExt cx="1682496" cy="670560"/>
          </a:xfrm>
        </p:grpSpPr>
        <p:sp>
          <p:nvSpPr>
            <p:cNvPr id="50" name="Shape 39">
              <a:extLst>
                <a:ext uri="{FF2B5EF4-FFF2-40B4-BE49-F238E27FC236}">
                  <a16:creationId xmlns:a16="http://schemas.microsoft.com/office/drawing/2014/main" id="{1FC35121-29A7-086A-EF1E-FA4378C9883E}"/>
                </a:ext>
              </a:extLst>
            </p:cNvPr>
            <p:cNvSpPr/>
            <p:nvPr/>
          </p:nvSpPr>
          <p:spPr>
            <a:xfrm>
              <a:off x="6144768" y="2974848"/>
              <a:ext cx="1682496" cy="670560"/>
            </a:xfrm>
            <a:prstGeom prst="rect">
              <a:avLst/>
            </a:prstGeom>
            <a:solidFill>
              <a:srgbClr val="F1F5F9"/>
            </a:solidFill>
            <a:ln w="1524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51" name="Shape 40">
              <a:extLst>
                <a:ext uri="{FF2B5EF4-FFF2-40B4-BE49-F238E27FC236}">
                  <a16:creationId xmlns:a16="http://schemas.microsoft.com/office/drawing/2014/main" id="{0401CE52-23D1-ACBA-7A98-46DCE654A5EB}"/>
                </a:ext>
              </a:extLst>
            </p:cNvPr>
            <p:cNvSpPr/>
            <p:nvPr/>
          </p:nvSpPr>
          <p:spPr>
            <a:xfrm>
              <a:off x="6144768" y="2974848"/>
              <a:ext cx="1682496" cy="48768"/>
            </a:xfrm>
            <a:prstGeom prst="rect">
              <a:avLst/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52" name="Text 41">
              <a:extLst>
                <a:ext uri="{FF2B5EF4-FFF2-40B4-BE49-F238E27FC236}">
                  <a16:creationId xmlns:a16="http://schemas.microsoft.com/office/drawing/2014/main" id="{3F28D6A9-0D2B-8FF6-0192-E6E2BE1AF8C5}"/>
                </a:ext>
              </a:extLst>
            </p:cNvPr>
            <p:cNvSpPr/>
            <p:nvPr/>
          </p:nvSpPr>
          <p:spPr>
            <a:xfrm>
              <a:off x="6242304" y="3048000"/>
              <a:ext cx="1487424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133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Cap outliers</a:t>
              </a:r>
              <a:endParaRPr lang="en-US" sz="1133" dirty="0"/>
            </a:p>
          </p:txBody>
        </p:sp>
        <p:sp>
          <p:nvSpPr>
            <p:cNvPr id="54" name="Text 42">
              <a:extLst>
                <a:ext uri="{FF2B5EF4-FFF2-40B4-BE49-F238E27FC236}">
                  <a16:creationId xmlns:a16="http://schemas.microsoft.com/office/drawing/2014/main" id="{2848E57D-ACE3-6A7B-C73D-ACA904033252}"/>
                </a:ext>
              </a:extLst>
            </p:cNvPr>
            <p:cNvSpPr/>
            <p:nvPr/>
          </p:nvSpPr>
          <p:spPr>
            <a:xfrm>
              <a:off x="6242304" y="3340608"/>
              <a:ext cx="1487424" cy="243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000" i="1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Vix extreme values capped to keep the model stable 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795476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5" grpId="0" animBg="1"/>
      <p:bldP spid="30" grpId="0" animBg="1"/>
      <p:bldP spid="35" grpId="0" animBg="1"/>
      <p:bldP spid="40" grpId="0" animBg="1"/>
      <p:bldP spid="55" grpId="0" animBg="1"/>
      <p:bldP spid="4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1920"/>
            <a:ext cx="114604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533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: Why Markets Can't Be Modeled With a Simple Split ?</a:t>
            </a:r>
            <a:endParaRPr lang="en-US" sz="2533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5E26131-60BC-7840-F26F-C57C9ED48FB2}"/>
              </a:ext>
            </a:extLst>
          </p:cNvPr>
          <p:cNvGrpSpPr/>
          <p:nvPr/>
        </p:nvGrpSpPr>
        <p:grpSpPr>
          <a:xfrm>
            <a:off x="8941148" y="4623954"/>
            <a:ext cx="2866772" cy="1194816"/>
            <a:chOff x="7620000" y="707136"/>
            <a:chExt cx="4206240" cy="1194816"/>
          </a:xfrm>
        </p:grpSpPr>
        <p:sp>
          <p:nvSpPr>
            <p:cNvPr id="5" name="Shape 2"/>
            <p:cNvSpPr/>
            <p:nvPr/>
          </p:nvSpPr>
          <p:spPr>
            <a:xfrm>
              <a:off x="7620000" y="707136"/>
              <a:ext cx="4206240" cy="1170432"/>
            </a:xfrm>
            <a:prstGeom prst="rect">
              <a:avLst/>
            </a:prstGeom>
            <a:solidFill>
              <a:srgbClr val="F1F5F9"/>
            </a:solidFill>
            <a:ln w="15240">
              <a:solidFill>
                <a:srgbClr val="F7931A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6" name="Shape 3"/>
            <p:cNvSpPr/>
            <p:nvPr/>
          </p:nvSpPr>
          <p:spPr>
            <a:xfrm>
              <a:off x="7620000" y="707136"/>
              <a:ext cx="4206240" cy="60960"/>
            </a:xfrm>
            <a:prstGeom prst="rect">
              <a:avLst/>
            </a:prstGeom>
            <a:solidFill>
              <a:srgbClr val="F7931A"/>
            </a:solidFill>
            <a:ln w="12700">
              <a:solidFill>
                <a:srgbClr val="F7931A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7" name="Text 4"/>
            <p:cNvSpPr/>
            <p:nvPr/>
          </p:nvSpPr>
          <p:spPr>
            <a:xfrm>
              <a:off x="7766304" y="804672"/>
              <a:ext cx="3962400" cy="3169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📈  Price is not stationary</a:t>
              </a:r>
              <a:endParaRPr lang="en-US" sz="12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7766304" y="1146048"/>
              <a:ext cx="3962400" cy="7559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06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BTC moved from $3k to $124k across 8 years  each regime has completely different price levels, trends and volatility.</a:t>
              </a:r>
              <a:endParaRPr lang="en-US" sz="1067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B9DC4F9-9C25-B17D-E213-26CC9A7CAFD6}"/>
              </a:ext>
            </a:extLst>
          </p:cNvPr>
          <p:cNvGrpSpPr/>
          <p:nvPr/>
        </p:nvGrpSpPr>
        <p:grpSpPr>
          <a:xfrm>
            <a:off x="4727548" y="4623954"/>
            <a:ext cx="2866772" cy="1194816"/>
            <a:chOff x="7620000" y="1938528"/>
            <a:chExt cx="4206240" cy="1194816"/>
          </a:xfrm>
        </p:grpSpPr>
        <p:sp>
          <p:nvSpPr>
            <p:cNvPr id="9" name="Shape 6"/>
            <p:cNvSpPr/>
            <p:nvPr/>
          </p:nvSpPr>
          <p:spPr>
            <a:xfrm>
              <a:off x="7620000" y="1938528"/>
              <a:ext cx="4206240" cy="1170432"/>
            </a:xfrm>
            <a:prstGeom prst="rect">
              <a:avLst/>
            </a:prstGeom>
            <a:solidFill>
              <a:srgbClr val="F1F5F9"/>
            </a:solidFill>
            <a:ln w="15240">
              <a:solidFill>
                <a:srgbClr val="627EEA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10" name="Shape 7"/>
            <p:cNvSpPr/>
            <p:nvPr/>
          </p:nvSpPr>
          <p:spPr>
            <a:xfrm>
              <a:off x="7620000" y="1938528"/>
              <a:ext cx="4206240" cy="60960"/>
            </a:xfrm>
            <a:prstGeom prst="rect">
              <a:avLst/>
            </a:prstGeom>
            <a:solidFill>
              <a:srgbClr val="627EEA"/>
            </a:solidFill>
            <a:ln w="12700">
              <a:solidFill>
                <a:srgbClr val="627EEA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11" name="Text 8"/>
            <p:cNvSpPr/>
            <p:nvPr/>
          </p:nvSpPr>
          <p:spPr>
            <a:xfrm>
              <a:off x="7766304" y="2036064"/>
              <a:ext cx="3962400" cy="3169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🔁  Distinct market regimes</a:t>
              </a:r>
              <a:endParaRPr lang="en-US" sz="12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7766304" y="2377440"/>
              <a:ext cx="3962400" cy="7559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06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Bear crashes, recovery periods, bull runs and institutional phases each behave differently. </a:t>
              </a:r>
            </a:p>
            <a:p>
              <a:r>
                <a:rPr lang="en-US" sz="106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 model trained on one regime is essentially blind to the next.</a:t>
              </a:r>
              <a:endParaRPr lang="en-US" sz="1067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FA370FF-3E4E-ED65-202B-C853AB9D3967}"/>
              </a:ext>
            </a:extLst>
          </p:cNvPr>
          <p:cNvGrpSpPr/>
          <p:nvPr/>
        </p:nvGrpSpPr>
        <p:grpSpPr>
          <a:xfrm>
            <a:off x="272198" y="4629520"/>
            <a:ext cx="2934826" cy="1194816"/>
            <a:chOff x="7620000" y="3169920"/>
            <a:chExt cx="4206240" cy="1194816"/>
          </a:xfrm>
        </p:grpSpPr>
        <p:sp>
          <p:nvSpPr>
            <p:cNvPr id="13" name="Shape 10"/>
            <p:cNvSpPr/>
            <p:nvPr/>
          </p:nvSpPr>
          <p:spPr>
            <a:xfrm>
              <a:off x="7620000" y="3169920"/>
              <a:ext cx="4206240" cy="1170432"/>
            </a:xfrm>
            <a:prstGeom prst="rect">
              <a:avLst/>
            </a:prstGeom>
            <a:solidFill>
              <a:srgbClr val="F1F5F9"/>
            </a:solidFill>
            <a:ln w="1524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14" name="Shape 11"/>
            <p:cNvSpPr/>
            <p:nvPr/>
          </p:nvSpPr>
          <p:spPr>
            <a:xfrm>
              <a:off x="7620000" y="3169920"/>
              <a:ext cx="4206240" cy="60960"/>
            </a:xfrm>
            <a:prstGeom prst="rect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15" name="Text 12"/>
            <p:cNvSpPr/>
            <p:nvPr/>
          </p:nvSpPr>
          <p:spPr>
            <a:xfrm>
              <a:off x="7766304" y="3267456"/>
              <a:ext cx="3962400" cy="3169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⚠️  Volatility is not uniform</a:t>
              </a:r>
              <a:endParaRPr lang="en-US" sz="120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7766304" y="3608832"/>
              <a:ext cx="3962400" cy="7559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06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Bear markets produce larger negative spikes. </a:t>
              </a:r>
            </a:p>
            <a:p>
              <a:r>
                <a:rPr lang="en-US" sz="106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Bull runs cluster upward moves. </a:t>
              </a:r>
            </a:p>
            <a:p>
              <a:r>
                <a:rPr lang="en-US" sz="106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market structure shifts not just the price level.</a:t>
              </a:r>
              <a:endParaRPr lang="en-US" sz="1067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FB433E1-8E63-52F5-310F-3164669429B2}"/>
              </a:ext>
            </a:extLst>
          </p:cNvPr>
          <p:cNvGrpSpPr/>
          <p:nvPr/>
        </p:nvGrpSpPr>
        <p:grpSpPr>
          <a:xfrm>
            <a:off x="245694" y="5976731"/>
            <a:ext cx="11582400" cy="705812"/>
            <a:chOff x="245694" y="5976731"/>
            <a:chExt cx="11582400" cy="705812"/>
          </a:xfrm>
        </p:grpSpPr>
        <p:sp>
          <p:nvSpPr>
            <p:cNvPr id="28" name="Shape 25"/>
            <p:cNvSpPr/>
            <p:nvPr/>
          </p:nvSpPr>
          <p:spPr>
            <a:xfrm>
              <a:off x="245694" y="5976731"/>
              <a:ext cx="11582400" cy="705812"/>
            </a:xfrm>
            <a:prstGeom prst="rect">
              <a:avLst/>
            </a:prstGeom>
            <a:solidFill>
              <a:srgbClr val="132238"/>
            </a:solidFill>
            <a:ln w="12700">
              <a:solidFill>
                <a:srgbClr val="132238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29" name="Text 26"/>
            <p:cNvSpPr/>
            <p:nvPr/>
          </p:nvSpPr>
          <p:spPr>
            <a:xfrm>
              <a:off x="2688869" y="6189696"/>
              <a:ext cx="7210508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33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💡  A random 80/20 split would mix these regimes  leaking future information into training. We need a chronological split.</a:t>
              </a:r>
            </a:p>
            <a:p>
              <a:r>
                <a:rPr lang="en-US" sz="1133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💡  Add regime flags features  (bull/bear + volatility regime)</a:t>
              </a:r>
            </a:p>
            <a:p>
              <a:r>
                <a:rPr lang="en-US" sz="1133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💡  Predict up and down tomorrow’s price trend rather than tomorrow’s exact price </a:t>
              </a:r>
            </a:p>
            <a:p>
              <a:endParaRPr lang="en-US" sz="11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</p:txBody>
        </p: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035CBAA6-AE06-36EF-B385-FCC5DAC44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342" y="1421052"/>
            <a:ext cx="10611395" cy="25210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18">
            <a:extLst>
              <a:ext uri="{FF2B5EF4-FFF2-40B4-BE49-F238E27FC236}">
                <a16:creationId xmlns:a16="http://schemas.microsoft.com/office/drawing/2014/main" id="{F946F24E-353B-65D1-858E-E7325FB6D875}"/>
              </a:ext>
            </a:extLst>
          </p:cNvPr>
          <p:cNvSpPr/>
          <p:nvPr/>
        </p:nvSpPr>
        <p:spPr>
          <a:xfrm>
            <a:off x="243840" y="6150862"/>
            <a:ext cx="11704320" cy="438912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sp>
        <p:nvSpPr>
          <p:cNvPr id="2" name="Text 0"/>
          <p:cNvSpPr/>
          <p:nvPr/>
        </p:nvSpPr>
        <p:spPr>
          <a:xfrm>
            <a:off x="365760" y="121920"/>
            <a:ext cx="114604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533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EDA :Daily Log Returns_ ETH vs BTC Volatility</a:t>
            </a:r>
            <a:endParaRPr lang="en-US" sz="253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" y="866160"/>
            <a:ext cx="11704320" cy="3169920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CBBCD22B-5F57-DBD9-CC8B-7199FECC5F25}"/>
              </a:ext>
            </a:extLst>
          </p:cNvPr>
          <p:cNvGrpSpPr/>
          <p:nvPr/>
        </p:nvGrpSpPr>
        <p:grpSpPr>
          <a:xfrm>
            <a:off x="2072411" y="4387059"/>
            <a:ext cx="3730752" cy="1126335"/>
            <a:chOff x="182880" y="2980944"/>
            <a:chExt cx="2798064" cy="1335024"/>
          </a:xfrm>
        </p:grpSpPr>
        <p:sp>
          <p:nvSpPr>
            <p:cNvPr id="5" name="Shape 2"/>
            <p:cNvSpPr/>
            <p:nvPr/>
          </p:nvSpPr>
          <p:spPr>
            <a:xfrm>
              <a:off x="182880" y="2980944"/>
              <a:ext cx="2798064" cy="1335024"/>
            </a:xfrm>
            <a:prstGeom prst="rect">
              <a:avLst/>
            </a:prstGeom>
            <a:solidFill>
              <a:srgbClr val="F1F5F9"/>
            </a:solidFill>
            <a:ln w="1524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en-DE" sz="2400" dirty="0"/>
            </a:p>
          </p:txBody>
        </p:sp>
        <p:sp>
          <p:nvSpPr>
            <p:cNvPr id="6" name="Shape 3"/>
            <p:cNvSpPr/>
            <p:nvPr/>
          </p:nvSpPr>
          <p:spPr>
            <a:xfrm>
              <a:off x="182880" y="2980944"/>
              <a:ext cx="2798064" cy="45720"/>
            </a:xfrm>
            <a:prstGeom prst="rect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7" name="Text 4"/>
            <p:cNvSpPr/>
            <p:nvPr/>
          </p:nvSpPr>
          <p:spPr>
            <a:xfrm>
              <a:off x="292608" y="3063240"/>
              <a:ext cx="2615184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Ξ  ETH is more volatile than BTC</a:t>
              </a:r>
              <a:endParaRPr lang="en-US" sz="12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292608" y="3465016"/>
              <a:ext cx="2615184" cy="6583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06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ETH daily swings regularly reach ±10–15% while BTC stays in a tighter range. They share the same trend direction but ETH amplifies every move.</a:t>
              </a:r>
              <a:endParaRPr lang="en-US" sz="1067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5189937-58DE-21D7-25E4-837EE662600E}"/>
              </a:ext>
            </a:extLst>
          </p:cNvPr>
          <p:cNvGrpSpPr/>
          <p:nvPr/>
        </p:nvGrpSpPr>
        <p:grpSpPr>
          <a:xfrm>
            <a:off x="6165176" y="4387061"/>
            <a:ext cx="3730752" cy="1126335"/>
            <a:chOff x="3081528" y="2980944"/>
            <a:chExt cx="2798064" cy="1335024"/>
          </a:xfrm>
        </p:grpSpPr>
        <p:sp>
          <p:nvSpPr>
            <p:cNvPr id="11" name="Shape 8"/>
            <p:cNvSpPr/>
            <p:nvPr/>
          </p:nvSpPr>
          <p:spPr>
            <a:xfrm>
              <a:off x="3081528" y="2980944"/>
              <a:ext cx="2798064" cy="1335024"/>
            </a:xfrm>
            <a:prstGeom prst="rect">
              <a:avLst/>
            </a:prstGeom>
            <a:solidFill>
              <a:srgbClr val="F1F5F9"/>
            </a:solidFill>
            <a:ln w="1524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en-DE" sz="2400" dirty="0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05860E9-07D3-BEEA-AD63-FDA8BC91A420}"/>
                </a:ext>
              </a:extLst>
            </p:cNvPr>
            <p:cNvGrpSpPr/>
            <p:nvPr/>
          </p:nvGrpSpPr>
          <p:grpSpPr>
            <a:xfrm>
              <a:off x="3081528" y="2980944"/>
              <a:ext cx="2798064" cy="1177695"/>
              <a:chOff x="3081528" y="2980944"/>
              <a:chExt cx="2798064" cy="1177695"/>
            </a:xfrm>
          </p:grpSpPr>
          <p:sp>
            <p:nvSpPr>
              <p:cNvPr id="12" name="Shape 9"/>
              <p:cNvSpPr/>
              <p:nvPr/>
            </p:nvSpPr>
            <p:spPr>
              <a:xfrm>
                <a:off x="3081528" y="2980944"/>
                <a:ext cx="2798064" cy="45720"/>
              </a:xfrm>
              <a:prstGeom prst="rect">
                <a:avLst/>
              </a:prstGeom>
              <a:solidFill>
                <a:srgbClr val="DC2626"/>
              </a:solidFill>
              <a:ln w="12700">
                <a:solidFill>
                  <a:srgbClr val="DC2626"/>
                </a:solidFill>
                <a:prstDash val="solid"/>
              </a:ln>
            </p:spPr>
            <p:txBody>
              <a:bodyPr/>
              <a:lstStyle/>
              <a:p>
                <a:endParaRPr lang="en-DE" sz="2400"/>
              </a:p>
            </p:txBody>
          </p:sp>
          <p:sp>
            <p:nvSpPr>
              <p:cNvPr id="13" name="Text 10"/>
              <p:cNvSpPr/>
              <p:nvPr/>
            </p:nvSpPr>
            <p:spPr>
              <a:xfrm>
                <a:off x="3191256" y="3063240"/>
                <a:ext cx="2615184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200" b="1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📊  Rolling volatility captures regime shifts</a:t>
                </a:r>
                <a:endParaRPr lang="en-US" sz="1200" dirty="0"/>
              </a:p>
            </p:txBody>
          </p:sp>
          <p:sp>
            <p:nvSpPr>
              <p:cNvPr id="14" name="Text 11"/>
              <p:cNvSpPr/>
              <p:nvPr/>
            </p:nvSpPr>
            <p:spPr>
              <a:xfrm>
                <a:off x="3191256" y="3458310"/>
                <a:ext cx="2615184" cy="70032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r>
                  <a:rPr lang="en-US" sz="1067" dirty="0">
                    <a:solidFill>
                      <a:srgbClr val="4755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Short windows (7d) catch sudden spikes. Longer windows (21d) smooth the noise and reveal the underlying risk trend. Both together give the model a richer picture.</a:t>
                </a:r>
                <a:endParaRPr lang="en-US" sz="1067" dirty="0"/>
              </a:p>
            </p:txBody>
          </p:sp>
        </p:grpSp>
      </p:grpSp>
      <p:sp>
        <p:nvSpPr>
          <p:cNvPr id="9" name="Text 26">
            <a:extLst>
              <a:ext uri="{FF2B5EF4-FFF2-40B4-BE49-F238E27FC236}">
                <a16:creationId xmlns:a16="http://schemas.microsoft.com/office/drawing/2014/main" id="{B53BCB1F-D5AF-3D35-DAF3-7836A1E50373}"/>
              </a:ext>
            </a:extLst>
          </p:cNvPr>
          <p:cNvSpPr/>
          <p:nvPr/>
        </p:nvSpPr>
        <p:spPr>
          <a:xfrm>
            <a:off x="4581163" y="6228522"/>
            <a:ext cx="302967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Separate models for BTC and ETH </a:t>
            </a:r>
          </a:p>
          <a:p>
            <a:r>
              <a:rPr lang="en-US" sz="11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Include short/long-term volatility features </a:t>
            </a:r>
          </a:p>
          <a:p>
            <a:endParaRPr lang="en-US" sz="1133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1920"/>
            <a:ext cx="114604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533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Price &amp; Moving Averages</a:t>
            </a:r>
            <a:endParaRPr lang="en-US" sz="253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" y="707136"/>
            <a:ext cx="6827520" cy="4974336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70B2E7C3-21FB-2131-900C-12E68F09E198}"/>
              </a:ext>
            </a:extLst>
          </p:cNvPr>
          <p:cNvGrpSpPr/>
          <p:nvPr/>
        </p:nvGrpSpPr>
        <p:grpSpPr>
          <a:xfrm>
            <a:off x="7290816" y="903986"/>
            <a:ext cx="4535424" cy="1072896"/>
            <a:chOff x="7290816" y="707136"/>
            <a:chExt cx="4535424" cy="1072896"/>
          </a:xfrm>
        </p:grpSpPr>
        <p:sp>
          <p:nvSpPr>
            <p:cNvPr id="5" name="Shape 2"/>
            <p:cNvSpPr/>
            <p:nvPr/>
          </p:nvSpPr>
          <p:spPr>
            <a:xfrm>
              <a:off x="7290816" y="707136"/>
              <a:ext cx="4535424" cy="1072896"/>
            </a:xfrm>
            <a:prstGeom prst="rect">
              <a:avLst/>
            </a:prstGeom>
            <a:solidFill>
              <a:srgbClr val="F1F5F9"/>
            </a:solidFill>
            <a:ln w="1524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en-DE" sz="2400" dirty="0"/>
            </a:p>
          </p:txBody>
        </p:sp>
        <p:sp>
          <p:nvSpPr>
            <p:cNvPr id="6" name="Shape 3"/>
            <p:cNvSpPr/>
            <p:nvPr/>
          </p:nvSpPr>
          <p:spPr>
            <a:xfrm>
              <a:off x="7290816" y="707136"/>
              <a:ext cx="60960" cy="1072896"/>
            </a:xfrm>
            <a:prstGeom prst="rect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7" name="Text 4"/>
            <p:cNvSpPr/>
            <p:nvPr/>
          </p:nvSpPr>
          <p:spPr>
            <a:xfrm>
              <a:off x="7437120" y="780288"/>
              <a:ext cx="431596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Trend direction</a:t>
              </a:r>
              <a:endParaRPr lang="en-US" sz="12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7437120" y="1097280"/>
              <a:ext cx="4315968" cy="6339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06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MA30 (long-term) → Smoothest, shows overall trend direction</a:t>
              </a:r>
            </a:p>
            <a:p>
              <a:r>
                <a:rPr lang="en-US" sz="106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MA14 (medium-term) → Less smooth, reacts faster to changes</a:t>
              </a:r>
            </a:p>
            <a:p>
              <a:r>
                <a:rPr lang="en-US" sz="106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MA7 (short-term) → Captures short-term volatility and price swings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FA63B98-976A-7333-2BDB-187F94A2776C}"/>
              </a:ext>
            </a:extLst>
          </p:cNvPr>
          <p:cNvGrpSpPr/>
          <p:nvPr/>
        </p:nvGrpSpPr>
        <p:grpSpPr>
          <a:xfrm>
            <a:off x="7290816" y="2062226"/>
            <a:ext cx="4535424" cy="1072896"/>
            <a:chOff x="7290816" y="1865376"/>
            <a:chExt cx="4535424" cy="1072896"/>
          </a:xfrm>
        </p:grpSpPr>
        <p:sp>
          <p:nvSpPr>
            <p:cNvPr id="9" name="Shape 6"/>
            <p:cNvSpPr/>
            <p:nvPr/>
          </p:nvSpPr>
          <p:spPr>
            <a:xfrm>
              <a:off x="7290816" y="1865376"/>
              <a:ext cx="4535424" cy="1072896"/>
            </a:xfrm>
            <a:prstGeom prst="rect">
              <a:avLst/>
            </a:prstGeom>
            <a:solidFill>
              <a:srgbClr val="F1F5F9"/>
            </a:solidFill>
            <a:ln w="1524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10" name="Shape 7"/>
            <p:cNvSpPr/>
            <p:nvPr/>
          </p:nvSpPr>
          <p:spPr>
            <a:xfrm>
              <a:off x="7290816" y="1865376"/>
              <a:ext cx="60960" cy="1072896"/>
            </a:xfrm>
            <a:prstGeom prst="rect">
              <a:avLst/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11" name="Text 8"/>
            <p:cNvSpPr/>
            <p:nvPr/>
          </p:nvSpPr>
          <p:spPr>
            <a:xfrm>
              <a:off x="7437120" y="1938528"/>
              <a:ext cx="431596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Price Position Relative to MAs</a:t>
              </a:r>
            </a:p>
          </p:txBody>
        </p:sp>
        <p:sp>
          <p:nvSpPr>
            <p:cNvPr id="12" name="Text 9"/>
            <p:cNvSpPr/>
            <p:nvPr/>
          </p:nvSpPr>
          <p:spPr>
            <a:xfrm>
              <a:off x="7437120" y="2255520"/>
              <a:ext cx="4315968" cy="6339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de-DE" sz="106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Above all MAs → Strong uptrend, bullish momentum</a:t>
              </a:r>
            </a:p>
            <a:p>
              <a:r>
                <a:rPr lang="de-DE" sz="106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Below all MAs → Strong downtrend, bearish momentum</a:t>
              </a:r>
            </a:p>
            <a:p>
              <a:r>
                <a:rPr lang="de-DE" sz="106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Between MAs → Transition/consolidation phase, uncertainty</a:t>
              </a:r>
            </a:p>
            <a:p>
              <a:br>
                <a:rPr lang="de-DE" sz="106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endParaRPr lang="de-DE" sz="10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A176260-562D-E952-4CE5-076A7BB3CB76}"/>
              </a:ext>
            </a:extLst>
          </p:cNvPr>
          <p:cNvGrpSpPr/>
          <p:nvPr/>
        </p:nvGrpSpPr>
        <p:grpSpPr>
          <a:xfrm>
            <a:off x="7290816" y="3220466"/>
            <a:ext cx="4535424" cy="1072896"/>
            <a:chOff x="7290816" y="3023616"/>
            <a:chExt cx="4535424" cy="1072896"/>
          </a:xfrm>
        </p:grpSpPr>
        <p:sp>
          <p:nvSpPr>
            <p:cNvPr id="13" name="Shape 10"/>
            <p:cNvSpPr/>
            <p:nvPr/>
          </p:nvSpPr>
          <p:spPr>
            <a:xfrm>
              <a:off x="7290816" y="3023616"/>
              <a:ext cx="4535424" cy="1072896"/>
            </a:xfrm>
            <a:prstGeom prst="rect">
              <a:avLst/>
            </a:prstGeom>
            <a:solidFill>
              <a:srgbClr val="F1F5F9"/>
            </a:solidFill>
            <a:ln w="15240">
              <a:solidFill>
                <a:srgbClr val="F7931A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14" name="Shape 11"/>
            <p:cNvSpPr/>
            <p:nvPr/>
          </p:nvSpPr>
          <p:spPr>
            <a:xfrm>
              <a:off x="7290816" y="3023616"/>
              <a:ext cx="60960" cy="1072896"/>
            </a:xfrm>
            <a:prstGeom prst="rect">
              <a:avLst/>
            </a:prstGeom>
            <a:solidFill>
              <a:srgbClr val="F7931A"/>
            </a:solidFill>
            <a:ln w="12700">
              <a:solidFill>
                <a:srgbClr val="F7931A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15" name="Text 12"/>
            <p:cNvSpPr/>
            <p:nvPr/>
          </p:nvSpPr>
          <p:spPr>
            <a:xfrm>
              <a:off x="7437120" y="3096768"/>
              <a:ext cx="431596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Crossovers</a:t>
              </a:r>
              <a:endParaRPr lang="en-US" sz="120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7437120" y="3413760"/>
              <a:ext cx="4315968" cy="6339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06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MA7 crosses above MA30 → Bullish signal (uptrend starting)</a:t>
              </a:r>
            </a:p>
            <a:p>
              <a:r>
                <a:rPr lang="en-US" sz="106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MA7 crosses below MA30 → Bearish signal (downtrend starting)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AE4233D-B9B2-FC4C-71E7-E5DCC0A94325}"/>
              </a:ext>
            </a:extLst>
          </p:cNvPr>
          <p:cNvGrpSpPr/>
          <p:nvPr/>
        </p:nvGrpSpPr>
        <p:grpSpPr>
          <a:xfrm>
            <a:off x="7290816" y="4378706"/>
            <a:ext cx="4535424" cy="1072896"/>
            <a:chOff x="7290816" y="4181856"/>
            <a:chExt cx="4535424" cy="1072896"/>
          </a:xfrm>
        </p:grpSpPr>
        <p:sp>
          <p:nvSpPr>
            <p:cNvPr id="17" name="Shape 14"/>
            <p:cNvSpPr/>
            <p:nvPr/>
          </p:nvSpPr>
          <p:spPr>
            <a:xfrm>
              <a:off x="7290816" y="4181856"/>
              <a:ext cx="4535424" cy="1072896"/>
            </a:xfrm>
            <a:prstGeom prst="rect">
              <a:avLst/>
            </a:prstGeom>
            <a:solidFill>
              <a:srgbClr val="F1F5F9"/>
            </a:solidFill>
            <a:ln w="15240">
              <a:solidFill>
                <a:srgbClr val="627EEA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18" name="Shape 15"/>
            <p:cNvSpPr/>
            <p:nvPr/>
          </p:nvSpPr>
          <p:spPr>
            <a:xfrm>
              <a:off x="7290816" y="4181856"/>
              <a:ext cx="60960" cy="1072896"/>
            </a:xfrm>
            <a:prstGeom prst="rect">
              <a:avLst/>
            </a:prstGeom>
            <a:solidFill>
              <a:srgbClr val="627EEA"/>
            </a:solidFill>
            <a:ln w="12700">
              <a:solidFill>
                <a:srgbClr val="627EEA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19" name="Text 16"/>
            <p:cNvSpPr/>
            <p:nvPr/>
          </p:nvSpPr>
          <p:spPr>
            <a:xfrm>
              <a:off x="7437120" y="4255008"/>
              <a:ext cx="431596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de-DE" sz="1200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Support/Resistance Levels</a:t>
              </a:r>
            </a:p>
          </p:txBody>
        </p:sp>
        <p:sp>
          <p:nvSpPr>
            <p:cNvPr id="20" name="Text 17"/>
            <p:cNvSpPr/>
            <p:nvPr/>
          </p:nvSpPr>
          <p:spPr>
            <a:xfrm>
              <a:off x="7437120" y="4572000"/>
              <a:ext cx="4315968" cy="6339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06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Support during uptrends (price bounces off MA30)</a:t>
              </a:r>
            </a:p>
            <a:p>
              <a:r>
                <a:rPr lang="en-US" sz="106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Resistance during downtrends (price struggles to cross above MA30)</a:t>
              </a:r>
            </a:p>
          </p:txBody>
        </p:sp>
      </p:grpSp>
      <p:sp>
        <p:nvSpPr>
          <p:cNvPr id="21" name="Shape 18"/>
          <p:cNvSpPr/>
          <p:nvPr/>
        </p:nvSpPr>
        <p:spPr>
          <a:xfrm>
            <a:off x="243840" y="6205728"/>
            <a:ext cx="11704320" cy="438912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sp>
        <p:nvSpPr>
          <p:cNvPr id="22" name="Text 19"/>
          <p:cNvSpPr/>
          <p:nvPr/>
        </p:nvSpPr>
        <p:spPr>
          <a:xfrm>
            <a:off x="4693920" y="6205728"/>
            <a:ext cx="280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Include moving average features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1920"/>
            <a:ext cx="114604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533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:MACD A Leading Momentum Indicator</a:t>
            </a:r>
            <a:endParaRPr lang="en-US" sz="253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" y="834136"/>
            <a:ext cx="7071360" cy="4974336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46D1EAB8-F8AC-7F86-A98E-6C69C71E4F9E}"/>
              </a:ext>
            </a:extLst>
          </p:cNvPr>
          <p:cNvGrpSpPr/>
          <p:nvPr/>
        </p:nvGrpSpPr>
        <p:grpSpPr>
          <a:xfrm>
            <a:off x="7534656" y="999236"/>
            <a:ext cx="4291584" cy="1072896"/>
            <a:chOff x="7534656" y="707136"/>
            <a:chExt cx="4291584" cy="1072896"/>
          </a:xfrm>
        </p:grpSpPr>
        <p:sp>
          <p:nvSpPr>
            <p:cNvPr id="5" name="Shape 2"/>
            <p:cNvSpPr/>
            <p:nvPr/>
          </p:nvSpPr>
          <p:spPr>
            <a:xfrm>
              <a:off x="7534656" y="707136"/>
              <a:ext cx="4291584" cy="1072896"/>
            </a:xfrm>
            <a:prstGeom prst="rect">
              <a:avLst/>
            </a:prstGeom>
            <a:solidFill>
              <a:srgbClr val="F1F5F9"/>
            </a:solidFill>
            <a:ln w="1524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6F4528D-9CD2-E0F0-AADA-79CB1A0B3407}"/>
                </a:ext>
              </a:extLst>
            </p:cNvPr>
            <p:cNvGrpSpPr/>
            <p:nvPr/>
          </p:nvGrpSpPr>
          <p:grpSpPr>
            <a:xfrm>
              <a:off x="7534656" y="707136"/>
              <a:ext cx="4218432" cy="1072896"/>
              <a:chOff x="7534656" y="707136"/>
              <a:chExt cx="4218432" cy="1072896"/>
            </a:xfrm>
          </p:grpSpPr>
          <p:sp>
            <p:nvSpPr>
              <p:cNvPr id="6" name="Shape 3"/>
              <p:cNvSpPr/>
              <p:nvPr/>
            </p:nvSpPr>
            <p:spPr>
              <a:xfrm>
                <a:off x="7534656" y="707136"/>
                <a:ext cx="60960" cy="1072896"/>
              </a:xfrm>
              <a:prstGeom prst="rect">
                <a:avLst/>
              </a:prstGeom>
              <a:solidFill>
                <a:srgbClr val="2563EB"/>
              </a:solidFill>
              <a:ln w="12700">
                <a:solidFill>
                  <a:srgbClr val="2563EB"/>
                </a:solidFill>
                <a:prstDash val="solid"/>
              </a:ln>
            </p:spPr>
            <p:txBody>
              <a:bodyPr/>
              <a:lstStyle/>
              <a:p>
                <a:endParaRPr lang="en-DE" sz="2400" dirty="0"/>
              </a:p>
            </p:txBody>
          </p:sp>
          <p:sp>
            <p:nvSpPr>
              <p:cNvPr id="7" name="Text 4"/>
              <p:cNvSpPr/>
              <p:nvPr/>
            </p:nvSpPr>
            <p:spPr>
              <a:xfrm>
                <a:off x="7680960" y="780288"/>
                <a:ext cx="4072128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200" b="1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What is MACD and signal line?</a:t>
                </a:r>
                <a:endParaRPr lang="en-US" sz="1200" dirty="0"/>
              </a:p>
            </p:txBody>
          </p:sp>
          <p:sp>
            <p:nvSpPr>
              <p:cNvPr id="8" name="Text 5"/>
              <p:cNvSpPr/>
              <p:nvPr/>
            </p:nvSpPr>
            <p:spPr>
              <a:xfrm>
                <a:off x="7680960" y="1097280"/>
                <a:ext cx="4072128" cy="63398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r>
                  <a:rPr lang="en-US" sz="987" dirty="0">
                    <a:solidFill>
                      <a:srgbClr val="4755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MACD =  measures whether the price movement  is accelerating or decelerating </a:t>
                </a:r>
              </a:p>
              <a:p>
                <a:r>
                  <a:rPr lang="en-US" sz="987" dirty="0">
                    <a:solidFill>
                      <a:srgbClr val="4755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Signal line = smoothed average of the MACD over 9 days</a:t>
                </a:r>
              </a:p>
            </p:txBody>
          </p:sp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6477065-C9CC-E823-D345-1CC90EE0D23D}"/>
              </a:ext>
            </a:extLst>
          </p:cNvPr>
          <p:cNvGrpSpPr/>
          <p:nvPr/>
        </p:nvGrpSpPr>
        <p:grpSpPr>
          <a:xfrm>
            <a:off x="7534656" y="2151380"/>
            <a:ext cx="4291584" cy="1072896"/>
            <a:chOff x="7534656" y="1859280"/>
            <a:chExt cx="4291584" cy="1072896"/>
          </a:xfrm>
        </p:grpSpPr>
        <p:sp>
          <p:nvSpPr>
            <p:cNvPr id="9" name="Shape 6"/>
            <p:cNvSpPr/>
            <p:nvPr/>
          </p:nvSpPr>
          <p:spPr>
            <a:xfrm>
              <a:off x="7534656" y="1859280"/>
              <a:ext cx="4291584" cy="1072896"/>
            </a:xfrm>
            <a:prstGeom prst="rect">
              <a:avLst/>
            </a:prstGeom>
            <a:solidFill>
              <a:srgbClr val="F1F5F9"/>
            </a:solidFill>
            <a:ln w="1524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10" name="Shape 7"/>
            <p:cNvSpPr/>
            <p:nvPr/>
          </p:nvSpPr>
          <p:spPr>
            <a:xfrm>
              <a:off x="7534656" y="1859280"/>
              <a:ext cx="60960" cy="1072896"/>
            </a:xfrm>
            <a:prstGeom prst="rect">
              <a:avLst/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11" name="Text 8"/>
            <p:cNvSpPr/>
            <p:nvPr/>
          </p:nvSpPr>
          <p:spPr>
            <a:xfrm>
              <a:off x="7680960" y="1932432"/>
              <a:ext cx="407212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Crossovers predict direction</a:t>
              </a:r>
              <a:endParaRPr lang="en-US" sz="12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7680960" y="2249424"/>
              <a:ext cx="4072128" cy="6339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98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Blue ( MACD) crosses above red (Signal Line)  → Price tends to go up </a:t>
              </a:r>
            </a:p>
            <a:p>
              <a:r>
                <a:rPr lang="en-US" sz="98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Blue ( MACD) crosses below red (Signal Line) → Price tends to go down </a:t>
              </a:r>
            </a:p>
            <a:p>
              <a:endParaRPr lang="en-US" sz="987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7496719-15B2-758B-34F4-8EBE9C0E3128}"/>
              </a:ext>
            </a:extLst>
          </p:cNvPr>
          <p:cNvGrpSpPr/>
          <p:nvPr/>
        </p:nvGrpSpPr>
        <p:grpSpPr>
          <a:xfrm>
            <a:off x="7534656" y="3303524"/>
            <a:ext cx="4291584" cy="1072896"/>
            <a:chOff x="7534656" y="3011424"/>
            <a:chExt cx="4291584" cy="1072896"/>
          </a:xfrm>
        </p:grpSpPr>
        <p:sp>
          <p:nvSpPr>
            <p:cNvPr id="13" name="Shape 10"/>
            <p:cNvSpPr/>
            <p:nvPr/>
          </p:nvSpPr>
          <p:spPr>
            <a:xfrm>
              <a:off x="7534656" y="3011424"/>
              <a:ext cx="4291584" cy="1072896"/>
            </a:xfrm>
            <a:prstGeom prst="rect">
              <a:avLst/>
            </a:prstGeom>
            <a:solidFill>
              <a:srgbClr val="F1F5F9"/>
            </a:solidFill>
            <a:ln w="15240">
              <a:solidFill>
                <a:srgbClr val="F7931A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14" name="Shape 11"/>
            <p:cNvSpPr/>
            <p:nvPr/>
          </p:nvSpPr>
          <p:spPr>
            <a:xfrm>
              <a:off x="7534656" y="3011424"/>
              <a:ext cx="60960" cy="1072896"/>
            </a:xfrm>
            <a:prstGeom prst="rect">
              <a:avLst/>
            </a:prstGeom>
            <a:solidFill>
              <a:srgbClr val="F7931A"/>
            </a:solidFill>
            <a:ln w="12700">
              <a:solidFill>
                <a:srgbClr val="F7931A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15" name="Text 12"/>
            <p:cNvSpPr/>
            <p:nvPr/>
          </p:nvSpPr>
          <p:spPr>
            <a:xfrm>
              <a:off x="7680960" y="3084576"/>
              <a:ext cx="407212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Histogram = momentum strength</a:t>
              </a:r>
              <a:endParaRPr lang="en-US" sz="120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7680960" y="3401568"/>
              <a:ext cx="4072128" cy="6339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de-DE" sz="98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Green bars getting taller </a:t>
              </a:r>
              <a:r>
                <a:rPr lang="en-US" sz="98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r>
                <a:rPr lang="de-DE" sz="98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buying pressure increasing</a:t>
              </a:r>
            </a:p>
            <a:p>
              <a:r>
                <a:rPr lang="de-DE" sz="98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Peak green bar </a:t>
              </a:r>
              <a:r>
                <a:rPr lang="en-US" sz="98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</a:t>
              </a:r>
              <a:r>
                <a:rPr lang="de-DE" sz="98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Maximum bullish momentum </a:t>
              </a:r>
              <a:r>
                <a:rPr lang="en-US" sz="98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</a:t>
              </a:r>
              <a:r>
                <a:rPr lang="de-DE" sz="98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Reversal down coming soon</a:t>
              </a:r>
              <a:r>
                <a:rPr lang="en-US" sz="98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</a:t>
              </a:r>
              <a:endParaRPr lang="en-US" sz="987" dirty="0"/>
            </a:p>
            <a:p>
              <a:r>
                <a:rPr lang="de-DE" sz="98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Red bars getting taller</a:t>
              </a:r>
              <a:r>
                <a:rPr lang="en-US" sz="98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</a:t>
              </a:r>
              <a:r>
                <a:rPr lang="de-DE" sz="98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selling pressure increasing</a:t>
              </a:r>
            </a:p>
            <a:p>
              <a:r>
                <a:rPr lang="de-DE" sz="98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Peak red bar </a:t>
              </a:r>
              <a:r>
                <a:rPr lang="en-US" sz="98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</a:t>
              </a:r>
              <a:r>
                <a:rPr lang="de-DE" sz="98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Maximum bearish momentum </a:t>
              </a:r>
              <a:r>
                <a:rPr lang="en-US" sz="98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</a:t>
              </a:r>
              <a:r>
                <a:rPr lang="de-DE" sz="98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Reversal up coming soon</a:t>
              </a:r>
              <a:r>
                <a:rPr lang="en-US" sz="98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</a:t>
              </a:r>
              <a:endParaRPr lang="en-US" sz="987" dirty="0"/>
            </a:p>
            <a:p>
              <a:endParaRPr lang="de-DE" sz="98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EBEB795-E8C2-65AD-0B0F-3A637D6251EF}"/>
              </a:ext>
            </a:extLst>
          </p:cNvPr>
          <p:cNvGrpSpPr/>
          <p:nvPr/>
        </p:nvGrpSpPr>
        <p:grpSpPr>
          <a:xfrm>
            <a:off x="7534656" y="4455668"/>
            <a:ext cx="4291584" cy="1072896"/>
            <a:chOff x="7534656" y="4163568"/>
            <a:chExt cx="4291584" cy="1072896"/>
          </a:xfrm>
        </p:grpSpPr>
        <p:sp>
          <p:nvSpPr>
            <p:cNvPr id="17" name="Shape 14"/>
            <p:cNvSpPr/>
            <p:nvPr/>
          </p:nvSpPr>
          <p:spPr>
            <a:xfrm>
              <a:off x="7534656" y="4163568"/>
              <a:ext cx="4291584" cy="1072896"/>
            </a:xfrm>
            <a:prstGeom prst="rect">
              <a:avLst/>
            </a:prstGeom>
            <a:solidFill>
              <a:srgbClr val="F1F5F9"/>
            </a:solidFill>
            <a:ln w="15240">
              <a:solidFill>
                <a:srgbClr val="627EEA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18" name="Shape 15"/>
            <p:cNvSpPr/>
            <p:nvPr/>
          </p:nvSpPr>
          <p:spPr>
            <a:xfrm>
              <a:off x="7534656" y="4163568"/>
              <a:ext cx="60960" cy="1072896"/>
            </a:xfrm>
            <a:prstGeom prst="rect">
              <a:avLst/>
            </a:prstGeom>
            <a:solidFill>
              <a:srgbClr val="627EEA"/>
            </a:solidFill>
            <a:ln w="12700">
              <a:solidFill>
                <a:srgbClr val="627EEA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19" name="Text 16"/>
            <p:cNvSpPr/>
            <p:nvPr/>
          </p:nvSpPr>
          <p:spPr>
            <a:xfrm>
              <a:off x="7680960" y="4236720"/>
              <a:ext cx="407212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Why it's a strong model feature</a:t>
              </a:r>
              <a:endParaRPr lang="en-US" sz="1200" dirty="0"/>
            </a:p>
          </p:txBody>
        </p:sp>
        <p:sp>
          <p:nvSpPr>
            <p:cNvPr id="20" name="Text 17"/>
            <p:cNvSpPr/>
            <p:nvPr/>
          </p:nvSpPr>
          <p:spPr>
            <a:xfrm>
              <a:off x="7680960" y="4553712"/>
              <a:ext cx="4072128" cy="6339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98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MACD histogram captures momentum shifts before they appear in price. It's a leading indicator exactly what a prediction model needs.</a:t>
              </a:r>
              <a:endParaRPr lang="en-US" sz="987" dirty="0"/>
            </a:p>
          </p:txBody>
        </p:sp>
      </p:grpSp>
      <p:sp>
        <p:nvSpPr>
          <p:cNvPr id="21" name="Shape 18"/>
          <p:cNvSpPr/>
          <p:nvPr/>
        </p:nvSpPr>
        <p:spPr>
          <a:xfrm>
            <a:off x="243840" y="6266688"/>
            <a:ext cx="11704320" cy="438912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sp>
        <p:nvSpPr>
          <p:cNvPr id="22" name="Text 19"/>
          <p:cNvSpPr/>
          <p:nvPr/>
        </p:nvSpPr>
        <p:spPr>
          <a:xfrm>
            <a:off x="243840" y="6266688"/>
            <a:ext cx="1170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Include </a:t>
            </a:r>
            <a:r>
              <a:rPr lang="en-US" sz="1133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MACD_histogram</a:t>
            </a:r>
            <a:r>
              <a:rPr lang="en-US" sz="11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features </a:t>
            </a:r>
            <a:endParaRPr lang="en-US" sz="113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1920"/>
            <a:ext cx="114604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33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RSI 14, Is the Market Overbought or Oversold?</a:t>
            </a:r>
            <a:endParaRPr lang="en-US" sz="253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" y="707136"/>
            <a:ext cx="7071360" cy="497433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9ABBF67-C08B-D17B-3BC3-0DAA21461FB2}"/>
              </a:ext>
            </a:extLst>
          </p:cNvPr>
          <p:cNvGrpSpPr/>
          <p:nvPr/>
        </p:nvGrpSpPr>
        <p:grpSpPr>
          <a:xfrm>
            <a:off x="7534656" y="1086441"/>
            <a:ext cx="4291584" cy="1072896"/>
            <a:chOff x="7534656" y="707136"/>
            <a:chExt cx="4291584" cy="1072896"/>
          </a:xfrm>
        </p:grpSpPr>
        <p:sp>
          <p:nvSpPr>
            <p:cNvPr id="5" name="Shape 2"/>
            <p:cNvSpPr/>
            <p:nvPr/>
          </p:nvSpPr>
          <p:spPr>
            <a:xfrm>
              <a:off x="7534656" y="707136"/>
              <a:ext cx="4291584" cy="1072896"/>
            </a:xfrm>
            <a:prstGeom prst="rect">
              <a:avLst/>
            </a:prstGeom>
            <a:solidFill>
              <a:srgbClr val="F1F5F9"/>
            </a:solidFill>
            <a:ln w="1524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6" name="Shape 3"/>
            <p:cNvSpPr/>
            <p:nvPr/>
          </p:nvSpPr>
          <p:spPr>
            <a:xfrm>
              <a:off x="7534656" y="707136"/>
              <a:ext cx="60960" cy="1072896"/>
            </a:xfrm>
            <a:prstGeom prst="rect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7" name="Text 4"/>
            <p:cNvSpPr/>
            <p:nvPr/>
          </p:nvSpPr>
          <p:spPr>
            <a:xfrm>
              <a:off x="7680960" y="780288"/>
              <a:ext cx="407212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What is RSI?</a:t>
              </a:r>
              <a:endParaRPr lang="en-US" sz="12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7680960" y="1097280"/>
              <a:ext cx="4072128" cy="6339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98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RSI measures how fast and how much price has moved in recent days, on a scale of 0 to 100. It tells the model whether the market is exhausted from buying or selling.</a:t>
              </a:r>
              <a:endParaRPr lang="en-US" sz="987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B5E3524-1D22-FBF0-4CEA-3EA117E0BA1B}"/>
              </a:ext>
            </a:extLst>
          </p:cNvPr>
          <p:cNvGrpSpPr/>
          <p:nvPr/>
        </p:nvGrpSpPr>
        <p:grpSpPr>
          <a:xfrm>
            <a:off x="7534656" y="2238585"/>
            <a:ext cx="4291584" cy="1072896"/>
            <a:chOff x="7534656" y="1859280"/>
            <a:chExt cx="4291584" cy="1072896"/>
          </a:xfrm>
        </p:grpSpPr>
        <p:sp>
          <p:nvSpPr>
            <p:cNvPr id="9" name="Shape 6"/>
            <p:cNvSpPr/>
            <p:nvPr/>
          </p:nvSpPr>
          <p:spPr>
            <a:xfrm>
              <a:off x="7534656" y="1859280"/>
              <a:ext cx="4291584" cy="1072896"/>
            </a:xfrm>
            <a:prstGeom prst="rect">
              <a:avLst/>
            </a:prstGeom>
            <a:solidFill>
              <a:srgbClr val="F1F5F9"/>
            </a:solidFill>
            <a:ln w="1524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10" name="Shape 7"/>
            <p:cNvSpPr/>
            <p:nvPr/>
          </p:nvSpPr>
          <p:spPr>
            <a:xfrm>
              <a:off x="7534656" y="1859280"/>
              <a:ext cx="60960" cy="1072896"/>
            </a:xfrm>
            <a:prstGeom prst="rect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11" name="Text 8"/>
            <p:cNvSpPr/>
            <p:nvPr/>
          </p:nvSpPr>
          <p:spPr>
            <a:xfrm>
              <a:off x="7680960" y="1932432"/>
              <a:ext cx="407212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Overbought &amp; oversold zones</a:t>
              </a:r>
              <a:endParaRPr lang="en-US" sz="12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7680960" y="2249424"/>
              <a:ext cx="4072128" cy="6339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98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Above 70 → market is overbought, pullback likely.</a:t>
              </a:r>
              <a:endParaRPr lang="en-US" sz="987" dirty="0"/>
            </a:p>
            <a:p>
              <a:r>
                <a:rPr lang="en-US" sz="98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Below 30 → market is oversold, bounce likely.</a:t>
              </a:r>
              <a:endParaRPr lang="en-US" sz="987" dirty="0"/>
            </a:p>
            <a:p>
              <a:r>
                <a:rPr lang="en-US" sz="98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Around 50 → neutral.</a:t>
              </a:r>
              <a:endParaRPr lang="en-US" sz="987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774044D-1D61-2247-2465-DC477F7D7FAF}"/>
              </a:ext>
            </a:extLst>
          </p:cNvPr>
          <p:cNvGrpSpPr/>
          <p:nvPr/>
        </p:nvGrpSpPr>
        <p:grpSpPr>
          <a:xfrm>
            <a:off x="7534656" y="3390729"/>
            <a:ext cx="4291584" cy="1072896"/>
            <a:chOff x="7534656" y="3011424"/>
            <a:chExt cx="4291584" cy="1072896"/>
          </a:xfrm>
        </p:grpSpPr>
        <p:sp>
          <p:nvSpPr>
            <p:cNvPr id="13" name="Shape 10"/>
            <p:cNvSpPr/>
            <p:nvPr/>
          </p:nvSpPr>
          <p:spPr>
            <a:xfrm>
              <a:off x="7534656" y="3011424"/>
              <a:ext cx="4291584" cy="1072896"/>
            </a:xfrm>
            <a:prstGeom prst="rect">
              <a:avLst/>
            </a:prstGeom>
            <a:solidFill>
              <a:srgbClr val="F1F5F9"/>
            </a:solidFill>
            <a:ln w="15240">
              <a:solidFill>
                <a:srgbClr val="F7931A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14" name="Shape 11"/>
            <p:cNvSpPr/>
            <p:nvPr/>
          </p:nvSpPr>
          <p:spPr>
            <a:xfrm>
              <a:off x="7534656" y="3011424"/>
              <a:ext cx="60960" cy="1072896"/>
            </a:xfrm>
            <a:prstGeom prst="rect">
              <a:avLst/>
            </a:prstGeom>
            <a:solidFill>
              <a:srgbClr val="F7931A"/>
            </a:solidFill>
            <a:ln w="12700">
              <a:solidFill>
                <a:srgbClr val="F7931A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15" name="Text 12"/>
            <p:cNvSpPr/>
            <p:nvPr/>
          </p:nvSpPr>
          <p:spPr>
            <a:xfrm>
              <a:off x="7680960" y="3084576"/>
              <a:ext cx="407212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RSI behavior differs by regime</a:t>
              </a:r>
              <a:endParaRPr lang="en-US" sz="120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7680960" y="3401568"/>
              <a:ext cx="4072128" cy="6339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98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Bull markets keep RSI above 50</a:t>
              </a:r>
              <a:endParaRPr lang="en-US" sz="987" dirty="0"/>
            </a:p>
            <a:p>
              <a:r>
                <a:rPr lang="en-US" sz="98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Bear markets pin RSI below 50 </a:t>
              </a:r>
            </a:p>
            <a:p>
              <a:endParaRPr lang="en-US" sz="987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292C441-312E-E440-F25C-E88D4BE32DEB}"/>
              </a:ext>
            </a:extLst>
          </p:cNvPr>
          <p:cNvGrpSpPr/>
          <p:nvPr/>
        </p:nvGrpSpPr>
        <p:grpSpPr>
          <a:xfrm>
            <a:off x="7534656" y="4542873"/>
            <a:ext cx="4291584" cy="1072896"/>
            <a:chOff x="7534656" y="4163568"/>
            <a:chExt cx="4291584" cy="1072896"/>
          </a:xfrm>
        </p:grpSpPr>
        <p:sp>
          <p:nvSpPr>
            <p:cNvPr id="17" name="Shape 14"/>
            <p:cNvSpPr/>
            <p:nvPr/>
          </p:nvSpPr>
          <p:spPr>
            <a:xfrm>
              <a:off x="7534656" y="4163568"/>
              <a:ext cx="4291584" cy="1072896"/>
            </a:xfrm>
            <a:prstGeom prst="rect">
              <a:avLst/>
            </a:prstGeom>
            <a:solidFill>
              <a:srgbClr val="F1F5F9"/>
            </a:solidFill>
            <a:ln w="15240">
              <a:solidFill>
                <a:srgbClr val="627EEA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18" name="Shape 15"/>
            <p:cNvSpPr/>
            <p:nvPr/>
          </p:nvSpPr>
          <p:spPr>
            <a:xfrm>
              <a:off x="7534656" y="4163568"/>
              <a:ext cx="60960" cy="1072896"/>
            </a:xfrm>
            <a:prstGeom prst="rect">
              <a:avLst/>
            </a:prstGeom>
            <a:solidFill>
              <a:srgbClr val="627EEA"/>
            </a:solidFill>
            <a:ln w="12700">
              <a:solidFill>
                <a:srgbClr val="627EEA"/>
              </a:solidFill>
              <a:prstDash val="solid"/>
            </a:ln>
          </p:spPr>
          <p:txBody>
            <a:bodyPr/>
            <a:lstStyle/>
            <a:p>
              <a:endParaRPr lang="en-DE" sz="2400"/>
            </a:p>
          </p:txBody>
        </p:sp>
        <p:sp>
          <p:nvSpPr>
            <p:cNvPr id="19" name="Text 16"/>
            <p:cNvSpPr/>
            <p:nvPr/>
          </p:nvSpPr>
          <p:spPr>
            <a:xfrm>
              <a:off x="7680960" y="4236720"/>
              <a:ext cx="407212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RSI alone is not enough</a:t>
              </a:r>
              <a:endParaRPr lang="en-US" sz="1200" dirty="0"/>
            </a:p>
          </p:txBody>
        </p:sp>
        <p:sp>
          <p:nvSpPr>
            <p:cNvPr id="20" name="Text 17"/>
            <p:cNvSpPr/>
            <p:nvPr/>
          </p:nvSpPr>
          <p:spPr>
            <a:xfrm>
              <a:off x="7680960" y="4553712"/>
              <a:ext cx="4072128" cy="6339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987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 RSI of 60 means something very different in a bull market vs a bear market. The signal is regime-dependent  which is exactly why bull_bear_flag and volatility_regime are critical context features for the model.</a:t>
              </a:r>
              <a:endParaRPr lang="en-US" sz="987" dirty="0"/>
            </a:p>
          </p:txBody>
        </p:sp>
      </p:grpSp>
      <p:sp>
        <p:nvSpPr>
          <p:cNvPr id="21" name="Shape 18"/>
          <p:cNvSpPr/>
          <p:nvPr/>
        </p:nvSpPr>
        <p:spPr>
          <a:xfrm>
            <a:off x="243840" y="6193536"/>
            <a:ext cx="11704320" cy="438912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sp>
        <p:nvSpPr>
          <p:cNvPr id="22" name="Text 19"/>
          <p:cNvSpPr/>
          <p:nvPr/>
        </p:nvSpPr>
        <p:spPr>
          <a:xfrm>
            <a:off x="243840" y="6193536"/>
            <a:ext cx="1170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💡Include RSI features combined with bull_bear_flag &amp; volatility_regime to give the model regime context</a:t>
            </a:r>
            <a:endParaRPr lang="en-US" sz="113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1920"/>
            <a:ext cx="114604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533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Feature Correlation &amp; Selection</a:t>
            </a:r>
            <a:endParaRPr lang="en-US" sz="253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" y="923036"/>
            <a:ext cx="6379210" cy="500522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317486" y="1471785"/>
            <a:ext cx="37553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4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FEATURE SELECTION DECISIONS</a:t>
            </a:r>
            <a:endParaRPr lang="en-US" sz="104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7340600" y="1746105"/>
          <a:ext cx="4330701" cy="2888364"/>
        </p:xfrm>
        <a:graphic>
          <a:graphicData uri="http://schemas.openxmlformats.org/drawingml/2006/table">
            <a:tbl>
              <a:tblPr/>
              <a:tblGrid>
                <a:gridCol w="11862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95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48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7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Keep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Drop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7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3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price_to_ma7 · ma30 · ma50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ma_7, ma_14, ma_30, ma_50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7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3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Momentum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rsi_14 · macd_histogram · momentum_acc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macd, macd_signal, momentum_5d/10d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7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3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Volatility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vol_7d · vol_21d · bb_width · bb_pct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volatility_14d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7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3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spy_ret · spy_ma7 · spy_std7 · dxy_ma7 · vix_ma14 · vix_regime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vix, vix_change, dxy_return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7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3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fg_ma7 · fg_lag1 · fg_lag7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fear_greed, fear_greed_cat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7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3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bull_bear_flag · volatility_regime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243840" y="6193536"/>
            <a:ext cx="11704320" cy="438912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sp>
        <p:nvSpPr>
          <p:cNvPr id="15" name="Text 11"/>
          <p:cNvSpPr/>
          <p:nvPr/>
        </p:nvSpPr>
        <p:spPr>
          <a:xfrm>
            <a:off x="243840" y="6199124"/>
            <a:ext cx="1170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35 raw candidates → 21 final features , each capturing a distinct, non-redundant dimension of market behavior</a:t>
            </a:r>
            <a:endParaRPr lang="en-US" sz="113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Shape 0"/>
          <p:cNvSpPr/>
          <p:nvPr/>
        </p:nvSpPr>
        <p:spPr>
          <a:xfrm>
            <a:off x="0" y="0"/>
            <a:ext cx="12161160" cy="98712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508" name="Shape 1"/>
          <p:cNvSpPr/>
          <p:nvPr/>
        </p:nvSpPr>
        <p:spPr>
          <a:xfrm>
            <a:off x="0" y="0"/>
            <a:ext cx="164160" cy="98712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509" name="Shape 2"/>
          <p:cNvSpPr/>
          <p:nvPr/>
        </p:nvSpPr>
        <p:spPr>
          <a:xfrm>
            <a:off x="301680" y="146160"/>
            <a:ext cx="1325520" cy="676440"/>
          </a:xfrm>
          <a:prstGeom prst="roundRect">
            <a:avLst>
              <a:gd name="adj" fmla="val 10811"/>
            </a:avLst>
          </a:prstGeom>
          <a:solidFill>
            <a:srgbClr val="F7931A"/>
          </a:solidFill>
          <a:ln w="12700">
            <a:solidFill>
              <a:srgbClr val="F793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510" name="Text 3"/>
          <p:cNvSpPr/>
          <p:nvPr/>
        </p:nvSpPr>
        <p:spPr>
          <a:xfrm>
            <a:off x="301680" y="146160"/>
            <a:ext cx="132552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Arial"/>
                <a:ea typeface="Arial"/>
              </a:rPr>
              <a:t>EXP 1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Text 4"/>
          <p:cNvSpPr/>
          <p:nvPr/>
        </p:nvSpPr>
        <p:spPr>
          <a:xfrm>
            <a:off x="0" y="91440"/>
            <a:ext cx="12161160" cy="80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>
                <a:solidFill>
                  <a:srgbClr val="FFFFFF"/>
                </a:solidFill>
                <a:latin typeface="Arial Black"/>
                <a:ea typeface="Arial Black"/>
              </a:rPr>
              <a:t>Split Strategy : How We Divide Time?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Shape 7"/>
          <p:cNvSpPr/>
          <p:nvPr/>
        </p:nvSpPr>
        <p:spPr>
          <a:xfrm>
            <a:off x="384120" y="1481400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132238"/>
          </a:solidFill>
          <a:ln w="19050">
            <a:solidFill>
              <a:srgbClr val="1322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513" name="Text 8"/>
          <p:cNvSpPr/>
          <p:nvPr/>
        </p:nvSpPr>
        <p:spPr>
          <a:xfrm>
            <a:off x="384120" y="1481400"/>
            <a:ext cx="2889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FFFFFF"/>
                </a:solidFill>
                <a:latin typeface="Calibri"/>
                <a:ea typeface="Calibri"/>
              </a:rPr>
              <a:t>Model: Random Forest (fixed)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Shape 10"/>
          <p:cNvSpPr/>
          <p:nvPr/>
        </p:nvSpPr>
        <p:spPr>
          <a:xfrm>
            <a:off x="384120" y="2084760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132238"/>
          </a:solidFill>
          <a:ln w="19050">
            <a:solidFill>
              <a:srgbClr val="1322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516" name="Text 11"/>
          <p:cNvSpPr/>
          <p:nvPr/>
        </p:nvSpPr>
        <p:spPr>
          <a:xfrm>
            <a:off x="384120" y="2084760"/>
            <a:ext cx="2889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FFFFFF"/>
                </a:solidFill>
                <a:latin typeface="Calibri"/>
                <a:ea typeface="Calibri"/>
              </a:rPr>
              <a:t>Features: 21 (fixed)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Shape 13"/>
          <p:cNvSpPr/>
          <p:nvPr/>
        </p:nvSpPr>
        <p:spPr>
          <a:xfrm>
            <a:off x="384120" y="2688480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F7931A"/>
          </a:solidFill>
          <a:ln w="19050">
            <a:solidFill>
              <a:srgbClr val="F793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519" name="Text 14"/>
          <p:cNvSpPr/>
          <p:nvPr/>
        </p:nvSpPr>
        <p:spPr>
          <a:xfrm>
            <a:off x="384120" y="2688480"/>
            <a:ext cx="2889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-1">
                <a:solidFill>
                  <a:srgbClr val="FFFFFF"/>
                </a:solidFill>
                <a:latin typeface="Calibri"/>
                <a:ea typeface="Calibri"/>
              </a:rPr>
              <a:t>↕  VARIABLE: Split type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Shape 16"/>
          <p:cNvSpPr/>
          <p:nvPr/>
        </p:nvSpPr>
        <p:spPr>
          <a:xfrm>
            <a:off x="384120" y="3291840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 w="19050">
            <a:solidFill>
              <a:srgbClr val="C8D0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522" name="Text 17"/>
          <p:cNvSpPr/>
          <p:nvPr/>
        </p:nvSpPr>
        <p:spPr>
          <a:xfrm>
            <a:off x="384120" y="3291840"/>
            <a:ext cx="2889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132238"/>
                </a:solidFill>
                <a:latin typeface="Calibri"/>
                <a:ea typeface="Calibri"/>
              </a:rPr>
              <a:t>S1 — Fixed Chronological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Shape 19"/>
          <p:cNvSpPr/>
          <p:nvPr/>
        </p:nvSpPr>
        <p:spPr>
          <a:xfrm>
            <a:off x="384120" y="3895200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00D4AA"/>
          </a:solidFill>
          <a:ln w="19050">
            <a:solidFill>
              <a:srgbClr val="00D4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525" name="Text 20"/>
          <p:cNvSpPr/>
          <p:nvPr/>
        </p:nvSpPr>
        <p:spPr>
          <a:xfrm>
            <a:off x="384120" y="3895200"/>
            <a:ext cx="2889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FFFFFF"/>
                </a:solidFill>
                <a:latin typeface="Calibri"/>
                <a:ea typeface="Calibri"/>
              </a:rPr>
              <a:t>S2 — Regime-Aware  ✓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Shape 22"/>
          <p:cNvSpPr/>
          <p:nvPr/>
        </p:nvSpPr>
        <p:spPr>
          <a:xfrm>
            <a:off x="384120" y="4498920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 w="19050">
            <a:solidFill>
              <a:srgbClr val="C8D0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528" name="Text 23"/>
          <p:cNvSpPr/>
          <p:nvPr/>
        </p:nvSpPr>
        <p:spPr>
          <a:xfrm>
            <a:off x="384120" y="4498920"/>
            <a:ext cx="2889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132238"/>
                </a:solidFill>
                <a:latin typeface="Calibri"/>
                <a:ea typeface="Calibri"/>
              </a:rPr>
              <a:t>S3 — Walk-Forward CV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29" name="Table 0"/>
          <p:cNvGraphicFramePr/>
          <p:nvPr>
            <p:extLst>
              <p:ext uri="{D42A27DB-BD31-4B8C-83A1-F6EECF244321}">
                <p14:modId xmlns:p14="http://schemas.microsoft.com/office/powerpoint/2010/main" val="4229577226"/>
              </p:ext>
            </p:extLst>
          </p:nvPr>
        </p:nvGraphicFramePr>
        <p:xfrm>
          <a:off x="3502080" y="1482120"/>
          <a:ext cx="5521680" cy="1828800"/>
        </p:xfrm>
        <a:graphic>
          <a:graphicData uri="http://schemas.openxmlformats.org/drawingml/2006/table">
            <a:tbl>
              <a:tblPr/>
              <a:tblGrid>
                <a:gridCol w="1663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1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1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5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47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 dirty="0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Model</a:t>
                      </a:r>
                      <a:endParaRPr lang="en-US" sz="105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Val Acc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Val MCC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Test Acc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Test MCC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Test AUC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Gap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✓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strike="noStrike" spc="-1" dirty="0">
                          <a:solidFill>
                            <a:srgbClr val="132238"/>
                          </a:solidFill>
                          <a:latin typeface="Calibri"/>
                          <a:ea typeface="Calibri"/>
                        </a:rPr>
                        <a:t>S2  Regime-Aware</a:t>
                      </a: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strike="noStrike" kern="1200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  <a:cs typeface="+mn-cs"/>
                        </a:rPr>
                        <a:t>69%</a:t>
                      </a:r>
                      <a:endParaRPr lang="en-DE" sz="1000" b="0" strike="noStrike" kern="1200" spc="-1" dirty="0">
                        <a:solidFill>
                          <a:srgbClr val="3A4A5C"/>
                        </a:solidFill>
                        <a:latin typeface="Calibri"/>
                        <a:ea typeface="Calibri"/>
                        <a:cs typeface="+mn-cs"/>
                      </a:endParaRPr>
                    </a:p>
                  </a:txBody>
                  <a:tcPr marL="50800" marR="50800" marT="25400" marB="25400"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strike="noStrike" kern="1200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  <a:cs typeface="+mn-cs"/>
                        </a:rPr>
                        <a:t>0.38</a:t>
                      </a:r>
                      <a:endParaRPr lang="en-DE" sz="1000" b="0" strike="noStrike" kern="1200" spc="-1" dirty="0">
                        <a:solidFill>
                          <a:srgbClr val="3A4A5C"/>
                        </a:solidFill>
                        <a:latin typeface="Calibri"/>
                        <a:ea typeface="Calibri"/>
                        <a:cs typeface="+mn-cs"/>
                      </a:endParaRPr>
                    </a:p>
                  </a:txBody>
                  <a:tcPr marL="50800" marR="50800" marT="25400" marB="25400"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strike="noStrike" kern="1200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  <a:cs typeface="+mn-cs"/>
                        </a:rPr>
                        <a:t>72%</a:t>
                      </a:r>
                      <a:endParaRPr lang="en-DE" sz="1000" b="0" strike="noStrike" kern="1200" spc="-1" dirty="0">
                        <a:solidFill>
                          <a:srgbClr val="3A4A5C"/>
                        </a:solidFill>
                        <a:latin typeface="Calibri"/>
                        <a:ea typeface="Calibri"/>
                        <a:cs typeface="+mn-cs"/>
                      </a:endParaRPr>
                    </a:p>
                  </a:txBody>
                  <a:tcPr marL="50800" marR="50800" marT="25400" marB="25400"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000" b="0" strike="noStrike" kern="1200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  <a:cs typeface="+mn-cs"/>
                        </a:rPr>
                        <a:t>0.45</a:t>
                      </a:r>
                    </a:p>
                  </a:txBody>
                  <a:tcPr marL="50800" marR="50800" marT="25400" marB="25400"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strike="noStrike" kern="1200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  <a:cs typeface="+mn-cs"/>
                        </a:rPr>
                        <a:t>0.</a:t>
                      </a:r>
                      <a:r>
                        <a:rPr lang="en-DE" sz="1000" b="0" strike="noStrike" kern="1200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  <a:cs typeface="+mn-cs"/>
                        </a:rPr>
                        <a:t>8</a:t>
                      </a:r>
                      <a:r>
                        <a:rPr lang="en-US" sz="1000" b="0" strike="noStrike" kern="1200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  <a:cs typeface="+mn-cs"/>
                        </a:rPr>
                        <a:t>0</a:t>
                      </a:r>
                      <a:endParaRPr lang="en-DE" sz="1000" b="0" strike="noStrike" kern="1200" spc="-1" dirty="0">
                        <a:solidFill>
                          <a:srgbClr val="3A4A5C"/>
                        </a:solidFill>
                        <a:latin typeface="Calibri"/>
                        <a:ea typeface="Calibri"/>
                        <a:cs typeface="+mn-cs"/>
                      </a:endParaRPr>
                    </a:p>
                  </a:txBody>
                  <a:tcPr marL="50800" marR="50800" marT="25400" marB="25400"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000" b="0" strike="noStrike" kern="1200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  <a:cs typeface="+mn-cs"/>
                        </a:rPr>
                        <a:t>0.06</a:t>
                      </a:r>
                    </a:p>
                  </a:txBody>
                  <a:tcPr marL="50800" marR="50800" marT="25400" marB="25400"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1300" b="0" strike="noStrike" spc="-1" dirty="0">
                          <a:solidFill>
                            <a:srgbClr val="F7931A"/>
                          </a:solidFill>
                          <a:latin typeface="Arial"/>
                          <a:ea typeface="Arial"/>
                        </a:rPr>
                        <a:t>✅</a:t>
                      </a:r>
                      <a:endParaRPr lang="en-US" sz="13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strike="noStrike" kern="1200" spc="-1" dirty="0">
                          <a:solidFill>
                            <a:srgbClr val="132238"/>
                          </a:solidFill>
                          <a:latin typeface="Calibri"/>
                          <a:ea typeface="Calibri"/>
                          <a:cs typeface="+mn-cs"/>
                        </a:rPr>
                        <a:t>S1 Fixed Chrono</a:t>
                      </a: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E6FBF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strike="noStrike" spc="-1" dirty="0">
                          <a:solidFill>
                            <a:srgbClr val="132238"/>
                          </a:solidFill>
                          <a:latin typeface="Calibri"/>
                          <a:ea typeface="Calibri"/>
                        </a:rPr>
                        <a:t>68%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E6FBF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strike="noStrike" spc="-1" dirty="0">
                          <a:solidFill>
                            <a:srgbClr val="132238"/>
                          </a:solidFill>
                          <a:latin typeface="Calibri"/>
                          <a:ea typeface="Calibri"/>
                        </a:rPr>
                        <a:t>0.35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E6FBF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strike="noStrike" spc="-1">
                          <a:solidFill>
                            <a:srgbClr val="132238"/>
                          </a:solidFill>
                          <a:latin typeface="Calibri"/>
                          <a:ea typeface="Calibri"/>
                        </a:rPr>
                        <a:t>71.3%</a:t>
                      </a:r>
                      <a:endParaRPr lang="en-US" sz="1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E6FBF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strike="noStrike" spc="-1" dirty="0">
                          <a:solidFill>
                            <a:srgbClr val="132238"/>
                          </a:solidFill>
                          <a:latin typeface="Calibri"/>
                          <a:ea typeface="Calibri"/>
                        </a:rPr>
                        <a:t>0.42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E6FBF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strike="noStrike" spc="-1" dirty="0">
                          <a:solidFill>
                            <a:srgbClr val="132238"/>
                          </a:solidFill>
                          <a:latin typeface="Calibri"/>
                          <a:ea typeface="Calibri"/>
                        </a:rPr>
                        <a:t>0.79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E6FBF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strike="noStrike" spc="-1" dirty="0">
                          <a:solidFill>
                            <a:srgbClr val="132238"/>
                          </a:solidFill>
                          <a:latin typeface="Calibri"/>
                          <a:ea typeface="Calibri"/>
                        </a:rPr>
                        <a:t>0.07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E6F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1300" b="0" strike="noStrike" spc="-1" dirty="0">
                          <a:solidFill>
                            <a:srgbClr val="F7931A"/>
                          </a:solidFill>
                          <a:latin typeface="Arial"/>
                          <a:ea typeface="Arial"/>
                        </a:rPr>
                        <a:t>✅</a:t>
                      </a:r>
                      <a:endParaRPr lang="en-US" sz="13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E6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strike="noStrike" spc="-1">
                          <a:solidFill>
                            <a:srgbClr val="132238"/>
                          </a:solidFill>
                          <a:latin typeface="Calibri"/>
                          <a:ea typeface="Calibri"/>
                        </a:rPr>
                        <a:t>S3  Walk-Forward</a:t>
                      </a:r>
                      <a:endParaRPr lang="en-US" sz="1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69%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0.36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—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—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—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—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strike="noStrike" spc="-1" dirty="0">
                          <a:solidFill>
                            <a:srgbClr val="8A9BB0"/>
                          </a:solidFill>
                          <a:latin typeface="Arial"/>
                          <a:ea typeface="Arial"/>
                        </a:rPr>
                        <a:t>—</a:t>
                      </a:r>
                      <a:endParaRPr lang="en-US" sz="13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30" name="Shape 25"/>
          <p:cNvSpPr/>
          <p:nvPr/>
        </p:nvSpPr>
        <p:spPr>
          <a:xfrm>
            <a:off x="9253800" y="1554332"/>
            <a:ext cx="2742840" cy="4554508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round/>
          </a:ln>
          <a:effectLst>
            <a:outerShdw blurRad="101520" dist="37674" dir="8100000" algn="bl" rotWithShape="0">
              <a:srgbClr val="132238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 dirty="0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534" name="Text 29"/>
          <p:cNvSpPr/>
          <p:nvPr/>
        </p:nvSpPr>
        <p:spPr>
          <a:xfrm>
            <a:off x="9528120" y="2122200"/>
            <a:ext cx="23587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FFFFFF"/>
                </a:solidFill>
                <a:latin typeface="Arial"/>
                <a:ea typeface="Arial"/>
              </a:rPr>
              <a:t>S1 — Fixed Chronological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Text 30"/>
          <p:cNvSpPr/>
          <p:nvPr/>
        </p:nvSpPr>
        <p:spPr>
          <a:xfrm>
            <a:off x="9528120" y="2414880"/>
            <a:ext cx="23587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A8BCCF"/>
                </a:solidFill>
                <a:latin typeface="Calibri"/>
                <a:ea typeface="Calibri"/>
              </a:rPr>
              <a:t>Train 2018→2022  </a:t>
            </a:r>
          </a:p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A8BCCF"/>
                </a:solidFill>
                <a:latin typeface="Calibri"/>
                <a:ea typeface="Calibri"/>
              </a:rPr>
              <a:t>Val 2023  </a:t>
            </a:r>
            <a:endParaRPr lang="en-US" sz="900" spc="-1" dirty="0">
              <a:solidFill>
                <a:srgbClr val="A8BCCF"/>
              </a:solidFill>
              <a:latin typeface="Calibri"/>
              <a:ea typeface="Calibri"/>
            </a:endParaRPr>
          </a:p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A8BCCF"/>
                </a:solidFill>
                <a:latin typeface="Calibri"/>
                <a:ea typeface="Calibri"/>
              </a:rPr>
              <a:t>Test 2024→2026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A8BCCF"/>
                </a:solidFill>
                <a:latin typeface="Calibri"/>
                <a:ea typeface="Calibri"/>
              </a:rPr>
              <a:t>Strict time order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Text 32"/>
          <p:cNvSpPr/>
          <p:nvPr/>
        </p:nvSpPr>
        <p:spPr>
          <a:xfrm>
            <a:off x="9528120" y="3292560"/>
            <a:ext cx="23587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 dirty="0">
                <a:solidFill>
                  <a:srgbClr val="FFFFFF"/>
                </a:solidFill>
                <a:latin typeface="Arial"/>
                <a:ea typeface="Arial"/>
              </a:rPr>
              <a:t>S3 — Rolling window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Text 33"/>
          <p:cNvSpPr/>
          <p:nvPr/>
        </p:nvSpPr>
        <p:spPr>
          <a:xfrm>
            <a:off x="9528120" y="3585240"/>
            <a:ext cx="2358720" cy="47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A8BCCF"/>
                </a:solidFill>
                <a:latin typeface="Calibri"/>
                <a:ea typeface="Calibri"/>
              </a:rPr>
              <a:t>Rolling windows: 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A8BCCF"/>
                </a:solidFill>
                <a:latin typeface="Calibri"/>
                <a:ea typeface="Calibri"/>
              </a:rPr>
              <a:t>Train [2018→2021] → Val [2022]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A8BCCF"/>
                </a:solidFill>
                <a:latin typeface="Calibri"/>
                <a:ea typeface="Calibri"/>
              </a:rPr>
              <a:t>Train [2018→2022] → Val [2023]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Shape 35"/>
          <p:cNvSpPr/>
          <p:nvPr/>
        </p:nvSpPr>
        <p:spPr>
          <a:xfrm>
            <a:off x="9528120" y="4554360"/>
            <a:ext cx="2322360" cy="292320"/>
          </a:xfrm>
          <a:prstGeom prst="roundRect">
            <a:avLst>
              <a:gd name="adj" fmla="val 15625"/>
            </a:avLst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541" name="Text 36"/>
          <p:cNvSpPr/>
          <p:nvPr/>
        </p:nvSpPr>
        <p:spPr>
          <a:xfrm>
            <a:off x="9528120" y="4536000"/>
            <a:ext cx="23587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 dirty="0">
                <a:solidFill>
                  <a:srgbClr val="00D4AA"/>
                </a:solidFill>
                <a:latin typeface="Arial"/>
                <a:ea typeface="Arial"/>
              </a:rPr>
              <a:t>S2 — Regime-Aware  ✓  WINNER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Text 37"/>
          <p:cNvSpPr/>
          <p:nvPr/>
        </p:nvSpPr>
        <p:spPr>
          <a:xfrm>
            <a:off x="9528120" y="4828680"/>
            <a:ext cx="2358720" cy="11581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A8BCCF"/>
                </a:solidFill>
                <a:latin typeface="Calibri"/>
                <a:ea typeface="Calibri"/>
              </a:rPr>
              <a:t>Train  →  2018 to 2022  (bear + accumulation + bull + crash)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A8BCCF"/>
                </a:solidFill>
                <a:latin typeface="Calibri"/>
                <a:ea typeface="Calibri"/>
              </a:rPr>
              <a:t>Val    →  2023 to 2024  (recovery + bull 2024)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A8BCCF"/>
                </a:solidFill>
                <a:latin typeface="Calibri"/>
                <a:ea typeface="Calibri"/>
              </a:rPr>
              <a:t>Test   →  2025 to 2026  (institutional , completely unseen regime)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A8BCCF"/>
                </a:solidFill>
                <a:latin typeface="Calibri"/>
                <a:ea typeface="Calibri"/>
              </a:rPr>
              <a:t>- We already have flag regime features this helps the model know which regime it is 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Shape 38"/>
          <p:cNvSpPr/>
          <p:nvPr/>
        </p:nvSpPr>
        <p:spPr>
          <a:xfrm>
            <a:off x="0" y="6382440"/>
            <a:ext cx="12161160" cy="47520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 dirty="0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544" name="Shape 39"/>
          <p:cNvSpPr/>
          <p:nvPr/>
        </p:nvSpPr>
        <p:spPr>
          <a:xfrm>
            <a:off x="255960" y="6464880"/>
            <a:ext cx="2710800" cy="310680"/>
          </a:xfrm>
          <a:prstGeom prst="roundRect">
            <a:avLst>
              <a:gd name="adj" fmla="val 17647"/>
            </a:avLst>
          </a:prstGeom>
          <a:solidFill>
            <a:srgbClr val="F7931A"/>
          </a:solidFill>
          <a:ln w="12700">
            <a:solidFill>
              <a:srgbClr val="F793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545" name="Text 40"/>
          <p:cNvSpPr/>
          <p:nvPr/>
        </p:nvSpPr>
        <p:spPr>
          <a:xfrm>
            <a:off x="255960" y="6464880"/>
            <a:ext cx="27108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 dirty="0">
                <a:solidFill>
                  <a:srgbClr val="FFFFFF"/>
                </a:solidFill>
                <a:latin typeface="Calibri"/>
                <a:ea typeface="Calibri"/>
              </a:rPr>
              <a:t>★  S2 Regime-Aware Split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Shape 39">
            <a:extLst>
              <a:ext uri="{FF2B5EF4-FFF2-40B4-BE49-F238E27FC236}">
                <a16:creationId xmlns:a16="http://schemas.microsoft.com/office/drawing/2014/main" id="{8FA845FE-A7AD-992C-2758-AE7629223B18}"/>
              </a:ext>
            </a:extLst>
          </p:cNvPr>
          <p:cNvSpPr/>
          <p:nvPr/>
        </p:nvSpPr>
        <p:spPr>
          <a:xfrm>
            <a:off x="10189453" y="6454906"/>
            <a:ext cx="1304956" cy="310680"/>
          </a:xfrm>
          <a:prstGeom prst="roundRect">
            <a:avLst>
              <a:gd name="adj" fmla="val 17647"/>
            </a:avLst>
          </a:prstGeom>
          <a:noFill/>
          <a:ln w="12700">
            <a:solidFill>
              <a:srgbClr val="00B0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/>
            <a:r>
              <a:rPr lang="en-US" sz="1000" b="1" spc="-1" dirty="0">
                <a:latin typeface="Calibri"/>
                <a:ea typeface="Calibri"/>
              </a:rPr>
              <a:t>Best Accuracy : 72%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Shape 0"/>
          <p:cNvSpPr/>
          <p:nvPr/>
        </p:nvSpPr>
        <p:spPr>
          <a:xfrm>
            <a:off x="0" y="0"/>
            <a:ext cx="12161160" cy="98712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547" name="Shape 1"/>
          <p:cNvSpPr/>
          <p:nvPr/>
        </p:nvSpPr>
        <p:spPr>
          <a:xfrm>
            <a:off x="0" y="0"/>
            <a:ext cx="164160" cy="98712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548" name="Shape 2"/>
          <p:cNvSpPr/>
          <p:nvPr/>
        </p:nvSpPr>
        <p:spPr>
          <a:xfrm>
            <a:off x="301680" y="146160"/>
            <a:ext cx="1325520" cy="676440"/>
          </a:xfrm>
          <a:prstGeom prst="roundRect">
            <a:avLst>
              <a:gd name="adj" fmla="val 10811"/>
            </a:avLst>
          </a:prstGeom>
          <a:solidFill>
            <a:srgbClr val="F7931A"/>
          </a:solidFill>
          <a:ln w="12700">
            <a:solidFill>
              <a:srgbClr val="F793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549" name="Text 3"/>
          <p:cNvSpPr/>
          <p:nvPr/>
        </p:nvSpPr>
        <p:spPr>
          <a:xfrm>
            <a:off x="301680" y="146160"/>
            <a:ext cx="132552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Arial"/>
                <a:ea typeface="Arial"/>
              </a:rPr>
              <a:t>EXP 2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Text 4"/>
          <p:cNvSpPr/>
          <p:nvPr/>
        </p:nvSpPr>
        <p:spPr>
          <a:xfrm>
            <a:off x="0" y="91440"/>
            <a:ext cx="12161160" cy="80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>
                <a:solidFill>
                  <a:srgbClr val="FFFFFF"/>
                </a:solidFill>
                <a:latin typeface="Arial Black"/>
                <a:ea typeface="Arial Black"/>
              </a:rPr>
              <a:t>Model Selection : Which Algorithm Wins?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Shape 7"/>
          <p:cNvSpPr/>
          <p:nvPr/>
        </p:nvSpPr>
        <p:spPr>
          <a:xfrm>
            <a:off x="384120" y="1481400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132238"/>
          </a:solidFill>
          <a:ln w="19050">
            <a:solidFill>
              <a:srgbClr val="1322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552" name="Text 8"/>
          <p:cNvSpPr/>
          <p:nvPr/>
        </p:nvSpPr>
        <p:spPr>
          <a:xfrm>
            <a:off x="384120" y="1481400"/>
            <a:ext cx="2889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FFFFFF"/>
                </a:solidFill>
                <a:latin typeface="Calibri"/>
                <a:ea typeface="Calibri"/>
              </a:rPr>
              <a:t>Split: S2 Regime-Aware (fixed)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Shape 10"/>
          <p:cNvSpPr/>
          <p:nvPr/>
        </p:nvSpPr>
        <p:spPr>
          <a:xfrm>
            <a:off x="384120" y="2084760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132238"/>
          </a:solidFill>
          <a:ln w="19050">
            <a:solidFill>
              <a:srgbClr val="1322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555" name="Text 11"/>
          <p:cNvSpPr/>
          <p:nvPr/>
        </p:nvSpPr>
        <p:spPr>
          <a:xfrm>
            <a:off x="384120" y="2084760"/>
            <a:ext cx="2889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FFFFFF"/>
                </a:solidFill>
                <a:latin typeface="Calibri"/>
                <a:ea typeface="Calibri"/>
              </a:rPr>
              <a:t>Features: 21 (fixed)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Shape 13"/>
          <p:cNvSpPr/>
          <p:nvPr/>
        </p:nvSpPr>
        <p:spPr>
          <a:xfrm>
            <a:off x="384120" y="2688480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F7931A"/>
          </a:solidFill>
          <a:ln w="19050">
            <a:solidFill>
              <a:srgbClr val="F793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558" name="Text 14"/>
          <p:cNvSpPr/>
          <p:nvPr/>
        </p:nvSpPr>
        <p:spPr>
          <a:xfrm>
            <a:off x="384120" y="2688480"/>
            <a:ext cx="2889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-1" dirty="0">
                <a:solidFill>
                  <a:srgbClr val="FFFFFF"/>
                </a:solidFill>
                <a:latin typeface="Calibri"/>
                <a:ea typeface="Calibri"/>
              </a:rPr>
              <a:t>↕  VARIABLE: Algorithm</a:t>
            </a: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Shape 16"/>
          <p:cNvSpPr/>
          <p:nvPr/>
        </p:nvSpPr>
        <p:spPr>
          <a:xfrm>
            <a:off x="384120" y="3291840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 w="19050">
            <a:solidFill>
              <a:srgbClr val="C8D0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 dirty="0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561" name="Text 17"/>
          <p:cNvSpPr/>
          <p:nvPr/>
        </p:nvSpPr>
        <p:spPr>
          <a:xfrm>
            <a:off x="384120" y="3291840"/>
            <a:ext cx="2889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 dirty="0" err="1">
                <a:solidFill>
                  <a:srgbClr val="132238"/>
                </a:solidFill>
                <a:latin typeface="Calibri"/>
                <a:ea typeface="Calibri"/>
              </a:rPr>
              <a:t>LightGBM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Shape 19"/>
          <p:cNvSpPr/>
          <p:nvPr/>
        </p:nvSpPr>
        <p:spPr>
          <a:xfrm>
            <a:off x="384120" y="3895200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00D4AA"/>
          </a:solidFill>
          <a:ln w="19050">
            <a:solidFill>
              <a:srgbClr val="00D4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564" name="Text 20"/>
          <p:cNvSpPr/>
          <p:nvPr/>
        </p:nvSpPr>
        <p:spPr>
          <a:xfrm>
            <a:off x="384120" y="3895200"/>
            <a:ext cx="2889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050" b="1" spc="-1" dirty="0" err="1">
                <a:solidFill>
                  <a:srgbClr val="FFFFFF"/>
                </a:solidFill>
                <a:latin typeface="Calibri"/>
                <a:ea typeface="Calibri"/>
              </a:rPr>
              <a:t>Gardien</a:t>
            </a:r>
            <a:r>
              <a:rPr lang="en-US" sz="1050" b="1" spc="-1" dirty="0">
                <a:solidFill>
                  <a:srgbClr val="FFFFFF"/>
                </a:solidFill>
                <a:latin typeface="Calibri"/>
                <a:ea typeface="Calibri"/>
              </a:rPr>
              <a:t> Boosting</a:t>
            </a:r>
            <a:r>
              <a:rPr lang="en-US" sz="1050" b="1" strike="noStrike" spc="-1" dirty="0">
                <a:solidFill>
                  <a:srgbClr val="FFFFFF"/>
                </a:solidFill>
                <a:latin typeface="Calibri"/>
                <a:ea typeface="Calibri"/>
              </a:rPr>
              <a:t> ✓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Shape 22"/>
          <p:cNvSpPr/>
          <p:nvPr/>
        </p:nvSpPr>
        <p:spPr>
          <a:xfrm>
            <a:off x="384120" y="4498920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 w="19050">
            <a:solidFill>
              <a:srgbClr val="C8D0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 dirty="0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567" name="Text 23"/>
          <p:cNvSpPr/>
          <p:nvPr/>
        </p:nvSpPr>
        <p:spPr>
          <a:xfrm>
            <a:off x="384120" y="4498920"/>
            <a:ext cx="2889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050" spc="-1" dirty="0" err="1">
                <a:solidFill>
                  <a:srgbClr val="132238"/>
                </a:solidFill>
                <a:latin typeface="Calibri"/>
                <a:ea typeface="Calibri"/>
              </a:rPr>
              <a:t>XGBoost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68" name="Table 0"/>
          <p:cNvGraphicFramePr/>
          <p:nvPr>
            <p:extLst>
              <p:ext uri="{D42A27DB-BD31-4B8C-83A1-F6EECF244321}">
                <p14:modId xmlns:p14="http://schemas.microsoft.com/office/powerpoint/2010/main" val="2548957633"/>
              </p:ext>
            </p:extLst>
          </p:nvPr>
        </p:nvGraphicFramePr>
        <p:xfrm>
          <a:off x="3498574" y="1482120"/>
          <a:ext cx="5525186" cy="2809240"/>
        </p:xfrm>
        <a:graphic>
          <a:graphicData uri="http://schemas.openxmlformats.org/drawingml/2006/table">
            <a:tbl>
              <a:tblPr/>
              <a:tblGrid>
                <a:gridCol w="16674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1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1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5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47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Model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Val Acc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Val MCC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 dirty="0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Test Acc</a:t>
                      </a:r>
                      <a:endParaRPr lang="en-US" sz="105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kern="1200" spc="-1" dirty="0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+mn-cs"/>
                        </a:rPr>
                        <a:t>Test MCC</a:t>
                      </a: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Test AUC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Gap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✓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strike="noStrike" spc="-1" dirty="0">
                          <a:solidFill>
                            <a:srgbClr val="132238"/>
                          </a:solidFill>
                          <a:latin typeface="Calibri"/>
                          <a:ea typeface="Calibri"/>
                        </a:rPr>
                        <a:t>Logistic Regression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strike="noStrike" kern="1200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  <a:cs typeface="+mn-cs"/>
                        </a:rPr>
                        <a:t>69%</a:t>
                      </a:r>
                      <a:endParaRPr lang="en-DE" sz="1000" b="0" strike="noStrike" kern="1200" spc="-1" dirty="0">
                        <a:solidFill>
                          <a:srgbClr val="3A4A5C"/>
                        </a:solidFill>
                        <a:latin typeface="Calibri"/>
                        <a:ea typeface="Calibri"/>
                        <a:cs typeface="+mn-cs"/>
                      </a:endParaRPr>
                    </a:p>
                  </a:txBody>
                  <a:tcPr marL="50800" marR="50800" marT="25400" marB="25400"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000" b="0" strike="noStrike" kern="1200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  <a:cs typeface="+mn-cs"/>
                        </a:rPr>
                        <a:t>0.38</a:t>
                      </a:r>
                    </a:p>
                  </a:txBody>
                  <a:tcPr marL="50800" marR="50800" marT="25400" marB="25400"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strike="noStrike" kern="1200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  <a:cs typeface="+mn-cs"/>
                        </a:rPr>
                        <a:t>70%</a:t>
                      </a:r>
                      <a:endParaRPr lang="en-DE" sz="1000" b="0" strike="noStrike" kern="1200" spc="-1" dirty="0">
                        <a:solidFill>
                          <a:srgbClr val="3A4A5C"/>
                        </a:solidFill>
                        <a:latin typeface="Calibri"/>
                        <a:ea typeface="Calibri"/>
                        <a:cs typeface="+mn-cs"/>
                      </a:endParaRPr>
                    </a:p>
                  </a:txBody>
                  <a:tcPr marL="50800" marR="50800" marT="25400" marB="25400"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000" b="0" strike="noStrike" kern="1200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  <a:cs typeface="+mn-cs"/>
                        </a:rPr>
                        <a:t>0.39</a:t>
                      </a:r>
                    </a:p>
                  </a:txBody>
                  <a:tcPr marL="50800" marR="50800" marT="25400" marB="25400"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000" b="0" strike="noStrike" kern="1200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  <a:cs typeface="+mn-cs"/>
                        </a:rPr>
                        <a:t>0.77</a:t>
                      </a:r>
                    </a:p>
                  </a:txBody>
                  <a:tcPr marL="50800" marR="50800" marT="25400" marB="25400"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000" b="0" strike="noStrike" kern="1200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  <a:cs typeface="+mn-cs"/>
                        </a:rPr>
                        <a:t>0.01</a:t>
                      </a:r>
                    </a:p>
                  </a:txBody>
                  <a:tcPr marL="50800" marR="50800" marT="25400" marB="25400"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strike="noStrike" spc="-1">
                          <a:solidFill>
                            <a:srgbClr val="F7931A"/>
                          </a:solidFill>
                          <a:latin typeface="Arial"/>
                          <a:ea typeface="Arial"/>
                        </a:rPr>
                        <a:t>✅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strike="noStrike" spc="-1">
                          <a:solidFill>
                            <a:srgbClr val="132238"/>
                          </a:solidFill>
                          <a:latin typeface="Calibri"/>
                          <a:ea typeface="Calibri"/>
                        </a:rPr>
                        <a:t>Random Forest</a:t>
                      </a:r>
                      <a:endParaRPr lang="en-US" sz="1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E6F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strike="noStrike" kern="1200" spc="-1" dirty="0">
                          <a:solidFill>
                            <a:srgbClr val="132238"/>
                          </a:solidFill>
                          <a:latin typeface="Calibri"/>
                          <a:ea typeface="Calibri"/>
                          <a:cs typeface="+mn-cs"/>
                        </a:rPr>
                        <a:t>69%</a:t>
                      </a:r>
                      <a:endParaRPr lang="en-DE" sz="1000" b="1" strike="noStrike" kern="1200" spc="-1" dirty="0">
                        <a:solidFill>
                          <a:srgbClr val="132238"/>
                        </a:solidFill>
                        <a:latin typeface="Calibri"/>
                        <a:ea typeface="Calibri"/>
                        <a:cs typeface="+mn-cs"/>
                      </a:endParaRPr>
                    </a:p>
                  </a:txBody>
                  <a:tcPr marL="50800" marR="50800" marT="25400" marB="25400"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000" b="1" strike="noStrike" kern="1200" spc="-1" dirty="0">
                          <a:solidFill>
                            <a:srgbClr val="132238"/>
                          </a:solidFill>
                          <a:latin typeface="Calibri"/>
                          <a:ea typeface="Calibri"/>
                          <a:cs typeface="+mn-cs"/>
                        </a:rPr>
                        <a:t>0.3</a:t>
                      </a:r>
                      <a:r>
                        <a:rPr lang="en-US" sz="1000" b="1" strike="noStrike" kern="1200" spc="-1" dirty="0">
                          <a:solidFill>
                            <a:srgbClr val="132238"/>
                          </a:solidFill>
                          <a:latin typeface="Calibri"/>
                          <a:ea typeface="Calibri"/>
                          <a:cs typeface="+mn-cs"/>
                        </a:rPr>
                        <a:t>8</a:t>
                      </a:r>
                      <a:endParaRPr lang="en-DE" sz="1000" b="1" strike="noStrike" kern="1200" spc="-1" dirty="0">
                        <a:solidFill>
                          <a:srgbClr val="132238"/>
                        </a:solidFill>
                        <a:latin typeface="Calibri"/>
                        <a:ea typeface="Calibri"/>
                        <a:cs typeface="+mn-cs"/>
                      </a:endParaRPr>
                    </a:p>
                  </a:txBody>
                  <a:tcPr marL="50800" marR="50800" marT="25400" marB="25400"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strike="noStrike" kern="1200" spc="-1" dirty="0">
                          <a:solidFill>
                            <a:srgbClr val="132238"/>
                          </a:solidFill>
                          <a:latin typeface="Calibri"/>
                          <a:ea typeface="Calibri"/>
                          <a:cs typeface="+mn-cs"/>
                        </a:rPr>
                        <a:t>72%</a:t>
                      </a:r>
                      <a:endParaRPr lang="en-DE" sz="1000" b="1" strike="noStrike" kern="1200" spc="-1" dirty="0">
                        <a:solidFill>
                          <a:srgbClr val="132238"/>
                        </a:solidFill>
                        <a:latin typeface="Calibri"/>
                        <a:ea typeface="Calibri"/>
                        <a:cs typeface="+mn-cs"/>
                      </a:endParaRPr>
                    </a:p>
                  </a:txBody>
                  <a:tcPr marL="50800" marR="50800" marT="25400" marB="25400"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000" b="1" strike="noStrike" kern="1200" spc="-1" dirty="0">
                          <a:solidFill>
                            <a:srgbClr val="132238"/>
                          </a:solidFill>
                          <a:latin typeface="Calibri"/>
                          <a:ea typeface="Calibri"/>
                          <a:cs typeface="+mn-cs"/>
                        </a:rPr>
                        <a:t>0.45</a:t>
                      </a:r>
                    </a:p>
                  </a:txBody>
                  <a:tcPr marL="50800" marR="50800" marT="25400" marB="25400"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000" b="1" strike="noStrike" kern="1200" spc="-1" dirty="0">
                          <a:solidFill>
                            <a:srgbClr val="132238"/>
                          </a:solidFill>
                          <a:latin typeface="Calibri"/>
                          <a:ea typeface="Calibri"/>
                          <a:cs typeface="+mn-cs"/>
                        </a:rPr>
                        <a:t>0.80</a:t>
                      </a:r>
                    </a:p>
                  </a:txBody>
                  <a:tcPr marL="50800" marR="50800" marT="25400" marB="25400"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000" b="1" strike="noStrike" kern="1200" spc="-1" dirty="0">
                          <a:solidFill>
                            <a:srgbClr val="132238"/>
                          </a:solidFill>
                          <a:latin typeface="Calibri"/>
                          <a:ea typeface="Calibri"/>
                          <a:cs typeface="+mn-cs"/>
                        </a:rPr>
                        <a:t>0.06</a:t>
                      </a:r>
                    </a:p>
                  </a:txBody>
                  <a:tcPr marL="50800" marR="50800" marT="25400" marB="25400"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strike="noStrike" spc="-1">
                          <a:solidFill>
                            <a:srgbClr val="F7931A"/>
                          </a:solidFill>
                          <a:latin typeface="Arial"/>
                          <a:ea typeface="Arial"/>
                        </a:rPr>
                        <a:t>✅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E6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strike="noStrike" spc="-1" dirty="0">
                          <a:solidFill>
                            <a:srgbClr val="132238"/>
                          </a:solidFill>
                          <a:latin typeface="Calibri"/>
                          <a:ea typeface="Calibri"/>
                        </a:rPr>
                        <a:t>Gradient Boosting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strike="noStrike" kern="1200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  <a:cs typeface="+mn-cs"/>
                        </a:rPr>
                        <a:t>69%</a:t>
                      </a:r>
                      <a:endParaRPr lang="en-DE" sz="1000" b="0" strike="noStrike" kern="1200" spc="-1" dirty="0">
                        <a:solidFill>
                          <a:srgbClr val="3A4A5C"/>
                        </a:solidFill>
                        <a:latin typeface="Calibri"/>
                        <a:ea typeface="Calibri"/>
                        <a:cs typeface="+mn-cs"/>
                      </a:endParaRPr>
                    </a:p>
                  </a:txBody>
                  <a:tcPr marL="50800" marR="50800" marT="25400" marB="25400"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000" b="0" strike="noStrike" kern="1200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  <a:cs typeface="+mn-cs"/>
                        </a:rPr>
                        <a:t>0.38</a:t>
                      </a:r>
                    </a:p>
                  </a:txBody>
                  <a:tcPr marL="50800" marR="50800" marT="25400" marB="25400"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strike="noStrike" kern="1200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  <a:cs typeface="+mn-cs"/>
                        </a:rPr>
                        <a:t>71%</a:t>
                      </a:r>
                      <a:endParaRPr lang="en-DE" sz="1000" b="0" strike="noStrike" kern="1200" spc="-1" dirty="0">
                        <a:solidFill>
                          <a:srgbClr val="3A4A5C"/>
                        </a:solidFill>
                        <a:latin typeface="Calibri"/>
                        <a:ea typeface="Calibri"/>
                        <a:cs typeface="+mn-cs"/>
                      </a:endParaRPr>
                    </a:p>
                  </a:txBody>
                  <a:tcPr marL="50800" marR="50800" marT="25400" marB="25400"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000" b="0" strike="noStrike" kern="1200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  <a:cs typeface="+mn-cs"/>
                        </a:rPr>
                        <a:t>0.43</a:t>
                      </a:r>
                    </a:p>
                  </a:txBody>
                  <a:tcPr marL="50800" marR="50800" marT="25400" marB="25400"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000" b="0" strike="noStrike" kern="1200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  <a:cs typeface="+mn-cs"/>
                        </a:rPr>
                        <a:t>0.79</a:t>
                      </a:r>
                    </a:p>
                  </a:txBody>
                  <a:tcPr marL="50800" marR="50800" marT="25400" marB="25400"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000" b="0" strike="noStrike" kern="1200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  <a:cs typeface="+mn-cs"/>
                        </a:rPr>
                        <a:t>0.24</a:t>
                      </a:r>
                    </a:p>
                  </a:txBody>
                  <a:tcPr marL="50800" marR="50800" marT="25400" marB="25400"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strike="noStrike" spc="-1" dirty="0">
                          <a:solidFill>
                            <a:srgbClr val="8A9BB0"/>
                          </a:solidFill>
                          <a:latin typeface="Arial"/>
                          <a:ea typeface="Arial"/>
                        </a:rPr>
                        <a:t>⚠️</a:t>
                      </a:r>
                      <a:endParaRPr lang="en-US" sz="13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000" b="1" strike="noStrike" kern="1200" spc="-1" dirty="0">
                          <a:solidFill>
                            <a:srgbClr val="132238"/>
                          </a:solidFill>
                          <a:latin typeface="Calibri"/>
                          <a:ea typeface="Calibri"/>
                          <a:cs typeface="+mn-cs"/>
                        </a:rPr>
                        <a:t>LightGBM</a:t>
                      </a:r>
                    </a:p>
                  </a:txBody>
                  <a:tcPr marL="50800" marR="50800" marT="25400" marB="25400"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strike="noStrike" kern="1200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  <a:cs typeface="+mn-cs"/>
                        </a:rPr>
                        <a:t>67%</a:t>
                      </a:r>
                      <a:endParaRPr lang="en-DE" sz="1000" b="0" strike="noStrike" kern="1200" spc="-1" dirty="0">
                        <a:solidFill>
                          <a:srgbClr val="3A4A5C"/>
                        </a:solidFill>
                        <a:latin typeface="Calibri"/>
                        <a:ea typeface="Calibri"/>
                        <a:cs typeface="+mn-cs"/>
                      </a:endParaRPr>
                    </a:p>
                  </a:txBody>
                  <a:tcPr marL="50800" marR="50800" marT="25400" marB="25400" anchor="ctr">
                    <a:lnL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000" b="0" strike="noStrike" kern="1200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  <a:cs typeface="+mn-cs"/>
                        </a:rPr>
                        <a:t>0.36</a:t>
                      </a:r>
                    </a:p>
                  </a:txBody>
                  <a:tcPr marL="50800" marR="50800" marT="25400" marB="25400" anchor="ctr">
                    <a:lnL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strike="noStrike" kern="1200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  <a:cs typeface="+mn-cs"/>
                        </a:rPr>
                        <a:t>70%</a:t>
                      </a:r>
                      <a:endParaRPr lang="en-DE" sz="1000" b="0" strike="noStrike" kern="1200" spc="-1" dirty="0">
                        <a:solidFill>
                          <a:srgbClr val="3A4A5C"/>
                        </a:solidFill>
                        <a:latin typeface="Calibri"/>
                        <a:ea typeface="Calibri"/>
                        <a:cs typeface="+mn-cs"/>
                      </a:endParaRPr>
                    </a:p>
                  </a:txBody>
                  <a:tcPr marL="50800" marR="50800" marT="25400" marB="25400" anchor="ctr">
                    <a:lnL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000" b="0" strike="noStrike" kern="1200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  <a:cs typeface="+mn-cs"/>
                        </a:rPr>
                        <a:t>0.42</a:t>
                      </a:r>
                    </a:p>
                  </a:txBody>
                  <a:tcPr marL="50800" marR="50800" marT="25400" marB="25400" anchor="ctr">
                    <a:lnL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000" b="0" strike="noStrike" kern="1200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  <a:cs typeface="+mn-cs"/>
                        </a:rPr>
                        <a:t>0.77</a:t>
                      </a:r>
                    </a:p>
                  </a:txBody>
                  <a:tcPr marL="50800" marR="50800" marT="25400" marB="25400" anchor="ctr">
                    <a:lnL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000" b="0" strike="noStrike" kern="1200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  <a:cs typeface="+mn-cs"/>
                        </a:rPr>
                        <a:t>0.25</a:t>
                      </a:r>
                    </a:p>
                  </a:txBody>
                  <a:tcPr marL="50800" marR="50800" marT="25400" marB="25400" anchor="ctr">
                    <a:lnL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strike="noStrike" kern="1200" spc="-1" dirty="0">
                          <a:solidFill>
                            <a:srgbClr val="8A9BB0"/>
                          </a:solidFill>
                          <a:latin typeface="Arial"/>
                          <a:ea typeface="Arial"/>
                          <a:cs typeface="+mn-cs"/>
                        </a:rPr>
                        <a:t>⚠️</a:t>
                      </a:r>
                      <a:endParaRPr lang="en-US" sz="1300" b="0" strike="noStrike" kern="1200" spc="-1" dirty="0">
                        <a:solidFill>
                          <a:srgbClr val="8A9BB0"/>
                        </a:solidFill>
                        <a:latin typeface="Arial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398551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000" b="1" strike="noStrike" kern="1200" spc="-1" dirty="0">
                          <a:solidFill>
                            <a:srgbClr val="132238"/>
                          </a:solidFill>
                          <a:latin typeface="Calibri"/>
                          <a:ea typeface="Calibri"/>
                          <a:cs typeface="+mn-cs"/>
                        </a:rPr>
                        <a:t>XGBoost</a:t>
                      </a:r>
                    </a:p>
                  </a:txBody>
                  <a:tcPr marL="50800" marR="50800" marT="25400" marB="25400"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strike="noStrike" kern="1200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  <a:cs typeface="+mn-cs"/>
                        </a:rPr>
                        <a:t>70%</a:t>
                      </a:r>
                      <a:endParaRPr lang="en-DE" sz="1000" b="0" strike="noStrike" kern="1200" spc="-1" dirty="0">
                        <a:solidFill>
                          <a:srgbClr val="3A4A5C"/>
                        </a:solidFill>
                        <a:latin typeface="Calibri"/>
                        <a:ea typeface="Calibri"/>
                        <a:cs typeface="+mn-cs"/>
                      </a:endParaRPr>
                    </a:p>
                  </a:txBody>
                  <a:tcPr marL="50800" marR="50800" marT="25400" marB="25400" anchor="ctr">
                    <a:lnL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000" b="0" strike="noStrike" kern="1200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  <a:cs typeface="+mn-cs"/>
                        </a:rPr>
                        <a:t>0.4</a:t>
                      </a:r>
                      <a:r>
                        <a:rPr lang="en-US" sz="1000" b="0" strike="noStrike" kern="1200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  <a:cs typeface="+mn-cs"/>
                        </a:rPr>
                        <a:t>0</a:t>
                      </a:r>
                      <a:endParaRPr lang="en-DE" sz="1000" b="0" strike="noStrike" kern="1200" spc="-1" dirty="0">
                        <a:solidFill>
                          <a:srgbClr val="3A4A5C"/>
                        </a:solidFill>
                        <a:latin typeface="Calibri"/>
                        <a:ea typeface="Calibri"/>
                        <a:cs typeface="+mn-cs"/>
                      </a:endParaRPr>
                    </a:p>
                  </a:txBody>
                  <a:tcPr marL="50800" marR="50800" marT="25400" marB="25400" anchor="ctr">
                    <a:lnL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strike="noStrike" kern="1200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  <a:cs typeface="+mn-cs"/>
                        </a:rPr>
                        <a:t>71%</a:t>
                      </a:r>
                      <a:endParaRPr lang="en-DE" sz="1000" b="0" strike="noStrike" kern="1200" spc="-1" dirty="0">
                        <a:solidFill>
                          <a:srgbClr val="3A4A5C"/>
                        </a:solidFill>
                        <a:latin typeface="Calibri"/>
                        <a:ea typeface="Calibri"/>
                        <a:cs typeface="+mn-cs"/>
                      </a:endParaRPr>
                    </a:p>
                  </a:txBody>
                  <a:tcPr marL="50800" marR="50800" marT="25400" marB="25400" anchor="ctr">
                    <a:lnL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000" b="0" strike="noStrike" kern="1200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  <a:cs typeface="+mn-cs"/>
                        </a:rPr>
                        <a:t>0.43</a:t>
                      </a:r>
                    </a:p>
                  </a:txBody>
                  <a:tcPr marL="50800" marR="50800" marT="25400" marB="25400" anchor="ctr">
                    <a:lnL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000" b="0" strike="noStrike" kern="1200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  <a:cs typeface="+mn-cs"/>
                        </a:rPr>
                        <a:t>0.80</a:t>
                      </a:r>
                    </a:p>
                  </a:txBody>
                  <a:tcPr marL="50800" marR="50800" marT="25400" marB="25400" anchor="ctr">
                    <a:lnL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000" b="0" strike="noStrike" kern="1200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  <a:cs typeface="+mn-cs"/>
                        </a:rPr>
                        <a:t>0.12</a:t>
                      </a:r>
                    </a:p>
                  </a:txBody>
                  <a:tcPr marL="50800" marR="50800" marT="25400" marB="25400" anchor="ctr">
                    <a:lnL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strike="noStrike" kern="1200" spc="-1" dirty="0">
                          <a:solidFill>
                            <a:srgbClr val="8A9BB0"/>
                          </a:solidFill>
                          <a:latin typeface="Arial"/>
                          <a:ea typeface="Arial"/>
                          <a:cs typeface="+mn-cs"/>
                        </a:rPr>
                        <a:t>⚠️</a:t>
                      </a:r>
                      <a:endParaRPr lang="en-US" sz="1300" b="0" strike="noStrike" kern="1200" spc="-1" dirty="0">
                        <a:solidFill>
                          <a:srgbClr val="8A9BB0"/>
                        </a:solidFill>
                        <a:latin typeface="Arial"/>
                        <a:cs typeface="+mn-cs"/>
                      </a:endParaRPr>
                    </a:p>
                    <a:p>
                      <a:pPr>
                        <a:buNone/>
                      </a:pPr>
                      <a:endParaRPr lang="en-DE" dirty="0">
                        <a:effectLst/>
                      </a:endParaRPr>
                    </a:p>
                  </a:txBody>
                  <a:tcPr marL="50800" marR="50800" marT="25400" marB="25400" anchor="ctr">
                    <a:lnL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9589102"/>
                  </a:ext>
                </a:extLst>
              </a:tr>
            </a:tbl>
          </a:graphicData>
        </a:graphic>
      </p:graphicFrame>
      <p:sp>
        <p:nvSpPr>
          <p:cNvPr id="569" name="Shape 25"/>
          <p:cNvSpPr/>
          <p:nvPr/>
        </p:nvSpPr>
        <p:spPr>
          <a:xfrm>
            <a:off x="9253800" y="1482120"/>
            <a:ext cx="2742840" cy="480852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round/>
          </a:ln>
          <a:effectLst>
            <a:outerShdw blurRad="101520" dist="37674" dir="8100000" algn="bl" rotWithShape="0">
              <a:srgbClr val="132238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579" name="Shape 35"/>
          <p:cNvSpPr/>
          <p:nvPr/>
        </p:nvSpPr>
        <p:spPr>
          <a:xfrm>
            <a:off x="9464040" y="2004087"/>
            <a:ext cx="2322360" cy="292320"/>
          </a:xfrm>
          <a:prstGeom prst="roundRect">
            <a:avLst>
              <a:gd name="adj" fmla="val 15625"/>
            </a:avLst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580" name="Text 36"/>
          <p:cNvSpPr/>
          <p:nvPr/>
        </p:nvSpPr>
        <p:spPr>
          <a:xfrm>
            <a:off x="9448990" y="1994896"/>
            <a:ext cx="23587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 dirty="0">
                <a:solidFill>
                  <a:srgbClr val="00D4AA"/>
                </a:solidFill>
                <a:latin typeface="Arial"/>
                <a:ea typeface="Arial"/>
              </a:rPr>
              <a:t>Random Forest  ✓  WINNER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Text 37"/>
          <p:cNvSpPr/>
          <p:nvPr/>
        </p:nvSpPr>
        <p:spPr>
          <a:xfrm>
            <a:off x="9464040" y="2144693"/>
            <a:ext cx="2358720" cy="30613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171450" indent="-17145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A8BCCF"/>
                </a:solidFill>
                <a:latin typeface="Calibri"/>
                <a:ea typeface="Calibri"/>
              </a:rPr>
              <a:t>Depth=10, </a:t>
            </a:r>
            <a:r>
              <a:rPr lang="en-US" sz="900" b="0" strike="noStrike" spc="-1" dirty="0" err="1">
                <a:solidFill>
                  <a:srgbClr val="A8BCCF"/>
                </a:solidFill>
                <a:latin typeface="Calibri"/>
                <a:ea typeface="Calibri"/>
              </a:rPr>
              <a:t>min_leaf</a:t>
            </a:r>
            <a:r>
              <a:rPr lang="en-US" sz="900" b="0" strike="noStrike" spc="-1" dirty="0">
                <a:solidFill>
                  <a:srgbClr val="A8BCCF"/>
                </a:solidFill>
                <a:latin typeface="Calibri"/>
                <a:ea typeface="Calibri"/>
              </a:rPr>
              <a:t>=20, sqrt features, 200 estimators</a:t>
            </a:r>
          </a:p>
          <a:p>
            <a:pPr marL="171450" indent="-17145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900" spc="-1" dirty="0">
              <a:solidFill>
                <a:srgbClr val="A8BCCF"/>
              </a:solidFill>
              <a:latin typeface="Calibri"/>
              <a:ea typeface="Calibri"/>
            </a:endParaRPr>
          </a:p>
          <a:p>
            <a:pPr marL="171450" indent="-17145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  <a:p>
            <a:pPr marL="171450" indent="-17145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A8BCCF"/>
                </a:solidFill>
                <a:latin typeface="Calibri"/>
                <a:ea typeface="Calibri"/>
              </a:rPr>
              <a:t>RF dominates out of the box best test MCC, best AUC, clean gap. </a:t>
            </a:r>
          </a:p>
          <a:p>
            <a:pPr marL="171450" indent="-17145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900" spc="-1" dirty="0">
              <a:solidFill>
                <a:srgbClr val="A8BCCF"/>
              </a:solidFill>
              <a:latin typeface="Calibri"/>
              <a:ea typeface="Calibri"/>
            </a:endParaRPr>
          </a:p>
          <a:p>
            <a:pPr marL="171450" indent="-17145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A8BCCF"/>
                </a:solidFill>
                <a:latin typeface="Calibri"/>
                <a:ea typeface="Calibri"/>
              </a:rPr>
              <a:t>GB/XGB/</a:t>
            </a:r>
            <a:r>
              <a:rPr lang="en-US" sz="900" b="0" strike="noStrike" spc="-1" dirty="0" err="1">
                <a:solidFill>
                  <a:srgbClr val="A8BCCF"/>
                </a:solidFill>
                <a:latin typeface="Calibri"/>
                <a:ea typeface="Calibri"/>
              </a:rPr>
              <a:t>LightGBM</a:t>
            </a:r>
            <a:r>
              <a:rPr lang="en-US" sz="900" b="0" strike="noStrike" spc="-1" dirty="0">
                <a:solidFill>
                  <a:srgbClr val="A8BCCF"/>
                </a:solidFill>
                <a:latin typeface="Calibri"/>
                <a:ea typeface="Calibri"/>
              </a:rPr>
              <a:t> overfit at default settings (gap &gt; 0.10), this is a tuning problem, not an elimination reason. </a:t>
            </a:r>
          </a:p>
          <a:p>
            <a:pPr marL="171450" indent="-17145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900" spc="-1" dirty="0">
              <a:solidFill>
                <a:srgbClr val="A8BCCF"/>
              </a:solidFill>
              <a:latin typeface="Calibri"/>
              <a:ea typeface="Calibri"/>
            </a:endParaRPr>
          </a:p>
          <a:p>
            <a:pPr marL="171450" indent="-17145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A8BCCF"/>
                </a:solidFill>
                <a:latin typeface="Calibri"/>
                <a:ea typeface="Calibri"/>
              </a:rPr>
              <a:t>Logistic Regression is a stable but limited baseline its low gap (0.02) signals underfitting, not good generalization.</a:t>
            </a:r>
          </a:p>
          <a:p>
            <a:pPr marL="171450" indent="-17145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900" b="0" strike="noStrike" spc="-1" dirty="0">
              <a:solidFill>
                <a:srgbClr val="A8BCCF"/>
              </a:solidFill>
              <a:latin typeface="Calibri"/>
              <a:ea typeface="Calibri"/>
            </a:endParaRPr>
          </a:p>
          <a:p>
            <a:pPr marL="171450" indent="-17145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A8BCCF"/>
                </a:solidFill>
                <a:latin typeface="Calibri"/>
                <a:ea typeface="Calibri"/>
              </a:rPr>
              <a:t>Decision → test </a:t>
            </a:r>
            <a:r>
              <a:rPr lang="en-US" sz="900" spc="-1" dirty="0">
                <a:solidFill>
                  <a:srgbClr val="A8BCCF"/>
                </a:solidFill>
                <a:latin typeface="Calibri"/>
                <a:ea typeface="Calibri"/>
              </a:rPr>
              <a:t>an ensemble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Shape 38"/>
          <p:cNvSpPr/>
          <p:nvPr/>
        </p:nvSpPr>
        <p:spPr>
          <a:xfrm>
            <a:off x="0" y="6382440"/>
            <a:ext cx="12161160" cy="47520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 dirty="0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583" name="Shape 39"/>
          <p:cNvSpPr/>
          <p:nvPr/>
        </p:nvSpPr>
        <p:spPr>
          <a:xfrm>
            <a:off x="255960" y="6464880"/>
            <a:ext cx="1638624" cy="310680"/>
          </a:xfrm>
          <a:prstGeom prst="roundRect">
            <a:avLst>
              <a:gd name="adj" fmla="val 17647"/>
            </a:avLst>
          </a:prstGeom>
          <a:solidFill>
            <a:srgbClr val="F7931A"/>
          </a:solidFill>
          <a:ln w="12700">
            <a:solidFill>
              <a:srgbClr val="F793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584" name="Text 40"/>
          <p:cNvSpPr/>
          <p:nvPr/>
        </p:nvSpPr>
        <p:spPr>
          <a:xfrm>
            <a:off x="255960" y="6464880"/>
            <a:ext cx="1638624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 dirty="0">
                <a:solidFill>
                  <a:srgbClr val="FFFFFF"/>
                </a:solidFill>
                <a:latin typeface="Calibri"/>
                <a:ea typeface="Calibri"/>
              </a:rPr>
              <a:t>★  S2 Regime-Aware Split  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Shape 39">
            <a:extLst>
              <a:ext uri="{FF2B5EF4-FFF2-40B4-BE49-F238E27FC236}">
                <a16:creationId xmlns:a16="http://schemas.microsoft.com/office/drawing/2014/main" id="{82EEC7DD-C837-B378-E52C-037687896851}"/>
              </a:ext>
            </a:extLst>
          </p:cNvPr>
          <p:cNvSpPr/>
          <p:nvPr/>
        </p:nvSpPr>
        <p:spPr>
          <a:xfrm>
            <a:off x="2150544" y="6464880"/>
            <a:ext cx="1209931" cy="310680"/>
          </a:xfrm>
          <a:prstGeom prst="roundRect">
            <a:avLst>
              <a:gd name="adj" fmla="val 17647"/>
            </a:avLst>
          </a:prstGeom>
          <a:solidFill>
            <a:srgbClr val="F7931A"/>
          </a:solidFill>
          <a:ln w="12700">
            <a:solidFill>
              <a:srgbClr val="F793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spc="-1" dirty="0">
                <a:solidFill>
                  <a:srgbClr val="FFFFFF"/>
                </a:solidFill>
                <a:latin typeface="Calibri"/>
                <a:ea typeface="Calibri"/>
              </a:rPr>
              <a:t>★  Random Forest</a:t>
            </a:r>
            <a:endParaRPr lang="en-DE" sz="1000" b="1" spc="-1" dirty="0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2" name="Shape 39">
            <a:extLst>
              <a:ext uri="{FF2B5EF4-FFF2-40B4-BE49-F238E27FC236}">
                <a16:creationId xmlns:a16="http://schemas.microsoft.com/office/drawing/2014/main" id="{318D0356-F9EE-FF75-EA4F-5BEFF8C8C28A}"/>
              </a:ext>
            </a:extLst>
          </p:cNvPr>
          <p:cNvSpPr/>
          <p:nvPr/>
        </p:nvSpPr>
        <p:spPr>
          <a:xfrm>
            <a:off x="10189453" y="6454906"/>
            <a:ext cx="1304956" cy="310680"/>
          </a:xfrm>
          <a:prstGeom prst="roundRect">
            <a:avLst>
              <a:gd name="adj" fmla="val 17647"/>
            </a:avLst>
          </a:prstGeom>
          <a:noFill/>
          <a:ln w="12700">
            <a:solidFill>
              <a:srgbClr val="00B0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/>
            <a:r>
              <a:rPr lang="en-US" sz="1000" b="1" spc="-1" dirty="0">
                <a:latin typeface="Calibri"/>
                <a:ea typeface="Calibri"/>
              </a:rPr>
              <a:t>Best Accuracy : 72% </a:t>
            </a:r>
          </a:p>
        </p:txBody>
      </p:sp>
      <p:sp>
        <p:nvSpPr>
          <p:cNvPr id="4" name="Shape 22">
            <a:extLst>
              <a:ext uri="{FF2B5EF4-FFF2-40B4-BE49-F238E27FC236}">
                <a16:creationId xmlns:a16="http://schemas.microsoft.com/office/drawing/2014/main" id="{B1C53F9E-4CA4-2656-FB6B-9DAC514F451C}"/>
              </a:ext>
            </a:extLst>
          </p:cNvPr>
          <p:cNvSpPr/>
          <p:nvPr/>
        </p:nvSpPr>
        <p:spPr>
          <a:xfrm>
            <a:off x="384120" y="5124712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 w="19050">
            <a:solidFill>
              <a:srgbClr val="C8D0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050" spc="-1" dirty="0">
                <a:solidFill>
                  <a:srgbClr val="132238"/>
                </a:solidFill>
                <a:latin typeface="Calibri"/>
                <a:ea typeface="Calibri"/>
              </a:rPr>
              <a:t>Logistic Regression</a:t>
            </a:r>
            <a:endParaRPr lang="en-DE" sz="1050" spc="-1" dirty="0">
              <a:solidFill>
                <a:srgbClr val="132238"/>
              </a:solidFill>
              <a:latin typeface="Calibri"/>
              <a:ea typeface="Calibri"/>
            </a:endParaRPr>
          </a:p>
        </p:txBody>
      </p:sp>
      <p:sp>
        <p:nvSpPr>
          <p:cNvPr id="5" name="Shape 22">
            <a:extLst>
              <a:ext uri="{FF2B5EF4-FFF2-40B4-BE49-F238E27FC236}">
                <a16:creationId xmlns:a16="http://schemas.microsoft.com/office/drawing/2014/main" id="{BFC5DB93-FF5C-8E25-AD23-1FBF17E66271}"/>
              </a:ext>
            </a:extLst>
          </p:cNvPr>
          <p:cNvSpPr/>
          <p:nvPr/>
        </p:nvSpPr>
        <p:spPr>
          <a:xfrm>
            <a:off x="376551" y="5741201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 w="19050">
            <a:solidFill>
              <a:srgbClr val="C8D0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050" spc="-1" dirty="0">
                <a:solidFill>
                  <a:srgbClr val="132238"/>
                </a:solidFill>
                <a:latin typeface="Calibri"/>
                <a:ea typeface="Calibri"/>
              </a:rPr>
              <a:t>Random Forest</a:t>
            </a:r>
            <a:endParaRPr lang="en-DE" sz="1050" spc="-1" dirty="0">
              <a:solidFill>
                <a:srgbClr val="132238"/>
              </a:solidFill>
              <a:latin typeface="Calibri"/>
              <a:ea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Shape 0"/>
          <p:cNvSpPr/>
          <p:nvPr/>
        </p:nvSpPr>
        <p:spPr>
          <a:xfrm>
            <a:off x="0" y="0"/>
            <a:ext cx="12161160" cy="98712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586" name="Shape 1"/>
          <p:cNvSpPr/>
          <p:nvPr/>
        </p:nvSpPr>
        <p:spPr>
          <a:xfrm>
            <a:off x="0" y="0"/>
            <a:ext cx="164160" cy="98712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587" name="Shape 2"/>
          <p:cNvSpPr/>
          <p:nvPr/>
        </p:nvSpPr>
        <p:spPr>
          <a:xfrm>
            <a:off x="301680" y="146160"/>
            <a:ext cx="1325520" cy="676440"/>
          </a:xfrm>
          <a:prstGeom prst="roundRect">
            <a:avLst>
              <a:gd name="adj" fmla="val 10811"/>
            </a:avLst>
          </a:prstGeom>
          <a:solidFill>
            <a:srgbClr val="F7931A"/>
          </a:solidFill>
          <a:ln w="12700">
            <a:solidFill>
              <a:srgbClr val="F793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588" name="Text 3"/>
          <p:cNvSpPr/>
          <p:nvPr/>
        </p:nvSpPr>
        <p:spPr>
          <a:xfrm>
            <a:off x="301680" y="146160"/>
            <a:ext cx="132552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EXP </a:t>
            </a:r>
            <a:r>
              <a:rPr lang="en-US" sz="1300" b="1" spc="-1" dirty="0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lang="en-US" sz="13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Text 4"/>
          <p:cNvSpPr/>
          <p:nvPr/>
        </p:nvSpPr>
        <p:spPr>
          <a:xfrm>
            <a:off x="0" y="91440"/>
            <a:ext cx="12161160" cy="80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>
                <a:solidFill>
                  <a:srgbClr val="FFFFFF"/>
                </a:solidFill>
                <a:latin typeface="Arial Black"/>
                <a:ea typeface="Arial Black"/>
              </a:rPr>
              <a:t>Optuna Tuning : Fix the Overfitting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Shape 7"/>
          <p:cNvSpPr/>
          <p:nvPr/>
        </p:nvSpPr>
        <p:spPr>
          <a:xfrm>
            <a:off x="384120" y="1481400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132238"/>
          </a:solidFill>
          <a:ln w="19050">
            <a:solidFill>
              <a:srgbClr val="1322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591" name="Text 8"/>
          <p:cNvSpPr/>
          <p:nvPr/>
        </p:nvSpPr>
        <p:spPr>
          <a:xfrm>
            <a:off x="384120" y="1481400"/>
            <a:ext cx="2889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FFFFFF"/>
                </a:solidFill>
                <a:latin typeface="Calibri"/>
                <a:ea typeface="Calibri"/>
              </a:rPr>
              <a:t>Split: S2 Regime-Aware (fixed)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Shape 9"/>
          <p:cNvSpPr/>
          <p:nvPr/>
        </p:nvSpPr>
        <p:spPr>
          <a:xfrm>
            <a:off x="1828800" y="1938240"/>
            <a:ext cx="360" cy="128160"/>
          </a:xfrm>
          <a:prstGeom prst="line">
            <a:avLst/>
          </a:prstGeom>
          <a:ln w="15240">
            <a:solidFill>
              <a:srgbClr val="8A9B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593" name="Shape 10"/>
          <p:cNvSpPr/>
          <p:nvPr/>
        </p:nvSpPr>
        <p:spPr>
          <a:xfrm>
            <a:off x="384120" y="2084760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132238"/>
          </a:solidFill>
          <a:ln w="19050">
            <a:solidFill>
              <a:srgbClr val="1322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594" name="Text 11"/>
          <p:cNvSpPr/>
          <p:nvPr/>
        </p:nvSpPr>
        <p:spPr>
          <a:xfrm>
            <a:off x="384120" y="2084760"/>
            <a:ext cx="2889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FFFFFF"/>
                </a:solidFill>
                <a:latin typeface="Calibri"/>
                <a:ea typeface="Calibri"/>
              </a:rPr>
              <a:t>Models: RF + GB + XGB (fixed)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Shape 12"/>
          <p:cNvSpPr/>
          <p:nvPr/>
        </p:nvSpPr>
        <p:spPr>
          <a:xfrm>
            <a:off x="1828800" y="2541960"/>
            <a:ext cx="360" cy="127800"/>
          </a:xfrm>
          <a:prstGeom prst="line">
            <a:avLst/>
          </a:prstGeom>
          <a:ln w="15240">
            <a:solidFill>
              <a:srgbClr val="8A9B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596" name="Shape 13"/>
          <p:cNvSpPr/>
          <p:nvPr/>
        </p:nvSpPr>
        <p:spPr>
          <a:xfrm>
            <a:off x="384120" y="2688480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F7931A"/>
          </a:solidFill>
          <a:ln w="19050">
            <a:solidFill>
              <a:srgbClr val="F793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597" name="Text 14"/>
          <p:cNvSpPr/>
          <p:nvPr/>
        </p:nvSpPr>
        <p:spPr>
          <a:xfrm>
            <a:off x="384120" y="2688480"/>
            <a:ext cx="2889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-1">
                <a:solidFill>
                  <a:srgbClr val="FFFFFF"/>
                </a:solidFill>
                <a:latin typeface="Calibri"/>
                <a:ea typeface="Calibri"/>
              </a:rPr>
              <a:t>↕  VARIABLE: Hyperparameters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Shape 15"/>
          <p:cNvSpPr/>
          <p:nvPr/>
        </p:nvSpPr>
        <p:spPr>
          <a:xfrm>
            <a:off x="1828800" y="3145320"/>
            <a:ext cx="360" cy="128160"/>
          </a:xfrm>
          <a:prstGeom prst="line">
            <a:avLst/>
          </a:prstGeom>
          <a:ln w="15240">
            <a:solidFill>
              <a:srgbClr val="8A9B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599" name="Shape 16"/>
          <p:cNvSpPr/>
          <p:nvPr/>
        </p:nvSpPr>
        <p:spPr>
          <a:xfrm>
            <a:off x="384120" y="3291840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 w="19050">
            <a:solidFill>
              <a:srgbClr val="C8D0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600" name="Text 17"/>
          <p:cNvSpPr/>
          <p:nvPr/>
        </p:nvSpPr>
        <p:spPr>
          <a:xfrm>
            <a:off x="384120" y="3291840"/>
            <a:ext cx="2889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 dirty="0">
                <a:solidFill>
                  <a:srgbClr val="132238"/>
                </a:solidFill>
                <a:latin typeface="Calibri"/>
                <a:ea typeface="Calibri"/>
              </a:rPr>
              <a:t>RF Tuned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Shape 18"/>
          <p:cNvSpPr/>
          <p:nvPr/>
        </p:nvSpPr>
        <p:spPr>
          <a:xfrm>
            <a:off x="1828800" y="3749040"/>
            <a:ext cx="360" cy="127800"/>
          </a:xfrm>
          <a:prstGeom prst="line">
            <a:avLst/>
          </a:prstGeom>
          <a:ln w="15240">
            <a:solidFill>
              <a:srgbClr val="8A9B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602" name="Shape 19"/>
          <p:cNvSpPr/>
          <p:nvPr/>
        </p:nvSpPr>
        <p:spPr>
          <a:xfrm>
            <a:off x="384120" y="3895200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00D4AA"/>
          </a:solidFill>
          <a:ln w="19050">
            <a:solidFill>
              <a:srgbClr val="00D4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603" name="Text 20"/>
          <p:cNvSpPr/>
          <p:nvPr/>
        </p:nvSpPr>
        <p:spPr>
          <a:xfrm>
            <a:off x="384120" y="3895200"/>
            <a:ext cx="2889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FFFFFF"/>
                </a:solidFill>
                <a:latin typeface="Calibri"/>
                <a:ea typeface="Calibri"/>
              </a:rPr>
              <a:t>GB Tuned  ✓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Shape 21"/>
          <p:cNvSpPr/>
          <p:nvPr/>
        </p:nvSpPr>
        <p:spPr>
          <a:xfrm>
            <a:off x="1828800" y="4352400"/>
            <a:ext cx="360" cy="128160"/>
          </a:xfrm>
          <a:prstGeom prst="line">
            <a:avLst/>
          </a:prstGeom>
          <a:ln w="15240">
            <a:solidFill>
              <a:srgbClr val="8A9B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605" name="Shape 22"/>
          <p:cNvSpPr/>
          <p:nvPr/>
        </p:nvSpPr>
        <p:spPr>
          <a:xfrm>
            <a:off x="384120" y="4498920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 w="19050">
            <a:solidFill>
              <a:srgbClr val="C8D0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606" name="Text 23"/>
          <p:cNvSpPr/>
          <p:nvPr/>
        </p:nvSpPr>
        <p:spPr>
          <a:xfrm>
            <a:off x="384120" y="4498920"/>
            <a:ext cx="2889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en-US" sz="1050" spc="-1" dirty="0">
                <a:solidFill>
                  <a:srgbClr val="132238"/>
                </a:solidFill>
                <a:latin typeface="Calibri"/>
                <a:ea typeface="Calibri"/>
              </a:rPr>
              <a:t>XGB Tuned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607" name="Table 0"/>
          <p:cNvGraphicFramePr/>
          <p:nvPr>
            <p:extLst>
              <p:ext uri="{D42A27DB-BD31-4B8C-83A1-F6EECF244321}">
                <p14:modId xmlns:p14="http://schemas.microsoft.com/office/powerpoint/2010/main" val="310655013"/>
              </p:ext>
            </p:extLst>
          </p:nvPr>
        </p:nvGraphicFramePr>
        <p:xfrm>
          <a:off x="3502080" y="1482120"/>
          <a:ext cx="5521680" cy="1828800"/>
        </p:xfrm>
        <a:graphic>
          <a:graphicData uri="http://schemas.openxmlformats.org/drawingml/2006/table">
            <a:tbl>
              <a:tblPr/>
              <a:tblGrid>
                <a:gridCol w="1663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1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1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5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47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Model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Val Acc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Val MCC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Test Acc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Test MCC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Test AUC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Gap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✓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strike="noStrike" spc="-1">
                          <a:solidFill>
                            <a:srgbClr val="132238"/>
                          </a:solidFill>
                          <a:latin typeface="Calibri"/>
                          <a:ea typeface="Calibri"/>
                        </a:rPr>
                        <a:t>RF Tuned</a:t>
                      </a:r>
                      <a:endParaRPr lang="en-US" sz="1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70%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0.40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72.7%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0.45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0.80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0.06</a:t>
                      </a:r>
                      <a:endParaRPr lang="en-US" sz="1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strike="noStrike" spc="-1">
                          <a:solidFill>
                            <a:srgbClr val="F7931A"/>
                          </a:solidFill>
                          <a:latin typeface="Arial"/>
                          <a:ea typeface="Arial"/>
                        </a:rPr>
                        <a:t>✅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strike="noStrike" spc="-1" dirty="0">
                          <a:solidFill>
                            <a:srgbClr val="132238"/>
                          </a:solidFill>
                          <a:latin typeface="Calibri"/>
                          <a:ea typeface="Calibri"/>
                        </a:rPr>
                        <a:t>GB Tuned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E6F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strike="noStrike" kern="1200" spc="-1" dirty="0">
                          <a:solidFill>
                            <a:srgbClr val="132238"/>
                          </a:solidFill>
                          <a:latin typeface="Calibri"/>
                          <a:ea typeface="Calibri"/>
                          <a:cs typeface="+mn-cs"/>
                        </a:rPr>
                        <a:t>71%</a:t>
                      </a:r>
                      <a:endParaRPr lang="en-DE" sz="1000" b="1" strike="noStrike" kern="1200" spc="-1" dirty="0">
                        <a:solidFill>
                          <a:srgbClr val="132238"/>
                        </a:solidFill>
                        <a:latin typeface="Calibri"/>
                        <a:ea typeface="Calibri"/>
                        <a:cs typeface="+mn-cs"/>
                      </a:endParaRPr>
                    </a:p>
                  </a:txBody>
                  <a:tcPr marL="50800" marR="50800" marT="25400" marB="25400"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000" b="1" strike="noStrike" kern="1200" spc="-1" dirty="0">
                          <a:solidFill>
                            <a:srgbClr val="132238"/>
                          </a:solidFill>
                          <a:latin typeface="Calibri"/>
                          <a:ea typeface="Calibri"/>
                          <a:cs typeface="+mn-cs"/>
                        </a:rPr>
                        <a:t>0.43</a:t>
                      </a:r>
                    </a:p>
                  </a:txBody>
                  <a:tcPr marL="50800" marR="50800" marT="25400" marB="25400"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000" b="1" strike="noStrike" kern="1200" spc="-1" dirty="0">
                          <a:solidFill>
                            <a:srgbClr val="132238"/>
                          </a:solidFill>
                          <a:latin typeface="Calibri"/>
                          <a:ea typeface="Calibri"/>
                          <a:cs typeface="+mn-cs"/>
                        </a:rPr>
                        <a:t>73</a:t>
                      </a:r>
                      <a:r>
                        <a:rPr lang="en-US" sz="1000" b="1" strike="noStrike" kern="1200" spc="-1" dirty="0">
                          <a:solidFill>
                            <a:srgbClr val="132238"/>
                          </a:solidFill>
                          <a:latin typeface="Calibri"/>
                          <a:ea typeface="Calibri"/>
                          <a:cs typeface="+mn-cs"/>
                        </a:rPr>
                        <a:t>.7%</a:t>
                      </a:r>
                      <a:endParaRPr lang="en-DE" sz="1000" b="1" strike="noStrike" kern="1200" spc="-1" dirty="0">
                        <a:solidFill>
                          <a:srgbClr val="132238"/>
                        </a:solidFill>
                        <a:latin typeface="Calibri"/>
                        <a:ea typeface="Calibri"/>
                        <a:cs typeface="+mn-cs"/>
                      </a:endParaRPr>
                    </a:p>
                  </a:txBody>
                  <a:tcPr marL="50800" marR="50800" marT="25400" marB="25400"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000" b="1" strike="noStrike" kern="1200" spc="-1" dirty="0">
                          <a:solidFill>
                            <a:srgbClr val="132238"/>
                          </a:solidFill>
                          <a:latin typeface="Calibri"/>
                          <a:ea typeface="Calibri"/>
                          <a:cs typeface="+mn-cs"/>
                        </a:rPr>
                        <a:t>0.47</a:t>
                      </a:r>
                    </a:p>
                  </a:txBody>
                  <a:tcPr marL="50800" marR="50800" marT="25400" marB="25400"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000" b="1" strike="noStrike" kern="1200" spc="-1" dirty="0">
                          <a:solidFill>
                            <a:srgbClr val="132238"/>
                          </a:solidFill>
                          <a:latin typeface="Calibri"/>
                          <a:ea typeface="Calibri"/>
                          <a:cs typeface="+mn-cs"/>
                        </a:rPr>
                        <a:t>0.81</a:t>
                      </a:r>
                    </a:p>
                  </a:txBody>
                  <a:tcPr marL="50800" marR="50800" marT="25400" marB="25400"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000" b="1" strike="noStrike" kern="1200" spc="-1" dirty="0">
                          <a:solidFill>
                            <a:srgbClr val="132238"/>
                          </a:solidFill>
                          <a:latin typeface="Calibri"/>
                          <a:ea typeface="Calibri"/>
                          <a:cs typeface="+mn-cs"/>
                        </a:rPr>
                        <a:t>0.06</a:t>
                      </a:r>
                    </a:p>
                  </a:txBody>
                  <a:tcPr marL="50800" marR="50800" marT="25400" marB="25400"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strike="noStrike" spc="-1">
                          <a:solidFill>
                            <a:srgbClr val="F7931A"/>
                          </a:solidFill>
                          <a:latin typeface="Arial"/>
                          <a:ea typeface="Arial"/>
                        </a:rPr>
                        <a:t>✅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E6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strike="noStrike" spc="-1">
                          <a:solidFill>
                            <a:srgbClr val="132238"/>
                          </a:solidFill>
                          <a:latin typeface="Calibri"/>
                          <a:ea typeface="Calibri"/>
                        </a:rPr>
                        <a:t>XGB Tuned</a:t>
                      </a:r>
                      <a:endParaRPr lang="en-US" sz="1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000" b="0" strike="noStrike" kern="1200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  <a:cs typeface="+mn-cs"/>
                        </a:rPr>
                        <a:t>71</a:t>
                      </a:r>
                      <a:r>
                        <a:rPr lang="en-US" sz="1000" b="0" strike="noStrike" kern="1200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  <a:cs typeface="+mn-cs"/>
                        </a:rPr>
                        <a:t>%</a:t>
                      </a:r>
                      <a:endParaRPr lang="en-DE" sz="1000" b="0" strike="noStrike" kern="1200" spc="-1" dirty="0">
                        <a:solidFill>
                          <a:srgbClr val="3A4A5C"/>
                        </a:solidFill>
                        <a:latin typeface="Calibri"/>
                        <a:ea typeface="Calibri"/>
                        <a:cs typeface="+mn-cs"/>
                      </a:endParaRPr>
                    </a:p>
                  </a:txBody>
                  <a:tcPr marL="50800" marR="50800" marT="25400" marB="25400"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000" b="0" strike="noStrike" kern="1200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  <a:cs typeface="+mn-cs"/>
                        </a:rPr>
                        <a:t>0.43</a:t>
                      </a:r>
                    </a:p>
                  </a:txBody>
                  <a:tcPr marL="50800" marR="50800" marT="25400" marB="25400"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000" b="0" strike="noStrike" kern="1200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  <a:cs typeface="+mn-cs"/>
                        </a:rPr>
                        <a:t>72</a:t>
                      </a:r>
                      <a:r>
                        <a:rPr lang="en-US" sz="1000" b="0" strike="noStrike" kern="1200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  <a:cs typeface="+mn-cs"/>
                        </a:rPr>
                        <a:t>.7%</a:t>
                      </a:r>
                      <a:endParaRPr lang="en-DE" sz="1000" b="0" strike="noStrike" kern="1200" spc="-1" dirty="0">
                        <a:solidFill>
                          <a:srgbClr val="3A4A5C"/>
                        </a:solidFill>
                        <a:latin typeface="Calibri"/>
                        <a:ea typeface="Calibri"/>
                        <a:cs typeface="+mn-cs"/>
                      </a:endParaRPr>
                    </a:p>
                  </a:txBody>
                  <a:tcPr marL="50800" marR="50800" marT="25400" marB="25400"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000" b="0" strike="noStrike" kern="1200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  <a:cs typeface="+mn-cs"/>
                        </a:rPr>
                        <a:t>0.45</a:t>
                      </a:r>
                    </a:p>
                  </a:txBody>
                  <a:tcPr marL="50800" marR="50800" marT="25400" marB="25400"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000" b="0" strike="noStrike" kern="1200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  <a:cs typeface="+mn-cs"/>
                        </a:rPr>
                        <a:t>0.81</a:t>
                      </a:r>
                    </a:p>
                  </a:txBody>
                  <a:tcPr marL="50800" marR="50800" marT="25400" marB="25400"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000" b="0" strike="noStrike" kern="1200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  <a:cs typeface="+mn-cs"/>
                        </a:rPr>
                        <a:t>0.05</a:t>
                      </a:r>
                    </a:p>
                  </a:txBody>
                  <a:tcPr marL="50800" marR="50800" marT="25400" marB="25400"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strike="noStrike" spc="-1" dirty="0">
                          <a:solidFill>
                            <a:srgbClr val="8A9BB0"/>
                          </a:solidFill>
                          <a:latin typeface="Arial"/>
                          <a:ea typeface="Arial"/>
                        </a:rPr>
                        <a:t>✅</a:t>
                      </a:r>
                      <a:endParaRPr lang="en-US" sz="13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08" name="Shape 25"/>
          <p:cNvSpPr/>
          <p:nvPr/>
        </p:nvSpPr>
        <p:spPr>
          <a:xfrm>
            <a:off x="9253800" y="1482120"/>
            <a:ext cx="2742840" cy="480852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round/>
          </a:ln>
          <a:effectLst>
            <a:outerShdw blurRad="101520" dist="37674" dir="8100000" algn="bl" rotWithShape="0">
              <a:srgbClr val="132238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618" name="Shape 35"/>
          <p:cNvSpPr/>
          <p:nvPr/>
        </p:nvSpPr>
        <p:spPr>
          <a:xfrm>
            <a:off x="9494750" y="1998037"/>
            <a:ext cx="2322360" cy="292320"/>
          </a:xfrm>
          <a:prstGeom prst="roundRect">
            <a:avLst>
              <a:gd name="adj" fmla="val 15625"/>
            </a:avLst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619" name="Text 36"/>
          <p:cNvSpPr/>
          <p:nvPr/>
        </p:nvSpPr>
        <p:spPr>
          <a:xfrm>
            <a:off x="9468054" y="1986360"/>
            <a:ext cx="23587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 dirty="0">
                <a:solidFill>
                  <a:srgbClr val="00D4AA"/>
                </a:solidFill>
                <a:latin typeface="Arial"/>
                <a:ea typeface="Arial"/>
              </a:rPr>
              <a:t>GB Best Params  ✓  WINNER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Text 37"/>
          <p:cNvSpPr/>
          <p:nvPr/>
        </p:nvSpPr>
        <p:spPr>
          <a:xfrm>
            <a:off x="9528120" y="2392494"/>
            <a:ext cx="2358720" cy="278020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de-DE" sz="900" spc="-1" dirty="0">
                <a:solidFill>
                  <a:srgbClr val="A8BCCF"/>
                </a:solidFill>
                <a:latin typeface="Calibri"/>
                <a:ea typeface="Calibri"/>
              </a:rPr>
              <a:t>'n_estimators': 155, 'max_depth': 9, 'min_samples_leaf': 16, 'max_features': 'sqrt‘</a:t>
            </a:r>
          </a:p>
          <a:p>
            <a:pPr marL="171450" indent="-171450"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de-DE" sz="900" spc="-1" dirty="0">
              <a:solidFill>
                <a:srgbClr val="A8BCCF"/>
              </a:solidFill>
              <a:latin typeface="Calibri"/>
              <a:ea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900" spc="-1" dirty="0">
                <a:solidFill>
                  <a:srgbClr val="A8BCCF"/>
                </a:solidFill>
                <a:latin typeface="Calibri"/>
                <a:ea typeface="Calibri"/>
              </a:rPr>
              <a:t> Tuning fixes overfitting in GB and XGB completely </a:t>
            </a:r>
          </a:p>
          <a:p>
            <a:pPr marL="171450" indent="-171450"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900" spc="-1" dirty="0">
              <a:solidFill>
                <a:srgbClr val="A8BCCF"/>
              </a:solidFill>
              <a:latin typeface="Calibri"/>
              <a:ea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900" spc="-1" dirty="0">
                <a:solidFill>
                  <a:srgbClr val="A8BCCF"/>
                </a:solidFill>
                <a:latin typeface="Calibri"/>
                <a:ea typeface="Calibri"/>
              </a:rPr>
              <a:t>all 3 models now land at gap ≈ 0.06. </a:t>
            </a:r>
          </a:p>
          <a:p>
            <a:pPr marL="171450" indent="-171450"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900" spc="-1" dirty="0">
              <a:solidFill>
                <a:srgbClr val="A8BCCF"/>
              </a:solidFill>
              <a:latin typeface="Calibri"/>
              <a:ea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900" spc="-1" dirty="0">
                <a:solidFill>
                  <a:srgbClr val="A8BCCF"/>
                </a:solidFill>
                <a:latin typeface="Calibri"/>
                <a:ea typeface="Calibri"/>
              </a:rPr>
              <a:t>GB overtakes RF after tuning (+0.030 MCC vs untuned). </a:t>
            </a:r>
          </a:p>
          <a:p>
            <a:pPr marL="171450" indent="-171450"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900" spc="-1" dirty="0">
              <a:solidFill>
                <a:srgbClr val="A8BCCF"/>
              </a:solidFill>
              <a:latin typeface="Calibri"/>
              <a:ea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900" spc="-1" dirty="0">
                <a:solidFill>
                  <a:srgbClr val="A8BCCF"/>
                </a:solidFill>
                <a:latin typeface="Calibri"/>
                <a:ea typeface="Calibri"/>
              </a:rPr>
              <a:t>All 3 converge very closely GB edges ahead on every metric.</a:t>
            </a:r>
          </a:p>
          <a:p>
            <a:pPr marL="171450" indent="-171450"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900" spc="-1" dirty="0">
              <a:solidFill>
                <a:srgbClr val="A8BCCF"/>
              </a:solidFill>
              <a:latin typeface="Calibri"/>
              <a:ea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900" spc="-1" dirty="0">
                <a:solidFill>
                  <a:srgbClr val="A8BCCF"/>
                </a:solidFill>
                <a:latin typeface="Calibri"/>
                <a:ea typeface="Calibri"/>
              </a:rPr>
              <a:t>Decision → GB selected as the base model so far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Shape 38"/>
          <p:cNvSpPr/>
          <p:nvPr/>
        </p:nvSpPr>
        <p:spPr>
          <a:xfrm>
            <a:off x="0" y="6382440"/>
            <a:ext cx="12161160" cy="47520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622" name="Shape 39"/>
          <p:cNvSpPr/>
          <p:nvPr/>
        </p:nvSpPr>
        <p:spPr>
          <a:xfrm>
            <a:off x="255960" y="6464880"/>
            <a:ext cx="1798127" cy="310680"/>
          </a:xfrm>
          <a:prstGeom prst="roundRect">
            <a:avLst>
              <a:gd name="adj" fmla="val 17647"/>
            </a:avLst>
          </a:prstGeom>
          <a:solidFill>
            <a:srgbClr val="F7931A"/>
          </a:solidFill>
          <a:ln w="12700">
            <a:solidFill>
              <a:srgbClr val="F793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 dirty="0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623" name="Text 40"/>
          <p:cNvSpPr/>
          <p:nvPr/>
        </p:nvSpPr>
        <p:spPr>
          <a:xfrm>
            <a:off x="255960" y="6464880"/>
            <a:ext cx="1798127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 dirty="0">
                <a:solidFill>
                  <a:srgbClr val="FFFFFF"/>
                </a:solidFill>
                <a:latin typeface="Calibri"/>
                <a:ea typeface="Calibri"/>
              </a:rPr>
              <a:t>★  S2 Regime-Aware Split  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Shape 39">
            <a:extLst>
              <a:ext uri="{FF2B5EF4-FFF2-40B4-BE49-F238E27FC236}">
                <a16:creationId xmlns:a16="http://schemas.microsoft.com/office/drawing/2014/main" id="{EF4A8761-8FB0-CFB0-DC98-2A39D6F0EE62}"/>
              </a:ext>
            </a:extLst>
          </p:cNvPr>
          <p:cNvSpPr/>
          <p:nvPr/>
        </p:nvSpPr>
        <p:spPr>
          <a:xfrm>
            <a:off x="2215554" y="6464880"/>
            <a:ext cx="1813106" cy="310680"/>
          </a:xfrm>
          <a:prstGeom prst="roundRect">
            <a:avLst>
              <a:gd name="adj" fmla="val 17647"/>
            </a:avLst>
          </a:prstGeom>
          <a:solidFill>
            <a:srgbClr val="F7931A"/>
          </a:solidFill>
          <a:ln w="12700">
            <a:solidFill>
              <a:srgbClr val="F793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000" b="1" spc="-1" dirty="0">
                <a:solidFill>
                  <a:srgbClr val="FFFFFF"/>
                </a:solidFill>
                <a:latin typeface="Calibri"/>
                <a:ea typeface="Calibri"/>
              </a:rPr>
              <a:t>★  Gradient Boosting Tuned</a:t>
            </a:r>
            <a:endParaRPr lang="en-DE" sz="1000" b="1" spc="-1" dirty="0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4" name="Shape 39">
            <a:extLst>
              <a:ext uri="{FF2B5EF4-FFF2-40B4-BE49-F238E27FC236}">
                <a16:creationId xmlns:a16="http://schemas.microsoft.com/office/drawing/2014/main" id="{01A5332C-2BE4-06C9-E461-3BAE4FC6EAD3}"/>
              </a:ext>
            </a:extLst>
          </p:cNvPr>
          <p:cNvSpPr/>
          <p:nvPr/>
        </p:nvSpPr>
        <p:spPr>
          <a:xfrm>
            <a:off x="10189452" y="6454906"/>
            <a:ext cx="1406199" cy="310680"/>
          </a:xfrm>
          <a:prstGeom prst="roundRect">
            <a:avLst>
              <a:gd name="adj" fmla="val 17647"/>
            </a:avLst>
          </a:prstGeom>
          <a:noFill/>
          <a:ln w="12700">
            <a:solidFill>
              <a:srgbClr val="00B0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/>
            <a:r>
              <a:rPr lang="en-US" sz="1000" b="1" spc="-1" dirty="0">
                <a:latin typeface="Calibri"/>
                <a:ea typeface="Calibri"/>
              </a:rPr>
              <a:t>Best Accuracy : 73.7%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4C14D4-ADAC-F0C1-E5C1-DB2BC71BF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22">
            <a:extLst>
              <a:ext uri="{FF2B5EF4-FFF2-40B4-BE49-F238E27FC236}">
                <a16:creationId xmlns:a16="http://schemas.microsoft.com/office/drawing/2014/main" id="{752B193C-D583-EF77-5F58-B7EC883F9D1D}"/>
              </a:ext>
            </a:extLst>
          </p:cNvPr>
          <p:cNvSpPr/>
          <p:nvPr/>
        </p:nvSpPr>
        <p:spPr>
          <a:xfrm>
            <a:off x="384120" y="4638154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 w="19050">
            <a:solidFill>
              <a:srgbClr val="C8D0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3" name="Shape 16">
            <a:extLst>
              <a:ext uri="{FF2B5EF4-FFF2-40B4-BE49-F238E27FC236}">
                <a16:creationId xmlns:a16="http://schemas.microsoft.com/office/drawing/2014/main" id="{C7718D75-E1FB-2D64-88C1-8C20AE06C276}"/>
              </a:ext>
            </a:extLst>
          </p:cNvPr>
          <p:cNvSpPr/>
          <p:nvPr/>
        </p:nvSpPr>
        <p:spPr>
          <a:xfrm>
            <a:off x="384120" y="3385303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 w="19050">
            <a:solidFill>
              <a:srgbClr val="C8D0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780" name="Shape 0">
            <a:extLst>
              <a:ext uri="{FF2B5EF4-FFF2-40B4-BE49-F238E27FC236}">
                <a16:creationId xmlns:a16="http://schemas.microsoft.com/office/drawing/2014/main" id="{099FB8F5-8F24-D3AC-FF42-7FC2C26288EF}"/>
              </a:ext>
            </a:extLst>
          </p:cNvPr>
          <p:cNvSpPr/>
          <p:nvPr/>
        </p:nvSpPr>
        <p:spPr>
          <a:xfrm>
            <a:off x="0" y="0"/>
            <a:ext cx="12161160" cy="98712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781" name="Shape 1">
            <a:extLst>
              <a:ext uri="{FF2B5EF4-FFF2-40B4-BE49-F238E27FC236}">
                <a16:creationId xmlns:a16="http://schemas.microsoft.com/office/drawing/2014/main" id="{D8C1FAB9-2486-5058-EAE1-1ED752A1B956}"/>
              </a:ext>
            </a:extLst>
          </p:cNvPr>
          <p:cNvSpPr/>
          <p:nvPr/>
        </p:nvSpPr>
        <p:spPr>
          <a:xfrm>
            <a:off x="0" y="0"/>
            <a:ext cx="164160" cy="98712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782" name="Shape 2">
            <a:extLst>
              <a:ext uri="{FF2B5EF4-FFF2-40B4-BE49-F238E27FC236}">
                <a16:creationId xmlns:a16="http://schemas.microsoft.com/office/drawing/2014/main" id="{CE1BE35E-F0AC-4019-7E2F-705B87E77FB8}"/>
              </a:ext>
            </a:extLst>
          </p:cNvPr>
          <p:cNvSpPr/>
          <p:nvPr/>
        </p:nvSpPr>
        <p:spPr>
          <a:xfrm>
            <a:off x="301680" y="146160"/>
            <a:ext cx="1325520" cy="676440"/>
          </a:xfrm>
          <a:prstGeom prst="roundRect">
            <a:avLst>
              <a:gd name="adj" fmla="val 10811"/>
            </a:avLst>
          </a:prstGeom>
          <a:solidFill>
            <a:srgbClr val="F7931A"/>
          </a:solidFill>
          <a:ln w="12700">
            <a:solidFill>
              <a:srgbClr val="F793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 dirty="0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783" name="Text 3">
            <a:extLst>
              <a:ext uri="{FF2B5EF4-FFF2-40B4-BE49-F238E27FC236}">
                <a16:creationId xmlns:a16="http://schemas.microsoft.com/office/drawing/2014/main" id="{174CD042-B19C-6092-F182-BB684288E7DD}"/>
              </a:ext>
            </a:extLst>
          </p:cNvPr>
          <p:cNvSpPr/>
          <p:nvPr/>
        </p:nvSpPr>
        <p:spPr>
          <a:xfrm>
            <a:off x="301680" y="146160"/>
            <a:ext cx="132552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EXP 4</a:t>
            </a:r>
            <a:endParaRPr lang="en-US" sz="13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4" name="Text 4">
            <a:extLst>
              <a:ext uri="{FF2B5EF4-FFF2-40B4-BE49-F238E27FC236}">
                <a16:creationId xmlns:a16="http://schemas.microsoft.com/office/drawing/2014/main" id="{1CF8F0CF-BB8F-4828-94F5-13F2380988C5}"/>
              </a:ext>
            </a:extLst>
          </p:cNvPr>
          <p:cNvSpPr/>
          <p:nvPr/>
        </p:nvSpPr>
        <p:spPr>
          <a:xfrm>
            <a:off x="0" y="91440"/>
            <a:ext cx="12161160" cy="80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2600" b="1" spc="-1" dirty="0">
                <a:solidFill>
                  <a:srgbClr val="FFFFFF"/>
                </a:solidFill>
                <a:latin typeface="Arial Black"/>
                <a:ea typeface="Arial Black"/>
              </a:rPr>
              <a:t>LSTM</a:t>
            </a:r>
            <a:r>
              <a:rPr lang="en-US" sz="2600" b="1" strike="noStrike" spc="-1" dirty="0">
                <a:solidFill>
                  <a:srgbClr val="FFFFFF"/>
                </a:solidFill>
                <a:latin typeface="Arial Black"/>
                <a:ea typeface="Arial Black"/>
              </a:rPr>
              <a:t> : Does the DL</a:t>
            </a:r>
            <a:r>
              <a:rPr lang="en-US" sz="2600" b="1" spc="-1" dirty="0">
                <a:solidFill>
                  <a:srgbClr val="FFFFFF"/>
                </a:solidFill>
                <a:latin typeface="Arial Black"/>
                <a:ea typeface="Arial Black"/>
              </a:rPr>
              <a:t> beat the ML ?</a:t>
            </a:r>
            <a:endParaRPr lang="en-US" sz="2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5" name="Shape 7">
            <a:extLst>
              <a:ext uri="{FF2B5EF4-FFF2-40B4-BE49-F238E27FC236}">
                <a16:creationId xmlns:a16="http://schemas.microsoft.com/office/drawing/2014/main" id="{514703A1-2295-ECBE-5F2C-8F33E6593C5D}"/>
              </a:ext>
            </a:extLst>
          </p:cNvPr>
          <p:cNvSpPr/>
          <p:nvPr/>
        </p:nvSpPr>
        <p:spPr>
          <a:xfrm>
            <a:off x="384120" y="1481400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132238"/>
          </a:solidFill>
          <a:ln w="19050">
            <a:solidFill>
              <a:srgbClr val="1322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786" name="Text 8">
            <a:extLst>
              <a:ext uri="{FF2B5EF4-FFF2-40B4-BE49-F238E27FC236}">
                <a16:creationId xmlns:a16="http://schemas.microsoft.com/office/drawing/2014/main" id="{E896312B-4882-AB42-DDA3-6A9FD4C83817}"/>
              </a:ext>
            </a:extLst>
          </p:cNvPr>
          <p:cNvSpPr/>
          <p:nvPr/>
        </p:nvSpPr>
        <p:spPr>
          <a:xfrm>
            <a:off x="384120" y="1481400"/>
            <a:ext cx="2889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en-US" sz="1050" b="0" strike="noStrike" spc="-1" dirty="0">
                <a:solidFill>
                  <a:srgbClr val="FFFFFF"/>
                </a:solidFill>
                <a:latin typeface="Calibri"/>
                <a:ea typeface="Calibri"/>
              </a:rPr>
              <a:t>Split: S2 Regime-Aware BTC + ETH  (</a:t>
            </a:r>
            <a:r>
              <a:rPr lang="en-US" sz="1050" spc="-1" dirty="0">
                <a:solidFill>
                  <a:srgbClr val="FFFFFF"/>
                </a:solidFill>
                <a:latin typeface="Calibri"/>
                <a:ea typeface="Calibri"/>
              </a:rPr>
              <a:t>6,346 rows</a:t>
            </a:r>
            <a:r>
              <a:rPr lang="en-US" sz="1050" b="0" strike="noStrike" spc="-1" dirty="0">
                <a:solidFill>
                  <a:srgbClr val="FFFFFF"/>
                </a:solidFill>
                <a:latin typeface="Calibri"/>
                <a:ea typeface="Calibri"/>
              </a:rPr>
              <a:t>)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9" name="Text 11">
            <a:extLst>
              <a:ext uri="{FF2B5EF4-FFF2-40B4-BE49-F238E27FC236}">
                <a16:creationId xmlns:a16="http://schemas.microsoft.com/office/drawing/2014/main" id="{BF8C0667-EA2C-ACDA-D48D-A4F0D448EF2E}"/>
              </a:ext>
            </a:extLst>
          </p:cNvPr>
          <p:cNvSpPr/>
          <p:nvPr/>
        </p:nvSpPr>
        <p:spPr>
          <a:xfrm>
            <a:off x="384120" y="2084760"/>
            <a:ext cx="2889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1" name="Shape 13">
            <a:extLst>
              <a:ext uri="{FF2B5EF4-FFF2-40B4-BE49-F238E27FC236}">
                <a16:creationId xmlns:a16="http://schemas.microsoft.com/office/drawing/2014/main" id="{0F12091F-C200-3FDD-69EB-B585F1251518}"/>
              </a:ext>
            </a:extLst>
          </p:cNvPr>
          <p:cNvSpPr/>
          <p:nvPr/>
        </p:nvSpPr>
        <p:spPr>
          <a:xfrm>
            <a:off x="384120" y="2112008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F7931A"/>
          </a:solidFill>
          <a:ln w="19050">
            <a:solidFill>
              <a:srgbClr val="F793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792" name="Text 14">
            <a:extLst>
              <a:ext uri="{FF2B5EF4-FFF2-40B4-BE49-F238E27FC236}">
                <a16:creationId xmlns:a16="http://schemas.microsoft.com/office/drawing/2014/main" id="{FD0C428A-C1D9-D62A-7175-4BB4F175E36E}"/>
              </a:ext>
            </a:extLst>
          </p:cNvPr>
          <p:cNvSpPr/>
          <p:nvPr/>
        </p:nvSpPr>
        <p:spPr>
          <a:xfrm>
            <a:off x="384120" y="2098758"/>
            <a:ext cx="2889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-1" dirty="0">
                <a:solidFill>
                  <a:srgbClr val="FFFFFF"/>
                </a:solidFill>
                <a:latin typeface="Calibri"/>
                <a:ea typeface="Calibri"/>
              </a:rPr>
              <a:t>↕  VARIABLE: </a:t>
            </a:r>
            <a:r>
              <a:rPr lang="en-US" sz="1150" b="1" spc="-1" dirty="0">
                <a:solidFill>
                  <a:srgbClr val="FFFFFF"/>
                </a:solidFill>
                <a:latin typeface="Calibri"/>
                <a:ea typeface="Calibri"/>
              </a:rPr>
              <a:t>LSTM</a:t>
            </a: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4" name="Shape 16">
            <a:extLst>
              <a:ext uri="{FF2B5EF4-FFF2-40B4-BE49-F238E27FC236}">
                <a16:creationId xmlns:a16="http://schemas.microsoft.com/office/drawing/2014/main" id="{9633CE66-C91D-A00E-B5C3-75A60A6D94F3}"/>
              </a:ext>
            </a:extLst>
          </p:cNvPr>
          <p:cNvSpPr/>
          <p:nvPr/>
        </p:nvSpPr>
        <p:spPr>
          <a:xfrm>
            <a:off x="384120" y="2775007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 w="19050">
            <a:solidFill>
              <a:srgbClr val="C8D0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 dirty="0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795" name="Text 17">
            <a:extLst>
              <a:ext uri="{FF2B5EF4-FFF2-40B4-BE49-F238E27FC236}">
                <a16:creationId xmlns:a16="http://schemas.microsoft.com/office/drawing/2014/main" id="{3CA72FDE-EEBC-A968-21B7-3159B734E174}"/>
              </a:ext>
            </a:extLst>
          </p:cNvPr>
          <p:cNvSpPr/>
          <p:nvPr/>
        </p:nvSpPr>
        <p:spPr>
          <a:xfrm>
            <a:off x="384120" y="2775007"/>
            <a:ext cx="2889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de-DE" sz="1050" spc="-1" dirty="0">
                <a:solidFill>
                  <a:srgbClr val="132238"/>
                </a:solidFill>
                <a:latin typeface="Calibri"/>
                <a:ea typeface="Calibri"/>
              </a:rPr>
              <a:t>2 Stacked LSTM Layers (64/32)</a:t>
            </a:r>
            <a:endParaRPr lang="en-US" sz="1050" spc="-1" dirty="0">
              <a:solidFill>
                <a:srgbClr val="132238"/>
              </a:solidFill>
              <a:latin typeface="Calibri"/>
              <a:ea typeface="Calibri"/>
            </a:endParaRPr>
          </a:p>
        </p:txBody>
      </p:sp>
      <p:sp>
        <p:nvSpPr>
          <p:cNvPr id="800" name="Shape 22">
            <a:extLst>
              <a:ext uri="{FF2B5EF4-FFF2-40B4-BE49-F238E27FC236}">
                <a16:creationId xmlns:a16="http://schemas.microsoft.com/office/drawing/2014/main" id="{B310BC01-7BC0-7BF7-BC23-4DDBCD1F8946}"/>
              </a:ext>
            </a:extLst>
          </p:cNvPr>
          <p:cNvSpPr/>
          <p:nvPr/>
        </p:nvSpPr>
        <p:spPr>
          <a:xfrm>
            <a:off x="384120" y="3982087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 w="19050">
            <a:solidFill>
              <a:srgbClr val="C8D0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801" name="Text 23">
            <a:extLst>
              <a:ext uri="{FF2B5EF4-FFF2-40B4-BE49-F238E27FC236}">
                <a16:creationId xmlns:a16="http://schemas.microsoft.com/office/drawing/2014/main" id="{C64DDE27-9C0C-45AF-AB37-5CA475EEB93F}"/>
              </a:ext>
            </a:extLst>
          </p:cNvPr>
          <p:cNvSpPr/>
          <p:nvPr/>
        </p:nvSpPr>
        <p:spPr>
          <a:xfrm>
            <a:off x="384120" y="3982087"/>
            <a:ext cx="2889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de-DE" sz="1050" spc="-1" dirty="0">
                <a:solidFill>
                  <a:srgbClr val="132238"/>
                </a:solidFill>
                <a:latin typeface="Calibri"/>
                <a:ea typeface="Calibri"/>
              </a:rPr>
              <a:t>Batch Normalization X2</a:t>
            </a:r>
            <a:endParaRPr lang="en-US" sz="1050" spc="-1" dirty="0">
              <a:solidFill>
                <a:srgbClr val="132238"/>
              </a:solidFill>
              <a:latin typeface="Calibri"/>
              <a:ea typeface="Calibri"/>
            </a:endParaRPr>
          </a:p>
        </p:txBody>
      </p:sp>
      <p:graphicFrame>
        <p:nvGraphicFramePr>
          <p:cNvPr id="802" name="Table 0">
            <a:extLst>
              <a:ext uri="{FF2B5EF4-FFF2-40B4-BE49-F238E27FC236}">
                <a16:creationId xmlns:a16="http://schemas.microsoft.com/office/drawing/2014/main" id="{559225B1-2398-35FB-89D5-56C73B295C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2545718"/>
              </p:ext>
            </p:extLst>
          </p:nvPr>
        </p:nvGraphicFramePr>
        <p:xfrm>
          <a:off x="3502080" y="1482120"/>
          <a:ext cx="5521680" cy="914400"/>
        </p:xfrm>
        <a:graphic>
          <a:graphicData uri="http://schemas.openxmlformats.org/drawingml/2006/table">
            <a:tbl>
              <a:tblPr/>
              <a:tblGrid>
                <a:gridCol w="1663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1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1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5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47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 dirty="0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Model</a:t>
                      </a:r>
                      <a:endParaRPr lang="en-US" sz="105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Val Acc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Val MCC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Test Acc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Test MCC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Test AUC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Gap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✓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strike="noStrike" spc="-1" dirty="0">
                          <a:solidFill>
                            <a:srgbClr val="132238"/>
                          </a:solidFill>
                          <a:latin typeface="Calibri"/>
                          <a:ea typeface="Calibri"/>
                        </a:rPr>
                        <a:t>LSTM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51%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0.45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51%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0.03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0.52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0.01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strike="noStrike" spc="-1" dirty="0">
                          <a:solidFill>
                            <a:srgbClr val="F7931A"/>
                          </a:solidFill>
                          <a:latin typeface="Arial"/>
                          <a:ea typeface="Arial"/>
                        </a:rPr>
                        <a:t>✅</a:t>
                      </a:r>
                      <a:endParaRPr lang="en-US" sz="13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03" name="Shape 25">
            <a:extLst>
              <a:ext uri="{FF2B5EF4-FFF2-40B4-BE49-F238E27FC236}">
                <a16:creationId xmlns:a16="http://schemas.microsoft.com/office/drawing/2014/main" id="{D0AE578D-F456-8844-0E03-539F5364FB3C}"/>
              </a:ext>
            </a:extLst>
          </p:cNvPr>
          <p:cNvSpPr/>
          <p:nvPr/>
        </p:nvSpPr>
        <p:spPr>
          <a:xfrm>
            <a:off x="9253800" y="1482120"/>
            <a:ext cx="2742840" cy="480852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round/>
          </a:ln>
          <a:effectLst>
            <a:outerShdw blurRad="101520" dist="37674" dir="8100000" algn="bl" rotWithShape="0">
              <a:srgbClr val="132238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900" spc="-1" dirty="0">
              <a:solidFill>
                <a:srgbClr val="A8BCCF"/>
              </a:solidFill>
              <a:latin typeface="Calibri"/>
              <a:ea typeface="Calibri"/>
            </a:endParaRPr>
          </a:p>
          <a:p>
            <a:endParaRPr lang="en-US" sz="900" spc="-1" dirty="0">
              <a:solidFill>
                <a:srgbClr val="A8BCCF"/>
              </a:solidFill>
              <a:latin typeface="Calibri"/>
              <a:ea typeface="Calibri"/>
            </a:endParaRPr>
          </a:p>
          <a:p>
            <a:endParaRPr lang="en-US" sz="900" spc="-1" dirty="0">
              <a:solidFill>
                <a:srgbClr val="A8BCCF"/>
              </a:solidFill>
              <a:latin typeface="Calibri"/>
              <a:ea typeface="Calibri"/>
            </a:endParaRPr>
          </a:p>
          <a:p>
            <a:r>
              <a:rPr lang="en-US" sz="900" spc="-1" dirty="0">
                <a:solidFill>
                  <a:srgbClr val="A8BCCF"/>
                </a:solidFill>
                <a:latin typeface="Calibri"/>
                <a:ea typeface="Calibri"/>
              </a:rPr>
              <a:t>LSTM (Long short term memory ) eliminated due to insufficient data </a:t>
            </a:r>
          </a:p>
          <a:p>
            <a:endParaRPr lang="en-US" sz="900" spc="-1" dirty="0">
              <a:solidFill>
                <a:srgbClr val="A8BCCF"/>
              </a:solidFill>
              <a:latin typeface="Calibri"/>
              <a:ea typeface="Calibri"/>
            </a:endParaRPr>
          </a:p>
          <a:p>
            <a:r>
              <a:rPr lang="en-US" sz="900" spc="-1" dirty="0">
                <a:solidFill>
                  <a:srgbClr val="A8BCCF"/>
                </a:solidFill>
                <a:latin typeface="Calibri"/>
                <a:ea typeface="Calibri"/>
              </a:rPr>
              <a:t>Classical ML (GB) significantly outperforms LSTM</a:t>
            </a:r>
          </a:p>
          <a:p>
            <a:endParaRPr lang="en-US" sz="900" spc="-1" dirty="0">
              <a:solidFill>
                <a:srgbClr val="A8BCCF"/>
              </a:solidFill>
              <a:latin typeface="Calibri"/>
              <a:ea typeface="Calibri"/>
            </a:endParaRPr>
          </a:p>
          <a:p>
            <a:r>
              <a:rPr lang="en-US" sz="900" spc="-1" dirty="0">
                <a:solidFill>
                  <a:srgbClr val="A8BCCF"/>
                </a:solidFill>
                <a:latin typeface="Calibri"/>
                <a:ea typeface="Calibri"/>
              </a:rPr>
              <a:t> Deep learning requires more data than  6300  combined rows</a:t>
            </a:r>
          </a:p>
          <a:p>
            <a:endParaRPr lang="en-US" sz="900" spc="-1" dirty="0">
              <a:solidFill>
                <a:srgbClr val="A8BCCF"/>
              </a:solidFill>
              <a:latin typeface="Calibri"/>
              <a:ea typeface="Calibri"/>
            </a:endParaRPr>
          </a:p>
          <a:p>
            <a:endParaRPr lang="en-US" sz="900" spc="-1" dirty="0">
              <a:solidFill>
                <a:srgbClr val="A8BCCF"/>
              </a:solidFill>
              <a:latin typeface="Calibri"/>
              <a:ea typeface="Calibri"/>
            </a:endParaRPr>
          </a:p>
          <a:p>
            <a:r>
              <a:rPr lang="en-US" sz="900" spc="-1" dirty="0" err="1">
                <a:solidFill>
                  <a:srgbClr val="A8BCCF"/>
                </a:solidFill>
                <a:latin typeface="Calibri"/>
                <a:ea typeface="Calibri"/>
              </a:rPr>
              <a:t>Decisison</a:t>
            </a:r>
            <a:r>
              <a:rPr lang="en-US" sz="900" spc="-1" dirty="0">
                <a:solidFill>
                  <a:srgbClr val="A8BCCF"/>
                </a:solidFill>
                <a:latin typeface="Calibri"/>
                <a:ea typeface="Calibri"/>
              </a:rPr>
              <a:t> </a:t>
            </a:r>
            <a:r>
              <a:rPr lang="en-US" sz="900" spc="-1" dirty="0">
                <a:solidFill>
                  <a:srgbClr val="A8BCCF"/>
                </a:solidFill>
                <a:latin typeface="Calibri"/>
                <a:ea typeface="Calibri"/>
                <a:sym typeface="Wingdings" panose="05000000000000000000" pitchFamily="2" charset="2"/>
              </a:rPr>
              <a:t> create lagged features for our simple </a:t>
            </a:r>
            <a:r>
              <a:rPr lang="en-US" sz="900" spc="-1" dirty="0" err="1">
                <a:solidFill>
                  <a:srgbClr val="A8BCCF"/>
                </a:solidFill>
                <a:latin typeface="Calibri"/>
                <a:ea typeface="Calibri"/>
                <a:sym typeface="Wingdings" panose="05000000000000000000" pitchFamily="2" charset="2"/>
              </a:rPr>
              <a:t>Ml</a:t>
            </a:r>
            <a:r>
              <a:rPr lang="en-US" sz="900" spc="-1" dirty="0">
                <a:solidFill>
                  <a:srgbClr val="A8BCCF"/>
                </a:solidFill>
                <a:latin typeface="Calibri"/>
                <a:ea typeface="Calibri"/>
                <a:sym typeface="Wingdings" panose="05000000000000000000" pitchFamily="2" charset="2"/>
              </a:rPr>
              <a:t> model to give it  a memory capacity </a:t>
            </a:r>
            <a:endParaRPr lang="en-US" sz="900" spc="-1" dirty="0">
              <a:solidFill>
                <a:srgbClr val="A8BCCF"/>
              </a:solidFill>
              <a:latin typeface="Calibri"/>
              <a:ea typeface="Calibri"/>
            </a:endParaRPr>
          </a:p>
          <a:p>
            <a:endParaRPr lang="en-US" sz="900" spc="-1" dirty="0">
              <a:solidFill>
                <a:srgbClr val="A8BCCF"/>
              </a:solidFill>
              <a:latin typeface="Calibri"/>
              <a:ea typeface="Calibri"/>
            </a:endParaRPr>
          </a:p>
          <a:p>
            <a:endParaRPr lang="en-US" sz="900" spc="-1" dirty="0">
              <a:solidFill>
                <a:srgbClr val="A8BCCF"/>
              </a:solidFill>
              <a:latin typeface="Calibri"/>
              <a:ea typeface="Calibri"/>
            </a:endParaRPr>
          </a:p>
          <a:p>
            <a:endParaRPr lang="en-US" sz="900" spc="-1" dirty="0">
              <a:solidFill>
                <a:srgbClr val="A8BCCF"/>
              </a:solidFill>
              <a:latin typeface="Calibri"/>
              <a:ea typeface="Calibri"/>
            </a:endParaRPr>
          </a:p>
          <a:p>
            <a:endParaRPr lang="en-US" sz="900" spc="-1" dirty="0">
              <a:solidFill>
                <a:srgbClr val="A8BCCF"/>
              </a:solidFill>
              <a:latin typeface="Calibri"/>
              <a:ea typeface="Calibri"/>
            </a:endParaRPr>
          </a:p>
        </p:txBody>
      </p:sp>
      <p:sp>
        <p:nvSpPr>
          <p:cNvPr id="816" name="Shape 38">
            <a:extLst>
              <a:ext uri="{FF2B5EF4-FFF2-40B4-BE49-F238E27FC236}">
                <a16:creationId xmlns:a16="http://schemas.microsoft.com/office/drawing/2014/main" id="{60632C4E-9754-7154-6E5B-E3B33C3A1454}"/>
              </a:ext>
            </a:extLst>
          </p:cNvPr>
          <p:cNvSpPr/>
          <p:nvPr/>
        </p:nvSpPr>
        <p:spPr>
          <a:xfrm>
            <a:off x="0" y="6382440"/>
            <a:ext cx="12161160" cy="47520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2" name="Text 17">
            <a:extLst>
              <a:ext uri="{FF2B5EF4-FFF2-40B4-BE49-F238E27FC236}">
                <a16:creationId xmlns:a16="http://schemas.microsoft.com/office/drawing/2014/main" id="{1356EA4A-6D28-4CCB-0DA0-352AB3B22524}"/>
              </a:ext>
            </a:extLst>
          </p:cNvPr>
          <p:cNvSpPr/>
          <p:nvPr/>
        </p:nvSpPr>
        <p:spPr>
          <a:xfrm>
            <a:off x="384120" y="3385303"/>
            <a:ext cx="2889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de-DE" sz="1050" spc="-1" dirty="0">
                <a:solidFill>
                  <a:srgbClr val="132238"/>
                </a:solidFill>
                <a:latin typeface="Calibri"/>
                <a:ea typeface="Calibri"/>
              </a:rPr>
              <a:t>Dropout (0.3) X2</a:t>
            </a:r>
            <a:r>
              <a:rPr lang="en-US" sz="1050" spc="-1" dirty="0">
                <a:solidFill>
                  <a:srgbClr val="132238"/>
                </a:solidFill>
                <a:latin typeface="Calibri"/>
                <a:ea typeface="Calibri"/>
              </a:rPr>
              <a:t>  </a:t>
            </a:r>
          </a:p>
        </p:txBody>
      </p:sp>
      <p:sp>
        <p:nvSpPr>
          <p:cNvPr id="4" name="Shape 39">
            <a:extLst>
              <a:ext uri="{FF2B5EF4-FFF2-40B4-BE49-F238E27FC236}">
                <a16:creationId xmlns:a16="http://schemas.microsoft.com/office/drawing/2014/main" id="{6961554A-FB4A-05D1-F1A6-15888089E29D}"/>
              </a:ext>
            </a:extLst>
          </p:cNvPr>
          <p:cNvSpPr/>
          <p:nvPr/>
        </p:nvSpPr>
        <p:spPr>
          <a:xfrm>
            <a:off x="10189452" y="6454906"/>
            <a:ext cx="1406199" cy="310680"/>
          </a:xfrm>
          <a:prstGeom prst="roundRect">
            <a:avLst>
              <a:gd name="adj" fmla="val 17647"/>
            </a:avLst>
          </a:prstGeom>
          <a:noFill/>
          <a:ln w="12700">
            <a:solidFill>
              <a:srgbClr val="00B0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/>
            <a:r>
              <a:rPr lang="en-US" sz="1000" b="1" spc="-1" dirty="0">
                <a:latin typeface="Calibri"/>
                <a:ea typeface="Calibri"/>
              </a:rPr>
              <a:t>Best Accuracy : 73,7% </a:t>
            </a:r>
          </a:p>
        </p:txBody>
      </p:sp>
      <p:sp>
        <p:nvSpPr>
          <p:cNvPr id="6" name="Shape 39">
            <a:extLst>
              <a:ext uri="{FF2B5EF4-FFF2-40B4-BE49-F238E27FC236}">
                <a16:creationId xmlns:a16="http://schemas.microsoft.com/office/drawing/2014/main" id="{45FB125D-0CB8-BE1A-4498-198CEBB9A165}"/>
              </a:ext>
            </a:extLst>
          </p:cNvPr>
          <p:cNvSpPr/>
          <p:nvPr/>
        </p:nvSpPr>
        <p:spPr>
          <a:xfrm>
            <a:off x="82114" y="6469132"/>
            <a:ext cx="1706750" cy="310680"/>
          </a:xfrm>
          <a:prstGeom prst="roundRect">
            <a:avLst>
              <a:gd name="adj" fmla="val 17647"/>
            </a:avLst>
          </a:prstGeom>
          <a:solidFill>
            <a:srgbClr val="F7931A"/>
          </a:solidFill>
          <a:ln w="12700">
            <a:solidFill>
              <a:srgbClr val="F793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lvl="0" algn="ctr">
              <a:tabLst>
                <a:tab pos="0" algn="l"/>
              </a:tabLst>
              <a:defRPr/>
            </a:pPr>
            <a:r>
              <a:rPr lang="en-US" sz="1000" b="1" spc="-1" dirty="0">
                <a:solidFill>
                  <a:srgbClr val="FFFFFF"/>
                </a:solidFill>
                <a:latin typeface="Calibri"/>
                <a:ea typeface="Calibri"/>
              </a:rPr>
              <a:t>★  S2 Regime-Aware Split  </a:t>
            </a:r>
            <a:endParaRPr lang="en-US" sz="10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Shape 39">
            <a:extLst>
              <a:ext uri="{FF2B5EF4-FFF2-40B4-BE49-F238E27FC236}">
                <a16:creationId xmlns:a16="http://schemas.microsoft.com/office/drawing/2014/main" id="{E2B3F3B6-A0ED-3C7E-14D5-AE65360FA09F}"/>
              </a:ext>
            </a:extLst>
          </p:cNvPr>
          <p:cNvSpPr/>
          <p:nvPr/>
        </p:nvSpPr>
        <p:spPr>
          <a:xfrm>
            <a:off x="1917720" y="6464880"/>
            <a:ext cx="1706750" cy="310680"/>
          </a:xfrm>
          <a:prstGeom prst="roundRect">
            <a:avLst>
              <a:gd name="adj" fmla="val 17647"/>
            </a:avLst>
          </a:prstGeom>
          <a:solidFill>
            <a:srgbClr val="F7931A"/>
          </a:solidFill>
          <a:ln w="12700">
            <a:solidFill>
              <a:srgbClr val="F793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★  Gradient Boosting Tuned</a:t>
            </a:r>
            <a:endParaRPr kumimoji="0" lang="en-DE" sz="1000" b="1" i="0" u="none" strike="noStrike" kern="1200" cap="none" spc="-1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+mn-cs"/>
            </a:endParaRPr>
          </a:p>
        </p:txBody>
      </p:sp>
      <p:sp>
        <p:nvSpPr>
          <p:cNvPr id="9" name="Text 23">
            <a:extLst>
              <a:ext uri="{FF2B5EF4-FFF2-40B4-BE49-F238E27FC236}">
                <a16:creationId xmlns:a16="http://schemas.microsoft.com/office/drawing/2014/main" id="{04BB2DF2-3A6A-1893-BB2D-312BCBBEC7F1}"/>
              </a:ext>
            </a:extLst>
          </p:cNvPr>
          <p:cNvSpPr/>
          <p:nvPr/>
        </p:nvSpPr>
        <p:spPr>
          <a:xfrm>
            <a:off x="384120" y="4651951"/>
            <a:ext cx="2889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de-DE" sz="1050" spc="-1" dirty="0">
                <a:solidFill>
                  <a:srgbClr val="132238"/>
                </a:solidFill>
                <a:latin typeface="Calibri"/>
                <a:ea typeface="Calibri"/>
              </a:rPr>
              <a:t>Dense Layer (16 units, ReLU)</a:t>
            </a:r>
            <a:endParaRPr lang="en-US" sz="1050" spc="-1" dirty="0">
              <a:solidFill>
                <a:srgbClr val="132238"/>
              </a:solidFill>
              <a:latin typeface="Calibri"/>
              <a:ea typeface="Calibri"/>
            </a:endParaRPr>
          </a:p>
        </p:txBody>
      </p:sp>
      <p:sp>
        <p:nvSpPr>
          <p:cNvPr id="11" name="Shape 22">
            <a:extLst>
              <a:ext uri="{FF2B5EF4-FFF2-40B4-BE49-F238E27FC236}">
                <a16:creationId xmlns:a16="http://schemas.microsoft.com/office/drawing/2014/main" id="{AE98E0F0-9364-F9FE-1BF9-77ADF979D0C6}"/>
              </a:ext>
            </a:extLst>
          </p:cNvPr>
          <p:cNvSpPr/>
          <p:nvPr/>
        </p:nvSpPr>
        <p:spPr>
          <a:xfrm>
            <a:off x="384120" y="5219441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 w="19050">
            <a:solidFill>
              <a:srgbClr val="C8D0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de-DE" sz="1050" spc="-1" dirty="0">
                <a:solidFill>
                  <a:srgbClr val="132238"/>
                </a:solidFill>
                <a:latin typeface="Calibri"/>
                <a:ea typeface="Calibri"/>
              </a:rPr>
              <a:t>Output Layer / activation="sigmoid"</a:t>
            </a:r>
            <a:endParaRPr lang="en-DE" sz="1050" spc="-1" dirty="0">
              <a:solidFill>
                <a:srgbClr val="132238"/>
              </a:solidFill>
              <a:latin typeface="Calibri"/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867022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Shape 0"/>
          <p:cNvSpPr/>
          <p:nvPr/>
        </p:nvSpPr>
        <p:spPr>
          <a:xfrm>
            <a:off x="0" y="0"/>
            <a:ext cx="12161160" cy="98712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625" name="Shape 1"/>
          <p:cNvSpPr/>
          <p:nvPr/>
        </p:nvSpPr>
        <p:spPr>
          <a:xfrm>
            <a:off x="0" y="0"/>
            <a:ext cx="164160" cy="98712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626" name="Shape 2"/>
          <p:cNvSpPr/>
          <p:nvPr/>
        </p:nvSpPr>
        <p:spPr>
          <a:xfrm>
            <a:off x="301680" y="146160"/>
            <a:ext cx="1325520" cy="676440"/>
          </a:xfrm>
          <a:prstGeom prst="roundRect">
            <a:avLst>
              <a:gd name="adj" fmla="val 10811"/>
            </a:avLst>
          </a:prstGeom>
          <a:solidFill>
            <a:srgbClr val="F7931A"/>
          </a:solidFill>
          <a:ln w="12700">
            <a:solidFill>
              <a:srgbClr val="F793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627" name="Text 3"/>
          <p:cNvSpPr/>
          <p:nvPr/>
        </p:nvSpPr>
        <p:spPr>
          <a:xfrm>
            <a:off x="301680" y="146160"/>
            <a:ext cx="132552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EXP </a:t>
            </a:r>
            <a:r>
              <a:rPr lang="en-US" sz="1300" b="1" spc="-1" dirty="0">
                <a:solidFill>
                  <a:srgbClr val="FFFFFF"/>
                </a:solidFill>
                <a:latin typeface="Arial"/>
                <a:ea typeface="Arial"/>
              </a:rPr>
              <a:t>5</a:t>
            </a:r>
            <a:endParaRPr lang="en-US" sz="13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Text 4"/>
          <p:cNvSpPr/>
          <p:nvPr/>
        </p:nvSpPr>
        <p:spPr>
          <a:xfrm>
            <a:off x="1627200" y="91440"/>
            <a:ext cx="10533960" cy="80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 dirty="0">
                <a:solidFill>
                  <a:srgbClr val="FFFFFF"/>
                </a:solidFill>
                <a:latin typeface="Arial Black"/>
                <a:ea typeface="Arial Black"/>
              </a:rPr>
              <a:t>Lagged Features : Does History Predict Tomorrow?</a:t>
            </a:r>
            <a:endParaRPr lang="en-US" sz="2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Shape 7"/>
          <p:cNvSpPr/>
          <p:nvPr/>
        </p:nvSpPr>
        <p:spPr>
          <a:xfrm>
            <a:off x="384120" y="1481400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132238"/>
          </a:solidFill>
          <a:ln w="19050">
            <a:solidFill>
              <a:srgbClr val="1322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630" name="Text 8"/>
          <p:cNvSpPr/>
          <p:nvPr/>
        </p:nvSpPr>
        <p:spPr>
          <a:xfrm>
            <a:off x="384120" y="1481400"/>
            <a:ext cx="2889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FFFFFF"/>
                </a:solidFill>
                <a:latin typeface="Calibri"/>
                <a:ea typeface="Calibri"/>
              </a:rPr>
              <a:t>Split: S2 Regime-Aware (fixed)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Shape 10"/>
          <p:cNvSpPr/>
          <p:nvPr/>
        </p:nvSpPr>
        <p:spPr>
          <a:xfrm>
            <a:off x="384120" y="2084760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132238"/>
          </a:solidFill>
          <a:ln w="19050">
            <a:solidFill>
              <a:srgbClr val="1322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633" name="Text 11"/>
          <p:cNvSpPr/>
          <p:nvPr/>
        </p:nvSpPr>
        <p:spPr>
          <a:xfrm>
            <a:off x="384120" y="2084760"/>
            <a:ext cx="2889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 dirty="0">
                <a:solidFill>
                  <a:srgbClr val="FFFFFF"/>
                </a:solidFill>
                <a:latin typeface="Calibri"/>
                <a:ea typeface="Calibri"/>
              </a:rPr>
              <a:t>Model: GB </a:t>
            </a:r>
            <a:r>
              <a:rPr lang="en-US" sz="1050" b="0" strike="noStrike" spc="-1" dirty="0" err="1">
                <a:solidFill>
                  <a:srgbClr val="FFFFFF"/>
                </a:solidFill>
                <a:latin typeface="Calibri"/>
                <a:ea typeface="Calibri"/>
              </a:rPr>
              <a:t>Optuna</a:t>
            </a:r>
            <a:r>
              <a:rPr lang="en-US" sz="1050" b="0" strike="noStrike" spc="-1" dirty="0">
                <a:solidFill>
                  <a:srgbClr val="FFFFFF"/>
                </a:solidFill>
                <a:latin typeface="Calibri"/>
                <a:ea typeface="Calibri"/>
              </a:rPr>
              <a:t> Tuned (fixed)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Shape 13"/>
          <p:cNvSpPr/>
          <p:nvPr/>
        </p:nvSpPr>
        <p:spPr>
          <a:xfrm>
            <a:off x="384120" y="2688480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F7931A"/>
          </a:solidFill>
          <a:ln w="19050">
            <a:solidFill>
              <a:srgbClr val="F793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636" name="Text 14"/>
          <p:cNvSpPr/>
          <p:nvPr/>
        </p:nvSpPr>
        <p:spPr>
          <a:xfrm>
            <a:off x="384120" y="2688480"/>
            <a:ext cx="2889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-1">
                <a:solidFill>
                  <a:srgbClr val="FFFFFF"/>
                </a:solidFill>
                <a:latin typeface="Calibri"/>
                <a:ea typeface="Calibri"/>
              </a:rPr>
              <a:t>↕  VARIABLE: Feature set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Shape 16"/>
          <p:cNvSpPr/>
          <p:nvPr/>
        </p:nvSpPr>
        <p:spPr>
          <a:xfrm>
            <a:off x="384120" y="3291840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 w="19050">
            <a:solidFill>
              <a:srgbClr val="C8D0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639" name="Text 17"/>
          <p:cNvSpPr/>
          <p:nvPr/>
        </p:nvSpPr>
        <p:spPr>
          <a:xfrm>
            <a:off x="384120" y="3291840"/>
            <a:ext cx="2889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 dirty="0">
                <a:solidFill>
                  <a:srgbClr val="132238"/>
                </a:solidFill>
                <a:latin typeface="Calibri"/>
                <a:ea typeface="Calibri"/>
              </a:rPr>
              <a:t>Baseline: 21 features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Shape 19"/>
          <p:cNvSpPr/>
          <p:nvPr/>
        </p:nvSpPr>
        <p:spPr>
          <a:xfrm>
            <a:off x="384120" y="3895200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00D4AA"/>
          </a:solidFill>
          <a:ln w="19050">
            <a:solidFill>
              <a:srgbClr val="00D4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642" name="Text 20"/>
          <p:cNvSpPr/>
          <p:nvPr/>
        </p:nvSpPr>
        <p:spPr>
          <a:xfrm>
            <a:off x="384120" y="3895200"/>
            <a:ext cx="2889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FFFFFF"/>
                </a:solidFill>
                <a:latin typeface="Calibri"/>
                <a:ea typeface="Calibri"/>
              </a:rPr>
              <a:t>Lagged: 36 features  ✓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646" name="Table 0"/>
          <p:cNvGraphicFramePr/>
          <p:nvPr>
            <p:extLst>
              <p:ext uri="{D42A27DB-BD31-4B8C-83A1-F6EECF244321}">
                <p14:modId xmlns:p14="http://schemas.microsoft.com/office/powerpoint/2010/main" val="1874607699"/>
              </p:ext>
            </p:extLst>
          </p:nvPr>
        </p:nvGraphicFramePr>
        <p:xfrm>
          <a:off x="3502080" y="1482120"/>
          <a:ext cx="5521680" cy="1371600"/>
        </p:xfrm>
        <a:graphic>
          <a:graphicData uri="http://schemas.openxmlformats.org/drawingml/2006/table">
            <a:tbl>
              <a:tblPr/>
              <a:tblGrid>
                <a:gridCol w="1663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1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1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5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47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Model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Val Acc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Val MCC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Test Acc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Test MCC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Test AUC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Gap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✓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strike="noStrike" spc="-1">
                          <a:solidFill>
                            <a:srgbClr val="132238"/>
                          </a:solidFill>
                          <a:latin typeface="Calibri"/>
                          <a:ea typeface="Calibri"/>
                        </a:rPr>
                        <a:t>GB Baseline 21 feat</a:t>
                      </a:r>
                      <a:endParaRPr lang="en-US" sz="1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71.5%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0.43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73.7%</a:t>
                      </a:r>
                      <a:endParaRPr lang="en-US" sz="1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0.47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0.81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0.06</a:t>
                      </a:r>
                      <a:endParaRPr lang="en-US" sz="1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strike="noStrike" spc="-1" dirty="0">
                          <a:solidFill>
                            <a:srgbClr val="F7931A"/>
                          </a:solidFill>
                          <a:latin typeface="Arial"/>
                          <a:ea typeface="Arial"/>
                        </a:rPr>
                        <a:t>✅</a:t>
                      </a:r>
                      <a:endParaRPr lang="en-US" sz="13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strike="noStrike" spc="-1">
                          <a:solidFill>
                            <a:srgbClr val="132238"/>
                          </a:solidFill>
                          <a:latin typeface="Calibri"/>
                          <a:ea typeface="Calibri"/>
                        </a:rPr>
                        <a:t>GB + Lags 36 feat</a:t>
                      </a:r>
                      <a:endParaRPr lang="en-US" sz="1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E6FBF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strike="noStrike" spc="-1" dirty="0">
                          <a:solidFill>
                            <a:srgbClr val="132238"/>
                          </a:solidFill>
                          <a:latin typeface="Calibri"/>
                          <a:ea typeface="Calibri"/>
                        </a:rPr>
                        <a:t>73.7%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E6FBF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strike="noStrike" spc="-1" dirty="0">
                          <a:solidFill>
                            <a:srgbClr val="132238"/>
                          </a:solidFill>
                          <a:latin typeface="Calibri"/>
                          <a:ea typeface="Calibri"/>
                        </a:rPr>
                        <a:t>0.47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E6FBF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strike="noStrike" spc="-1" dirty="0">
                          <a:solidFill>
                            <a:srgbClr val="132238"/>
                          </a:solidFill>
                          <a:latin typeface="Calibri"/>
                          <a:ea typeface="Calibri"/>
                        </a:rPr>
                        <a:t>78.8%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E6FBF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strike="noStrike" spc="-1" dirty="0">
                          <a:solidFill>
                            <a:srgbClr val="132238"/>
                          </a:solidFill>
                          <a:latin typeface="Calibri"/>
                          <a:ea typeface="Calibri"/>
                        </a:rPr>
                        <a:t>0.58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E6FBF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strike="noStrike" spc="-1" dirty="0">
                          <a:solidFill>
                            <a:srgbClr val="132238"/>
                          </a:solidFill>
                          <a:latin typeface="Calibri"/>
                          <a:ea typeface="Calibri"/>
                        </a:rPr>
                        <a:t>0.87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E6FBF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strike="noStrike" spc="-1">
                          <a:solidFill>
                            <a:srgbClr val="132238"/>
                          </a:solidFill>
                          <a:latin typeface="Calibri"/>
                          <a:ea typeface="Calibri"/>
                        </a:rPr>
                        <a:t>0.08</a:t>
                      </a:r>
                      <a:endParaRPr lang="en-US" sz="1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E6FBF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strike="noStrike" spc="-1" dirty="0">
                          <a:solidFill>
                            <a:srgbClr val="F7931A"/>
                          </a:solidFill>
                          <a:latin typeface="Arial"/>
                          <a:ea typeface="Arial"/>
                        </a:rPr>
                        <a:t>✅</a:t>
                      </a:r>
                      <a:endParaRPr lang="en-US" sz="13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E6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47" name="Shape 25"/>
          <p:cNvSpPr/>
          <p:nvPr/>
        </p:nvSpPr>
        <p:spPr>
          <a:xfrm>
            <a:off x="9253800" y="1482120"/>
            <a:ext cx="2742840" cy="480852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round/>
          </a:ln>
          <a:effectLst>
            <a:outerShdw blurRad="101520" dist="37674" dir="8100000" algn="bl" rotWithShape="0">
              <a:srgbClr val="132238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657" name="Shape 35"/>
          <p:cNvSpPr/>
          <p:nvPr/>
        </p:nvSpPr>
        <p:spPr>
          <a:xfrm>
            <a:off x="9528120" y="1998043"/>
            <a:ext cx="2322360" cy="292320"/>
          </a:xfrm>
          <a:prstGeom prst="roundRect">
            <a:avLst>
              <a:gd name="adj" fmla="val 15625"/>
            </a:avLst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658" name="Text 36"/>
          <p:cNvSpPr/>
          <p:nvPr/>
        </p:nvSpPr>
        <p:spPr>
          <a:xfrm>
            <a:off x="9528120" y="1986353"/>
            <a:ext cx="23587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 dirty="0">
                <a:solidFill>
                  <a:srgbClr val="00D4AA"/>
                </a:solidFill>
                <a:latin typeface="Arial"/>
                <a:ea typeface="Arial"/>
              </a:rPr>
              <a:t>GB + Lags  ✓  WINNER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Text 37"/>
          <p:cNvSpPr/>
          <p:nvPr/>
        </p:nvSpPr>
        <p:spPr>
          <a:xfrm>
            <a:off x="9491760" y="2421214"/>
            <a:ext cx="2358720" cy="39416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171450" indent="-17145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A8BCCF"/>
                </a:solidFill>
                <a:latin typeface="Calibri"/>
                <a:ea typeface="Calibri"/>
              </a:rPr>
              <a:t>LAGGED FEATURES = ["rsi_14", "</a:t>
            </a:r>
            <a:r>
              <a:rPr lang="en-US" sz="900" b="0" strike="noStrike" spc="-1" dirty="0" err="1">
                <a:solidFill>
                  <a:srgbClr val="A8BCCF"/>
                </a:solidFill>
                <a:latin typeface="Calibri"/>
                <a:ea typeface="Calibri"/>
              </a:rPr>
              <a:t>macd</a:t>
            </a:r>
            <a:r>
              <a:rPr lang="en-US" sz="900" b="0" strike="noStrike" spc="-1" dirty="0">
                <a:solidFill>
                  <a:srgbClr val="A8BCCF"/>
                </a:solidFill>
                <a:latin typeface="Calibri"/>
                <a:ea typeface="Calibri"/>
              </a:rPr>
              <a:t>", "volume", "volatility_21d", "price"]</a:t>
            </a:r>
          </a:p>
          <a:p>
            <a:pPr marL="171450" indent="-17145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900" b="0" strike="noStrike" spc="-1" dirty="0">
              <a:solidFill>
                <a:srgbClr val="A8BCCF"/>
              </a:solidFill>
              <a:latin typeface="Calibri"/>
              <a:ea typeface="Calibri"/>
            </a:endParaRPr>
          </a:p>
          <a:p>
            <a:pPr marL="171450" indent="-17145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A8BCCF"/>
                </a:solidFill>
                <a:latin typeface="Calibri"/>
                <a:ea typeface="Calibri"/>
              </a:rPr>
              <a:t>LAG DAYS     = [1, 2, 3]</a:t>
            </a:r>
          </a:p>
          <a:p>
            <a:pPr marL="171450" indent="-17145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900" spc="-1" dirty="0">
              <a:solidFill>
                <a:srgbClr val="A8BCCF"/>
              </a:solidFill>
              <a:latin typeface="Calibri"/>
              <a:ea typeface="Calibri"/>
            </a:endParaRPr>
          </a:p>
          <a:p>
            <a:pPr marL="171450" indent="-17145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A8BCCF"/>
                </a:solidFill>
                <a:latin typeface="Calibri"/>
                <a:ea typeface="Calibri"/>
              </a:rPr>
              <a:t>TOTAL NEW FEATURES : 15</a:t>
            </a:r>
          </a:p>
          <a:p>
            <a:pPr marL="171450" indent="-17145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900" spc="-1" dirty="0">
              <a:solidFill>
                <a:srgbClr val="A8BCCF"/>
              </a:solidFill>
              <a:latin typeface="Calibri"/>
              <a:ea typeface="Calibri"/>
            </a:endParaRPr>
          </a:p>
          <a:p>
            <a:pPr marL="171450" indent="-17145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900" spc="-1" dirty="0">
                <a:solidFill>
                  <a:srgbClr val="A8BCCF"/>
                </a:solidFill>
                <a:latin typeface="Calibri"/>
                <a:ea typeface="Calibri"/>
              </a:rPr>
              <a:t>This is the single biggest performance jump of the entire project +5.2% accuracy and +0.104 MCC.</a:t>
            </a:r>
          </a:p>
          <a:p>
            <a:pPr marL="171450" indent="-171450"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900" spc="-1" dirty="0">
              <a:solidFill>
                <a:srgbClr val="A8BCCF"/>
              </a:solidFill>
              <a:latin typeface="Calibri"/>
              <a:ea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900" spc="-1" dirty="0">
              <a:solidFill>
                <a:srgbClr val="A8BCCF"/>
              </a:solidFill>
              <a:latin typeface="Calibri"/>
              <a:ea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900" spc="-1" dirty="0">
                <a:solidFill>
                  <a:srgbClr val="A8BCCF"/>
                </a:solidFill>
                <a:latin typeface="Calibri"/>
                <a:ea typeface="Calibri"/>
              </a:rPr>
              <a:t>Adding yesterday's RSI, price, MACD and volume tells GB how the signal was moving, not just where it stands today.</a:t>
            </a:r>
          </a:p>
          <a:p>
            <a:pPr marL="171450" indent="-171450"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900" spc="-1" dirty="0">
              <a:solidFill>
                <a:srgbClr val="A8BCCF"/>
              </a:solidFill>
              <a:latin typeface="Calibri"/>
              <a:ea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900" spc="-1" dirty="0">
                <a:solidFill>
                  <a:srgbClr val="A8BCCF"/>
                </a:solidFill>
                <a:latin typeface="Calibri"/>
                <a:ea typeface="Calibri"/>
              </a:rPr>
              <a:t>Gap increases slightly (0.06 → 0.08) but stays well within the 0.10 threshold.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900" spc="-1" dirty="0">
              <a:solidFill>
                <a:srgbClr val="A8BCCF"/>
              </a:solidFill>
              <a:latin typeface="Calibri"/>
              <a:ea typeface="Calibri"/>
            </a:endParaRPr>
          </a:p>
          <a:p>
            <a:pPr>
              <a:tabLst>
                <a:tab pos="0" algn="l"/>
              </a:tabLst>
            </a:pPr>
            <a:endParaRPr lang="en-US" sz="900" spc="-1" dirty="0">
              <a:solidFill>
                <a:srgbClr val="A8BCCF"/>
              </a:solidFill>
              <a:latin typeface="Calibri"/>
              <a:ea typeface="Calibri"/>
            </a:endParaRPr>
          </a:p>
          <a:p>
            <a:pPr>
              <a:tabLst>
                <a:tab pos="0" algn="l"/>
              </a:tabLst>
            </a:pPr>
            <a:endParaRPr lang="en-US" sz="900" spc="-1" dirty="0">
              <a:solidFill>
                <a:srgbClr val="A8BCCF"/>
              </a:solidFill>
              <a:latin typeface="Calibri"/>
              <a:ea typeface="Calibri"/>
            </a:endParaRPr>
          </a:p>
          <a:p>
            <a:pPr>
              <a:tabLst>
                <a:tab pos="0" algn="l"/>
              </a:tabLst>
            </a:pPr>
            <a:endParaRPr lang="en-US" sz="900" spc="-1" dirty="0">
              <a:solidFill>
                <a:srgbClr val="A8BCCF"/>
              </a:solidFill>
              <a:latin typeface="Calibri"/>
              <a:ea typeface="Calibri"/>
            </a:endParaRPr>
          </a:p>
          <a:p>
            <a:pPr defTabSz="457200">
              <a:lnSpc>
                <a:spcPct val="100000"/>
              </a:lnSpc>
              <a:tabLst>
                <a:tab pos="0" algn="l"/>
              </a:tabLst>
            </a:pP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Shape 38"/>
          <p:cNvSpPr/>
          <p:nvPr/>
        </p:nvSpPr>
        <p:spPr>
          <a:xfrm>
            <a:off x="0" y="6382440"/>
            <a:ext cx="12161160" cy="47520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661" name="Shape 39"/>
          <p:cNvSpPr/>
          <p:nvPr/>
        </p:nvSpPr>
        <p:spPr>
          <a:xfrm>
            <a:off x="255960" y="6464880"/>
            <a:ext cx="1539710" cy="310680"/>
          </a:xfrm>
          <a:prstGeom prst="roundRect">
            <a:avLst>
              <a:gd name="adj" fmla="val 17647"/>
            </a:avLst>
          </a:prstGeom>
          <a:solidFill>
            <a:srgbClr val="F7931A"/>
          </a:solidFill>
          <a:ln w="12700">
            <a:solidFill>
              <a:srgbClr val="F793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662" name="Text 40"/>
          <p:cNvSpPr/>
          <p:nvPr/>
        </p:nvSpPr>
        <p:spPr>
          <a:xfrm>
            <a:off x="255960" y="6464880"/>
            <a:ext cx="153971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00" b="1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★  S2 Regime-Aware Split  </a:t>
            </a:r>
            <a:endParaRPr kumimoji="0" lang="en-US" sz="10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Shape 39">
            <a:extLst>
              <a:ext uri="{FF2B5EF4-FFF2-40B4-BE49-F238E27FC236}">
                <a16:creationId xmlns:a16="http://schemas.microsoft.com/office/drawing/2014/main" id="{819CDD24-E330-C034-71F7-30C6CE68D7DC}"/>
              </a:ext>
            </a:extLst>
          </p:cNvPr>
          <p:cNvSpPr/>
          <p:nvPr/>
        </p:nvSpPr>
        <p:spPr>
          <a:xfrm>
            <a:off x="1917720" y="6464880"/>
            <a:ext cx="1706750" cy="310680"/>
          </a:xfrm>
          <a:prstGeom prst="roundRect">
            <a:avLst>
              <a:gd name="adj" fmla="val 17647"/>
            </a:avLst>
          </a:prstGeom>
          <a:solidFill>
            <a:srgbClr val="F7931A"/>
          </a:solidFill>
          <a:ln w="12700">
            <a:solidFill>
              <a:srgbClr val="F793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★  Gradient Boosting Tuned</a:t>
            </a:r>
            <a:endParaRPr kumimoji="0" lang="en-DE" sz="1000" b="1" i="0" u="none" strike="noStrike" kern="1200" cap="none" spc="-1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+mn-cs"/>
            </a:endParaRPr>
          </a:p>
        </p:txBody>
      </p:sp>
      <p:sp>
        <p:nvSpPr>
          <p:cNvPr id="3" name="Shape 39">
            <a:extLst>
              <a:ext uri="{FF2B5EF4-FFF2-40B4-BE49-F238E27FC236}">
                <a16:creationId xmlns:a16="http://schemas.microsoft.com/office/drawing/2014/main" id="{628E8B7A-C14C-DD2A-CFFA-BBC1C42BE3DD}"/>
              </a:ext>
            </a:extLst>
          </p:cNvPr>
          <p:cNvSpPr/>
          <p:nvPr/>
        </p:nvSpPr>
        <p:spPr>
          <a:xfrm>
            <a:off x="3746520" y="6464700"/>
            <a:ext cx="1310967" cy="310680"/>
          </a:xfrm>
          <a:prstGeom prst="roundRect">
            <a:avLst>
              <a:gd name="adj" fmla="val 17647"/>
            </a:avLst>
          </a:prstGeom>
          <a:solidFill>
            <a:srgbClr val="F7931A"/>
          </a:solidFill>
          <a:ln w="12700">
            <a:solidFill>
              <a:srgbClr val="F793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★  Lags (36 features)</a:t>
            </a:r>
            <a:endParaRPr kumimoji="0" lang="en-US" sz="10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Shape 39">
            <a:extLst>
              <a:ext uri="{FF2B5EF4-FFF2-40B4-BE49-F238E27FC236}">
                <a16:creationId xmlns:a16="http://schemas.microsoft.com/office/drawing/2014/main" id="{B5EA71FB-267F-81AC-9C1C-064E9ACD6D92}"/>
              </a:ext>
            </a:extLst>
          </p:cNvPr>
          <p:cNvSpPr/>
          <p:nvPr/>
        </p:nvSpPr>
        <p:spPr>
          <a:xfrm>
            <a:off x="10189452" y="6454906"/>
            <a:ext cx="1406199" cy="310680"/>
          </a:xfrm>
          <a:prstGeom prst="roundRect">
            <a:avLst>
              <a:gd name="adj" fmla="val 17647"/>
            </a:avLst>
          </a:prstGeom>
          <a:noFill/>
          <a:ln w="12700">
            <a:solidFill>
              <a:srgbClr val="00B0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/>
            <a:r>
              <a:rPr lang="en-US" sz="1000" b="1" spc="-1" dirty="0">
                <a:latin typeface="Calibri"/>
                <a:ea typeface="Calibri"/>
              </a:rPr>
              <a:t>Best Accuracy : 78.8%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Shape 0"/>
          <p:cNvSpPr/>
          <p:nvPr/>
        </p:nvSpPr>
        <p:spPr>
          <a:xfrm>
            <a:off x="0" y="0"/>
            <a:ext cx="12161160" cy="98712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664" name="Shape 1"/>
          <p:cNvSpPr/>
          <p:nvPr/>
        </p:nvSpPr>
        <p:spPr>
          <a:xfrm>
            <a:off x="0" y="0"/>
            <a:ext cx="164160" cy="98712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665" name="Shape 2"/>
          <p:cNvSpPr/>
          <p:nvPr/>
        </p:nvSpPr>
        <p:spPr>
          <a:xfrm>
            <a:off x="301680" y="146160"/>
            <a:ext cx="1325520" cy="676440"/>
          </a:xfrm>
          <a:prstGeom prst="roundRect">
            <a:avLst>
              <a:gd name="adj" fmla="val 10811"/>
            </a:avLst>
          </a:prstGeom>
          <a:solidFill>
            <a:srgbClr val="F7931A"/>
          </a:solidFill>
          <a:ln w="12700">
            <a:solidFill>
              <a:srgbClr val="F793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666" name="Text 3"/>
          <p:cNvSpPr/>
          <p:nvPr/>
        </p:nvSpPr>
        <p:spPr>
          <a:xfrm>
            <a:off x="301680" y="146160"/>
            <a:ext cx="132552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EXP </a:t>
            </a:r>
            <a:r>
              <a:rPr lang="en-US" sz="1300" b="1" spc="-1" dirty="0">
                <a:solidFill>
                  <a:srgbClr val="FFFFFF"/>
                </a:solidFill>
                <a:latin typeface="Arial"/>
                <a:ea typeface="Arial"/>
              </a:rPr>
              <a:t>6</a:t>
            </a:r>
            <a:endParaRPr lang="en-US" sz="13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Text 4"/>
          <p:cNvSpPr/>
          <p:nvPr/>
        </p:nvSpPr>
        <p:spPr>
          <a:xfrm>
            <a:off x="0" y="91440"/>
            <a:ext cx="12161160" cy="80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>
                <a:solidFill>
                  <a:srgbClr val="FFFFFF"/>
                </a:solidFill>
                <a:latin typeface="Arial Black"/>
                <a:ea typeface="Arial Black"/>
              </a:rPr>
              <a:t>SHAP Feature Selection : Less Is More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Shape 7"/>
          <p:cNvSpPr/>
          <p:nvPr/>
        </p:nvSpPr>
        <p:spPr>
          <a:xfrm>
            <a:off x="384120" y="1481400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132238"/>
          </a:solidFill>
          <a:ln w="19050">
            <a:solidFill>
              <a:srgbClr val="1322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669" name="Text 8"/>
          <p:cNvSpPr/>
          <p:nvPr/>
        </p:nvSpPr>
        <p:spPr>
          <a:xfrm>
            <a:off x="384120" y="1481400"/>
            <a:ext cx="2889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FFFFFF"/>
                </a:solidFill>
                <a:latin typeface="Calibri"/>
                <a:ea typeface="Calibri"/>
              </a:rPr>
              <a:t>Split: S2 Regime-Aware (fixed)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Shape 10"/>
          <p:cNvSpPr/>
          <p:nvPr/>
        </p:nvSpPr>
        <p:spPr>
          <a:xfrm>
            <a:off x="384120" y="2084760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132238"/>
          </a:solidFill>
          <a:ln w="19050">
            <a:solidFill>
              <a:srgbClr val="1322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 dirty="0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672" name="Text 11"/>
          <p:cNvSpPr/>
          <p:nvPr/>
        </p:nvSpPr>
        <p:spPr>
          <a:xfrm>
            <a:off x="384120" y="2084760"/>
            <a:ext cx="2889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 dirty="0">
                <a:solidFill>
                  <a:srgbClr val="FFFFFF"/>
                </a:solidFill>
                <a:latin typeface="Calibri"/>
                <a:ea typeface="Calibri"/>
              </a:rPr>
              <a:t>Model: GB </a:t>
            </a:r>
            <a:r>
              <a:rPr lang="en-US" sz="1050" b="0" strike="noStrike" spc="-1" dirty="0" err="1">
                <a:solidFill>
                  <a:srgbClr val="FFFFFF"/>
                </a:solidFill>
                <a:latin typeface="Calibri"/>
                <a:ea typeface="Calibri"/>
              </a:rPr>
              <a:t>Optuna</a:t>
            </a:r>
            <a:r>
              <a:rPr lang="en-US" sz="1050" b="0" strike="noStrike" spc="-1" dirty="0">
                <a:solidFill>
                  <a:srgbClr val="FFFFFF"/>
                </a:solidFill>
                <a:latin typeface="Calibri"/>
                <a:ea typeface="Calibri"/>
              </a:rPr>
              <a:t> Tuned (fixed)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Shape 13"/>
          <p:cNvSpPr/>
          <p:nvPr/>
        </p:nvSpPr>
        <p:spPr>
          <a:xfrm>
            <a:off x="384120" y="2688480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F7931A"/>
          </a:solidFill>
          <a:ln w="19050">
            <a:solidFill>
              <a:srgbClr val="F793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675" name="Text 14"/>
          <p:cNvSpPr/>
          <p:nvPr/>
        </p:nvSpPr>
        <p:spPr>
          <a:xfrm>
            <a:off x="384120" y="2688480"/>
            <a:ext cx="2889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-1">
                <a:solidFill>
                  <a:srgbClr val="FFFFFF"/>
                </a:solidFill>
                <a:latin typeface="Calibri"/>
                <a:ea typeface="Calibri"/>
              </a:rPr>
              <a:t>↕  VARIABLE: Feature count (SHAP)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Shape 16"/>
          <p:cNvSpPr/>
          <p:nvPr/>
        </p:nvSpPr>
        <p:spPr>
          <a:xfrm>
            <a:off x="384120" y="3291840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 w="19050">
            <a:solidFill>
              <a:srgbClr val="C8D0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678" name="Text 17"/>
          <p:cNvSpPr/>
          <p:nvPr/>
        </p:nvSpPr>
        <p:spPr>
          <a:xfrm>
            <a:off x="384120" y="3291840"/>
            <a:ext cx="2889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 dirty="0">
                <a:solidFill>
                  <a:srgbClr val="132238"/>
                </a:solidFill>
                <a:latin typeface="Calibri"/>
                <a:ea typeface="Calibri"/>
              </a:rPr>
              <a:t>Top 10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Shape 19"/>
          <p:cNvSpPr/>
          <p:nvPr/>
        </p:nvSpPr>
        <p:spPr>
          <a:xfrm>
            <a:off x="384120" y="3835566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00D4AA"/>
          </a:solidFill>
          <a:ln w="19050">
            <a:solidFill>
              <a:srgbClr val="00D4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681" name="Text 20"/>
          <p:cNvSpPr/>
          <p:nvPr/>
        </p:nvSpPr>
        <p:spPr>
          <a:xfrm>
            <a:off x="384120" y="3835566"/>
            <a:ext cx="2889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 dirty="0">
                <a:solidFill>
                  <a:srgbClr val="FFFFFF"/>
                </a:solidFill>
                <a:latin typeface="Calibri"/>
                <a:ea typeface="Calibri"/>
              </a:rPr>
              <a:t>Top 20 SHAP  ✓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685" name="Table 0"/>
          <p:cNvGraphicFramePr/>
          <p:nvPr>
            <p:extLst>
              <p:ext uri="{D42A27DB-BD31-4B8C-83A1-F6EECF244321}">
                <p14:modId xmlns:p14="http://schemas.microsoft.com/office/powerpoint/2010/main" val="314499260"/>
              </p:ext>
            </p:extLst>
          </p:nvPr>
        </p:nvGraphicFramePr>
        <p:xfrm>
          <a:off x="3502080" y="1482120"/>
          <a:ext cx="5521680" cy="2743200"/>
        </p:xfrm>
        <a:graphic>
          <a:graphicData uri="http://schemas.openxmlformats.org/drawingml/2006/table">
            <a:tbl>
              <a:tblPr/>
              <a:tblGrid>
                <a:gridCol w="1663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1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1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5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47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Model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Val Acc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Val MCC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Test Acc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Test MCC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Test AUC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Gap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✓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strike="noStrike" spc="-1" dirty="0">
                          <a:solidFill>
                            <a:srgbClr val="132238"/>
                          </a:solidFill>
                          <a:latin typeface="Calibri"/>
                          <a:ea typeface="Calibri"/>
                        </a:rPr>
                        <a:t>Top 10 SHAP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74%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0.48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78.8%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0.58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0.87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0.06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strike="noStrike" spc="-1">
                          <a:solidFill>
                            <a:srgbClr val="F7931A"/>
                          </a:solidFill>
                          <a:latin typeface="Arial"/>
                          <a:ea typeface="Arial"/>
                        </a:rPr>
                        <a:t>✅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1000" b="1" strike="noStrike" spc="-1" dirty="0">
                          <a:solidFill>
                            <a:srgbClr val="132238"/>
                          </a:solidFill>
                          <a:latin typeface="Calibri"/>
                          <a:ea typeface="Calibri"/>
                        </a:rPr>
                        <a:t>Top 15 SHAP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74%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0.48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78.6%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0.58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0.87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0.08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1300" b="1" strike="noStrike" spc="-1" dirty="0">
                          <a:solidFill>
                            <a:srgbClr val="F7931A"/>
                          </a:solidFill>
                          <a:latin typeface="Arial"/>
                          <a:ea typeface="Arial"/>
                        </a:rPr>
                        <a:t>✅</a:t>
                      </a:r>
                      <a:endParaRPr lang="en-US" sz="13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049666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strike="noStrike" spc="-1" dirty="0">
                          <a:solidFill>
                            <a:srgbClr val="132238"/>
                          </a:solidFill>
                          <a:latin typeface="Calibri"/>
                          <a:ea typeface="Calibri"/>
                        </a:rPr>
                        <a:t>Top 20 SHAP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E6FBF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strike="noStrike" spc="-1" dirty="0">
                          <a:solidFill>
                            <a:srgbClr val="132238"/>
                          </a:solidFill>
                          <a:latin typeface="Calibri"/>
                          <a:ea typeface="Calibri"/>
                        </a:rPr>
                        <a:t>73%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E6FBF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strike="noStrike" spc="-1" dirty="0">
                          <a:solidFill>
                            <a:srgbClr val="132238"/>
                          </a:solidFill>
                          <a:latin typeface="Calibri"/>
                          <a:ea typeface="Calibri"/>
                        </a:rPr>
                        <a:t>0.46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E6FBF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strike="noStrike" spc="-1" dirty="0">
                          <a:solidFill>
                            <a:srgbClr val="132238"/>
                          </a:solidFill>
                          <a:latin typeface="Calibri"/>
                          <a:ea typeface="Calibri"/>
                        </a:rPr>
                        <a:t>80.1%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E6FBF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strike="noStrike" spc="-1" dirty="0">
                          <a:solidFill>
                            <a:srgbClr val="132238"/>
                          </a:solidFill>
                          <a:latin typeface="Calibri"/>
                          <a:ea typeface="Calibri"/>
                        </a:rPr>
                        <a:t>0.60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E6FBF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strike="noStrike" spc="-1" dirty="0">
                          <a:solidFill>
                            <a:srgbClr val="132238"/>
                          </a:solidFill>
                          <a:latin typeface="Calibri"/>
                          <a:ea typeface="Calibri"/>
                        </a:rPr>
                        <a:t>0.87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E6FBF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strike="noStrike" spc="-1" dirty="0">
                          <a:solidFill>
                            <a:srgbClr val="132238"/>
                          </a:solidFill>
                          <a:latin typeface="Calibri"/>
                          <a:ea typeface="Calibri"/>
                        </a:rPr>
                        <a:t>0.08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E6FBF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strike="noStrike" spc="-1" dirty="0">
                          <a:solidFill>
                            <a:srgbClr val="F7931A"/>
                          </a:solidFill>
                          <a:latin typeface="Arial"/>
                          <a:ea typeface="Arial"/>
                        </a:rPr>
                        <a:t>✅</a:t>
                      </a:r>
                      <a:endParaRPr lang="en-US" sz="13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E6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1000" b="1" strike="noStrike" spc="-1" dirty="0">
                          <a:solidFill>
                            <a:srgbClr val="132238"/>
                          </a:solidFill>
                          <a:latin typeface="Calibri"/>
                          <a:ea typeface="Calibri"/>
                        </a:rPr>
                        <a:t>Top 25 SHAP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73.1%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0.46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79%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0.58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0.87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0.08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strike="noStrike" spc="-1" dirty="0">
                          <a:solidFill>
                            <a:srgbClr val="8A9BB0"/>
                          </a:solidFill>
                          <a:latin typeface="Arial"/>
                          <a:ea typeface="Arial"/>
                        </a:rPr>
                        <a:t>✅</a:t>
                      </a:r>
                      <a:endParaRPr lang="en-US" sz="13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1000" b="1" strike="noStrike" spc="-1" dirty="0">
                          <a:solidFill>
                            <a:srgbClr val="132238"/>
                          </a:solidFill>
                          <a:latin typeface="Calibri"/>
                          <a:ea typeface="Calibri"/>
                        </a:rPr>
                        <a:t>Top 30  SHAP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73.7%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0.47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78%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0.58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0.87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0.08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1300" b="1" strike="noStrike" spc="-1" dirty="0">
                          <a:solidFill>
                            <a:srgbClr val="F7931A"/>
                          </a:solidFill>
                          <a:latin typeface="Arial"/>
                          <a:ea typeface="Arial"/>
                        </a:rPr>
                        <a:t>✅</a:t>
                      </a:r>
                      <a:endParaRPr lang="en-US" sz="13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5013078"/>
                  </a:ext>
                </a:extLst>
              </a:tr>
            </a:tbl>
          </a:graphicData>
        </a:graphic>
      </p:graphicFrame>
      <p:sp>
        <p:nvSpPr>
          <p:cNvPr id="686" name="Shape 25"/>
          <p:cNvSpPr/>
          <p:nvPr/>
        </p:nvSpPr>
        <p:spPr>
          <a:xfrm>
            <a:off x="9253800" y="1481400"/>
            <a:ext cx="2742840" cy="480852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round/>
          </a:ln>
          <a:effectLst>
            <a:outerShdw blurRad="101520" dist="37674" dir="8100000" algn="bl" rotWithShape="0">
              <a:srgbClr val="132238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696" name="Shape 35"/>
          <p:cNvSpPr/>
          <p:nvPr/>
        </p:nvSpPr>
        <p:spPr>
          <a:xfrm>
            <a:off x="9519008" y="1921680"/>
            <a:ext cx="2322360" cy="292320"/>
          </a:xfrm>
          <a:prstGeom prst="roundRect">
            <a:avLst>
              <a:gd name="adj" fmla="val 15625"/>
            </a:avLst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697" name="Text 36"/>
          <p:cNvSpPr/>
          <p:nvPr/>
        </p:nvSpPr>
        <p:spPr>
          <a:xfrm>
            <a:off x="9486870" y="1909398"/>
            <a:ext cx="23587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 dirty="0">
                <a:solidFill>
                  <a:srgbClr val="00D4AA"/>
                </a:solidFill>
                <a:latin typeface="Arial"/>
                <a:ea typeface="Arial"/>
              </a:rPr>
              <a:t>Top 20 SHAP  ✓  WINNER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Text 37"/>
          <p:cNvSpPr/>
          <p:nvPr/>
        </p:nvSpPr>
        <p:spPr>
          <a:xfrm>
            <a:off x="9445860" y="2399204"/>
            <a:ext cx="2358720" cy="30404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171450" indent="-17145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A8BCCF"/>
                </a:solidFill>
                <a:latin typeface="Calibri"/>
                <a:ea typeface="Calibri"/>
              </a:rPr>
              <a:t>Top 20 wins test MCC decisively (+0.024 over full 36) and crosses 80% accuracy for the first time.</a:t>
            </a:r>
          </a:p>
          <a:p>
            <a:pPr marL="171450" indent="-17145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900" spc="-1" dirty="0">
              <a:solidFill>
                <a:srgbClr val="A8BCCF"/>
              </a:solidFill>
              <a:latin typeface="Calibri"/>
              <a:ea typeface="Calibri"/>
            </a:endParaRPr>
          </a:p>
          <a:p>
            <a:pPr marL="171450" indent="-17145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A8BCCF"/>
                </a:solidFill>
                <a:latin typeface="Calibri"/>
                <a:ea typeface="Calibri"/>
              </a:rPr>
              <a:t>Removing 16 noisy features gives GB a cleaner decision surface. </a:t>
            </a:r>
          </a:p>
          <a:p>
            <a:pPr marL="171450" indent="-17145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900" spc="-1" dirty="0">
              <a:solidFill>
                <a:srgbClr val="A8BCCF"/>
              </a:solidFill>
              <a:latin typeface="Calibri"/>
              <a:ea typeface="Calibri"/>
            </a:endParaRPr>
          </a:p>
          <a:p>
            <a:pPr marL="171450" indent="-17145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A8BCCF"/>
                </a:solidFill>
                <a:latin typeface="Calibri"/>
                <a:ea typeface="Calibri"/>
              </a:rPr>
              <a:t>Note that </a:t>
            </a:r>
            <a:r>
              <a:rPr lang="en-US" sz="900" b="0" strike="noStrike" spc="-1" dirty="0" err="1">
                <a:solidFill>
                  <a:srgbClr val="A8BCCF"/>
                </a:solidFill>
                <a:latin typeface="Calibri"/>
                <a:ea typeface="Calibri"/>
              </a:rPr>
              <a:t>val</a:t>
            </a:r>
            <a:r>
              <a:rPr lang="en-US" sz="900" b="0" strike="noStrike" spc="-1" dirty="0">
                <a:solidFill>
                  <a:srgbClr val="A8BCCF"/>
                </a:solidFill>
                <a:latin typeface="Calibri"/>
                <a:ea typeface="Calibri"/>
              </a:rPr>
              <a:t> and test rankings are inverted (Top 10 wins </a:t>
            </a:r>
            <a:r>
              <a:rPr lang="en-US" sz="900" b="0" strike="noStrike" spc="-1" dirty="0" err="1">
                <a:solidFill>
                  <a:srgbClr val="A8BCCF"/>
                </a:solidFill>
                <a:latin typeface="Calibri"/>
                <a:ea typeface="Calibri"/>
              </a:rPr>
              <a:t>val</a:t>
            </a:r>
            <a:r>
              <a:rPr lang="en-US" sz="900" b="0" strike="noStrike" spc="-1" dirty="0">
                <a:solidFill>
                  <a:srgbClr val="A8BCCF"/>
                </a:solidFill>
                <a:latin typeface="Calibri"/>
                <a:ea typeface="Calibri"/>
              </a:rPr>
              <a:t>, Top 20 wins test)  </a:t>
            </a:r>
            <a:endParaRPr lang="en-US" sz="900" spc="-1" dirty="0">
              <a:solidFill>
                <a:srgbClr val="A8BCCF"/>
              </a:solidFill>
              <a:latin typeface="Calibri"/>
              <a:ea typeface="Calibri"/>
            </a:endParaRPr>
          </a:p>
          <a:p>
            <a:pPr marL="171450" indent="-17145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900" b="0" strike="noStrike" spc="-1" dirty="0">
              <a:solidFill>
                <a:srgbClr val="A8BCCF"/>
              </a:solidFill>
              <a:latin typeface="Calibri"/>
              <a:ea typeface="Calibri"/>
            </a:endParaRPr>
          </a:p>
          <a:p>
            <a:pPr marL="171450" indent="-17145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900" spc="-1" dirty="0">
                <a:solidFill>
                  <a:srgbClr val="A8BCCF"/>
                </a:solidFill>
                <a:latin typeface="Calibri"/>
                <a:ea typeface="Calibri"/>
              </a:rPr>
              <a:t>R</a:t>
            </a:r>
            <a:r>
              <a:rPr lang="en-US" sz="900" b="0" strike="noStrike" spc="-1" dirty="0">
                <a:solidFill>
                  <a:srgbClr val="A8BCCF"/>
                </a:solidFill>
                <a:latin typeface="Calibri"/>
                <a:ea typeface="Calibri"/>
              </a:rPr>
              <a:t>eminder :  validation set ≠ test set in regime-shift scenarios. </a:t>
            </a:r>
          </a:p>
          <a:p>
            <a:pPr marL="171450" indent="-17145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900" spc="-1" dirty="0">
              <a:solidFill>
                <a:srgbClr val="A8BCCF"/>
              </a:solidFill>
              <a:latin typeface="Calibri"/>
              <a:ea typeface="Calibri"/>
            </a:endParaRPr>
          </a:p>
          <a:p>
            <a:pPr marL="171450" indent="-17145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A8BCCF"/>
                </a:solidFill>
                <a:latin typeface="Calibri"/>
                <a:ea typeface="Calibri"/>
              </a:rPr>
              <a:t>RSI appears 4 times in the top 20 (rsi_14, lag1, lag2, lag3)</a:t>
            </a:r>
          </a:p>
          <a:p>
            <a:pPr marL="171450" indent="-17145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900" spc="-1" dirty="0">
              <a:solidFill>
                <a:srgbClr val="A8BCCF"/>
              </a:solidFill>
              <a:latin typeface="Calibri"/>
              <a:ea typeface="Calibri"/>
            </a:endParaRPr>
          </a:p>
          <a:p>
            <a:pPr marL="171450" indent="-17145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A8BCCF"/>
                </a:solidFill>
                <a:latin typeface="Calibri"/>
                <a:ea typeface="Calibri"/>
              </a:rPr>
              <a:t>GB has learned that the 3-day RSI trajectory is the core predictive signal for BTC.</a:t>
            </a:r>
          </a:p>
          <a:p>
            <a:pPr marL="171450" indent="-17145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900" b="0" strike="noStrike" spc="-1" dirty="0">
              <a:solidFill>
                <a:srgbClr val="A8BCCF"/>
              </a:solidFill>
              <a:latin typeface="Calibri"/>
              <a:ea typeface="Calibri"/>
            </a:endParaRPr>
          </a:p>
          <a:p>
            <a:pPr marL="171450" indent="-17145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A8BCCF"/>
                </a:solidFill>
                <a:latin typeface="Calibri"/>
                <a:ea typeface="Calibri"/>
              </a:rPr>
              <a:t>Decision → Top 20 SHAP features locked as FEATURES_FINAL.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Shape 38"/>
          <p:cNvSpPr/>
          <p:nvPr/>
        </p:nvSpPr>
        <p:spPr>
          <a:xfrm>
            <a:off x="0" y="6382440"/>
            <a:ext cx="12161160" cy="47520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3" name="Shape 39">
            <a:extLst>
              <a:ext uri="{FF2B5EF4-FFF2-40B4-BE49-F238E27FC236}">
                <a16:creationId xmlns:a16="http://schemas.microsoft.com/office/drawing/2014/main" id="{EBEACBB3-4703-38EB-0700-AA224B947241}"/>
              </a:ext>
            </a:extLst>
          </p:cNvPr>
          <p:cNvSpPr/>
          <p:nvPr/>
        </p:nvSpPr>
        <p:spPr>
          <a:xfrm>
            <a:off x="1917720" y="6464880"/>
            <a:ext cx="1706750" cy="310680"/>
          </a:xfrm>
          <a:prstGeom prst="roundRect">
            <a:avLst>
              <a:gd name="adj" fmla="val 17647"/>
            </a:avLst>
          </a:prstGeom>
          <a:solidFill>
            <a:srgbClr val="F7931A"/>
          </a:solidFill>
          <a:ln w="12700">
            <a:solidFill>
              <a:srgbClr val="F793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★  Gradient Boosting Tuned</a:t>
            </a:r>
            <a:endParaRPr kumimoji="0" lang="en-DE" sz="1000" b="1" i="0" u="none" strike="noStrike" kern="1200" cap="none" spc="-1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+mn-cs"/>
            </a:endParaRPr>
          </a:p>
        </p:txBody>
      </p:sp>
      <p:sp>
        <p:nvSpPr>
          <p:cNvPr id="4" name="Shape 39">
            <a:extLst>
              <a:ext uri="{FF2B5EF4-FFF2-40B4-BE49-F238E27FC236}">
                <a16:creationId xmlns:a16="http://schemas.microsoft.com/office/drawing/2014/main" id="{2C8B0C97-2C2E-6CB4-29F7-A6608C90462A}"/>
              </a:ext>
            </a:extLst>
          </p:cNvPr>
          <p:cNvSpPr/>
          <p:nvPr/>
        </p:nvSpPr>
        <p:spPr>
          <a:xfrm>
            <a:off x="3746520" y="6464700"/>
            <a:ext cx="1310967" cy="310680"/>
          </a:xfrm>
          <a:prstGeom prst="roundRect">
            <a:avLst>
              <a:gd name="adj" fmla="val 17647"/>
            </a:avLst>
          </a:prstGeom>
          <a:solidFill>
            <a:srgbClr val="F7931A"/>
          </a:solidFill>
          <a:ln w="12700">
            <a:solidFill>
              <a:srgbClr val="F793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00" b="1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★ Top 20 SHAP</a:t>
            </a:r>
            <a:endParaRPr kumimoji="0" lang="en-US" sz="10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Shape 39">
            <a:extLst>
              <a:ext uri="{FF2B5EF4-FFF2-40B4-BE49-F238E27FC236}">
                <a16:creationId xmlns:a16="http://schemas.microsoft.com/office/drawing/2014/main" id="{884BAAAA-B331-F447-7B70-AE3CDA3294F7}"/>
              </a:ext>
            </a:extLst>
          </p:cNvPr>
          <p:cNvSpPr/>
          <p:nvPr/>
        </p:nvSpPr>
        <p:spPr>
          <a:xfrm>
            <a:off x="82114" y="6469132"/>
            <a:ext cx="1706750" cy="310680"/>
          </a:xfrm>
          <a:prstGeom prst="roundRect">
            <a:avLst>
              <a:gd name="adj" fmla="val 17647"/>
            </a:avLst>
          </a:prstGeom>
          <a:solidFill>
            <a:srgbClr val="F7931A"/>
          </a:solidFill>
          <a:ln w="12700">
            <a:solidFill>
              <a:srgbClr val="F793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lvl="0" algn="ctr">
              <a:tabLst>
                <a:tab pos="0" algn="l"/>
              </a:tabLst>
              <a:defRPr/>
            </a:pPr>
            <a:r>
              <a:rPr lang="en-US" sz="1000" b="1" spc="-1" dirty="0">
                <a:solidFill>
                  <a:srgbClr val="FFFFFF"/>
                </a:solidFill>
                <a:latin typeface="Calibri"/>
                <a:ea typeface="Calibri"/>
              </a:rPr>
              <a:t>★  S2 Regime-Aware Split  </a:t>
            </a:r>
            <a:endParaRPr lang="en-US" sz="10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Shape 16">
            <a:extLst>
              <a:ext uri="{FF2B5EF4-FFF2-40B4-BE49-F238E27FC236}">
                <a16:creationId xmlns:a16="http://schemas.microsoft.com/office/drawing/2014/main" id="{6C0890D3-1486-0B65-3C2B-905DC524EB97}"/>
              </a:ext>
            </a:extLst>
          </p:cNvPr>
          <p:cNvSpPr/>
          <p:nvPr/>
        </p:nvSpPr>
        <p:spPr>
          <a:xfrm>
            <a:off x="384120" y="4408710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 w="19050">
            <a:solidFill>
              <a:srgbClr val="C8D0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50" b="0" i="0" u="none" strike="noStrike" kern="1200" cap="none" spc="-1" normalizeH="0" baseline="0" noProof="0" dirty="0">
                <a:ln>
                  <a:noFill/>
                </a:ln>
                <a:solidFill>
                  <a:srgbClr val="132238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Top 15</a:t>
            </a:r>
            <a:endParaRPr kumimoji="0" lang="en-US" sz="105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Shape 16">
            <a:extLst>
              <a:ext uri="{FF2B5EF4-FFF2-40B4-BE49-F238E27FC236}">
                <a16:creationId xmlns:a16="http://schemas.microsoft.com/office/drawing/2014/main" id="{901B0760-4176-E6AC-F119-6EBA40750F16}"/>
              </a:ext>
            </a:extLst>
          </p:cNvPr>
          <p:cNvSpPr/>
          <p:nvPr/>
        </p:nvSpPr>
        <p:spPr>
          <a:xfrm>
            <a:off x="384120" y="5011895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 w="19050">
            <a:solidFill>
              <a:srgbClr val="C8D0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50" b="0" i="0" u="none" strike="noStrike" kern="1200" cap="none" spc="-1" normalizeH="0" baseline="0" noProof="0" dirty="0">
                <a:ln>
                  <a:noFill/>
                </a:ln>
                <a:solidFill>
                  <a:srgbClr val="132238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Top 25</a:t>
            </a:r>
            <a:endParaRPr kumimoji="0" lang="en-US" sz="105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Shape 16">
            <a:extLst>
              <a:ext uri="{FF2B5EF4-FFF2-40B4-BE49-F238E27FC236}">
                <a16:creationId xmlns:a16="http://schemas.microsoft.com/office/drawing/2014/main" id="{009AD73C-E670-165B-BB00-EB57C1DD76F3}"/>
              </a:ext>
            </a:extLst>
          </p:cNvPr>
          <p:cNvSpPr/>
          <p:nvPr/>
        </p:nvSpPr>
        <p:spPr>
          <a:xfrm>
            <a:off x="384120" y="5626777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 w="19050">
            <a:solidFill>
              <a:srgbClr val="C8D0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50" b="0" i="0" u="none" strike="noStrike" kern="1200" cap="none" spc="-1" normalizeH="0" baseline="0" noProof="0" dirty="0">
                <a:ln>
                  <a:noFill/>
                </a:ln>
                <a:solidFill>
                  <a:srgbClr val="132238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Top 30</a:t>
            </a:r>
            <a:endParaRPr kumimoji="0" lang="en-US" sz="105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Shape 39">
            <a:extLst>
              <a:ext uri="{FF2B5EF4-FFF2-40B4-BE49-F238E27FC236}">
                <a16:creationId xmlns:a16="http://schemas.microsoft.com/office/drawing/2014/main" id="{9BED13EE-863C-F049-0691-CEAEC941AAF8}"/>
              </a:ext>
            </a:extLst>
          </p:cNvPr>
          <p:cNvSpPr/>
          <p:nvPr/>
        </p:nvSpPr>
        <p:spPr>
          <a:xfrm>
            <a:off x="10189452" y="6454906"/>
            <a:ext cx="1406199" cy="310680"/>
          </a:xfrm>
          <a:prstGeom prst="roundRect">
            <a:avLst>
              <a:gd name="adj" fmla="val 17647"/>
            </a:avLst>
          </a:prstGeom>
          <a:noFill/>
          <a:ln w="12700">
            <a:solidFill>
              <a:srgbClr val="00B0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/>
            <a:r>
              <a:rPr lang="en-US" sz="1000" b="1" spc="-1" dirty="0">
                <a:latin typeface="Calibri"/>
                <a:ea typeface="Calibri"/>
              </a:rPr>
              <a:t>Best Accuracy : 80,1%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Shape 0"/>
          <p:cNvSpPr/>
          <p:nvPr/>
        </p:nvSpPr>
        <p:spPr>
          <a:xfrm>
            <a:off x="0" y="0"/>
            <a:ext cx="12161160" cy="98712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742" name="Shape 1"/>
          <p:cNvSpPr/>
          <p:nvPr/>
        </p:nvSpPr>
        <p:spPr>
          <a:xfrm>
            <a:off x="0" y="0"/>
            <a:ext cx="164160" cy="98712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743" name="Shape 2"/>
          <p:cNvSpPr/>
          <p:nvPr/>
        </p:nvSpPr>
        <p:spPr>
          <a:xfrm>
            <a:off x="301680" y="146160"/>
            <a:ext cx="1325520" cy="676440"/>
          </a:xfrm>
          <a:prstGeom prst="roundRect">
            <a:avLst>
              <a:gd name="adj" fmla="val 10811"/>
            </a:avLst>
          </a:prstGeom>
          <a:solidFill>
            <a:srgbClr val="F7931A"/>
          </a:solidFill>
          <a:ln w="12700">
            <a:solidFill>
              <a:srgbClr val="F793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744" name="Text 3"/>
          <p:cNvSpPr/>
          <p:nvPr/>
        </p:nvSpPr>
        <p:spPr>
          <a:xfrm>
            <a:off x="301680" y="146160"/>
            <a:ext cx="132552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EXP </a:t>
            </a:r>
            <a:r>
              <a:rPr lang="en-US" sz="1300" b="1" spc="-1" dirty="0">
                <a:solidFill>
                  <a:srgbClr val="FFFFFF"/>
                </a:solidFill>
                <a:latin typeface="Arial"/>
                <a:ea typeface="Arial"/>
              </a:rPr>
              <a:t>7</a:t>
            </a:r>
            <a:endParaRPr lang="en-US" sz="13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Text 4"/>
          <p:cNvSpPr/>
          <p:nvPr/>
        </p:nvSpPr>
        <p:spPr>
          <a:xfrm>
            <a:off x="0" y="91440"/>
            <a:ext cx="12161160" cy="80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>
                <a:solidFill>
                  <a:srgbClr val="FFFFFF"/>
                </a:solidFill>
                <a:latin typeface="Arial Black"/>
                <a:ea typeface="Arial Black"/>
              </a:rPr>
              <a:t>Calibration Test : Are Probabilities Trustworthy?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Shape 7"/>
          <p:cNvSpPr/>
          <p:nvPr/>
        </p:nvSpPr>
        <p:spPr>
          <a:xfrm>
            <a:off x="384120" y="1481400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132238"/>
          </a:solidFill>
          <a:ln w="19050">
            <a:solidFill>
              <a:srgbClr val="1322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747" name="Text 8"/>
          <p:cNvSpPr/>
          <p:nvPr/>
        </p:nvSpPr>
        <p:spPr>
          <a:xfrm>
            <a:off x="384120" y="1481400"/>
            <a:ext cx="2889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FFFFFF"/>
                </a:solidFill>
                <a:latin typeface="Calibri"/>
                <a:ea typeface="Calibri"/>
              </a:rPr>
              <a:t>Split: S2 Regime-Aware (fixed)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Shape 10"/>
          <p:cNvSpPr/>
          <p:nvPr/>
        </p:nvSpPr>
        <p:spPr>
          <a:xfrm>
            <a:off x="384120" y="2084760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132238"/>
          </a:solidFill>
          <a:ln w="19050">
            <a:solidFill>
              <a:srgbClr val="1322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750" name="Text 11"/>
          <p:cNvSpPr/>
          <p:nvPr/>
        </p:nvSpPr>
        <p:spPr>
          <a:xfrm>
            <a:off x="384120" y="2084760"/>
            <a:ext cx="2889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 dirty="0">
                <a:solidFill>
                  <a:srgbClr val="FFFFFF"/>
                </a:solidFill>
                <a:latin typeface="Calibri"/>
                <a:ea typeface="Calibri"/>
              </a:rPr>
              <a:t>Features: Top 20 SHAP (fixed)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Shape 13"/>
          <p:cNvSpPr/>
          <p:nvPr/>
        </p:nvSpPr>
        <p:spPr>
          <a:xfrm>
            <a:off x="384120" y="3205313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F7931A"/>
          </a:solidFill>
          <a:ln w="19050">
            <a:solidFill>
              <a:srgbClr val="F793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753" name="Text 14"/>
          <p:cNvSpPr/>
          <p:nvPr/>
        </p:nvSpPr>
        <p:spPr>
          <a:xfrm>
            <a:off x="384120" y="3205308"/>
            <a:ext cx="2889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-1" dirty="0">
                <a:solidFill>
                  <a:srgbClr val="FFFFFF"/>
                </a:solidFill>
                <a:latin typeface="Calibri"/>
                <a:ea typeface="Calibri"/>
              </a:rPr>
              <a:t>↕  VARIABLE: Calibration method</a:t>
            </a: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5" name="Shape 16"/>
          <p:cNvSpPr/>
          <p:nvPr/>
        </p:nvSpPr>
        <p:spPr>
          <a:xfrm>
            <a:off x="384120" y="3808673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 w="19050">
            <a:solidFill>
              <a:srgbClr val="C8D0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756" name="Text 17"/>
          <p:cNvSpPr/>
          <p:nvPr/>
        </p:nvSpPr>
        <p:spPr>
          <a:xfrm>
            <a:off x="384120" y="3815298"/>
            <a:ext cx="2889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 dirty="0">
                <a:solidFill>
                  <a:srgbClr val="132238"/>
                </a:solidFill>
                <a:latin typeface="Calibri"/>
                <a:ea typeface="Calibri"/>
              </a:rPr>
              <a:t>Sigmoid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763" name="Table 0"/>
          <p:cNvGraphicFramePr/>
          <p:nvPr>
            <p:extLst>
              <p:ext uri="{D42A27DB-BD31-4B8C-83A1-F6EECF244321}">
                <p14:modId xmlns:p14="http://schemas.microsoft.com/office/powerpoint/2010/main" val="875146743"/>
              </p:ext>
            </p:extLst>
          </p:nvPr>
        </p:nvGraphicFramePr>
        <p:xfrm>
          <a:off x="3502080" y="1482120"/>
          <a:ext cx="5521680" cy="1371600"/>
        </p:xfrm>
        <a:graphic>
          <a:graphicData uri="http://schemas.openxmlformats.org/drawingml/2006/table">
            <a:tbl>
              <a:tblPr/>
              <a:tblGrid>
                <a:gridCol w="1663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1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1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5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47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Model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Val Acc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Val MCC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Test Acc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Test MCC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Test AUC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Gap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✓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strike="noStrike" spc="-1">
                          <a:solidFill>
                            <a:srgbClr val="132238"/>
                          </a:solidFill>
                          <a:latin typeface="Calibri"/>
                          <a:ea typeface="Calibri"/>
                        </a:rPr>
                        <a:t>GB Sigmoid</a:t>
                      </a:r>
                      <a:endParaRPr lang="en-US" sz="1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73.2%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0.45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78%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0.58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0.87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0.09</a:t>
                      </a:r>
                      <a:endParaRPr lang="en-US" sz="1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strike="noStrike" spc="-1">
                          <a:solidFill>
                            <a:srgbClr val="F7931A"/>
                          </a:solidFill>
                          <a:latin typeface="Arial"/>
                          <a:ea typeface="Arial"/>
                        </a:rPr>
                        <a:t>✅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strike="noStrike" spc="-1">
                          <a:solidFill>
                            <a:srgbClr val="132238"/>
                          </a:solidFill>
                          <a:latin typeface="Calibri"/>
                          <a:ea typeface="Calibri"/>
                        </a:rPr>
                        <a:t>GB Isotonic</a:t>
                      </a:r>
                      <a:endParaRPr lang="en-US" sz="1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73.8%</a:t>
                      </a:r>
                      <a:endParaRPr lang="en-US" sz="1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0.46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78%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0.57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0.86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0.09</a:t>
                      </a:r>
                      <a:endParaRPr lang="en-US" sz="1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strike="noStrike" spc="-1" dirty="0">
                          <a:solidFill>
                            <a:srgbClr val="8A9BB0"/>
                          </a:solidFill>
                          <a:latin typeface="Arial"/>
                          <a:ea typeface="Arial"/>
                        </a:rPr>
                        <a:t>✅</a:t>
                      </a:r>
                      <a:endParaRPr lang="en-US" sz="13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64" name="Shape 25"/>
          <p:cNvSpPr/>
          <p:nvPr/>
        </p:nvSpPr>
        <p:spPr>
          <a:xfrm>
            <a:off x="9253800" y="1482120"/>
            <a:ext cx="2742840" cy="480852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round/>
          </a:ln>
          <a:effectLst>
            <a:outerShdw blurRad="101520" dist="37674" dir="8100000" algn="bl" rotWithShape="0">
              <a:srgbClr val="132238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900" spc="-1" dirty="0">
              <a:solidFill>
                <a:srgbClr val="A8BCCF"/>
              </a:solidFill>
              <a:latin typeface="Calibri"/>
              <a:ea typeface="Calibri"/>
            </a:endParaRPr>
          </a:p>
          <a:p>
            <a:pPr defTabSz="457200">
              <a:lnSpc>
                <a:spcPct val="100000"/>
              </a:lnSpc>
            </a:pPr>
            <a:endParaRPr lang="en-US" sz="900" spc="-1" dirty="0">
              <a:solidFill>
                <a:srgbClr val="A8BCCF"/>
              </a:solidFill>
              <a:latin typeface="Calibri"/>
              <a:ea typeface="Calibri"/>
            </a:endParaRPr>
          </a:p>
          <a:p>
            <a:pPr defTabSz="457200">
              <a:lnSpc>
                <a:spcPct val="100000"/>
              </a:lnSpc>
            </a:pPr>
            <a:endParaRPr lang="en-US" sz="900" spc="-1" dirty="0">
              <a:solidFill>
                <a:srgbClr val="A8BCCF"/>
              </a:solidFill>
              <a:latin typeface="Calibri"/>
              <a:ea typeface="Calibri"/>
            </a:endParaRPr>
          </a:p>
          <a:p>
            <a:pPr defTabSz="457200">
              <a:lnSpc>
                <a:spcPct val="100000"/>
              </a:lnSpc>
            </a:pPr>
            <a:endParaRPr lang="en-US" sz="900" spc="-1" dirty="0">
              <a:solidFill>
                <a:srgbClr val="A8BCCF"/>
              </a:solidFill>
              <a:latin typeface="Calibri"/>
              <a:ea typeface="Calibri"/>
            </a:endParaRPr>
          </a:p>
          <a:p>
            <a:pPr defTabSz="457200">
              <a:lnSpc>
                <a:spcPct val="100000"/>
              </a:lnSpc>
            </a:pPr>
            <a:endParaRPr lang="en-US" sz="900" spc="-1" dirty="0">
              <a:solidFill>
                <a:srgbClr val="A8BCCF"/>
              </a:solidFill>
              <a:latin typeface="Calibri"/>
              <a:ea typeface="Calibri"/>
            </a:endParaRPr>
          </a:p>
          <a:p>
            <a:pPr defTabSz="457200">
              <a:lnSpc>
                <a:spcPct val="100000"/>
              </a:lnSpc>
            </a:pPr>
            <a:r>
              <a:rPr lang="en-US" sz="900" spc="-1" dirty="0">
                <a:solidFill>
                  <a:srgbClr val="A8BCCF"/>
                </a:solidFill>
                <a:latin typeface="Calibri"/>
                <a:ea typeface="Calibri"/>
              </a:rPr>
              <a:t>Calibration consistently hurts .</a:t>
            </a:r>
          </a:p>
          <a:p>
            <a:pPr defTabSz="457200">
              <a:lnSpc>
                <a:spcPct val="100000"/>
              </a:lnSpc>
            </a:pPr>
            <a:endParaRPr lang="en-US" sz="900" spc="-1" dirty="0">
              <a:solidFill>
                <a:srgbClr val="A8BCCF"/>
              </a:solidFill>
              <a:latin typeface="Calibri"/>
              <a:ea typeface="Calibri"/>
            </a:endParaRPr>
          </a:p>
          <a:p>
            <a:pPr defTabSz="457200">
              <a:lnSpc>
                <a:spcPct val="100000"/>
              </a:lnSpc>
            </a:pPr>
            <a:r>
              <a:rPr lang="en-US" sz="900" spc="-1" dirty="0">
                <a:solidFill>
                  <a:srgbClr val="A8BCCF"/>
                </a:solidFill>
                <a:latin typeface="Calibri"/>
                <a:ea typeface="Calibri"/>
              </a:rPr>
              <a:t>raw GB outperforms both methods on MCC and accuracy</a:t>
            </a:r>
            <a:endParaRPr lang="en-DE" sz="900" spc="-1" dirty="0">
              <a:solidFill>
                <a:srgbClr val="A8BCCF"/>
              </a:solidFill>
              <a:latin typeface="Calibri"/>
              <a:ea typeface="Calibri"/>
            </a:endParaRPr>
          </a:p>
        </p:txBody>
      </p:sp>
      <p:sp>
        <p:nvSpPr>
          <p:cNvPr id="777" name="Shape 38"/>
          <p:cNvSpPr/>
          <p:nvPr/>
        </p:nvSpPr>
        <p:spPr>
          <a:xfrm>
            <a:off x="0" y="6382440"/>
            <a:ext cx="12161160" cy="47520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2" name="Shape 16">
            <a:extLst>
              <a:ext uri="{FF2B5EF4-FFF2-40B4-BE49-F238E27FC236}">
                <a16:creationId xmlns:a16="http://schemas.microsoft.com/office/drawing/2014/main" id="{9BE6442D-296E-0794-B19E-AEEF9038DC3B}"/>
              </a:ext>
            </a:extLst>
          </p:cNvPr>
          <p:cNvSpPr/>
          <p:nvPr/>
        </p:nvSpPr>
        <p:spPr>
          <a:xfrm>
            <a:off x="384120" y="4412033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 w="19050">
            <a:solidFill>
              <a:srgbClr val="C8D0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050" spc="-1" dirty="0">
                <a:solidFill>
                  <a:srgbClr val="132238"/>
                </a:solidFill>
                <a:latin typeface="Calibri"/>
                <a:ea typeface="Calibri"/>
              </a:rPr>
              <a:t>Isotonic</a:t>
            </a:r>
            <a:endParaRPr lang="en-DE" sz="1050" spc="-1" dirty="0">
              <a:solidFill>
                <a:srgbClr val="132238"/>
              </a:solidFill>
              <a:latin typeface="Calibri"/>
              <a:ea typeface="Calibri"/>
            </a:endParaRPr>
          </a:p>
        </p:txBody>
      </p:sp>
      <p:sp>
        <p:nvSpPr>
          <p:cNvPr id="3" name="Shape 39">
            <a:extLst>
              <a:ext uri="{FF2B5EF4-FFF2-40B4-BE49-F238E27FC236}">
                <a16:creationId xmlns:a16="http://schemas.microsoft.com/office/drawing/2014/main" id="{42D173AA-E99F-6913-7198-5E7C19EBC96E}"/>
              </a:ext>
            </a:extLst>
          </p:cNvPr>
          <p:cNvSpPr/>
          <p:nvPr/>
        </p:nvSpPr>
        <p:spPr>
          <a:xfrm>
            <a:off x="10189452" y="6454906"/>
            <a:ext cx="1406199" cy="310680"/>
          </a:xfrm>
          <a:prstGeom prst="roundRect">
            <a:avLst>
              <a:gd name="adj" fmla="val 17647"/>
            </a:avLst>
          </a:prstGeom>
          <a:noFill/>
          <a:ln w="12700">
            <a:solidFill>
              <a:srgbClr val="00B0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/>
            <a:r>
              <a:rPr lang="en-US" sz="1000" b="1" spc="-1" dirty="0">
                <a:latin typeface="Calibri"/>
                <a:ea typeface="Calibri"/>
              </a:rPr>
              <a:t>Best Accuracy : 80,1% </a:t>
            </a:r>
          </a:p>
        </p:txBody>
      </p:sp>
      <p:sp>
        <p:nvSpPr>
          <p:cNvPr id="4" name="Shape 39">
            <a:extLst>
              <a:ext uri="{FF2B5EF4-FFF2-40B4-BE49-F238E27FC236}">
                <a16:creationId xmlns:a16="http://schemas.microsoft.com/office/drawing/2014/main" id="{9240E750-4619-BBB0-A947-A0F5B1251488}"/>
              </a:ext>
            </a:extLst>
          </p:cNvPr>
          <p:cNvSpPr/>
          <p:nvPr/>
        </p:nvSpPr>
        <p:spPr>
          <a:xfrm>
            <a:off x="82114" y="6469132"/>
            <a:ext cx="1706750" cy="310680"/>
          </a:xfrm>
          <a:prstGeom prst="roundRect">
            <a:avLst>
              <a:gd name="adj" fmla="val 17647"/>
            </a:avLst>
          </a:prstGeom>
          <a:solidFill>
            <a:srgbClr val="F7931A"/>
          </a:solidFill>
          <a:ln w="12700">
            <a:solidFill>
              <a:srgbClr val="F793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lvl="0" algn="ctr">
              <a:tabLst>
                <a:tab pos="0" algn="l"/>
              </a:tabLst>
              <a:defRPr/>
            </a:pPr>
            <a:r>
              <a:rPr lang="en-US" sz="1000" b="1" spc="-1" dirty="0">
                <a:solidFill>
                  <a:srgbClr val="FFFFFF"/>
                </a:solidFill>
                <a:latin typeface="Calibri"/>
                <a:ea typeface="Calibri"/>
              </a:rPr>
              <a:t>★  S2 Regime-Aware Split  </a:t>
            </a:r>
            <a:endParaRPr lang="en-US" sz="10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Shape 39">
            <a:extLst>
              <a:ext uri="{FF2B5EF4-FFF2-40B4-BE49-F238E27FC236}">
                <a16:creationId xmlns:a16="http://schemas.microsoft.com/office/drawing/2014/main" id="{CD8B07BD-A973-A3CD-9253-2886178563DD}"/>
              </a:ext>
            </a:extLst>
          </p:cNvPr>
          <p:cNvSpPr/>
          <p:nvPr/>
        </p:nvSpPr>
        <p:spPr>
          <a:xfrm>
            <a:off x="1917720" y="6464880"/>
            <a:ext cx="1706750" cy="310680"/>
          </a:xfrm>
          <a:prstGeom prst="roundRect">
            <a:avLst>
              <a:gd name="adj" fmla="val 17647"/>
            </a:avLst>
          </a:prstGeom>
          <a:solidFill>
            <a:srgbClr val="F7931A"/>
          </a:solidFill>
          <a:ln w="12700">
            <a:solidFill>
              <a:srgbClr val="F793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★  Gradient Boosting Tuned</a:t>
            </a:r>
            <a:endParaRPr kumimoji="0" lang="en-DE" sz="1000" b="1" i="0" u="none" strike="noStrike" kern="1200" cap="none" spc="-1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+mn-cs"/>
            </a:endParaRPr>
          </a:p>
        </p:txBody>
      </p:sp>
      <p:sp>
        <p:nvSpPr>
          <p:cNvPr id="7" name="Shape 39">
            <a:extLst>
              <a:ext uri="{FF2B5EF4-FFF2-40B4-BE49-F238E27FC236}">
                <a16:creationId xmlns:a16="http://schemas.microsoft.com/office/drawing/2014/main" id="{45F15666-4168-C9E7-59E3-14D14E9C01FB}"/>
              </a:ext>
            </a:extLst>
          </p:cNvPr>
          <p:cNvSpPr/>
          <p:nvPr/>
        </p:nvSpPr>
        <p:spPr>
          <a:xfrm>
            <a:off x="3746520" y="6464700"/>
            <a:ext cx="1310967" cy="310680"/>
          </a:xfrm>
          <a:prstGeom prst="roundRect">
            <a:avLst>
              <a:gd name="adj" fmla="val 17647"/>
            </a:avLst>
          </a:prstGeom>
          <a:solidFill>
            <a:srgbClr val="F7931A"/>
          </a:solidFill>
          <a:ln w="12700">
            <a:solidFill>
              <a:srgbClr val="F793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00" b="1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★ Top 20 SHAP</a:t>
            </a:r>
            <a:endParaRPr kumimoji="0" lang="en-US" sz="10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Shape 10">
            <a:extLst>
              <a:ext uri="{FF2B5EF4-FFF2-40B4-BE49-F238E27FC236}">
                <a16:creationId xmlns:a16="http://schemas.microsoft.com/office/drawing/2014/main" id="{8AC5CD11-E2BB-DCCF-6AFB-0B3B4D85F1AA}"/>
              </a:ext>
            </a:extLst>
          </p:cNvPr>
          <p:cNvSpPr/>
          <p:nvPr/>
        </p:nvSpPr>
        <p:spPr>
          <a:xfrm>
            <a:off x="384120" y="2641392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132238"/>
          </a:solidFill>
          <a:ln w="19050">
            <a:solidFill>
              <a:srgbClr val="1322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en-US" sz="1050" spc="-1" dirty="0">
                <a:solidFill>
                  <a:srgbClr val="FFFFFF"/>
                </a:solidFill>
                <a:latin typeface="Calibri"/>
                <a:ea typeface="Calibri"/>
              </a:rPr>
              <a:t>Model: GB </a:t>
            </a:r>
            <a:r>
              <a:rPr lang="en-US" sz="1050" spc="-1" dirty="0" err="1">
                <a:solidFill>
                  <a:srgbClr val="FFFFFF"/>
                </a:solidFill>
                <a:latin typeface="Calibri"/>
                <a:ea typeface="Calibri"/>
              </a:rPr>
              <a:t>Optuna</a:t>
            </a:r>
            <a:r>
              <a:rPr lang="en-US" sz="1050" spc="-1" dirty="0">
                <a:solidFill>
                  <a:srgbClr val="FFFFFF"/>
                </a:solidFill>
                <a:latin typeface="Calibri"/>
                <a:ea typeface="Calibri"/>
              </a:rPr>
              <a:t> Tuned (fixed)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6">
            <a:extLst>
              <a:ext uri="{FF2B5EF4-FFF2-40B4-BE49-F238E27FC236}">
                <a16:creationId xmlns:a16="http://schemas.microsoft.com/office/drawing/2014/main" id="{04DC9F45-B73F-144B-5861-F2B49E2A5835}"/>
              </a:ext>
            </a:extLst>
          </p:cNvPr>
          <p:cNvSpPr/>
          <p:nvPr/>
        </p:nvSpPr>
        <p:spPr>
          <a:xfrm>
            <a:off x="384120" y="3902136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 w="19050">
            <a:solidFill>
              <a:srgbClr val="C8D0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780" name="Shape 0"/>
          <p:cNvSpPr/>
          <p:nvPr/>
        </p:nvSpPr>
        <p:spPr>
          <a:xfrm>
            <a:off x="0" y="0"/>
            <a:ext cx="12161160" cy="98712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781" name="Shape 1"/>
          <p:cNvSpPr/>
          <p:nvPr/>
        </p:nvSpPr>
        <p:spPr>
          <a:xfrm>
            <a:off x="0" y="0"/>
            <a:ext cx="164160" cy="98712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782" name="Shape 2"/>
          <p:cNvSpPr/>
          <p:nvPr/>
        </p:nvSpPr>
        <p:spPr>
          <a:xfrm>
            <a:off x="301680" y="146160"/>
            <a:ext cx="1325520" cy="676440"/>
          </a:xfrm>
          <a:prstGeom prst="roundRect">
            <a:avLst>
              <a:gd name="adj" fmla="val 10811"/>
            </a:avLst>
          </a:prstGeom>
          <a:solidFill>
            <a:srgbClr val="F7931A"/>
          </a:solidFill>
          <a:ln w="12700">
            <a:solidFill>
              <a:srgbClr val="F793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783" name="Text 3"/>
          <p:cNvSpPr/>
          <p:nvPr/>
        </p:nvSpPr>
        <p:spPr>
          <a:xfrm>
            <a:off x="301680" y="146160"/>
            <a:ext cx="132552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EXP </a:t>
            </a:r>
            <a:r>
              <a:rPr lang="en-US" sz="1300" b="1" spc="-1" dirty="0">
                <a:solidFill>
                  <a:srgbClr val="FFFFFF"/>
                </a:solidFill>
                <a:latin typeface="Arial"/>
                <a:ea typeface="Arial"/>
              </a:rPr>
              <a:t>8</a:t>
            </a:r>
            <a:endParaRPr lang="en-US" sz="13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4" name="Text 4"/>
          <p:cNvSpPr/>
          <p:nvPr/>
        </p:nvSpPr>
        <p:spPr>
          <a:xfrm>
            <a:off x="0" y="91440"/>
            <a:ext cx="12161160" cy="80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>
                <a:solidFill>
                  <a:srgbClr val="FFFFFF"/>
                </a:solidFill>
                <a:latin typeface="Arial Black"/>
                <a:ea typeface="Arial Black"/>
              </a:rPr>
              <a:t>Ensemble Test : Does Combining Beat the Best?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5" name="Shape 7"/>
          <p:cNvSpPr/>
          <p:nvPr/>
        </p:nvSpPr>
        <p:spPr>
          <a:xfrm>
            <a:off x="384120" y="1481400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132238"/>
          </a:solidFill>
          <a:ln w="19050">
            <a:solidFill>
              <a:srgbClr val="1322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786" name="Text 8"/>
          <p:cNvSpPr/>
          <p:nvPr/>
        </p:nvSpPr>
        <p:spPr>
          <a:xfrm>
            <a:off x="384120" y="1481400"/>
            <a:ext cx="2889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FFFFFF"/>
                </a:solidFill>
                <a:latin typeface="Calibri"/>
                <a:ea typeface="Calibri"/>
              </a:rPr>
              <a:t>Split: S2 Regime-Aware (fixed)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8" name="Shape 10"/>
          <p:cNvSpPr/>
          <p:nvPr/>
        </p:nvSpPr>
        <p:spPr>
          <a:xfrm>
            <a:off x="384120" y="2084760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132238"/>
          </a:solidFill>
          <a:ln w="19050">
            <a:solidFill>
              <a:srgbClr val="1322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789" name="Text 11"/>
          <p:cNvSpPr/>
          <p:nvPr/>
        </p:nvSpPr>
        <p:spPr>
          <a:xfrm>
            <a:off x="384120" y="2084760"/>
            <a:ext cx="2889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FFFFFF"/>
                </a:solidFill>
                <a:latin typeface="Calibri"/>
                <a:ea typeface="Calibri"/>
              </a:rPr>
              <a:t>Features: Top 20 SHAP (fixed)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1" name="Shape 13"/>
          <p:cNvSpPr/>
          <p:nvPr/>
        </p:nvSpPr>
        <p:spPr>
          <a:xfrm>
            <a:off x="384120" y="2688480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F7931A"/>
          </a:solidFill>
          <a:ln w="19050">
            <a:solidFill>
              <a:srgbClr val="F793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792" name="Text 14"/>
          <p:cNvSpPr/>
          <p:nvPr/>
        </p:nvSpPr>
        <p:spPr>
          <a:xfrm>
            <a:off x="384120" y="2688480"/>
            <a:ext cx="2889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-1">
                <a:solidFill>
                  <a:srgbClr val="FFFFFF"/>
                </a:solidFill>
                <a:latin typeface="Calibri"/>
                <a:ea typeface="Calibri"/>
              </a:rPr>
              <a:t>↕  VARIABLE: Ensemble method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4" name="Shape 16"/>
          <p:cNvSpPr/>
          <p:nvPr/>
        </p:nvSpPr>
        <p:spPr>
          <a:xfrm>
            <a:off x="384120" y="3291840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 w="19050">
            <a:solidFill>
              <a:srgbClr val="C8D0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795" name="Text 17"/>
          <p:cNvSpPr/>
          <p:nvPr/>
        </p:nvSpPr>
        <p:spPr>
          <a:xfrm>
            <a:off x="384120" y="3291840"/>
            <a:ext cx="2889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 dirty="0">
                <a:solidFill>
                  <a:srgbClr val="132238"/>
                </a:solidFill>
                <a:latin typeface="Calibri"/>
                <a:ea typeface="Calibri"/>
              </a:rPr>
              <a:t>RF+GB+XGB (Soft)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0" name="Shape 22"/>
          <p:cNvSpPr/>
          <p:nvPr/>
        </p:nvSpPr>
        <p:spPr>
          <a:xfrm>
            <a:off x="384120" y="4498920"/>
            <a:ext cx="2889000" cy="4568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 w="19050">
            <a:solidFill>
              <a:srgbClr val="C8D0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801" name="Text 23"/>
          <p:cNvSpPr/>
          <p:nvPr/>
        </p:nvSpPr>
        <p:spPr>
          <a:xfrm>
            <a:off x="384120" y="4498920"/>
            <a:ext cx="2889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050" spc="-1" dirty="0">
                <a:solidFill>
                  <a:srgbClr val="132238"/>
                </a:solidFill>
                <a:latin typeface="Calibri"/>
                <a:ea typeface="Calibri"/>
              </a:rPr>
              <a:t>RF+GB+XGB (Stacking) 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802" name="Table 0"/>
          <p:cNvGraphicFramePr/>
          <p:nvPr>
            <p:extLst>
              <p:ext uri="{D42A27DB-BD31-4B8C-83A1-F6EECF244321}">
                <p14:modId xmlns:p14="http://schemas.microsoft.com/office/powerpoint/2010/main" val="745927154"/>
              </p:ext>
            </p:extLst>
          </p:nvPr>
        </p:nvGraphicFramePr>
        <p:xfrm>
          <a:off x="3502080" y="1482120"/>
          <a:ext cx="5521680" cy="1828800"/>
        </p:xfrm>
        <a:graphic>
          <a:graphicData uri="http://schemas.openxmlformats.org/drawingml/2006/table">
            <a:tbl>
              <a:tblPr/>
              <a:tblGrid>
                <a:gridCol w="1663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1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1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5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47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Model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Val Acc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Val MCC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Test Acc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Test MCC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Test AUC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Gap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✓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FFFFFF"/>
                      </a:solidFill>
                      <a:prstDash val="solid"/>
                    </a:lnL>
                    <a:lnR w="64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FFFFFF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strike="noStrike" spc="-1">
                          <a:solidFill>
                            <a:srgbClr val="132238"/>
                          </a:solidFill>
                          <a:latin typeface="Calibri"/>
                          <a:ea typeface="Calibri"/>
                        </a:rPr>
                        <a:t>Soft Voting</a:t>
                      </a:r>
                      <a:endParaRPr lang="en-US" sz="1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73%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0.45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78%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0.590</a:t>
                      </a:r>
                      <a:endParaRPr lang="en-US" sz="1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0.871</a:t>
                      </a:r>
                      <a:endParaRPr lang="en-US" sz="1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0.09</a:t>
                      </a:r>
                      <a:endParaRPr lang="en-US" sz="1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strike="noStrike" spc="-1">
                          <a:solidFill>
                            <a:srgbClr val="F7931A"/>
                          </a:solidFill>
                          <a:latin typeface="Arial"/>
                          <a:ea typeface="Arial"/>
                        </a:rPr>
                        <a:t>✅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strike="noStrike" spc="-1" dirty="0">
                          <a:solidFill>
                            <a:srgbClr val="132238"/>
                          </a:solidFill>
                          <a:latin typeface="Calibri"/>
                          <a:ea typeface="Calibri"/>
                        </a:rPr>
                        <a:t>Hard voting 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132238"/>
                          </a:solidFill>
                          <a:latin typeface="Calibri"/>
                          <a:ea typeface="Calibri"/>
                        </a:rPr>
                        <a:t>73%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132238"/>
                          </a:solidFill>
                          <a:latin typeface="Calibri"/>
                          <a:ea typeface="Calibri"/>
                        </a:rPr>
                        <a:t>0.46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132238"/>
                          </a:solidFill>
                          <a:latin typeface="Calibri"/>
                          <a:ea typeface="Calibri"/>
                        </a:rPr>
                        <a:t>78%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132238"/>
                          </a:solidFill>
                          <a:latin typeface="Calibri"/>
                          <a:ea typeface="Calibri"/>
                        </a:rPr>
                        <a:t>0.57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132238"/>
                          </a:solidFill>
                          <a:latin typeface="Calibri"/>
                          <a:ea typeface="Calibri"/>
                        </a:rPr>
                        <a:t>_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132238"/>
                          </a:solidFill>
                          <a:latin typeface="Calibri"/>
                          <a:ea typeface="Calibri"/>
                        </a:rPr>
                        <a:t>0.09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strike="noStrike" spc="-1" dirty="0">
                          <a:solidFill>
                            <a:srgbClr val="F7931A"/>
                          </a:solidFill>
                          <a:latin typeface="Arial"/>
                          <a:ea typeface="Arial"/>
                        </a:rPr>
                        <a:t>✅</a:t>
                      </a:r>
                      <a:endParaRPr lang="en-US" sz="13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strike="noStrike" spc="-1" dirty="0">
                          <a:solidFill>
                            <a:srgbClr val="132238"/>
                          </a:solidFill>
                          <a:latin typeface="Calibri"/>
                          <a:ea typeface="Calibri"/>
                        </a:rPr>
                        <a:t>Stacking voting 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74%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0.48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77%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0.55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 dirty="0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0.87</a:t>
                      </a:r>
                      <a:endParaRPr lang="en-US" sz="1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strike="noStrike" spc="-1">
                          <a:solidFill>
                            <a:srgbClr val="3A4A5C"/>
                          </a:solidFill>
                          <a:latin typeface="Calibri"/>
                          <a:ea typeface="Calibri"/>
                        </a:rPr>
                        <a:t>0.09</a:t>
                      </a:r>
                      <a:endParaRPr lang="en-US" sz="1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strike="noStrike" spc="-1" dirty="0">
                          <a:solidFill>
                            <a:srgbClr val="8A9BB0"/>
                          </a:solidFill>
                          <a:latin typeface="Arial"/>
                          <a:ea typeface="Arial"/>
                        </a:rPr>
                        <a:t>✅</a:t>
                      </a:r>
                      <a:endParaRPr lang="en-US" sz="13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DDE2E8"/>
                      </a:solidFill>
                      <a:prstDash val="solid"/>
                    </a:lnL>
                    <a:lnR w="6480">
                      <a:solidFill>
                        <a:srgbClr val="DDE2E8"/>
                      </a:solidFill>
                      <a:prstDash val="solid"/>
                    </a:lnR>
                    <a:lnT w="6480">
                      <a:solidFill>
                        <a:srgbClr val="DDE2E8"/>
                      </a:solidFill>
                      <a:prstDash val="solid"/>
                    </a:lnT>
                    <a:lnB w="6480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03" name="Shape 25"/>
          <p:cNvSpPr/>
          <p:nvPr/>
        </p:nvSpPr>
        <p:spPr>
          <a:xfrm>
            <a:off x="9252720" y="1471871"/>
            <a:ext cx="2742840" cy="480852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round/>
          </a:ln>
          <a:effectLst>
            <a:outerShdw blurRad="101520" dist="37674" dir="8100000" algn="bl" rotWithShape="0">
              <a:srgbClr val="132238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811" name="Text 33"/>
          <p:cNvSpPr/>
          <p:nvPr/>
        </p:nvSpPr>
        <p:spPr>
          <a:xfrm>
            <a:off x="9444780" y="2170927"/>
            <a:ext cx="2358720" cy="8396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A8BCCF"/>
                </a:solidFill>
                <a:latin typeface="Calibri"/>
                <a:ea typeface="Calibri"/>
              </a:rPr>
              <a:t>Ensembles slightly underperform the  </a:t>
            </a:r>
          </a:p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900" spc="-1" dirty="0">
                <a:solidFill>
                  <a:srgbClr val="A8BCCF"/>
                </a:solidFill>
                <a:latin typeface="Calibri"/>
                <a:ea typeface="Calibri"/>
              </a:rPr>
              <a:t>GB </a:t>
            </a:r>
            <a:r>
              <a:rPr lang="en-US" sz="900" b="0" strike="noStrike" spc="-1" dirty="0">
                <a:solidFill>
                  <a:srgbClr val="A8BCCF"/>
                </a:solidFill>
                <a:latin typeface="Calibri"/>
                <a:ea typeface="Calibri"/>
              </a:rPr>
              <a:t>individual SHAP 20 model</a:t>
            </a:r>
          </a:p>
          <a:p>
            <a:pPr defTabSz="457200">
              <a:lnSpc>
                <a:spcPct val="100000"/>
              </a:lnSpc>
              <a:tabLst>
                <a:tab pos="0" algn="l"/>
              </a:tabLst>
            </a:pPr>
            <a:endParaRPr lang="en-US" sz="900" spc="-1" dirty="0">
              <a:solidFill>
                <a:srgbClr val="A8BCCF"/>
              </a:solidFill>
              <a:latin typeface="Calibri"/>
              <a:ea typeface="Calibri"/>
            </a:endParaRPr>
          </a:p>
          <a:p>
            <a:pPr defTabSz="457200">
              <a:lnSpc>
                <a:spcPct val="100000"/>
              </a:lnSpc>
              <a:tabLst>
                <a:tab pos="0" algn="l"/>
              </a:tabLst>
            </a:pPr>
            <a:endParaRPr lang="en-US" sz="900" b="0" strike="noStrike" spc="-1" dirty="0">
              <a:solidFill>
                <a:srgbClr val="A8BCCF"/>
              </a:solidFill>
              <a:latin typeface="Calibri"/>
              <a:ea typeface="Calibri"/>
            </a:endParaRPr>
          </a:p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900" spc="-1" dirty="0">
                <a:solidFill>
                  <a:srgbClr val="A8BCCF"/>
                </a:solidFill>
                <a:latin typeface="Calibri"/>
                <a:ea typeface="Calibri"/>
              </a:rPr>
              <a:t> Decision :  we save the GB SHAP 20 as final BTC model </a:t>
            </a:r>
          </a:p>
          <a:p>
            <a:pPr defTabSz="457200">
              <a:lnSpc>
                <a:spcPct val="100000"/>
              </a:lnSpc>
              <a:tabLst>
                <a:tab pos="0" algn="l"/>
              </a:tabLst>
            </a:pP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6" name="Shape 38"/>
          <p:cNvSpPr/>
          <p:nvPr/>
        </p:nvSpPr>
        <p:spPr>
          <a:xfrm>
            <a:off x="0" y="6382440"/>
            <a:ext cx="12161160" cy="47520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2" name="Text 17">
            <a:extLst>
              <a:ext uri="{FF2B5EF4-FFF2-40B4-BE49-F238E27FC236}">
                <a16:creationId xmlns:a16="http://schemas.microsoft.com/office/drawing/2014/main" id="{49493FFF-0DE3-CE39-D658-6F77189E4E5A}"/>
              </a:ext>
            </a:extLst>
          </p:cNvPr>
          <p:cNvSpPr/>
          <p:nvPr/>
        </p:nvSpPr>
        <p:spPr>
          <a:xfrm>
            <a:off x="384120" y="3902136"/>
            <a:ext cx="2889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050" spc="-1" dirty="0">
                <a:solidFill>
                  <a:srgbClr val="132238"/>
                </a:solidFill>
                <a:latin typeface="Calibri"/>
                <a:ea typeface="Calibri"/>
              </a:rPr>
              <a:t>RF+GB+XGB </a:t>
            </a:r>
            <a:r>
              <a:rPr lang="en-US" sz="1050" b="0" strike="noStrike" spc="-1" dirty="0">
                <a:solidFill>
                  <a:srgbClr val="132238"/>
                </a:solidFill>
                <a:latin typeface="Calibri"/>
                <a:ea typeface="Calibri"/>
              </a:rPr>
              <a:t>(Hard)  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Shape 39">
            <a:extLst>
              <a:ext uri="{FF2B5EF4-FFF2-40B4-BE49-F238E27FC236}">
                <a16:creationId xmlns:a16="http://schemas.microsoft.com/office/drawing/2014/main" id="{68D6750E-6FBA-80B4-236B-D30378D10AFD}"/>
              </a:ext>
            </a:extLst>
          </p:cNvPr>
          <p:cNvSpPr/>
          <p:nvPr/>
        </p:nvSpPr>
        <p:spPr>
          <a:xfrm>
            <a:off x="82114" y="6469132"/>
            <a:ext cx="1706750" cy="310680"/>
          </a:xfrm>
          <a:prstGeom prst="roundRect">
            <a:avLst>
              <a:gd name="adj" fmla="val 17647"/>
            </a:avLst>
          </a:prstGeom>
          <a:solidFill>
            <a:srgbClr val="F7931A"/>
          </a:solidFill>
          <a:ln w="12700">
            <a:solidFill>
              <a:srgbClr val="F793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lvl="0" algn="ctr">
              <a:tabLst>
                <a:tab pos="0" algn="l"/>
              </a:tabLst>
              <a:defRPr/>
            </a:pPr>
            <a:r>
              <a:rPr lang="en-US" sz="1000" b="1" spc="-1" dirty="0">
                <a:solidFill>
                  <a:srgbClr val="FFFFFF"/>
                </a:solidFill>
                <a:latin typeface="Calibri"/>
                <a:ea typeface="Calibri"/>
              </a:rPr>
              <a:t>★  S2 Regime-Aware Split  </a:t>
            </a:r>
            <a:endParaRPr lang="en-US" sz="10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Shape 39">
            <a:extLst>
              <a:ext uri="{FF2B5EF4-FFF2-40B4-BE49-F238E27FC236}">
                <a16:creationId xmlns:a16="http://schemas.microsoft.com/office/drawing/2014/main" id="{CBB66676-2A7D-C6C7-CA4D-AE18C77222AB}"/>
              </a:ext>
            </a:extLst>
          </p:cNvPr>
          <p:cNvSpPr/>
          <p:nvPr/>
        </p:nvSpPr>
        <p:spPr>
          <a:xfrm>
            <a:off x="1917720" y="6464880"/>
            <a:ext cx="1706750" cy="310680"/>
          </a:xfrm>
          <a:prstGeom prst="roundRect">
            <a:avLst>
              <a:gd name="adj" fmla="val 17647"/>
            </a:avLst>
          </a:prstGeom>
          <a:solidFill>
            <a:srgbClr val="F7931A"/>
          </a:solidFill>
          <a:ln w="12700">
            <a:solidFill>
              <a:srgbClr val="F793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★  Gradient Boosting Tuned</a:t>
            </a:r>
            <a:endParaRPr kumimoji="0" lang="en-DE" sz="1000" b="1" i="0" u="none" strike="noStrike" kern="1200" cap="none" spc="-1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+mn-cs"/>
            </a:endParaRPr>
          </a:p>
        </p:txBody>
      </p:sp>
      <p:sp>
        <p:nvSpPr>
          <p:cNvPr id="6" name="Shape 39">
            <a:extLst>
              <a:ext uri="{FF2B5EF4-FFF2-40B4-BE49-F238E27FC236}">
                <a16:creationId xmlns:a16="http://schemas.microsoft.com/office/drawing/2014/main" id="{D6A82A24-D2C9-DB80-8116-7A19B7C9C774}"/>
              </a:ext>
            </a:extLst>
          </p:cNvPr>
          <p:cNvSpPr/>
          <p:nvPr/>
        </p:nvSpPr>
        <p:spPr>
          <a:xfrm>
            <a:off x="3746520" y="6464700"/>
            <a:ext cx="1310967" cy="310680"/>
          </a:xfrm>
          <a:prstGeom prst="roundRect">
            <a:avLst>
              <a:gd name="adj" fmla="val 17647"/>
            </a:avLst>
          </a:prstGeom>
          <a:solidFill>
            <a:srgbClr val="F7931A"/>
          </a:solidFill>
          <a:ln w="12700">
            <a:solidFill>
              <a:srgbClr val="F793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00" b="1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★ Top 20 SHAP</a:t>
            </a:r>
            <a:endParaRPr kumimoji="0" lang="en-US" sz="10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Shape 39">
            <a:extLst>
              <a:ext uri="{FF2B5EF4-FFF2-40B4-BE49-F238E27FC236}">
                <a16:creationId xmlns:a16="http://schemas.microsoft.com/office/drawing/2014/main" id="{939E52B1-3DE5-58BD-26DC-2D5EDC66C52F}"/>
              </a:ext>
            </a:extLst>
          </p:cNvPr>
          <p:cNvSpPr/>
          <p:nvPr/>
        </p:nvSpPr>
        <p:spPr>
          <a:xfrm>
            <a:off x="10189452" y="6454906"/>
            <a:ext cx="1406199" cy="310680"/>
          </a:xfrm>
          <a:prstGeom prst="roundRect">
            <a:avLst>
              <a:gd name="adj" fmla="val 17647"/>
            </a:avLst>
          </a:prstGeom>
          <a:noFill/>
          <a:ln w="12700">
            <a:solidFill>
              <a:srgbClr val="00B0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/>
            <a:r>
              <a:rPr lang="en-US" sz="1000" b="1" spc="-1" dirty="0">
                <a:latin typeface="Calibri"/>
                <a:ea typeface="Calibri"/>
              </a:rPr>
              <a:t>Best Accuracy : 80,1%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5FB633-9DDC-B983-7E7F-5FF32026F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Shape 0">
            <a:extLst>
              <a:ext uri="{FF2B5EF4-FFF2-40B4-BE49-F238E27FC236}">
                <a16:creationId xmlns:a16="http://schemas.microsoft.com/office/drawing/2014/main" id="{0E6617A3-5989-2150-53A4-E6FB5E7B9048}"/>
              </a:ext>
            </a:extLst>
          </p:cNvPr>
          <p:cNvSpPr/>
          <p:nvPr/>
        </p:nvSpPr>
        <p:spPr>
          <a:xfrm>
            <a:off x="0" y="0"/>
            <a:ext cx="12161160" cy="98712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784" name="Text 4">
            <a:extLst>
              <a:ext uri="{FF2B5EF4-FFF2-40B4-BE49-F238E27FC236}">
                <a16:creationId xmlns:a16="http://schemas.microsoft.com/office/drawing/2014/main" id="{575E5A64-9F24-DAF6-1668-94A7B763E6CF}"/>
              </a:ext>
            </a:extLst>
          </p:cNvPr>
          <p:cNvSpPr/>
          <p:nvPr/>
        </p:nvSpPr>
        <p:spPr>
          <a:xfrm>
            <a:off x="0" y="91440"/>
            <a:ext cx="12161160" cy="80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 dirty="0">
                <a:solidFill>
                  <a:srgbClr val="FFFFFF"/>
                </a:solidFill>
                <a:latin typeface="Arial Black"/>
                <a:ea typeface="Arial Black"/>
              </a:rPr>
              <a:t>Evaluation </a:t>
            </a:r>
            <a:endParaRPr lang="en-US" sz="26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370DC9-2110-822F-AB2E-EFCAF3524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87120"/>
            <a:ext cx="7475387" cy="58708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67A967E-F7FA-9501-3166-28041F0B68F2}"/>
              </a:ext>
            </a:extLst>
          </p:cNvPr>
          <p:cNvSpPr txBox="1"/>
          <p:nvPr/>
        </p:nvSpPr>
        <p:spPr>
          <a:xfrm>
            <a:off x="7582332" y="1687354"/>
            <a:ext cx="4471883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spc="-1" dirty="0">
              <a:solidFill>
                <a:schemeClr val="tx2">
                  <a:lumMod val="25000"/>
                </a:schemeClr>
              </a:solidFill>
              <a:latin typeface="Calibri"/>
              <a:ea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spc="-1" dirty="0">
              <a:latin typeface="Calibri"/>
              <a:ea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spc="-1" dirty="0">
                <a:latin typeface="Calibri"/>
                <a:ea typeface="Calibri"/>
              </a:rPr>
              <a:t>Detects DOWN days more reliably (87.9% recall)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spc="-1" dirty="0">
              <a:latin typeface="Calibri"/>
              <a:ea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spc="-1" dirty="0">
                <a:latin typeface="Calibri"/>
                <a:ea typeface="Calibri"/>
              </a:rPr>
              <a:t>More precise when calling UP (85.2% precision)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spc="-1" dirty="0">
                <a:latin typeface="Calibri"/>
                <a:ea typeface="Calibri"/>
              </a:rPr>
              <a:t>Only 5/14 months beat the average 80% , meaning performance is right-skewed a few very strong months pull the average up, while the majority cluster slightly below.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spc="-1" dirty="0">
              <a:latin typeface="Calibri"/>
              <a:ea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spc="-1" dirty="0">
                <a:latin typeface="Calibri"/>
                <a:ea typeface="Calibri"/>
              </a:rPr>
              <a:t>The 25.8pp spread between best and worst month is significant, This points to regime sensitivity: </a:t>
            </a:r>
          </a:p>
          <a:p>
            <a:endParaRPr lang="en-US" sz="1400" spc="-1" dirty="0">
              <a:latin typeface="Calibri"/>
              <a:ea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spc="-1" dirty="0">
                <a:latin typeface="Calibri"/>
                <a:ea typeface="Calibri"/>
              </a:rPr>
              <a:t>The model performs differently depending on market conditions.</a:t>
            </a:r>
          </a:p>
          <a:p>
            <a:endParaRPr lang="en-US" sz="1400" spc="-1" dirty="0">
              <a:latin typeface="Calibri"/>
              <a:ea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spc="-1" dirty="0">
                <a:latin typeface="Calibri"/>
                <a:ea typeface="Calibri"/>
              </a:rPr>
              <a:t>The 71% floor in May 2025 is still well above random, confirming robustness even in its worst period.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spc="-1" dirty="0">
              <a:solidFill>
                <a:schemeClr val="bg1"/>
              </a:solidFill>
              <a:latin typeface="Calibri"/>
              <a:ea typeface="Calibri"/>
            </a:endParaRPr>
          </a:p>
          <a:p>
            <a:endParaRPr lang="en-US" dirty="0"/>
          </a:p>
          <a:p>
            <a:endParaRPr lang="en-US" sz="1400" spc="-1" dirty="0">
              <a:solidFill>
                <a:schemeClr val="bg1"/>
              </a:solidFill>
              <a:latin typeface="Calibri"/>
              <a:ea typeface="Calibri"/>
            </a:endParaRPr>
          </a:p>
          <a:p>
            <a:endParaRPr lang="en-DE" sz="1400" spc="-1" dirty="0">
              <a:solidFill>
                <a:schemeClr val="bg1"/>
              </a:solidFill>
              <a:latin typeface="Calibri"/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480416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HdrBg"/>
          <p:cNvSpPr/>
          <p:nvPr/>
        </p:nvSpPr>
        <p:spPr>
          <a:xfrm>
            <a:off x="0" y="0"/>
            <a:ext cx="12161160" cy="98712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5" name="OrangeStripe"/>
          <p:cNvSpPr/>
          <p:nvPr/>
        </p:nvSpPr>
        <p:spPr>
          <a:xfrm>
            <a:off x="0" y="0"/>
            <a:ext cx="164160" cy="98712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6" name="Title"/>
          <p:cNvSpPr/>
          <p:nvPr/>
        </p:nvSpPr>
        <p:spPr>
          <a:xfrm>
            <a:off x="228600" y="91440"/>
            <a:ext cx="11932560" cy="80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>
                <a:solidFill>
                  <a:srgbClr val="FFFFFF"/>
                </a:solidFill>
                <a:latin typeface="Arial Black"/>
              </a:rPr>
              <a:t>Benchmark Positioning : Where We Stand in Literature</a:t>
            </a:r>
            <a:endParaRPr lang="en-US" sz="2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7DF454-4EC6-FF2C-9E8A-015E4DC414AD}"/>
              </a:ext>
            </a:extLst>
          </p:cNvPr>
          <p:cNvSpPr txBox="1"/>
          <p:nvPr/>
        </p:nvSpPr>
        <p:spPr>
          <a:xfrm>
            <a:off x="3518598" y="4832305"/>
            <a:ext cx="610044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spc="-1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</a:rPr>
              <a:t>Our model is placed in the top tier of published daily BTC direction models.</a:t>
            </a:r>
          </a:p>
          <a:p>
            <a:pPr>
              <a:buNone/>
            </a:pPr>
            <a:endParaRPr lang="en-US" sz="1400" spc="-1" dirty="0">
              <a:solidFill>
                <a:schemeClr val="bg2">
                  <a:lumMod val="50000"/>
                </a:schemeClr>
              </a:solidFill>
              <a:latin typeface="Calibri"/>
              <a:ea typeface="Calibri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spc="-1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</a:rPr>
              <a:t>Accuracy within 2–3% of the best deep learning models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spc="-1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</a:rPr>
              <a:t>Uses far fewer features (20 vs 87–225)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spc="-1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</a:rPr>
              <a:t>Do not rely on on-chain data</a:t>
            </a:r>
          </a:p>
        </p:txBody>
      </p:sp>
      <p:graphicFrame>
        <p:nvGraphicFramePr>
          <p:cNvPr id="5" name="BenchTable">
            <a:extLst>
              <a:ext uri="{FF2B5EF4-FFF2-40B4-BE49-F238E27FC236}">
                <a16:creationId xmlns:a16="http://schemas.microsoft.com/office/drawing/2014/main" id="{F6913246-511E-6822-F36D-E468C1A1CF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6061069"/>
              </p:ext>
            </p:extLst>
          </p:nvPr>
        </p:nvGraphicFramePr>
        <p:xfrm>
          <a:off x="162326" y="1343219"/>
          <a:ext cx="11836508" cy="2812613"/>
        </p:xfrm>
        <a:graphic>
          <a:graphicData uri="http://schemas.openxmlformats.org/drawingml/2006/table">
            <a:tbl>
              <a:tblPr/>
              <a:tblGrid>
                <a:gridCol w="1255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8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10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31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97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42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1591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42099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610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1" strike="noStrike" spc="-1" dirty="0">
                          <a:solidFill>
                            <a:srgbClr val="FFFFFF"/>
                          </a:solidFill>
                          <a:latin typeface="Arial"/>
                        </a:rPr>
                        <a:t>Study</a:t>
                      </a:r>
                      <a:endParaRPr lang="en-US" sz="12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D4AA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Arial"/>
                        </a:rPr>
                        <a:t>Authors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D4AA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D4AA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strike="noStrike" spc="-1" dirty="0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  <a:endParaRPr lang="en-US" sz="12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D4AA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strike="noStrike" spc="-1" dirty="0">
                          <a:solidFill>
                            <a:srgbClr val="FFFFFF"/>
                          </a:solidFill>
                          <a:latin typeface="Arial"/>
                        </a:rPr>
                        <a:t>Horizon</a:t>
                      </a:r>
                      <a:endParaRPr lang="en-US" sz="12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D4AA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Arial"/>
                        </a:rPr>
                        <a:t>Accuracy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D4AA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Arial"/>
                        </a:rPr>
                        <a:t># Feat.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D4AA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Arial"/>
                        </a:rPr>
                        <a:t>Data Type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 cap="flat" cmpd="sng" algn="ctr">
                      <a:solidFill>
                        <a:srgbClr val="00D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1" strike="noStrike" spc="-1" dirty="0">
                          <a:solidFill>
                            <a:srgbClr val="FFFFFF"/>
                          </a:solidFill>
                          <a:latin typeface="Arial"/>
                        </a:rPr>
                        <a:t>Source</a:t>
                      </a:r>
                      <a:endParaRPr lang="en-US" sz="12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D4AA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0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strike="noStrike" spc="-1" dirty="0">
                          <a:solidFill>
                            <a:srgbClr val="FFFFFF"/>
                          </a:solidFill>
                          <a:latin typeface="Calibri"/>
                        </a:rPr>
                        <a:t>Omole &amp; Enke</a:t>
                      </a:r>
                      <a:endParaRPr lang="en-US" sz="12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 cap="flat" cmpd="sng" algn="ctr">
                      <a:solidFill>
                        <a:srgbClr val="00D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strike="noStrike" spc="-1">
                          <a:solidFill>
                            <a:srgbClr val="A8BCCF"/>
                          </a:solidFill>
                          <a:latin typeface="Calibri"/>
                        </a:rPr>
                        <a:t>A. Omole &amp; D. Enke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 cap="flat" cmpd="sng" algn="ctr">
                      <a:solidFill>
                        <a:srgbClr val="00D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strike="noStrike" spc="-1">
                          <a:solidFill>
                            <a:srgbClr val="A8BCCF"/>
                          </a:solidFill>
                          <a:latin typeface="Calibri"/>
                        </a:rPr>
                        <a:t>2024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 cap="flat" cmpd="sng" algn="ctr">
                      <a:solidFill>
                        <a:srgbClr val="00D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strike="noStrike" spc="-1">
                          <a:solidFill>
                            <a:srgbClr val="A8BCCF"/>
                          </a:solidFill>
                          <a:latin typeface="Calibri"/>
                        </a:rPr>
                        <a:t>CNN-LSTM + Boruta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 cap="flat" cmpd="sng" algn="ctr">
                      <a:solidFill>
                        <a:srgbClr val="00D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strike="noStrike" spc="-1">
                          <a:solidFill>
                            <a:srgbClr val="A8BCCF"/>
                          </a:solidFill>
                          <a:latin typeface="Calibri"/>
                        </a:rPr>
                        <a:t>Daily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 cap="flat" cmpd="sng" algn="ctr">
                      <a:solidFill>
                        <a:srgbClr val="00D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strike="noStrike" spc="-1">
                          <a:solidFill>
                            <a:srgbClr val="A8BCCF"/>
                          </a:solidFill>
                          <a:latin typeface="Calibri"/>
                        </a:rPr>
                        <a:t>82.44%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 cap="flat" cmpd="sng" algn="ctr">
                      <a:solidFill>
                        <a:srgbClr val="00D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strike="noStrike" spc="-1">
                          <a:solidFill>
                            <a:srgbClr val="A8BCCF"/>
                          </a:solidFill>
                          <a:latin typeface="Calibri"/>
                        </a:rPr>
                        <a:t>87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 cap="flat" cmpd="sng" algn="ctr">
                      <a:solidFill>
                        <a:srgbClr val="00D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strike="noStrike" spc="-1">
                          <a:solidFill>
                            <a:srgbClr val="A8BCCF"/>
                          </a:solidFill>
                          <a:latin typeface="Calibri"/>
                        </a:rPr>
                        <a:t>Blockchain + Price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 cap="flat" cmpd="sng" algn="ctr">
                      <a:solidFill>
                        <a:srgbClr val="00D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strike="noStrike" spc="-1">
                          <a:solidFill>
                            <a:srgbClr val="A8BCCF"/>
                          </a:solidFill>
                          <a:latin typeface="Calibri"/>
                        </a:rPr>
                        <a:t>Financial Innovation (Springer)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 cap="flat" cmpd="sng" algn="ctr">
                      <a:solidFill>
                        <a:srgbClr val="00D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5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strike="noStrike" spc="-1" dirty="0">
                          <a:solidFill>
                            <a:srgbClr val="FFFFFF"/>
                          </a:solidFill>
                          <a:latin typeface="Calibri"/>
                        </a:rPr>
                        <a:t>ScienceDirect Study</a:t>
                      </a:r>
                      <a:endParaRPr lang="en-US" sz="12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strike="noStrike" spc="-1" dirty="0">
                          <a:solidFill>
                            <a:srgbClr val="A8BCCF"/>
                          </a:solidFill>
                          <a:latin typeface="Calibri"/>
                        </a:rPr>
                        <a:t>Elsevier Research Team</a:t>
                      </a:r>
                      <a:endParaRPr lang="en-US" sz="12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strike="noStrike" spc="-1">
                          <a:solidFill>
                            <a:srgbClr val="A8BCCF"/>
                          </a:solidFill>
                          <a:latin typeface="Calibri"/>
                        </a:rPr>
                        <a:t>2025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strike="noStrike" spc="-1" dirty="0">
                          <a:solidFill>
                            <a:srgbClr val="A8BCCF"/>
                          </a:solidFill>
                          <a:latin typeface="Calibri"/>
                        </a:rPr>
                        <a:t>SVM (best)</a:t>
                      </a:r>
                      <a:endParaRPr lang="en-US" sz="12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strike="noStrike" spc="-1">
                          <a:solidFill>
                            <a:srgbClr val="A8BCCF"/>
                          </a:solidFill>
                          <a:latin typeface="Calibri"/>
                        </a:rPr>
                        <a:t>Daily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strike="noStrike" spc="-1" dirty="0">
                          <a:solidFill>
                            <a:srgbClr val="A8BCCF"/>
                          </a:solidFill>
                          <a:latin typeface="Calibri"/>
                        </a:rPr>
                        <a:t>83%</a:t>
                      </a:r>
                      <a:endParaRPr lang="en-US" sz="12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strike="noStrike" spc="-1" dirty="0">
                          <a:solidFill>
                            <a:srgbClr val="A8BCCF"/>
                          </a:solidFill>
                          <a:latin typeface="Calibri"/>
                        </a:rPr>
                        <a:t>225</a:t>
                      </a:r>
                      <a:endParaRPr lang="en-US" sz="12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strike="noStrike" spc="-1">
                          <a:solidFill>
                            <a:srgbClr val="A8BCCF"/>
                          </a:solidFill>
                          <a:latin typeface="Calibri"/>
                        </a:rPr>
                        <a:t>Blockchain + TA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strike="noStrike" spc="-1" dirty="0">
                          <a:solidFill>
                            <a:srgbClr val="A8BCCF"/>
                          </a:solidFill>
                          <a:latin typeface="Calibri"/>
                        </a:rPr>
                        <a:t>Engineering App. AI (Elsevier)</a:t>
                      </a:r>
                      <a:endParaRPr lang="en-US" sz="12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04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strike="noStrike" spc="-1">
                          <a:solidFill>
                            <a:srgbClr val="FFFFFF"/>
                          </a:solidFill>
                          <a:latin typeface="Calibri"/>
                        </a:rPr>
                        <a:t>Bianchi et al.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strike="noStrike" spc="-1" dirty="0">
                          <a:solidFill>
                            <a:srgbClr val="A8BCCF"/>
                          </a:solidFill>
                          <a:latin typeface="Calibri"/>
                        </a:rPr>
                        <a:t>Bianchi et al.</a:t>
                      </a:r>
                      <a:endParaRPr lang="en-US" sz="12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strike="noStrike" spc="-1">
                          <a:solidFill>
                            <a:srgbClr val="A8BCCF"/>
                          </a:solidFill>
                          <a:latin typeface="Calibri"/>
                        </a:rPr>
                        <a:t>2022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strike="noStrike" spc="-1">
                          <a:solidFill>
                            <a:srgbClr val="A8BCCF"/>
                          </a:solidFill>
                          <a:latin typeface="Calibri"/>
                        </a:rPr>
                        <a:t>Random Forest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strike="noStrike" spc="-1" dirty="0">
                          <a:solidFill>
                            <a:srgbClr val="A8BCCF"/>
                          </a:solidFill>
                          <a:latin typeface="Calibri"/>
                        </a:rPr>
                        <a:t>5-day </a:t>
                      </a:r>
                      <a:endParaRPr lang="en-US" sz="12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strike="noStrike" spc="-1">
                          <a:solidFill>
                            <a:srgbClr val="A8BCCF"/>
                          </a:solidFill>
                          <a:latin typeface="Calibri"/>
                        </a:rPr>
                        <a:t>75–80%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strike="noStrike" spc="-1">
                          <a:solidFill>
                            <a:srgbClr val="A8BCCF"/>
                          </a:solidFill>
                          <a:latin typeface="Calibri"/>
                        </a:rPr>
                        <a:t>50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strike="noStrike" spc="-1">
                          <a:solidFill>
                            <a:srgbClr val="A8BCCF"/>
                          </a:solidFill>
                          <a:latin typeface="Calibri"/>
                        </a:rPr>
                        <a:t>Macro + Technical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strike="noStrike" spc="-1">
                          <a:solidFill>
                            <a:srgbClr val="A8BCCF"/>
                          </a:solidFill>
                          <a:latin typeface="Calibri"/>
                        </a:rPr>
                        <a:t>J. Risk &amp; Fin. Management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04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strike="noStrike" spc="-1">
                          <a:solidFill>
                            <a:srgbClr val="FFFFFF"/>
                          </a:solidFill>
                          <a:latin typeface="Calibri"/>
                        </a:rPr>
                        <a:t>Jaquart et al.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strike="noStrike" spc="-1" dirty="0">
                          <a:solidFill>
                            <a:srgbClr val="A8BCCF"/>
                          </a:solidFill>
                          <a:latin typeface="Calibri"/>
                        </a:rPr>
                        <a:t>Jaquart et al.</a:t>
                      </a:r>
                      <a:endParaRPr lang="en-US" sz="12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strike="noStrike" spc="-1">
                          <a:solidFill>
                            <a:srgbClr val="A8BCCF"/>
                          </a:solidFill>
                          <a:latin typeface="Calibri"/>
                        </a:rPr>
                        <a:t>2021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strike="noStrike" spc="-1" dirty="0">
                          <a:solidFill>
                            <a:srgbClr val="A8BCCF"/>
                          </a:solidFill>
                          <a:latin typeface="Calibri"/>
                        </a:rPr>
                        <a:t>GB / RNN</a:t>
                      </a:r>
                      <a:endParaRPr lang="en-US" sz="12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strike="noStrike" spc="-1" dirty="0">
                          <a:solidFill>
                            <a:srgbClr val="A8BCCF"/>
                          </a:solidFill>
                          <a:latin typeface="Calibri"/>
                        </a:rPr>
                        <a:t>1–60 min </a:t>
                      </a:r>
                      <a:endParaRPr lang="en-US" sz="12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strike="noStrike" kern="1200" spc="-1" dirty="0">
                          <a:solidFill>
                            <a:srgbClr val="A8BCCF"/>
                          </a:solidFill>
                          <a:latin typeface="Calibri"/>
                          <a:ea typeface="+mn-ea"/>
                          <a:cs typeface="+mn-cs"/>
                        </a:rPr>
                        <a:t>70%</a:t>
                      </a: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strike="noStrike" spc="-1" dirty="0">
                          <a:solidFill>
                            <a:srgbClr val="A8BCCF"/>
                          </a:solidFill>
                          <a:latin typeface="Calibri"/>
                        </a:rPr>
                        <a:t>50</a:t>
                      </a:r>
                      <a:endParaRPr lang="en-US" sz="12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strike="noStrike" spc="-1" dirty="0">
                          <a:solidFill>
                            <a:srgbClr val="A8BCCF"/>
                          </a:solidFill>
                          <a:latin typeface="Calibri"/>
                        </a:rPr>
                        <a:t>TA + Chain + Sentiment</a:t>
                      </a:r>
                      <a:endParaRPr lang="en-US" sz="12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strike="noStrike" spc="-1">
                          <a:solidFill>
                            <a:srgbClr val="A8BCCF"/>
                          </a:solidFill>
                          <a:latin typeface="Calibri"/>
                        </a:rPr>
                        <a:t>Electronic Markets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0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1" strike="noStrike" spc="-1" dirty="0">
                          <a:solidFill>
                            <a:srgbClr val="132238"/>
                          </a:solidFill>
                          <a:latin typeface="Arial"/>
                        </a:rPr>
                        <a:t>★ Our Model</a:t>
                      </a:r>
                      <a:endParaRPr lang="en-US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793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strike="noStrike" kern="1200" spc="-1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+mn-cs"/>
                        </a:rPr>
                        <a:t>Maryem.T</a:t>
                      </a:r>
                      <a:endParaRPr lang="en-US" sz="1200" b="0" strike="noStrike" kern="1200" spc="-1" dirty="0">
                        <a:solidFill>
                          <a:schemeClr val="bg2">
                            <a:lumMod val="50000"/>
                          </a:schemeClr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793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strike="noStrike" spc="-1" dirty="0">
                          <a:solidFill>
                            <a:srgbClr val="132238"/>
                          </a:solidFill>
                          <a:latin typeface="Arial"/>
                        </a:rPr>
                        <a:t>2026</a:t>
                      </a:r>
                      <a:endParaRPr lang="en-US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793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strike="noStrike" spc="-1" dirty="0">
                          <a:solidFill>
                            <a:srgbClr val="132238"/>
                          </a:solidFill>
                          <a:latin typeface="Arial"/>
                        </a:rPr>
                        <a:t>GB + SHAP</a:t>
                      </a:r>
                      <a:endParaRPr lang="en-US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793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strike="noStrike" spc="-1" dirty="0">
                          <a:solidFill>
                            <a:srgbClr val="132238"/>
                          </a:solidFill>
                          <a:latin typeface="Arial"/>
                        </a:rPr>
                        <a:t>Daily</a:t>
                      </a:r>
                      <a:endParaRPr lang="en-US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793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strike="noStrike" spc="-1" dirty="0">
                          <a:solidFill>
                            <a:srgbClr val="132238"/>
                          </a:solidFill>
                          <a:latin typeface="Arial"/>
                        </a:rPr>
                        <a:t>80.1%</a:t>
                      </a:r>
                      <a:endParaRPr lang="en-US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793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strike="noStrike" spc="-1" dirty="0">
                          <a:solidFill>
                            <a:srgbClr val="132238"/>
                          </a:solidFill>
                          <a:latin typeface="Arial"/>
                        </a:rPr>
                        <a:t>20</a:t>
                      </a:r>
                      <a:endParaRPr lang="en-US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793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strike="noStrike" spc="-1" dirty="0">
                          <a:solidFill>
                            <a:srgbClr val="132238"/>
                          </a:solidFill>
                          <a:latin typeface="Arial"/>
                        </a:rPr>
                        <a:t>TA + Macro + Sentiment</a:t>
                      </a:r>
                      <a:endParaRPr lang="en-US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793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793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79F7CB-4687-37FC-866D-2C16DC4D3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Shape 0">
            <a:extLst>
              <a:ext uri="{FF2B5EF4-FFF2-40B4-BE49-F238E27FC236}">
                <a16:creationId xmlns:a16="http://schemas.microsoft.com/office/drawing/2014/main" id="{DBE5C491-2102-FB9C-F81F-C38432CFC360}"/>
              </a:ext>
            </a:extLst>
          </p:cNvPr>
          <p:cNvSpPr/>
          <p:nvPr/>
        </p:nvSpPr>
        <p:spPr>
          <a:xfrm>
            <a:off x="0" y="0"/>
            <a:ext cx="12161160" cy="98712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781" name="Shape 1">
            <a:extLst>
              <a:ext uri="{FF2B5EF4-FFF2-40B4-BE49-F238E27FC236}">
                <a16:creationId xmlns:a16="http://schemas.microsoft.com/office/drawing/2014/main" id="{BBB29FD0-4020-1E3B-BEF6-9E94BC07C7A0}"/>
              </a:ext>
            </a:extLst>
          </p:cNvPr>
          <p:cNvSpPr/>
          <p:nvPr/>
        </p:nvSpPr>
        <p:spPr>
          <a:xfrm>
            <a:off x="0" y="0"/>
            <a:ext cx="164160" cy="98712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DE" sz="1800" b="0" strike="noStrike" spc="-1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784" name="Text 4">
            <a:extLst>
              <a:ext uri="{FF2B5EF4-FFF2-40B4-BE49-F238E27FC236}">
                <a16:creationId xmlns:a16="http://schemas.microsoft.com/office/drawing/2014/main" id="{FC2C843C-6062-FA53-BAD2-61E235D20149}"/>
              </a:ext>
            </a:extLst>
          </p:cNvPr>
          <p:cNvSpPr/>
          <p:nvPr/>
        </p:nvSpPr>
        <p:spPr>
          <a:xfrm>
            <a:off x="0" y="91440"/>
            <a:ext cx="12161160" cy="80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 dirty="0">
                <a:solidFill>
                  <a:srgbClr val="FFFFFF"/>
                </a:solidFill>
                <a:latin typeface="Arial Black"/>
                <a:ea typeface="Arial Black"/>
              </a:rPr>
              <a:t>ETH testing journey</a:t>
            </a:r>
            <a:endParaRPr lang="en-US" sz="2600" b="0" strike="noStrike" spc="-1" dirty="0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8" name="MainTable">
            <a:extLst>
              <a:ext uri="{FF2B5EF4-FFF2-40B4-BE49-F238E27FC236}">
                <a16:creationId xmlns:a16="http://schemas.microsoft.com/office/drawing/2014/main" id="{3ACDCF19-843D-ADCF-62E9-953D27381E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5664928"/>
              </p:ext>
            </p:extLst>
          </p:nvPr>
        </p:nvGraphicFramePr>
        <p:xfrm>
          <a:off x="45454" y="1078560"/>
          <a:ext cx="12101089" cy="3853801"/>
        </p:xfrm>
        <a:graphic>
          <a:graphicData uri="http://schemas.openxmlformats.org/drawingml/2006/table">
            <a:tbl>
              <a:tblPr/>
              <a:tblGrid>
                <a:gridCol w="555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30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7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06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6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52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52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52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750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600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2522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1" strike="noStrike" spc="-1" dirty="0">
                          <a:solidFill>
                            <a:srgbClr val="FFFFFF"/>
                          </a:solidFill>
                          <a:latin typeface="Arial"/>
                        </a:rPr>
                        <a:t>Exp</a:t>
                      </a:r>
                      <a:endParaRPr lang="en-US" sz="11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627EEA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strike="noStrike" spc="-1" dirty="0">
                          <a:solidFill>
                            <a:srgbClr val="FFFFFF"/>
                          </a:solidFill>
                          <a:latin typeface="Arial"/>
                        </a:rPr>
                        <a:t>Experiment</a:t>
                      </a:r>
                      <a:endParaRPr lang="en-US" sz="11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627EEA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strike="noStrike" spc="-1">
                          <a:solidFill>
                            <a:srgbClr val="FFFFFF"/>
                          </a:solidFill>
                          <a:latin typeface="Arial"/>
                        </a:rPr>
                        <a:t>Winner Configuration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627EEA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1" strike="noStrike" spc="-1">
                          <a:solidFill>
                            <a:srgbClr val="FFFFFF"/>
                          </a:solidFill>
                          <a:latin typeface="Arial"/>
                        </a:rPr>
                        <a:t>Val Acc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627EEA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1" strike="noStrike" spc="-1">
                          <a:solidFill>
                            <a:srgbClr val="FFFFFF"/>
                          </a:solidFill>
                          <a:latin typeface="Arial"/>
                        </a:rPr>
                        <a:t>Val MCC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627EEA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1" strike="noStrike" spc="-1">
                          <a:solidFill>
                            <a:srgbClr val="FFFFFF"/>
                          </a:solidFill>
                          <a:latin typeface="Arial"/>
                        </a:rPr>
                        <a:t>Test Acc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627EEA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1" strike="noStrike" spc="-1">
                          <a:solidFill>
                            <a:srgbClr val="FFFFFF"/>
                          </a:solidFill>
                          <a:latin typeface="Arial"/>
                        </a:rPr>
                        <a:t>Test MCC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627EEA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1" strike="noStrike" spc="-1">
                          <a:solidFill>
                            <a:srgbClr val="FFFFFF"/>
                          </a:solidFill>
                          <a:latin typeface="Arial"/>
                        </a:rPr>
                        <a:t>AUC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627EEA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1" strike="noStrike" spc="-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627EEA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strike="noStrike" spc="-1">
                          <a:solidFill>
                            <a:srgbClr val="FFFFFF"/>
                          </a:solidFill>
                          <a:latin typeface="Arial"/>
                        </a:rPr>
                        <a:t>Decision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627EEA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4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1" strike="noStrike" spc="-1">
                          <a:solidFill>
                            <a:srgbClr val="627EEA"/>
                          </a:solidFill>
                          <a:latin typeface="Arial"/>
                        </a:rPr>
                        <a:t>1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 cap="flat" cmpd="sng" algn="ctr">
                      <a:solidFill>
                        <a:srgbClr val="62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strike="noStrike" spc="-1" dirty="0">
                          <a:solidFill>
                            <a:srgbClr val="FFFFFF"/>
                          </a:solidFill>
                          <a:latin typeface="Calibri"/>
                        </a:rPr>
                        <a:t>Split Strategy</a:t>
                      </a:r>
                      <a:endParaRPr lang="en-US" sz="11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strike="noStrike" spc="-1" dirty="0">
                          <a:solidFill>
                            <a:srgbClr val="7A9BB5"/>
                          </a:solidFill>
                          <a:latin typeface="Calibri"/>
                        </a:rPr>
                        <a:t>S1 / S2 / S3 — RF fixed</a:t>
                      </a:r>
                      <a:endParaRPr lang="en-US" sz="11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 cap="flat" cmpd="sng" algn="ctr">
                      <a:solidFill>
                        <a:srgbClr val="62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strike="noStrike" spc="-1">
                          <a:solidFill>
                            <a:srgbClr val="00D4AA"/>
                          </a:solidFill>
                          <a:latin typeface="Calibri"/>
                        </a:rPr>
                        <a:t>S2 Regime-Aware ✓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 cap="flat" cmpd="sng" algn="ctr">
                      <a:solidFill>
                        <a:srgbClr val="62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0" strike="noStrike" spc="-1">
                          <a:solidFill>
                            <a:srgbClr val="A8BCCF"/>
                          </a:solidFill>
                          <a:latin typeface="Calibri"/>
                        </a:rPr>
                        <a:t>68.9%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 cap="flat" cmpd="sng" algn="ctr">
                      <a:solidFill>
                        <a:srgbClr val="62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0" strike="noStrike" spc="-1" dirty="0">
                          <a:solidFill>
                            <a:srgbClr val="A8BCCF"/>
                          </a:solidFill>
                          <a:latin typeface="Calibri"/>
                        </a:rPr>
                        <a:t>0.39</a:t>
                      </a:r>
                      <a:endParaRPr lang="en-US" sz="11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 cap="flat" cmpd="sng" algn="ctr">
                      <a:solidFill>
                        <a:srgbClr val="62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0" strike="noStrike" spc="-1">
                          <a:solidFill>
                            <a:srgbClr val="A8BCCF"/>
                          </a:solidFill>
                          <a:latin typeface="Calibri"/>
                        </a:rPr>
                        <a:t>68.8%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 cap="flat" cmpd="sng" algn="ctr">
                      <a:solidFill>
                        <a:srgbClr val="62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0" strike="noStrike" spc="-1" dirty="0">
                          <a:solidFill>
                            <a:srgbClr val="A8BCCF"/>
                          </a:solidFill>
                          <a:latin typeface="Calibri"/>
                        </a:rPr>
                        <a:t>0.38</a:t>
                      </a:r>
                      <a:endParaRPr lang="en-US" sz="11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 cap="flat" cmpd="sng" algn="ctr">
                      <a:solidFill>
                        <a:srgbClr val="62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0" strike="noStrike" spc="-1" dirty="0">
                          <a:solidFill>
                            <a:srgbClr val="A8BCCF"/>
                          </a:solidFill>
                          <a:latin typeface="Calibri"/>
                        </a:rPr>
                        <a:t>0.79</a:t>
                      </a:r>
                      <a:endParaRPr lang="en-US" sz="11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 cap="flat" cmpd="sng" algn="ctr">
                      <a:solidFill>
                        <a:srgbClr val="62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0" strike="noStrike" spc="-1">
                          <a:solidFill>
                            <a:srgbClr val="A8BCCF"/>
                          </a:solidFill>
                          <a:latin typeface="Calibri"/>
                        </a:rPr>
                        <a:t>0.08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 cap="flat" cmpd="sng" algn="ctr">
                      <a:solidFill>
                        <a:srgbClr val="62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strike="noStrike" spc="-1">
                          <a:solidFill>
                            <a:srgbClr val="7A9BB5"/>
                          </a:solidFill>
                          <a:latin typeface="Calibri"/>
                        </a:rPr>
                        <a:t>S2 adopted → captures bull/bear regimes better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 cap="flat" cmpd="sng" algn="ctr">
                      <a:solidFill>
                        <a:srgbClr val="62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4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1" strike="noStrike" spc="-1">
                          <a:solidFill>
                            <a:srgbClr val="627EEA"/>
                          </a:solidFill>
                          <a:latin typeface="Arial"/>
                        </a:rPr>
                        <a:t>2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strike="noStrike" spc="-1" dirty="0">
                          <a:solidFill>
                            <a:srgbClr val="FFFFFF"/>
                          </a:solidFill>
                          <a:latin typeface="Calibri"/>
                        </a:rPr>
                        <a:t>Model Selection</a:t>
                      </a:r>
                      <a:endParaRPr lang="en-US" sz="11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strike="noStrike" spc="-1" dirty="0">
                          <a:solidFill>
                            <a:srgbClr val="7A9BB5"/>
                          </a:solidFill>
                          <a:latin typeface="Calibri"/>
                        </a:rPr>
                        <a:t>LR / RF / XGB / LGBM / GB</a:t>
                      </a:r>
                      <a:endParaRPr lang="en-US" sz="11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strike="noStrike" spc="-1" dirty="0">
                          <a:solidFill>
                            <a:srgbClr val="00D4AA"/>
                          </a:solidFill>
                          <a:latin typeface="Calibri"/>
                        </a:rPr>
                        <a:t>GB best untuned ✓</a:t>
                      </a:r>
                      <a:endParaRPr lang="en-US" sz="11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0" strike="noStrike" spc="-1" dirty="0">
                          <a:solidFill>
                            <a:srgbClr val="A8BCCF"/>
                          </a:solidFill>
                          <a:latin typeface="Calibri"/>
                        </a:rPr>
                        <a:t>69%</a:t>
                      </a:r>
                      <a:endParaRPr lang="en-US" sz="11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0" strike="noStrike" spc="-1" dirty="0">
                          <a:solidFill>
                            <a:srgbClr val="A8BCCF"/>
                          </a:solidFill>
                          <a:latin typeface="Calibri"/>
                        </a:rPr>
                        <a:t>0.40</a:t>
                      </a:r>
                      <a:endParaRPr lang="en-US" sz="11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0" strike="noStrike" spc="-1" dirty="0">
                          <a:solidFill>
                            <a:srgbClr val="A8BCCF"/>
                          </a:solidFill>
                          <a:latin typeface="Calibri"/>
                        </a:rPr>
                        <a:t>71%</a:t>
                      </a:r>
                      <a:endParaRPr lang="en-US" sz="11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0" strike="noStrike" spc="-1">
                          <a:solidFill>
                            <a:srgbClr val="A8BCCF"/>
                          </a:solidFill>
                          <a:latin typeface="Calibri"/>
                        </a:rPr>
                        <a:t>0.386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0" strike="noStrike" spc="-1" dirty="0">
                          <a:solidFill>
                            <a:srgbClr val="A8BCCF"/>
                          </a:solidFill>
                          <a:latin typeface="Calibri"/>
                        </a:rPr>
                        <a:t>0.79</a:t>
                      </a:r>
                      <a:endParaRPr lang="en-US" sz="11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0" strike="noStrike" spc="-1" dirty="0">
                          <a:solidFill>
                            <a:srgbClr val="A8BCCF"/>
                          </a:solidFill>
                          <a:latin typeface="Calibri"/>
                        </a:rPr>
                        <a:t>0.23</a:t>
                      </a:r>
                      <a:endParaRPr lang="en-US" sz="11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strike="noStrike" spc="-1">
                          <a:solidFill>
                            <a:srgbClr val="7A9BB5"/>
                          </a:solidFill>
                          <a:latin typeface="Calibri"/>
                        </a:rPr>
                        <a:t>GB overfits (gap 0.24) → sent to Optuna EXP 3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539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1" strike="noStrike" spc="-1">
                          <a:solidFill>
                            <a:srgbClr val="627EEA"/>
                          </a:solidFill>
                          <a:latin typeface="Arial"/>
                        </a:rPr>
                        <a:t>3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strike="noStrike" spc="-1" dirty="0" err="1">
                          <a:solidFill>
                            <a:srgbClr val="FFFFFF"/>
                          </a:solidFill>
                          <a:latin typeface="Calibri"/>
                        </a:rPr>
                        <a:t>Optuna</a:t>
                      </a:r>
                      <a:r>
                        <a:rPr lang="en-US" sz="1100" b="1" strike="noStrike" spc="-1" dirty="0">
                          <a:solidFill>
                            <a:srgbClr val="FFFFFF"/>
                          </a:solidFill>
                          <a:latin typeface="Calibri"/>
                        </a:rPr>
                        <a:t> Tuning</a:t>
                      </a:r>
                      <a:endParaRPr lang="en-US" sz="11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strike="noStrike" spc="-1" dirty="0">
                          <a:solidFill>
                            <a:srgbClr val="7A9BB5"/>
                          </a:solidFill>
                          <a:latin typeface="Calibri"/>
                        </a:rPr>
                        <a:t>500 trials  ·  gap penalty &gt; 0.10</a:t>
                      </a:r>
                      <a:endParaRPr lang="en-US" sz="11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strike="noStrike" spc="-1" dirty="0">
                          <a:solidFill>
                            <a:srgbClr val="00D4AA"/>
                          </a:solidFill>
                          <a:latin typeface="Calibri"/>
                        </a:rPr>
                        <a:t>GB </a:t>
                      </a:r>
                      <a:r>
                        <a:rPr lang="en-US" sz="1100" b="1" strike="noStrike" spc="-1" dirty="0" err="1">
                          <a:solidFill>
                            <a:srgbClr val="00D4AA"/>
                          </a:solidFill>
                          <a:latin typeface="Calibri"/>
                        </a:rPr>
                        <a:t>Optuna</a:t>
                      </a:r>
                      <a:r>
                        <a:rPr lang="en-US" sz="1100" b="1" strike="noStrike" spc="-1" dirty="0">
                          <a:solidFill>
                            <a:srgbClr val="00D4AA"/>
                          </a:solidFill>
                          <a:latin typeface="Calibri"/>
                        </a:rPr>
                        <a:t> Tuned ✓</a:t>
                      </a:r>
                      <a:endParaRPr lang="en-US" sz="11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0" strike="noStrike" spc="-1" dirty="0">
                          <a:solidFill>
                            <a:srgbClr val="A8BCCF"/>
                          </a:solidFill>
                          <a:latin typeface="Calibri"/>
                        </a:rPr>
                        <a:t>71%</a:t>
                      </a:r>
                      <a:endParaRPr lang="en-US" sz="11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0" strike="noStrike" spc="-1" dirty="0">
                          <a:solidFill>
                            <a:srgbClr val="A8BCCF"/>
                          </a:solidFill>
                          <a:latin typeface="Calibri"/>
                        </a:rPr>
                        <a:t>0.45</a:t>
                      </a:r>
                      <a:endParaRPr lang="en-US" sz="11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0" strike="noStrike" spc="-1" dirty="0">
                          <a:solidFill>
                            <a:srgbClr val="A8BCCF"/>
                          </a:solidFill>
                          <a:latin typeface="Calibri"/>
                        </a:rPr>
                        <a:t>70%</a:t>
                      </a:r>
                      <a:endParaRPr lang="en-US" sz="11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0" strike="noStrike" spc="-1">
                          <a:solidFill>
                            <a:srgbClr val="A8BCCF"/>
                          </a:solidFill>
                          <a:latin typeface="Calibri"/>
                        </a:rPr>
                        <a:t>0.410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0" strike="noStrike" spc="-1" dirty="0">
                          <a:solidFill>
                            <a:srgbClr val="A8BCCF"/>
                          </a:solidFill>
                          <a:latin typeface="Calibri"/>
                        </a:rPr>
                        <a:t>0.79</a:t>
                      </a:r>
                      <a:endParaRPr lang="en-US" sz="11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0" strike="noStrike" spc="-1" dirty="0">
                          <a:solidFill>
                            <a:srgbClr val="A8BCCF"/>
                          </a:solidFill>
                          <a:latin typeface="Calibri"/>
                        </a:rPr>
                        <a:t>0.05</a:t>
                      </a:r>
                      <a:endParaRPr lang="en-US" sz="11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strike="noStrike" spc="-1">
                          <a:solidFill>
                            <a:srgbClr val="7A9BB5"/>
                          </a:solidFill>
                          <a:latin typeface="Calibri"/>
                        </a:rPr>
                        <a:t>Gap fixed 0.24→0.06  ·  GB adopted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539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1" strike="noStrike" spc="-1">
                          <a:solidFill>
                            <a:srgbClr val="627EEA"/>
                          </a:solidFill>
                          <a:latin typeface="Arial"/>
                        </a:rPr>
                        <a:t>4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strike="noStrike" spc="-1">
                          <a:solidFill>
                            <a:srgbClr val="FFFFFF"/>
                          </a:solidFill>
                          <a:latin typeface="Calibri"/>
                        </a:rPr>
                        <a:t>Lagged Features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strike="noStrike" spc="-1">
                          <a:solidFill>
                            <a:srgbClr val="7A9BB5"/>
                          </a:solidFill>
                          <a:latin typeface="Calibri"/>
                        </a:rPr>
                        <a:t>21 → 36 features  ·  3-day window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strike="noStrike" spc="-1" dirty="0">
                          <a:solidFill>
                            <a:srgbClr val="00D4AA"/>
                          </a:solidFill>
                          <a:latin typeface="Calibri"/>
                        </a:rPr>
                        <a:t>GB + Lags 36 feat ✓</a:t>
                      </a:r>
                      <a:endParaRPr lang="en-US" sz="11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0" strike="noStrike" spc="-1" dirty="0">
                          <a:solidFill>
                            <a:srgbClr val="A8BCCF"/>
                          </a:solidFill>
                          <a:latin typeface="Calibri"/>
                        </a:rPr>
                        <a:t>75.2%</a:t>
                      </a:r>
                      <a:endParaRPr lang="en-US" sz="11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0" strike="noStrike" spc="-1" dirty="0">
                          <a:solidFill>
                            <a:srgbClr val="A8BCCF"/>
                          </a:solidFill>
                          <a:latin typeface="Calibri"/>
                        </a:rPr>
                        <a:t>0.50</a:t>
                      </a:r>
                      <a:endParaRPr lang="en-US" sz="11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0" strike="noStrike" spc="-1" dirty="0">
                          <a:solidFill>
                            <a:srgbClr val="A8BCCF"/>
                          </a:solidFill>
                          <a:latin typeface="Calibri"/>
                        </a:rPr>
                        <a:t>73%</a:t>
                      </a:r>
                      <a:endParaRPr lang="en-US" sz="11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0" strike="noStrike" spc="-1" dirty="0">
                          <a:solidFill>
                            <a:srgbClr val="A8BCCF"/>
                          </a:solidFill>
                          <a:latin typeface="Calibri"/>
                        </a:rPr>
                        <a:t>0.47</a:t>
                      </a:r>
                      <a:endParaRPr lang="en-US" sz="11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0" strike="noStrike" spc="-1" dirty="0">
                          <a:solidFill>
                            <a:srgbClr val="A8BCCF"/>
                          </a:solidFill>
                          <a:latin typeface="Calibri"/>
                        </a:rPr>
                        <a:t>0.8</a:t>
                      </a:r>
                      <a:endParaRPr lang="en-US" sz="11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0" strike="noStrike" spc="-1" dirty="0">
                          <a:solidFill>
                            <a:srgbClr val="A8BCCF"/>
                          </a:solidFill>
                          <a:latin typeface="Calibri"/>
                        </a:rPr>
                        <a:t>0.07</a:t>
                      </a:r>
                      <a:endParaRPr lang="en-US" sz="11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strike="noStrike" spc="-1">
                          <a:solidFill>
                            <a:srgbClr val="7A9BB5"/>
                          </a:solidFill>
                          <a:latin typeface="Calibri"/>
                        </a:rPr>
                        <a:t>+0.068 MCC  ·  best single gain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74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1" strike="noStrike" spc="-1">
                          <a:solidFill>
                            <a:srgbClr val="627EEA"/>
                          </a:solidFill>
                          <a:latin typeface="Arial"/>
                        </a:rPr>
                        <a:t>5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strike="noStrike" spc="-1">
                          <a:solidFill>
                            <a:srgbClr val="FFFFFF"/>
                          </a:solidFill>
                          <a:latin typeface="Calibri"/>
                        </a:rPr>
                        <a:t>SHAP Selection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strike="noStrike" spc="-1">
                          <a:solidFill>
                            <a:srgbClr val="7A9BB5"/>
                          </a:solidFill>
                          <a:latin typeface="Calibri"/>
                        </a:rPr>
                        <a:t>36 feat → top N filter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strike="noStrike" spc="-1">
                          <a:solidFill>
                            <a:srgbClr val="00D4AA"/>
                          </a:solidFill>
                          <a:latin typeface="Calibri"/>
                        </a:rPr>
                        <a:t>Top 20 SHAP ✓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0" strike="noStrike" spc="-1" dirty="0">
                          <a:solidFill>
                            <a:srgbClr val="A8BCCF"/>
                          </a:solidFill>
                          <a:latin typeface="Calibri"/>
                        </a:rPr>
                        <a:t>74.7%</a:t>
                      </a:r>
                      <a:endParaRPr lang="en-US" sz="11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0" strike="noStrike" spc="-1" dirty="0">
                          <a:solidFill>
                            <a:srgbClr val="A8BCCF"/>
                          </a:solidFill>
                          <a:latin typeface="Calibri"/>
                        </a:rPr>
                        <a:t>0.49</a:t>
                      </a:r>
                      <a:endParaRPr lang="en-US" sz="11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0" strike="noStrike" spc="-1" dirty="0">
                          <a:solidFill>
                            <a:srgbClr val="A8BCCF"/>
                          </a:solidFill>
                          <a:latin typeface="Calibri"/>
                        </a:rPr>
                        <a:t>73.5%</a:t>
                      </a:r>
                      <a:endParaRPr lang="en-US" sz="11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0" strike="noStrike" spc="-1" dirty="0">
                          <a:solidFill>
                            <a:srgbClr val="A8BCCF"/>
                          </a:solidFill>
                          <a:latin typeface="Calibri"/>
                        </a:rPr>
                        <a:t>0.47</a:t>
                      </a:r>
                      <a:endParaRPr lang="en-US" sz="11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0" strike="noStrike" spc="-1" dirty="0">
                          <a:solidFill>
                            <a:srgbClr val="A8BCCF"/>
                          </a:solidFill>
                          <a:latin typeface="Calibri"/>
                        </a:rPr>
                        <a:t>0.82</a:t>
                      </a:r>
                      <a:endParaRPr lang="en-US" sz="11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0" strike="noStrike" spc="-1">
                          <a:solidFill>
                            <a:srgbClr val="A8BCCF"/>
                          </a:solidFill>
                          <a:latin typeface="Calibri"/>
                        </a:rPr>
                        <a:t>0.08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strike="noStrike" spc="-1">
                          <a:solidFill>
                            <a:srgbClr val="7A9BB5"/>
                          </a:solidFill>
                          <a:latin typeface="Calibri"/>
                        </a:rPr>
                        <a:t>Top 20 balances MCC + AUC + gap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3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539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1" strike="noStrike" spc="-1">
                          <a:solidFill>
                            <a:srgbClr val="132238"/>
                          </a:solidFill>
                          <a:latin typeface="Arial"/>
                        </a:rPr>
                        <a:t>★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627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strike="noStrike" spc="-1">
                          <a:solidFill>
                            <a:srgbClr val="132238"/>
                          </a:solidFill>
                          <a:latin typeface="Calibri"/>
                        </a:rPr>
                        <a:t>FINAL ETH MODEL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strike="noStrike" spc="-1">
                          <a:solidFill>
                            <a:srgbClr val="132238"/>
                          </a:solidFill>
                          <a:latin typeface="Calibri"/>
                        </a:rPr>
                        <a:t>GB + SHAP 20 feat  ·  EXP3 params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627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strike="noStrike" spc="-1">
                          <a:solidFill>
                            <a:srgbClr val="132238"/>
                          </a:solidFill>
                          <a:latin typeface="Calibri"/>
                        </a:rPr>
                        <a:t>GB + SHAP Top 20 ✓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627E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1" strike="noStrike" spc="-1" dirty="0">
                          <a:solidFill>
                            <a:srgbClr val="132238"/>
                          </a:solidFill>
                          <a:latin typeface="Calibri"/>
                        </a:rPr>
                        <a:t>74.7%</a:t>
                      </a:r>
                      <a:endParaRPr lang="en-US" sz="11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627E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1" strike="noStrike" spc="-1">
                          <a:solidFill>
                            <a:srgbClr val="132238"/>
                          </a:solidFill>
                          <a:latin typeface="Calibri"/>
                        </a:rPr>
                        <a:t>0.497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627E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1" strike="noStrike" spc="-1">
                          <a:solidFill>
                            <a:srgbClr val="132238"/>
                          </a:solidFill>
                          <a:latin typeface="Calibri"/>
                        </a:rPr>
                        <a:t>73.5%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627E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1" strike="noStrike" spc="-1" dirty="0">
                          <a:solidFill>
                            <a:srgbClr val="132238"/>
                          </a:solidFill>
                          <a:latin typeface="Calibri"/>
                        </a:rPr>
                        <a:t>0.47</a:t>
                      </a:r>
                      <a:endParaRPr lang="en-US" sz="11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627E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1" strike="noStrike" spc="-1" dirty="0">
                          <a:solidFill>
                            <a:srgbClr val="132238"/>
                          </a:solidFill>
                          <a:latin typeface="Calibri"/>
                        </a:rPr>
                        <a:t>0.82</a:t>
                      </a:r>
                      <a:endParaRPr lang="en-US" sz="11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627E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1" strike="noStrike" spc="-1" dirty="0">
                          <a:solidFill>
                            <a:srgbClr val="132238"/>
                          </a:solidFill>
                          <a:latin typeface="Calibri"/>
                        </a:rPr>
                        <a:t>0.08</a:t>
                      </a:r>
                      <a:endParaRPr lang="en-US" sz="11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627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strike="noStrike" spc="-1" dirty="0">
                          <a:solidFill>
                            <a:srgbClr val="132238"/>
                          </a:solidFill>
                          <a:latin typeface="Calibri"/>
                        </a:rPr>
                        <a:t>Saved</a:t>
                      </a:r>
                      <a:endParaRPr lang="en-US" sz="11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627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A740E15-3538-817F-FE29-D682D52C3D5E}"/>
              </a:ext>
            </a:extLst>
          </p:cNvPr>
          <p:cNvSpPr txBox="1"/>
          <p:nvPr/>
        </p:nvSpPr>
        <p:spPr>
          <a:xfrm>
            <a:off x="3109184" y="5318205"/>
            <a:ext cx="6694476" cy="1172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1425"/>
              </a:lnSpc>
              <a:buFont typeface="Wingdings" panose="05000000000000000000" pitchFamily="2" charset="2"/>
              <a:buChar char="ü"/>
            </a:pPr>
            <a:r>
              <a:rPr lang="en-US" sz="1400" spc="-1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</a:rPr>
              <a:t>ETH is systematically harder to predict.</a:t>
            </a:r>
          </a:p>
          <a:p>
            <a:pPr marL="285750" indent="-285750">
              <a:lnSpc>
                <a:spcPts val="1425"/>
              </a:lnSpc>
              <a:buFont typeface="Wingdings" panose="05000000000000000000" pitchFamily="2" charset="2"/>
              <a:buChar char="ü"/>
            </a:pPr>
            <a:endParaRPr lang="en-US" sz="1400" spc="-1" dirty="0">
              <a:solidFill>
                <a:schemeClr val="bg2">
                  <a:lumMod val="50000"/>
                </a:schemeClr>
              </a:solidFill>
              <a:latin typeface="Calibri"/>
              <a:ea typeface="Calibri"/>
            </a:endParaRPr>
          </a:p>
          <a:p>
            <a:pPr marL="285750" indent="-285750">
              <a:lnSpc>
                <a:spcPts val="1425"/>
              </a:lnSpc>
              <a:buFont typeface="Wingdings" panose="05000000000000000000" pitchFamily="2" charset="2"/>
              <a:buChar char="ü"/>
            </a:pPr>
            <a:r>
              <a:rPr lang="en-US" sz="1400" spc="-1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</a:rPr>
              <a:t>The performance gap is consistent across every experiment and every metric.</a:t>
            </a:r>
          </a:p>
          <a:p>
            <a:pPr marL="285750" indent="-285750">
              <a:lnSpc>
                <a:spcPts val="1425"/>
              </a:lnSpc>
              <a:buFont typeface="Wingdings" panose="05000000000000000000" pitchFamily="2" charset="2"/>
              <a:buChar char="ü"/>
            </a:pPr>
            <a:endParaRPr lang="en-US" sz="1400" spc="-1" dirty="0">
              <a:solidFill>
                <a:schemeClr val="bg2">
                  <a:lumMod val="50000"/>
                </a:schemeClr>
              </a:solidFill>
              <a:latin typeface="Calibri"/>
              <a:ea typeface="Calibri"/>
            </a:endParaRPr>
          </a:p>
          <a:p>
            <a:pPr marL="285750" indent="-285750">
              <a:lnSpc>
                <a:spcPts val="1425"/>
              </a:lnSpc>
              <a:buFont typeface="Wingdings" panose="05000000000000000000" pitchFamily="2" charset="2"/>
              <a:buChar char="ü"/>
            </a:pPr>
            <a:r>
              <a:rPr lang="en-US" sz="1400" spc="-1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</a:rPr>
              <a:t>ETH's richer on-chain ecosystem (DeFi, gas, staking narratives) introduces noise that TA + macro + sentiment features don't fully capture.</a:t>
            </a:r>
          </a:p>
        </p:txBody>
      </p:sp>
    </p:spTree>
    <p:extLst>
      <p:ext uri="{BB962C8B-B14F-4D97-AF65-F5344CB8AC3E}">
        <p14:creationId xmlns:p14="http://schemas.microsoft.com/office/powerpoint/2010/main" val="24494054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g"/>
          <p:cNvSpPr/>
          <p:nvPr/>
        </p:nvSpPr>
        <p:spPr>
          <a:xfrm>
            <a:off x="0" y="0"/>
            <a:ext cx="12192000" cy="520000"/>
          </a:xfrm>
          <a:prstGeom prst="rect">
            <a:avLst/>
          </a:prstGeom>
          <a:solidFill>
            <a:srgbClr val="1A25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Txt"/>
          <p:cNvSpPr/>
          <p:nvPr/>
        </p:nvSpPr>
        <p:spPr>
          <a:xfrm>
            <a:off x="0" y="0"/>
            <a:ext cx="12192000" cy="520000"/>
          </a:xfrm>
          <a:prstGeom prst="rect">
            <a:avLst/>
          </a:prstGeom>
          <a:noFill/>
          <a:ln>
            <a:noFill/>
          </a:ln>
        </p:spPr>
        <p:txBody>
          <a:bodyPr wrap="square" lIns="36576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/>
              </a:rPr>
              <a:t>Performance Tracking &amp; </a:t>
            </a:r>
            <a:r>
              <a:rPr lang="en-US" sz="2200" b="1" dirty="0">
                <a:solidFill>
                  <a:srgbClr val="00BFA5"/>
                </a:solidFill>
                <a:latin typeface="Calibri"/>
              </a:rPr>
              <a:t>ML Auto-Retrain</a:t>
            </a:r>
          </a:p>
        </p:txBody>
      </p:sp>
      <p:sp>
        <p:nvSpPr>
          <p:cNvPr id="4" name="TLine"/>
          <p:cNvSpPr/>
          <p:nvPr/>
        </p:nvSpPr>
        <p:spPr>
          <a:xfrm>
            <a:off x="0" y="516000"/>
            <a:ext cx="12192000" cy="16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CB0"/>
          <p:cNvSpPr/>
          <p:nvPr/>
        </p:nvSpPr>
        <p:spPr>
          <a:xfrm>
            <a:off x="196285" y="752228"/>
            <a:ext cx="2700000" cy="4900000"/>
          </a:xfrm>
          <a:prstGeom prst="rect">
            <a:avLst/>
          </a:prstGeom>
          <a:solidFill>
            <a:srgbClr val="0D1B2A"/>
          </a:solidFill>
          <a:ln w="22860">
            <a:solidFill>
              <a:srgbClr val="00BFA5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11" name="CT0"/>
          <p:cNvSpPr/>
          <p:nvPr/>
        </p:nvSpPr>
        <p:spPr>
          <a:xfrm>
            <a:off x="196285" y="752228"/>
            <a:ext cx="2700000" cy="65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Ic0"/>
          <p:cNvSpPr/>
          <p:nvPr/>
        </p:nvSpPr>
        <p:spPr>
          <a:xfrm>
            <a:off x="196285" y="832228"/>
            <a:ext cx="27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4800" dirty="0">
                <a:latin typeface="Segoe UI Emoji"/>
              </a:rPr>
              <a:t>📡</a:t>
            </a:r>
          </a:p>
        </p:txBody>
      </p:sp>
      <p:sp>
        <p:nvSpPr>
          <p:cNvPr id="13" name="Ti0"/>
          <p:cNvSpPr/>
          <p:nvPr/>
        </p:nvSpPr>
        <p:spPr>
          <a:xfrm>
            <a:off x="196285" y="1772228"/>
            <a:ext cx="27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00BFA5"/>
                </a:solidFill>
                <a:latin typeface="Calibri"/>
              </a:rPr>
              <a:t>DAILY FETCH</a:t>
            </a:r>
          </a:p>
        </p:txBody>
      </p:sp>
      <p:sp>
        <p:nvSpPr>
          <p:cNvPr id="14" name="St0"/>
          <p:cNvSpPr/>
          <p:nvPr/>
        </p:nvSpPr>
        <p:spPr>
          <a:xfrm>
            <a:off x="196285" y="2132228"/>
            <a:ext cx="27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b="0" i="1" dirty="0">
                <a:solidFill>
                  <a:srgbClr val="666666"/>
                </a:solidFill>
                <a:latin typeface="Calibri"/>
              </a:rPr>
              <a:t>00:30 AM every day</a:t>
            </a:r>
          </a:p>
        </p:txBody>
      </p:sp>
      <p:sp>
        <p:nvSpPr>
          <p:cNvPr id="15" name="Dv0"/>
          <p:cNvSpPr/>
          <p:nvPr/>
        </p:nvSpPr>
        <p:spPr>
          <a:xfrm>
            <a:off x="396285" y="2432228"/>
            <a:ext cx="2300000" cy="8000"/>
          </a:xfrm>
          <a:prstGeom prst="rect">
            <a:avLst/>
          </a:prstGeom>
          <a:solidFill>
            <a:srgbClr val="1A25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Bd00"/>
          <p:cNvSpPr/>
          <p:nvPr/>
        </p:nvSpPr>
        <p:spPr>
          <a:xfrm>
            <a:off x="302880" y="2612228"/>
            <a:ext cx="14000" cy="200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Bl00"/>
          <p:cNvSpPr/>
          <p:nvPr/>
        </p:nvSpPr>
        <p:spPr>
          <a:xfrm>
            <a:off x="362880" y="2512228"/>
            <a:ext cx="248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/>
            <a:r>
              <a:rPr lang="en-US" sz="1100" b="0" dirty="0">
                <a:solidFill>
                  <a:srgbClr val="CCCCCC"/>
                </a:solidFill>
                <a:latin typeface="Calibri"/>
              </a:rPr>
              <a:t>BTC + ETH live prices</a:t>
            </a:r>
          </a:p>
        </p:txBody>
      </p:sp>
      <p:sp>
        <p:nvSpPr>
          <p:cNvPr id="17" name="Bd01"/>
          <p:cNvSpPr/>
          <p:nvPr/>
        </p:nvSpPr>
        <p:spPr>
          <a:xfrm>
            <a:off x="302880" y="3052228"/>
            <a:ext cx="14000" cy="200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Bl01"/>
          <p:cNvSpPr/>
          <p:nvPr/>
        </p:nvSpPr>
        <p:spPr>
          <a:xfrm>
            <a:off x="362880" y="2952228"/>
            <a:ext cx="248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/>
            <a:r>
              <a:rPr lang="en-US" sz="1100" b="0" dirty="0">
                <a:solidFill>
                  <a:srgbClr val="CCCCCC"/>
                </a:solidFill>
                <a:latin typeface="Calibri"/>
              </a:rPr>
              <a:t>Macro signals + sentiment</a:t>
            </a:r>
          </a:p>
        </p:txBody>
      </p:sp>
      <p:sp>
        <p:nvSpPr>
          <p:cNvPr id="5" name="SBg0"/>
          <p:cNvSpPr/>
          <p:nvPr/>
        </p:nvSpPr>
        <p:spPr>
          <a:xfrm>
            <a:off x="282880" y="5152228"/>
            <a:ext cx="2500000" cy="380000"/>
          </a:xfrm>
          <a:prstGeom prst="rect">
            <a:avLst/>
          </a:prstGeom>
          <a:solidFill>
            <a:srgbClr val="111B27"/>
          </a:solidFill>
          <a:ln w="16000">
            <a:solidFill>
              <a:srgbClr val="00BF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STxt0"/>
          <p:cNvSpPr/>
          <p:nvPr/>
        </p:nvSpPr>
        <p:spPr>
          <a:xfrm>
            <a:off x="282880" y="5152228"/>
            <a:ext cx="250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b="0" dirty="0">
                <a:solidFill>
                  <a:srgbClr val="888888"/>
                </a:solidFill>
                <a:latin typeface="Calibri"/>
              </a:rPr>
              <a:t>💾  stored in : raw_prices</a:t>
            </a:r>
          </a:p>
        </p:txBody>
      </p:sp>
      <p:sp>
        <p:nvSpPr>
          <p:cNvPr id="26" name="Ar0"/>
          <p:cNvSpPr/>
          <p:nvPr/>
        </p:nvSpPr>
        <p:spPr>
          <a:xfrm>
            <a:off x="2882880" y="3102228"/>
            <a:ext cx="342080" cy="200000"/>
          </a:xfrm>
          <a:prstGeom prst="rightArrow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txBody>
          <a:bodyPr/>
          <a:lstStyle/>
          <a:p>
            <a:endParaRPr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22" name="CB1"/>
          <p:cNvSpPr/>
          <p:nvPr/>
        </p:nvSpPr>
        <p:spPr>
          <a:xfrm>
            <a:off x="3224960" y="752228"/>
            <a:ext cx="2700000" cy="4900000"/>
          </a:xfrm>
          <a:prstGeom prst="rect">
            <a:avLst/>
          </a:prstGeom>
          <a:solidFill>
            <a:srgbClr val="0D1B2A"/>
          </a:solidFill>
          <a:ln w="22860">
            <a:solidFill>
              <a:srgbClr val="F7931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CT1"/>
          <p:cNvSpPr/>
          <p:nvPr/>
        </p:nvSpPr>
        <p:spPr>
          <a:xfrm>
            <a:off x="3224960" y="752228"/>
            <a:ext cx="2700000" cy="650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Ic1"/>
          <p:cNvSpPr/>
          <p:nvPr/>
        </p:nvSpPr>
        <p:spPr>
          <a:xfrm>
            <a:off x="3224960" y="832228"/>
            <a:ext cx="27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4800" dirty="0">
                <a:latin typeface="Segoe UI Emoji"/>
              </a:rPr>
              <a:t>🤖</a:t>
            </a:r>
          </a:p>
        </p:txBody>
      </p:sp>
      <p:sp>
        <p:nvSpPr>
          <p:cNvPr id="6" name="Ti1"/>
          <p:cNvSpPr/>
          <p:nvPr/>
        </p:nvSpPr>
        <p:spPr>
          <a:xfrm>
            <a:off x="3224960" y="1772228"/>
            <a:ext cx="27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7931A"/>
                </a:solidFill>
                <a:latin typeface="Calibri"/>
              </a:rPr>
              <a:t>PREDICT &amp; STORE</a:t>
            </a:r>
          </a:p>
        </p:txBody>
      </p:sp>
      <p:sp>
        <p:nvSpPr>
          <p:cNvPr id="7" name="St1"/>
          <p:cNvSpPr/>
          <p:nvPr/>
        </p:nvSpPr>
        <p:spPr>
          <a:xfrm>
            <a:off x="3224960" y="2132228"/>
            <a:ext cx="27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b="0" i="1" dirty="0">
                <a:solidFill>
                  <a:srgbClr val="666666"/>
                </a:solidFill>
                <a:latin typeface="Calibri"/>
              </a:rPr>
              <a:t>ML model runs</a:t>
            </a:r>
          </a:p>
        </p:txBody>
      </p:sp>
      <p:sp>
        <p:nvSpPr>
          <p:cNvPr id="27" name="Dv1"/>
          <p:cNvSpPr/>
          <p:nvPr/>
        </p:nvSpPr>
        <p:spPr>
          <a:xfrm>
            <a:off x="3424960" y="2432228"/>
            <a:ext cx="2300000" cy="8000"/>
          </a:xfrm>
          <a:prstGeom prst="rect">
            <a:avLst/>
          </a:prstGeom>
          <a:solidFill>
            <a:srgbClr val="1A25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Bd10"/>
          <p:cNvSpPr/>
          <p:nvPr/>
        </p:nvSpPr>
        <p:spPr>
          <a:xfrm>
            <a:off x="3344960" y="2612228"/>
            <a:ext cx="14000" cy="2000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Bl10"/>
          <p:cNvSpPr/>
          <p:nvPr/>
        </p:nvSpPr>
        <p:spPr>
          <a:xfrm>
            <a:off x="3404960" y="2512228"/>
            <a:ext cx="248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/>
            <a:r>
              <a:rPr lang="en-US" sz="1100" b="0" dirty="0">
                <a:solidFill>
                  <a:srgbClr val="CCCCCC"/>
                </a:solidFill>
                <a:latin typeface="Calibri"/>
              </a:rPr>
              <a:t>Generates price direction</a:t>
            </a:r>
          </a:p>
        </p:txBody>
      </p:sp>
      <p:sp>
        <p:nvSpPr>
          <p:cNvPr id="29" name="Bd11"/>
          <p:cNvSpPr/>
          <p:nvPr/>
        </p:nvSpPr>
        <p:spPr>
          <a:xfrm>
            <a:off x="3344960" y="3052228"/>
            <a:ext cx="14000" cy="2000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Bl11"/>
          <p:cNvSpPr/>
          <p:nvPr/>
        </p:nvSpPr>
        <p:spPr>
          <a:xfrm>
            <a:off x="3404960" y="2952228"/>
            <a:ext cx="248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/>
            <a:r>
              <a:rPr lang="en-US" sz="1100" b="0" dirty="0">
                <a:solidFill>
                  <a:srgbClr val="CCCCCC"/>
                </a:solidFill>
                <a:latin typeface="Calibri"/>
              </a:rPr>
              <a:t>Confidence and prediction stored</a:t>
            </a:r>
          </a:p>
        </p:txBody>
      </p:sp>
      <p:sp>
        <p:nvSpPr>
          <p:cNvPr id="8" name="SBg1"/>
          <p:cNvSpPr/>
          <p:nvPr/>
        </p:nvSpPr>
        <p:spPr>
          <a:xfrm>
            <a:off x="3324960" y="5152228"/>
            <a:ext cx="2500000" cy="380000"/>
          </a:xfrm>
          <a:prstGeom prst="rect">
            <a:avLst/>
          </a:prstGeom>
          <a:solidFill>
            <a:srgbClr val="111B27"/>
          </a:solidFill>
          <a:ln w="16000">
            <a:solidFill>
              <a:srgbClr val="F7931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STxt1"/>
          <p:cNvSpPr/>
          <p:nvPr/>
        </p:nvSpPr>
        <p:spPr>
          <a:xfrm>
            <a:off x="3324960" y="5152228"/>
            <a:ext cx="250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b="0" dirty="0">
                <a:solidFill>
                  <a:srgbClr val="888888"/>
                </a:solidFill>
                <a:latin typeface="Calibri"/>
              </a:rPr>
              <a:t>💾  stored in : predictions</a:t>
            </a:r>
          </a:p>
        </p:txBody>
      </p:sp>
      <p:sp>
        <p:nvSpPr>
          <p:cNvPr id="38" name="Ar1"/>
          <p:cNvSpPr/>
          <p:nvPr/>
        </p:nvSpPr>
        <p:spPr>
          <a:xfrm>
            <a:off x="5924960" y="3102228"/>
            <a:ext cx="342080" cy="200000"/>
          </a:xfrm>
          <a:prstGeom prst="rightArrow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txBody>
          <a:bodyPr/>
          <a:lstStyle/>
          <a:p>
            <a:endParaRPr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34" name="CB2"/>
          <p:cNvSpPr/>
          <p:nvPr/>
        </p:nvSpPr>
        <p:spPr>
          <a:xfrm>
            <a:off x="6267040" y="752228"/>
            <a:ext cx="2700000" cy="4900000"/>
          </a:xfrm>
          <a:prstGeom prst="rect">
            <a:avLst/>
          </a:prstGeom>
          <a:solidFill>
            <a:srgbClr val="0D1B2A"/>
          </a:solidFill>
          <a:ln w="22860">
            <a:solidFill>
              <a:srgbClr val="4A9C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CT2"/>
          <p:cNvSpPr/>
          <p:nvPr/>
        </p:nvSpPr>
        <p:spPr>
          <a:xfrm>
            <a:off x="6267040" y="752228"/>
            <a:ext cx="2700000" cy="65000"/>
          </a:xfrm>
          <a:prstGeom prst="rect">
            <a:avLst/>
          </a:prstGeom>
          <a:solidFill>
            <a:srgbClr val="4A9C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Ic2"/>
          <p:cNvSpPr/>
          <p:nvPr/>
        </p:nvSpPr>
        <p:spPr>
          <a:xfrm>
            <a:off x="6267040" y="832228"/>
            <a:ext cx="27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4800" dirty="0">
                <a:latin typeface="Segoe UI Emoji"/>
              </a:rPr>
              <a:t>📊</a:t>
            </a:r>
          </a:p>
        </p:txBody>
      </p:sp>
      <p:sp>
        <p:nvSpPr>
          <p:cNvPr id="9" name="Ti2"/>
          <p:cNvSpPr/>
          <p:nvPr/>
        </p:nvSpPr>
        <p:spPr>
          <a:xfrm>
            <a:off x="6267040" y="1772228"/>
            <a:ext cx="27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4A9CCC"/>
                </a:solidFill>
                <a:latin typeface="Calibri"/>
              </a:rPr>
              <a:t>EVALUATE ACCURACY</a:t>
            </a:r>
          </a:p>
        </p:txBody>
      </p:sp>
      <p:sp>
        <p:nvSpPr>
          <p:cNvPr id="20" name="St2"/>
          <p:cNvSpPr/>
          <p:nvPr/>
        </p:nvSpPr>
        <p:spPr>
          <a:xfrm>
            <a:off x="6267040" y="2132228"/>
            <a:ext cx="27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b="0" i="1" dirty="0">
                <a:solidFill>
                  <a:srgbClr val="666666"/>
                </a:solidFill>
                <a:latin typeface="Calibri"/>
              </a:rPr>
              <a:t>vs yesterday's outcome</a:t>
            </a:r>
          </a:p>
        </p:txBody>
      </p:sp>
      <p:sp>
        <p:nvSpPr>
          <p:cNvPr id="39" name="Dv2"/>
          <p:cNvSpPr/>
          <p:nvPr/>
        </p:nvSpPr>
        <p:spPr>
          <a:xfrm>
            <a:off x="6467040" y="2432228"/>
            <a:ext cx="2300000" cy="8000"/>
          </a:xfrm>
          <a:prstGeom prst="rect">
            <a:avLst/>
          </a:prstGeom>
          <a:solidFill>
            <a:srgbClr val="1A25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Bd20"/>
          <p:cNvSpPr/>
          <p:nvPr/>
        </p:nvSpPr>
        <p:spPr>
          <a:xfrm>
            <a:off x="6387040" y="2612228"/>
            <a:ext cx="14000" cy="200000"/>
          </a:xfrm>
          <a:prstGeom prst="rect">
            <a:avLst/>
          </a:prstGeom>
          <a:solidFill>
            <a:srgbClr val="4A9C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Bl20"/>
          <p:cNvSpPr/>
          <p:nvPr/>
        </p:nvSpPr>
        <p:spPr>
          <a:xfrm>
            <a:off x="6447040" y="2512228"/>
            <a:ext cx="248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/>
            <a:r>
              <a:rPr lang="en-US" sz="1100" b="0" dirty="0">
                <a:solidFill>
                  <a:srgbClr val="CCCCCC"/>
                </a:solidFill>
                <a:latin typeface="Calibri"/>
              </a:rPr>
              <a:t>Compute rolling accuracy: last 30 days</a:t>
            </a:r>
          </a:p>
        </p:txBody>
      </p:sp>
      <p:sp>
        <p:nvSpPr>
          <p:cNvPr id="41" name="Bd21"/>
          <p:cNvSpPr/>
          <p:nvPr/>
        </p:nvSpPr>
        <p:spPr>
          <a:xfrm>
            <a:off x="6387040" y="3052228"/>
            <a:ext cx="14000" cy="200000"/>
          </a:xfrm>
          <a:prstGeom prst="rect">
            <a:avLst/>
          </a:prstGeom>
          <a:solidFill>
            <a:srgbClr val="4A9C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Bl21"/>
          <p:cNvSpPr/>
          <p:nvPr/>
        </p:nvSpPr>
        <p:spPr>
          <a:xfrm>
            <a:off x="6447040" y="2952228"/>
            <a:ext cx="248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/>
            <a:r>
              <a:rPr lang="en-US" sz="1100" b="0" dirty="0">
                <a:solidFill>
                  <a:srgbClr val="CCCCCC"/>
                </a:solidFill>
                <a:latin typeface="Calibri"/>
              </a:rPr>
              <a:t>Alert if drops below 52%</a:t>
            </a:r>
          </a:p>
        </p:txBody>
      </p:sp>
      <p:sp>
        <p:nvSpPr>
          <p:cNvPr id="21" name="SBg2"/>
          <p:cNvSpPr/>
          <p:nvPr/>
        </p:nvSpPr>
        <p:spPr>
          <a:xfrm>
            <a:off x="6367040" y="5152228"/>
            <a:ext cx="2500000" cy="380000"/>
          </a:xfrm>
          <a:prstGeom prst="rect">
            <a:avLst/>
          </a:prstGeom>
          <a:solidFill>
            <a:srgbClr val="111B27"/>
          </a:solidFill>
          <a:ln w="16000">
            <a:solidFill>
              <a:srgbClr val="4A9C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9" name="STxt2"/>
          <p:cNvSpPr/>
          <p:nvPr/>
        </p:nvSpPr>
        <p:spPr>
          <a:xfrm>
            <a:off x="6367040" y="5152228"/>
            <a:ext cx="250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b="0" dirty="0">
                <a:solidFill>
                  <a:srgbClr val="888888"/>
                </a:solidFill>
                <a:latin typeface="Calibri"/>
              </a:rPr>
              <a:t>💾  stored in : errors</a:t>
            </a:r>
          </a:p>
        </p:txBody>
      </p:sp>
      <p:sp>
        <p:nvSpPr>
          <p:cNvPr id="50" name="Ar2"/>
          <p:cNvSpPr/>
          <p:nvPr/>
        </p:nvSpPr>
        <p:spPr>
          <a:xfrm>
            <a:off x="8967040" y="3102228"/>
            <a:ext cx="342080" cy="200000"/>
          </a:xfrm>
          <a:prstGeom prst="rightArrow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txBody>
          <a:bodyPr/>
          <a:lstStyle/>
          <a:p>
            <a:endParaRPr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46" name="CB3"/>
          <p:cNvSpPr/>
          <p:nvPr/>
        </p:nvSpPr>
        <p:spPr>
          <a:xfrm>
            <a:off x="9309120" y="752228"/>
            <a:ext cx="2700000" cy="4900000"/>
          </a:xfrm>
          <a:prstGeom prst="rect">
            <a:avLst/>
          </a:prstGeom>
          <a:solidFill>
            <a:srgbClr val="0D1B2A"/>
          </a:solidFill>
          <a:ln w="22860">
            <a:solidFill>
              <a:srgbClr val="DE9C3C"/>
            </a:solidFill>
          </a:ln>
        </p:spPr>
        <p:txBody>
          <a:bodyPr/>
          <a:lstStyle/>
          <a:p>
            <a:endParaRPr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47" name="CT3"/>
          <p:cNvSpPr/>
          <p:nvPr/>
        </p:nvSpPr>
        <p:spPr>
          <a:xfrm>
            <a:off x="9309120" y="752228"/>
            <a:ext cx="2700000" cy="65000"/>
          </a:xfrm>
          <a:prstGeom prst="rect">
            <a:avLst/>
          </a:prstGeom>
          <a:solidFill>
            <a:srgbClr val="DE9C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8" name="Ic3"/>
          <p:cNvSpPr/>
          <p:nvPr/>
        </p:nvSpPr>
        <p:spPr>
          <a:xfrm>
            <a:off x="9309120" y="832228"/>
            <a:ext cx="27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4800" dirty="0">
                <a:latin typeface="Segoe UI Emoji"/>
              </a:rPr>
              <a:t>🔄</a:t>
            </a:r>
          </a:p>
        </p:txBody>
      </p:sp>
      <p:sp>
        <p:nvSpPr>
          <p:cNvPr id="32" name="Ti3"/>
          <p:cNvSpPr/>
          <p:nvPr/>
        </p:nvSpPr>
        <p:spPr>
          <a:xfrm>
            <a:off x="9309120" y="1772228"/>
            <a:ext cx="27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DE9C3C"/>
                </a:solidFill>
                <a:latin typeface="Calibri"/>
              </a:rPr>
              <a:t>AUTO-RETRAIN</a:t>
            </a:r>
          </a:p>
        </p:txBody>
      </p:sp>
      <p:sp>
        <p:nvSpPr>
          <p:cNvPr id="33" name="St3"/>
          <p:cNvSpPr/>
          <p:nvPr/>
        </p:nvSpPr>
        <p:spPr>
          <a:xfrm>
            <a:off x="9309120" y="2132228"/>
            <a:ext cx="27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b="0" i="1" dirty="0">
                <a:solidFill>
                  <a:srgbClr val="666666"/>
                </a:solidFill>
                <a:latin typeface="Calibri"/>
              </a:rPr>
              <a:t>triggered if accuracy below 52%</a:t>
            </a:r>
          </a:p>
        </p:txBody>
      </p:sp>
      <p:sp>
        <p:nvSpPr>
          <p:cNvPr id="51" name="Dv3"/>
          <p:cNvSpPr/>
          <p:nvPr/>
        </p:nvSpPr>
        <p:spPr>
          <a:xfrm>
            <a:off x="9509120" y="2432228"/>
            <a:ext cx="2300000" cy="8000"/>
          </a:xfrm>
          <a:prstGeom prst="rect">
            <a:avLst/>
          </a:prstGeom>
          <a:solidFill>
            <a:srgbClr val="1A25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" name="Bd30"/>
          <p:cNvSpPr/>
          <p:nvPr/>
        </p:nvSpPr>
        <p:spPr>
          <a:xfrm>
            <a:off x="9429120" y="2612228"/>
            <a:ext cx="14000" cy="200000"/>
          </a:xfrm>
          <a:prstGeom prst="rect">
            <a:avLst/>
          </a:prstGeom>
          <a:solidFill>
            <a:srgbClr val="DE9C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4" name="Bl30"/>
          <p:cNvSpPr/>
          <p:nvPr/>
        </p:nvSpPr>
        <p:spPr>
          <a:xfrm>
            <a:off x="9489120" y="2512228"/>
            <a:ext cx="248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/>
            <a:r>
              <a:rPr lang="en-US" sz="1100" b="0" dirty="0">
                <a:solidFill>
                  <a:srgbClr val="CCCCCC"/>
                </a:solidFill>
                <a:latin typeface="Calibri"/>
              </a:rPr>
              <a:t>Downloads fresh market data</a:t>
            </a:r>
          </a:p>
        </p:txBody>
      </p:sp>
      <p:sp>
        <p:nvSpPr>
          <p:cNvPr id="53" name="Bd31"/>
          <p:cNvSpPr/>
          <p:nvPr/>
        </p:nvSpPr>
        <p:spPr>
          <a:xfrm>
            <a:off x="9429120" y="3052228"/>
            <a:ext cx="14000" cy="200000"/>
          </a:xfrm>
          <a:prstGeom prst="rect">
            <a:avLst/>
          </a:prstGeom>
          <a:solidFill>
            <a:srgbClr val="DE9C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5" name="Bl31"/>
          <p:cNvSpPr/>
          <p:nvPr/>
        </p:nvSpPr>
        <p:spPr>
          <a:xfrm>
            <a:off x="9489120" y="2952228"/>
            <a:ext cx="248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/>
            <a:r>
              <a:rPr lang="en-US" sz="1100" dirty="0">
                <a:solidFill>
                  <a:srgbClr val="CCCCCC"/>
                </a:solidFill>
                <a:latin typeface="Calibri"/>
              </a:rPr>
              <a:t>Retrain the model</a:t>
            </a:r>
            <a:endParaRPr lang="en-US" sz="1100" b="0" dirty="0">
              <a:solidFill>
                <a:srgbClr val="CCCCCC"/>
              </a:solidFill>
              <a:latin typeface="Calibri"/>
            </a:endParaRPr>
          </a:p>
        </p:txBody>
      </p:sp>
      <p:sp>
        <p:nvSpPr>
          <p:cNvPr id="56" name="SBg3"/>
          <p:cNvSpPr/>
          <p:nvPr/>
        </p:nvSpPr>
        <p:spPr>
          <a:xfrm>
            <a:off x="9409120" y="5152228"/>
            <a:ext cx="2500000" cy="380000"/>
          </a:xfrm>
          <a:prstGeom prst="rect">
            <a:avLst/>
          </a:prstGeom>
          <a:solidFill>
            <a:srgbClr val="111B27"/>
          </a:solidFill>
          <a:ln w="16000">
            <a:solidFill>
              <a:srgbClr val="DE9C3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" name="STxt3"/>
          <p:cNvSpPr/>
          <p:nvPr/>
        </p:nvSpPr>
        <p:spPr>
          <a:xfrm>
            <a:off x="9409120" y="5152228"/>
            <a:ext cx="250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b="0" dirty="0">
                <a:solidFill>
                  <a:srgbClr val="888888"/>
                </a:solidFill>
                <a:latin typeface="Calibri"/>
              </a:rPr>
              <a:t>💾  stored in : retraining_log</a:t>
            </a:r>
          </a:p>
        </p:txBody>
      </p:sp>
      <p:sp>
        <p:nvSpPr>
          <p:cNvPr id="57" name="Bd31">
            <a:extLst>
              <a:ext uri="{FF2B5EF4-FFF2-40B4-BE49-F238E27FC236}">
                <a16:creationId xmlns:a16="http://schemas.microsoft.com/office/drawing/2014/main" id="{913D50AD-D68C-659D-EAA7-CE22B8263326}"/>
              </a:ext>
            </a:extLst>
          </p:cNvPr>
          <p:cNvSpPr/>
          <p:nvPr/>
        </p:nvSpPr>
        <p:spPr>
          <a:xfrm>
            <a:off x="9431392" y="3416172"/>
            <a:ext cx="14000" cy="200000"/>
          </a:xfrm>
          <a:prstGeom prst="rect">
            <a:avLst/>
          </a:prstGeom>
          <a:solidFill>
            <a:srgbClr val="DE9C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8" name="Bl31">
            <a:extLst>
              <a:ext uri="{FF2B5EF4-FFF2-40B4-BE49-F238E27FC236}">
                <a16:creationId xmlns:a16="http://schemas.microsoft.com/office/drawing/2014/main" id="{E65A2CA4-F026-2316-CE5B-B3DCB96E660F}"/>
              </a:ext>
            </a:extLst>
          </p:cNvPr>
          <p:cNvSpPr/>
          <p:nvPr/>
        </p:nvSpPr>
        <p:spPr>
          <a:xfrm>
            <a:off x="9491392" y="3316172"/>
            <a:ext cx="248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new vs old model</a:t>
            </a:r>
            <a:endParaRPr lang="en-US" sz="1100" b="0" dirty="0">
              <a:solidFill>
                <a:srgbClr val="CCCCCC"/>
              </a:solidFill>
              <a:latin typeface="Calibri"/>
            </a:endParaRPr>
          </a:p>
        </p:txBody>
      </p:sp>
      <p:sp>
        <p:nvSpPr>
          <p:cNvPr id="63" name="Bd31">
            <a:extLst>
              <a:ext uri="{FF2B5EF4-FFF2-40B4-BE49-F238E27FC236}">
                <a16:creationId xmlns:a16="http://schemas.microsoft.com/office/drawing/2014/main" id="{AAFF35D7-B0A5-E89D-53D5-22BEA5CE98EB}"/>
              </a:ext>
            </a:extLst>
          </p:cNvPr>
          <p:cNvSpPr/>
          <p:nvPr/>
        </p:nvSpPr>
        <p:spPr>
          <a:xfrm>
            <a:off x="9426840" y="3814236"/>
            <a:ext cx="14000" cy="200000"/>
          </a:xfrm>
          <a:prstGeom prst="rect">
            <a:avLst/>
          </a:prstGeom>
          <a:solidFill>
            <a:srgbClr val="DE9C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8" name="Bl31">
            <a:extLst>
              <a:ext uri="{FF2B5EF4-FFF2-40B4-BE49-F238E27FC236}">
                <a16:creationId xmlns:a16="http://schemas.microsoft.com/office/drawing/2014/main" id="{E996AF2A-B9F9-DB9E-CC06-1F4B59D384BE}"/>
              </a:ext>
            </a:extLst>
          </p:cNvPr>
          <p:cNvSpPr/>
          <p:nvPr/>
        </p:nvSpPr>
        <p:spPr>
          <a:xfrm>
            <a:off x="9486840" y="3714236"/>
            <a:ext cx="248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the model only if the new model performs is  better</a:t>
            </a:r>
          </a:p>
        </p:txBody>
      </p:sp>
      <p:grpSp>
        <p:nvGrpSpPr>
          <p:cNvPr id="449" name="Group 448">
            <a:extLst>
              <a:ext uri="{FF2B5EF4-FFF2-40B4-BE49-F238E27FC236}">
                <a16:creationId xmlns:a16="http://schemas.microsoft.com/office/drawing/2014/main" id="{AA7EA4B5-763B-C1E2-F8AB-EF12CF27347D}"/>
              </a:ext>
            </a:extLst>
          </p:cNvPr>
          <p:cNvGrpSpPr/>
          <p:nvPr/>
        </p:nvGrpSpPr>
        <p:grpSpPr>
          <a:xfrm>
            <a:off x="912301" y="5637639"/>
            <a:ext cx="10157155" cy="487680"/>
            <a:chOff x="1560576" y="4047744"/>
            <a:chExt cx="10157155" cy="487680"/>
          </a:xfrm>
        </p:grpSpPr>
        <p:sp>
          <p:nvSpPr>
            <p:cNvPr id="450" name="Shape 36">
              <a:extLst>
                <a:ext uri="{FF2B5EF4-FFF2-40B4-BE49-F238E27FC236}">
                  <a16:creationId xmlns:a16="http://schemas.microsoft.com/office/drawing/2014/main" id="{1C0E6960-0F82-6676-57D8-374D2ED060D8}"/>
                </a:ext>
              </a:extLst>
            </p:cNvPr>
            <p:cNvSpPr/>
            <p:nvPr/>
          </p:nvSpPr>
          <p:spPr>
            <a:xfrm>
              <a:off x="11716512" y="4047744"/>
              <a:ext cx="1219" cy="463296"/>
            </a:xfrm>
            <a:prstGeom prst="line">
              <a:avLst/>
            </a:prstGeom>
            <a:noFill/>
            <a:ln w="19050">
              <a:solidFill>
                <a:srgbClr val="F7931A"/>
              </a:solidFill>
              <a:prstDash val="sysDash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51" name="Shape 37">
              <a:extLst>
                <a:ext uri="{FF2B5EF4-FFF2-40B4-BE49-F238E27FC236}">
                  <a16:creationId xmlns:a16="http://schemas.microsoft.com/office/drawing/2014/main" id="{F289BA37-B0EF-C6F1-B2BE-BB6D1ABE1BAC}"/>
                </a:ext>
              </a:extLst>
            </p:cNvPr>
            <p:cNvSpPr/>
            <p:nvPr/>
          </p:nvSpPr>
          <p:spPr>
            <a:xfrm>
              <a:off x="1560576" y="4511040"/>
              <a:ext cx="10155936" cy="0"/>
            </a:xfrm>
            <a:prstGeom prst="line">
              <a:avLst/>
            </a:prstGeom>
            <a:noFill/>
            <a:ln w="19050">
              <a:solidFill>
                <a:srgbClr val="F7931A"/>
              </a:solidFill>
              <a:prstDash val="sysDash"/>
              <a:headEnd type="arrow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52" name="Shape 38">
              <a:extLst>
                <a:ext uri="{FF2B5EF4-FFF2-40B4-BE49-F238E27FC236}">
                  <a16:creationId xmlns:a16="http://schemas.microsoft.com/office/drawing/2014/main" id="{3AE788EF-CE2E-8E96-4532-AA6B05AADAEC}"/>
                </a:ext>
              </a:extLst>
            </p:cNvPr>
            <p:cNvSpPr/>
            <p:nvPr/>
          </p:nvSpPr>
          <p:spPr>
            <a:xfrm>
              <a:off x="1560576" y="4047744"/>
              <a:ext cx="1219" cy="463296"/>
            </a:xfrm>
            <a:prstGeom prst="line">
              <a:avLst/>
            </a:prstGeom>
            <a:noFill/>
            <a:ln w="19050">
              <a:solidFill>
                <a:srgbClr val="F7931A"/>
              </a:solidFill>
              <a:prstDash val="sysDash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53" name="Text 39">
              <a:extLst>
                <a:ext uri="{FF2B5EF4-FFF2-40B4-BE49-F238E27FC236}">
                  <a16:creationId xmlns:a16="http://schemas.microsoft.com/office/drawing/2014/main" id="{8F04D7D9-DBA0-DCA5-3291-AA6016F6C193}"/>
                </a:ext>
              </a:extLst>
            </p:cNvPr>
            <p:cNvSpPr/>
            <p:nvPr/>
          </p:nvSpPr>
          <p:spPr>
            <a:xfrm>
              <a:off x="2194560" y="4267200"/>
              <a:ext cx="792480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067" i="1" dirty="0">
                  <a:solidFill>
                    <a:srgbClr val="F793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🔁   Daily Cycle — Pipeline runs automatically every day at 00:30 AM</a:t>
              </a:r>
              <a:endParaRPr lang="en-US" sz="1067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0" y="0"/>
            <a:ext cx="12192000" cy="520000"/>
          </a:xfrm>
          <a:prstGeom prst="rect">
            <a:avLst/>
          </a:prstGeom>
          <a:solidFill>
            <a:srgbClr val="1A2535"/>
          </a:solidFill>
          <a:ln>
            <a:noFill/>
          </a:ln>
        </p:spPr>
        <p:txBody>
          <a:bodyPr wrap="square" lIns="36576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/>
              </a:rPr>
              <a:t>RAG + LLM + Chatbot — </a:t>
            </a:r>
            <a:r>
              <a:rPr lang="en-US" sz="2200" b="1" dirty="0">
                <a:solidFill>
                  <a:srgbClr val="F7931A"/>
                </a:solidFill>
                <a:latin typeface="Calibri"/>
              </a:rPr>
              <a:t>Pipeline Overview</a:t>
            </a:r>
          </a:p>
        </p:txBody>
      </p:sp>
      <p:sp>
        <p:nvSpPr>
          <p:cNvPr id="3" name="TitleLine"/>
          <p:cNvSpPr/>
          <p:nvPr/>
        </p:nvSpPr>
        <p:spPr>
          <a:xfrm>
            <a:off x="0" y="516000"/>
            <a:ext cx="12192000" cy="160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UXLabel"/>
          <p:cNvSpPr/>
          <p:nvPr/>
        </p:nvSpPr>
        <p:spPr>
          <a:xfrm>
            <a:off x="182880" y="620000"/>
            <a:ext cx="12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7931A"/>
                </a:solidFill>
                <a:latin typeface="Calibri"/>
              </a:rPr>
              <a:t>👤  UX VIEW</a:t>
            </a:r>
            <a:r>
              <a:rPr lang="en-US" sz="1000" dirty="0">
                <a:solidFill>
                  <a:srgbClr val="444444"/>
                </a:solidFill>
                <a:latin typeface="Calibri"/>
              </a:rPr>
              <a:t>   </a:t>
            </a:r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—</a:t>
            </a:r>
            <a:r>
              <a:rPr lang="en-US" sz="1000" dirty="0">
                <a:solidFill>
                  <a:srgbClr val="444444"/>
                </a:solidFill>
                <a:latin typeface="Calibri"/>
              </a:rPr>
              <a:t>   </a:t>
            </a:r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what the user experiences</a:t>
            </a:r>
          </a:p>
        </p:txBody>
      </p:sp>
      <p:sp>
        <p:nvSpPr>
          <p:cNvPr id="10" name="UserIcon"/>
          <p:cNvSpPr/>
          <p:nvPr/>
        </p:nvSpPr>
        <p:spPr>
          <a:xfrm>
            <a:off x="700000" y="960000"/>
            <a:ext cx="12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4400" dirty="0">
                <a:latin typeface="Segoe UI Emoji"/>
              </a:rPr>
              <a:t>👤</a:t>
            </a:r>
          </a:p>
        </p:txBody>
      </p:sp>
      <p:sp>
        <p:nvSpPr>
          <p:cNvPr id="11" name="UserLabel"/>
          <p:cNvSpPr/>
          <p:nvPr/>
        </p:nvSpPr>
        <p:spPr>
          <a:xfrm>
            <a:off x="700000" y="1860000"/>
            <a:ext cx="12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sp>
        <p:nvSpPr>
          <p:cNvPr id="12" name="UserSub"/>
          <p:cNvSpPr/>
          <p:nvPr/>
        </p:nvSpPr>
        <p:spPr>
          <a:xfrm>
            <a:off x="600000" y="2200000"/>
            <a:ext cx="14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natural language question</a:t>
            </a:r>
          </a:p>
        </p:txBody>
      </p:sp>
      <p:sp>
        <p:nvSpPr>
          <p:cNvPr id="15" name="ArrUC"/>
          <p:cNvSpPr/>
          <p:nvPr/>
        </p:nvSpPr>
        <p:spPr>
          <a:xfrm>
            <a:off x="2934491" y="1330000"/>
            <a:ext cx="500000" cy="200000"/>
          </a:xfrm>
          <a:prstGeom prst="rightArrow">
            <a:avLst/>
          </a:prstGeom>
          <a:solidFill>
            <a:schemeClr val="tx1">
              <a:lumMod val="65000"/>
            </a:scheme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BotIcon"/>
          <p:cNvSpPr/>
          <p:nvPr/>
        </p:nvSpPr>
        <p:spPr>
          <a:xfrm>
            <a:off x="5496000" y="792000"/>
            <a:ext cx="12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4400" dirty="0">
                <a:latin typeface="Segoe UI Emoji"/>
              </a:rPr>
              <a:t>🤖</a:t>
            </a:r>
          </a:p>
        </p:txBody>
      </p:sp>
      <p:sp>
        <p:nvSpPr>
          <p:cNvPr id="21" name="BotLabel"/>
          <p:cNvSpPr/>
          <p:nvPr/>
        </p:nvSpPr>
        <p:spPr>
          <a:xfrm>
            <a:off x="4731570" y="1864502"/>
            <a:ext cx="28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7931A"/>
                </a:solidFill>
                <a:latin typeface="Calibri"/>
              </a:rPr>
              <a:t>CHATBOT ORCHESTRATOR</a:t>
            </a:r>
          </a:p>
        </p:txBody>
      </p:sp>
      <p:sp>
        <p:nvSpPr>
          <p:cNvPr id="22" name="Pills"/>
          <p:cNvSpPr/>
          <p:nvPr/>
        </p:nvSpPr>
        <p:spPr>
          <a:xfrm>
            <a:off x="4137984" y="2220000"/>
            <a:ext cx="4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00BFA5"/>
                </a:solidFill>
                <a:latin typeface="Calibri"/>
              </a:rPr>
              <a:t>Detect</a:t>
            </a:r>
            <a:r>
              <a:rPr lang="en-US" sz="1000" dirty="0">
                <a:solidFill>
                  <a:srgbClr val="555555"/>
                </a:solidFill>
                <a:latin typeface="Calibri"/>
              </a:rPr>
              <a:t>  •  </a:t>
            </a:r>
            <a:r>
              <a:rPr lang="en-US" sz="1000" dirty="0">
                <a:solidFill>
                  <a:srgbClr val="9A66CA"/>
                </a:solidFill>
                <a:latin typeface="Calibri"/>
              </a:rPr>
              <a:t>Route</a:t>
            </a:r>
            <a:r>
              <a:rPr lang="en-US" sz="1000" dirty="0">
                <a:solidFill>
                  <a:srgbClr val="555555"/>
                </a:solidFill>
                <a:latin typeface="Calibri"/>
              </a:rPr>
              <a:t>  •  </a:t>
            </a:r>
            <a:r>
              <a:rPr lang="en-US" sz="1000" dirty="0">
                <a:solidFill>
                  <a:srgbClr val="DE9C3C"/>
                </a:solidFill>
                <a:latin typeface="Calibri"/>
              </a:rPr>
              <a:t>Orchestrate</a:t>
            </a:r>
            <a:r>
              <a:rPr lang="en-US" sz="1000" dirty="0">
                <a:solidFill>
                  <a:srgbClr val="555555"/>
                </a:solidFill>
                <a:latin typeface="Calibri"/>
              </a:rPr>
              <a:t>  •  </a:t>
            </a:r>
            <a:r>
              <a:rPr lang="en-US" sz="1000" dirty="0">
                <a:solidFill>
                  <a:srgbClr val="9EC544"/>
                </a:solidFill>
                <a:latin typeface="Calibri"/>
              </a:rPr>
              <a:t>Maintain History</a:t>
            </a:r>
          </a:p>
        </p:txBody>
      </p:sp>
      <p:sp>
        <p:nvSpPr>
          <p:cNvPr id="27" name="ArrCR"/>
          <p:cNvSpPr/>
          <p:nvPr/>
        </p:nvSpPr>
        <p:spPr>
          <a:xfrm>
            <a:off x="8102560" y="1324000"/>
            <a:ext cx="500000" cy="200000"/>
          </a:xfrm>
          <a:prstGeom prst="rightArrow">
            <a:avLst/>
          </a:prstGeom>
          <a:solidFill>
            <a:schemeClr val="tx1">
              <a:lumMod val="65000"/>
            </a:scheme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RespIcon"/>
          <p:cNvSpPr/>
          <p:nvPr/>
        </p:nvSpPr>
        <p:spPr>
          <a:xfrm>
            <a:off x="10093554" y="960000"/>
            <a:ext cx="12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4400" dirty="0">
                <a:latin typeface="Segoe UI Emoji"/>
              </a:rPr>
              <a:t>📊</a:t>
            </a:r>
          </a:p>
        </p:txBody>
      </p:sp>
      <p:sp>
        <p:nvSpPr>
          <p:cNvPr id="31" name="RespLabel"/>
          <p:cNvSpPr/>
          <p:nvPr/>
        </p:nvSpPr>
        <p:spPr>
          <a:xfrm>
            <a:off x="10026934" y="1860000"/>
            <a:ext cx="14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9EC544"/>
                </a:solidFill>
                <a:latin typeface="Calibri"/>
              </a:rPr>
              <a:t>ANALYSIS</a:t>
            </a:r>
          </a:p>
        </p:txBody>
      </p:sp>
      <p:sp>
        <p:nvSpPr>
          <p:cNvPr id="32" name="RespSub"/>
          <p:cNvSpPr/>
          <p:nvPr/>
        </p:nvSpPr>
        <p:spPr>
          <a:xfrm>
            <a:off x="9953631" y="2200000"/>
            <a:ext cx="16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structured market analysis</a:t>
            </a:r>
          </a:p>
        </p:txBody>
      </p:sp>
      <p:sp>
        <p:nvSpPr>
          <p:cNvPr id="40" name="SepL"/>
          <p:cNvSpPr/>
          <p:nvPr/>
        </p:nvSpPr>
        <p:spPr>
          <a:xfrm>
            <a:off x="182880" y="2680000"/>
            <a:ext cx="4500000" cy="10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SepR"/>
          <p:cNvSpPr/>
          <p:nvPr/>
        </p:nvSpPr>
        <p:spPr>
          <a:xfrm>
            <a:off x="7510000" y="2680000"/>
            <a:ext cx="4500000" cy="10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/>
          <a:lstStyle/>
          <a:p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2" name="SepTxt"/>
          <p:cNvSpPr/>
          <p:nvPr/>
        </p:nvSpPr>
        <p:spPr>
          <a:xfrm>
            <a:off x="4700000" y="2580000"/>
            <a:ext cx="28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chemeClr val="tx2">
                    <a:lumMod val="75000"/>
                  </a:schemeClr>
                </a:solidFill>
                <a:latin typeface="Calibri"/>
              </a:rPr>
              <a:t>———  internally triggers  ———</a:t>
            </a:r>
          </a:p>
        </p:txBody>
      </p:sp>
      <p:sp>
        <p:nvSpPr>
          <p:cNvPr id="43" name="L2Label"/>
          <p:cNvSpPr/>
          <p:nvPr/>
        </p:nvSpPr>
        <p:spPr>
          <a:xfrm>
            <a:off x="182880" y="2740000"/>
            <a:ext cx="12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4A9CCC"/>
                </a:solidFill>
                <a:latin typeface="Calibri"/>
              </a:rPr>
              <a:t>⚙️  INTERNAL PIPELINE</a:t>
            </a:r>
            <a:r>
              <a:rPr lang="en-US" sz="1000" dirty="0">
                <a:solidFill>
                  <a:srgbClr val="444444"/>
                </a:solidFill>
                <a:latin typeface="Calibri"/>
              </a:rPr>
              <a:t>   </a:t>
            </a:r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—   what really happens behind the scenes</a:t>
            </a:r>
          </a:p>
        </p:txBody>
      </p:sp>
      <p:sp>
        <p:nvSpPr>
          <p:cNvPr id="50" name="Icon0"/>
          <p:cNvSpPr/>
          <p:nvPr/>
        </p:nvSpPr>
        <p:spPr>
          <a:xfrm>
            <a:off x="1424329" y="3080000"/>
            <a:ext cx="18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5000" dirty="0">
                <a:latin typeface="Segoe UI Emoji"/>
              </a:rPr>
              <a:t>🔍</a:t>
            </a:r>
          </a:p>
        </p:txBody>
      </p:sp>
      <p:sp>
        <p:nvSpPr>
          <p:cNvPr id="51" name="Lbl0"/>
          <p:cNvSpPr/>
          <p:nvPr/>
        </p:nvSpPr>
        <p:spPr>
          <a:xfrm>
            <a:off x="1457704" y="4100000"/>
            <a:ext cx="18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en-US" sz="1500" b="1" dirty="0">
                <a:solidFill>
                  <a:srgbClr val="F7931A"/>
                </a:solidFill>
                <a:latin typeface="Calibri"/>
              </a:rPr>
              <a:t>Intent</a:t>
            </a:r>
          </a:p>
          <a:p>
            <a:pPr algn="ctr"/>
            <a:r>
              <a:rPr lang="en-US" sz="1500" b="1" dirty="0">
                <a:solidFill>
                  <a:srgbClr val="F7931A"/>
                </a:solidFill>
                <a:latin typeface="Calibri"/>
              </a:rPr>
              <a:t>Detection</a:t>
            </a:r>
          </a:p>
        </p:txBody>
      </p:sp>
      <p:sp>
        <p:nvSpPr>
          <p:cNvPr id="52" name="Line0"/>
          <p:cNvSpPr/>
          <p:nvPr/>
        </p:nvSpPr>
        <p:spPr>
          <a:xfrm>
            <a:off x="1937687" y="4680000"/>
            <a:ext cx="800000" cy="140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" name="Arr0"/>
          <p:cNvSpPr/>
          <p:nvPr/>
        </p:nvSpPr>
        <p:spPr>
          <a:xfrm>
            <a:off x="3237687" y="3460000"/>
            <a:ext cx="706560" cy="180000"/>
          </a:xfrm>
          <a:prstGeom prst="rightArrow">
            <a:avLst/>
          </a:prstGeom>
          <a:solidFill>
            <a:schemeClr val="tx1">
              <a:lumMod val="65000"/>
            </a:scheme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4" name="Icon1"/>
          <p:cNvSpPr/>
          <p:nvPr/>
        </p:nvSpPr>
        <p:spPr>
          <a:xfrm>
            <a:off x="3944232" y="3080000"/>
            <a:ext cx="18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5000" dirty="0">
                <a:latin typeface="Segoe UI Emoji"/>
              </a:rPr>
              <a:t>📰</a:t>
            </a:r>
          </a:p>
        </p:txBody>
      </p:sp>
      <p:sp>
        <p:nvSpPr>
          <p:cNvPr id="55" name="Lbl1"/>
          <p:cNvSpPr/>
          <p:nvPr/>
        </p:nvSpPr>
        <p:spPr>
          <a:xfrm>
            <a:off x="3944247" y="4100000"/>
            <a:ext cx="18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en-US" sz="1500" b="1" dirty="0">
                <a:solidFill>
                  <a:srgbClr val="00BFA5"/>
                </a:solidFill>
                <a:latin typeface="Calibri"/>
              </a:rPr>
              <a:t>Data</a:t>
            </a:r>
          </a:p>
          <a:p>
            <a:pPr algn="ctr"/>
            <a:r>
              <a:rPr lang="en-US" sz="1500" b="1" dirty="0">
                <a:solidFill>
                  <a:srgbClr val="00BFA5"/>
                </a:solidFill>
                <a:latin typeface="Calibri"/>
              </a:rPr>
              <a:t>Layer</a:t>
            </a:r>
          </a:p>
        </p:txBody>
      </p:sp>
      <p:sp>
        <p:nvSpPr>
          <p:cNvPr id="56" name="Line1"/>
          <p:cNvSpPr/>
          <p:nvPr/>
        </p:nvSpPr>
        <p:spPr>
          <a:xfrm>
            <a:off x="4444247" y="4680000"/>
            <a:ext cx="800000" cy="14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7" name="Arr1"/>
          <p:cNvSpPr/>
          <p:nvPr/>
        </p:nvSpPr>
        <p:spPr>
          <a:xfrm>
            <a:off x="5744247" y="3460000"/>
            <a:ext cx="706560" cy="180000"/>
          </a:xfrm>
          <a:prstGeom prst="rightArrow">
            <a:avLst/>
          </a:prstGeom>
          <a:solidFill>
            <a:schemeClr val="tx1">
              <a:lumMod val="65000"/>
            </a:scheme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8" name="Icon2"/>
          <p:cNvSpPr/>
          <p:nvPr/>
        </p:nvSpPr>
        <p:spPr>
          <a:xfrm>
            <a:off x="6377378" y="3080000"/>
            <a:ext cx="18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5000" dirty="0">
                <a:latin typeface="Segoe UI Emoji"/>
              </a:rPr>
              <a:t>🧩</a:t>
            </a:r>
          </a:p>
        </p:txBody>
      </p:sp>
      <p:sp>
        <p:nvSpPr>
          <p:cNvPr id="59" name="Lbl2"/>
          <p:cNvSpPr/>
          <p:nvPr/>
        </p:nvSpPr>
        <p:spPr>
          <a:xfrm>
            <a:off x="6450807" y="4100000"/>
            <a:ext cx="18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en-US" sz="1500" b="1" dirty="0">
                <a:solidFill>
                  <a:srgbClr val="9A66CA"/>
                </a:solidFill>
                <a:latin typeface="Calibri"/>
              </a:rPr>
              <a:t>Context</a:t>
            </a:r>
          </a:p>
          <a:p>
            <a:pPr algn="ctr"/>
            <a:r>
              <a:rPr lang="en-US" sz="1500" b="1" dirty="0">
                <a:solidFill>
                  <a:srgbClr val="9A66CA"/>
                </a:solidFill>
                <a:latin typeface="Calibri"/>
              </a:rPr>
              <a:t>Builder</a:t>
            </a:r>
          </a:p>
        </p:txBody>
      </p:sp>
      <p:sp>
        <p:nvSpPr>
          <p:cNvPr id="60" name="Line2"/>
          <p:cNvSpPr/>
          <p:nvPr/>
        </p:nvSpPr>
        <p:spPr>
          <a:xfrm>
            <a:off x="6950807" y="4680000"/>
            <a:ext cx="800000" cy="14000"/>
          </a:xfrm>
          <a:prstGeom prst="rect">
            <a:avLst/>
          </a:prstGeom>
          <a:solidFill>
            <a:srgbClr val="9A66C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Arr2"/>
          <p:cNvSpPr/>
          <p:nvPr/>
        </p:nvSpPr>
        <p:spPr>
          <a:xfrm>
            <a:off x="8250807" y="3460000"/>
            <a:ext cx="706560" cy="180000"/>
          </a:xfrm>
          <a:prstGeom prst="rightArrow">
            <a:avLst/>
          </a:prstGeom>
          <a:solidFill>
            <a:schemeClr val="tx1">
              <a:lumMod val="65000"/>
            </a:scheme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Icon3"/>
          <p:cNvSpPr/>
          <p:nvPr/>
        </p:nvSpPr>
        <p:spPr>
          <a:xfrm>
            <a:off x="8970710" y="3080000"/>
            <a:ext cx="18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5000" dirty="0">
                <a:latin typeface="Segoe UI Emoji"/>
              </a:rPr>
              <a:t>🧠</a:t>
            </a:r>
          </a:p>
        </p:txBody>
      </p:sp>
      <p:sp>
        <p:nvSpPr>
          <p:cNvPr id="63" name="Lbl3"/>
          <p:cNvSpPr/>
          <p:nvPr/>
        </p:nvSpPr>
        <p:spPr>
          <a:xfrm>
            <a:off x="8957367" y="4100000"/>
            <a:ext cx="18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en-US" sz="1500" b="1" dirty="0">
                <a:solidFill>
                  <a:srgbClr val="DE9C3C"/>
                </a:solidFill>
                <a:latin typeface="Calibri"/>
              </a:rPr>
              <a:t>LLM</a:t>
            </a:r>
          </a:p>
          <a:p>
            <a:pPr algn="ctr"/>
            <a:r>
              <a:rPr lang="en-US" sz="1500" b="1" dirty="0">
                <a:solidFill>
                  <a:srgbClr val="DE9C3C"/>
                </a:solidFill>
                <a:latin typeface="Calibri"/>
              </a:rPr>
              <a:t>Engine</a:t>
            </a:r>
          </a:p>
        </p:txBody>
      </p:sp>
      <p:sp>
        <p:nvSpPr>
          <p:cNvPr id="64" name="Line3"/>
          <p:cNvSpPr/>
          <p:nvPr/>
        </p:nvSpPr>
        <p:spPr>
          <a:xfrm>
            <a:off x="9457367" y="4680000"/>
            <a:ext cx="800000" cy="14000"/>
          </a:xfrm>
          <a:prstGeom prst="rect">
            <a:avLst/>
          </a:prstGeom>
          <a:solidFill>
            <a:srgbClr val="DE9C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UserSub">
            <a:extLst>
              <a:ext uri="{FF2B5EF4-FFF2-40B4-BE49-F238E27FC236}">
                <a16:creationId xmlns:a16="http://schemas.microsoft.com/office/drawing/2014/main" id="{5D041609-D53F-B655-6B15-52CF1BD15742}"/>
              </a:ext>
            </a:extLst>
          </p:cNvPr>
          <p:cNvSpPr/>
          <p:nvPr/>
        </p:nvSpPr>
        <p:spPr>
          <a:xfrm>
            <a:off x="1595772" y="4759929"/>
            <a:ext cx="1400000" cy="599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LLM (</a:t>
            </a:r>
            <a:r>
              <a:rPr lang="en-US" sz="1000" dirty="0" err="1">
                <a:solidFill>
                  <a:schemeClr val="tx1">
                    <a:lumMod val="95000"/>
                  </a:schemeClr>
                </a:solidFill>
                <a:latin typeface="Calibri"/>
              </a:rPr>
              <a:t>LLaMA</a:t>
            </a:r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 3.3  70B) </a:t>
            </a:r>
          </a:p>
          <a:p>
            <a:pPr algn="ctr"/>
            <a:endParaRPr lang="en-US" sz="1000" dirty="0">
              <a:solidFill>
                <a:schemeClr val="tx1">
                  <a:lumMod val="95000"/>
                </a:schemeClr>
              </a:solidFill>
              <a:latin typeface="Calibri"/>
            </a:endParaRPr>
          </a:p>
          <a:p>
            <a:pPr algn="ctr"/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REGEX </a:t>
            </a:r>
          </a:p>
        </p:txBody>
      </p:sp>
      <p:sp>
        <p:nvSpPr>
          <p:cNvPr id="6" name="UserSub">
            <a:extLst>
              <a:ext uri="{FF2B5EF4-FFF2-40B4-BE49-F238E27FC236}">
                <a16:creationId xmlns:a16="http://schemas.microsoft.com/office/drawing/2014/main" id="{66FC96E2-7D1A-412D-0704-F126C3BC65D1}"/>
              </a:ext>
            </a:extLst>
          </p:cNvPr>
          <p:cNvSpPr/>
          <p:nvPr/>
        </p:nvSpPr>
        <p:spPr>
          <a:xfrm>
            <a:off x="4100807" y="4759928"/>
            <a:ext cx="1400000" cy="10268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ML Models </a:t>
            </a:r>
          </a:p>
          <a:p>
            <a:pPr algn="ctr"/>
            <a:endParaRPr lang="en-US" sz="1000" dirty="0">
              <a:solidFill>
                <a:schemeClr val="tx1">
                  <a:lumMod val="95000"/>
                </a:schemeClr>
              </a:solidFill>
              <a:latin typeface="Calibri"/>
            </a:endParaRPr>
          </a:p>
          <a:p>
            <a:pPr algn="ctr"/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Live Features </a:t>
            </a:r>
          </a:p>
          <a:p>
            <a:pPr algn="ctr"/>
            <a:endParaRPr lang="en-US" sz="1000" dirty="0">
              <a:solidFill>
                <a:schemeClr val="tx1">
                  <a:lumMod val="95000"/>
                </a:schemeClr>
              </a:solidFill>
              <a:latin typeface="Calibri"/>
            </a:endParaRPr>
          </a:p>
          <a:p>
            <a:pPr algn="ctr"/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RAG/ News  </a:t>
            </a:r>
          </a:p>
        </p:txBody>
      </p:sp>
      <p:sp>
        <p:nvSpPr>
          <p:cNvPr id="7" name="UserSub">
            <a:extLst>
              <a:ext uri="{FF2B5EF4-FFF2-40B4-BE49-F238E27FC236}">
                <a16:creationId xmlns:a16="http://schemas.microsoft.com/office/drawing/2014/main" id="{9A74F023-53EA-B8E1-D738-6AEB5629786E}"/>
              </a:ext>
            </a:extLst>
          </p:cNvPr>
          <p:cNvSpPr/>
          <p:nvPr/>
        </p:nvSpPr>
        <p:spPr>
          <a:xfrm>
            <a:off x="6650807" y="4694000"/>
            <a:ext cx="1400000" cy="10268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History</a:t>
            </a:r>
          </a:p>
          <a:p>
            <a:pPr algn="ctr"/>
            <a:endParaRPr lang="en-US" sz="1000" dirty="0">
              <a:solidFill>
                <a:schemeClr val="tx1">
                  <a:lumMod val="95000"/>
                </a:schemeClr>
              </a:solidFill>
              <a:latin typeface="Calibri"/>
            </a:endParaRPr>
          </a:p>
          <a:p>
            <a:pPr algn="ctr"/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Indicators</a:t>
            </a:r>
          </a:p>
          <a:p>
            <a:pPr algn="ctr"/>
            <a:endParaRPr lang="en-US" sz="1000" dirty="0">
              <a:solidFill>
                <a:schemeClr val="tx1">
                  <a:lumMod val="95000"/>
                </a:schemeClr>
              </a:solidFill>
              <a:latin typeface="Calibri"/>
            </a:endParaRPr>
          </a:p>
          <a:p>
            <a:pPr algn="ctr"/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Intent specific prompt  </a:t>
            </a:r>
          </a:p>
        </p:txBody>
      </p:sp>
      <p:sp>
        <p:nvSpPr>
          <p:cNvPr id="8" name="UserSub">
            <a:extLst>
              <a:ext uri="{FF2B5EF4-FFF2-40B4-BE49-F238E27FC236}">
                <a16:creationId xmlns:a16="http://schemas.microsoft.com/office/drawing/2014/main" id="{1AED69E3-A19A-2986-DDAA-72D9F85EA994}"/>
              </a:ext>
            </a:extLst>
          </p:cNvPr>
          <p:cNvSpPr/>
          <p:nvPr/>
        </p:nvSpPr>
        <p:spPr>
          <a:xfrm>
            <a:off x="9157367" y="4680000"/>
            <a:ext cx="1400000" cy="10268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LLM (</a:t>
            </a:r>
            <a:r>
              <a:rPr lang="en-US" sz="1000" dirty="0" err="1">
                <a:solidFill>
                  <a:schemeClr val="tx1">
                    <a:lumMod val="95000"/>
                  </a:schemeClr>
                </a:solidFill>
                <a:latin typeface="Calibri"/>
              </a:rPr>
              <a:t>LLaMA</a:t>
            </a:r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 3.3  70B) </a:t>
            </a:r>
          </a:p>
          <a:p>
            <a:pPr algn="ctr"/>
            <a:endParaRPr lang="en-US" sz="1000" dirty="0">
              <a:solidFill>
                <a:schemeClr val="tx1">
                  <a:lumMod val="95000"/>
                </a:schemeClr>
              </a:solidFill>
              <a:latin typeface="Calibri"/>
            </a:endParaRPr>
          </a:p>
          <a:p>
            <a:pPr algn="ctr"/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Structured 280 words analyze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0" y="0"/>
            <a:ext cx="12192000" cy="520000"/>
          </a:xfrm>
          <a:prstGeom prst="rect">
            <a:avLst/>
          </a:prstGeom>
          <a:solidFill>
            <a:srgbClr val="1A2535"/>
          </a:solidFill>
          <a:ln>
            <a:noFill/>
          </a:ln>
        </p:spPr>
        <p:txBody>
          <a:bodyPr wrap="square" lIns="36576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/>
              </a:rPr>
              <a:t>Intent Detection &amp; </a:t>
            </a:r>
            <a:r>
              <a:rPr lang="en-US" sz="2200" b="1" dirty="0">
                <a:solidFill>
                  <a:srgbClr val="00BFA5"/>
                </a:solidFill>
                <a:latin typeface="Calibri"/>
              </a:rPr>
              <a:t>Routing</a:t>
            </a:r>
          </a:p>
        </p:txBody>
      </p:sp>
      <p:sp>
        <p:nvSpPr>
          <p:cNvPr id="3" name="TitleLine"/>
          <p:cNvSpPr/>
          <p:nvPr/>
        </p:nvSpPr>
        <p:spPr>
          <a:xfrm>
            <a:off x="0" y="516000"/>
            <a:ext cx="12192000" cy="16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UserIcon"/>
          <p:cNvSpPr/>
          <p:nvPr/>
        </p:nvSpPr>
        <p:spPr>
          <a:xfrm>
            <a:off x="5296000" y="590000"/>
            <a:ext cx="16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3200" dirty="0">
                <a:latin typeface="Segoe UI Emoji"/>
              </a:rPr>
              <a:t>💬</a:t>
            </a:r>
          </a:p>
        </p:txBody>
      </p:sp>
      <p:sp>
        <p:nvSpPr>
          <p:cNvPr id="11" name="UserLabel"/>
          <p:cNvSpPr/>
          <p:nvPr/>
        </p:nvSpPr>
        <p:spPr>
          <a:xfrm>
            <a:off x="5096000" y="1170000"/>
            <a:ext cx="20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USER QUESTION</a:t>
            </a:r>
          </a:p>
        </p:txBody>
      </p:sp>
      <p:sp>
        <p:nvSpPr>
          <p:cNvPr id="14" name="ArrDown"/>
          <p:cNvSpPr/>
          <p:nvPr/>
        </p:nvSpPr>
        <p:spPr>
          <a:xfrm rot="5400000">
            <a:off x="5946000" y="1460000"/>
            <a:ext cx="200000" cy="340000"/>
          </a:xfrm>
          <a:prstGeom prst="rightArrow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txBody>
          <a:bodyPr/>
          <a:lstStyle/>
          <a:p>
            <a:endParaRPr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20" name="ClassBox"/>
          <p:cNvSpPr/>
          <p:nvPr/>
        </p:nvSpPr>
        <p:spPr>
          <a:xfrm>
            <a:off x="4496000" y="1820000"/>
            <a:ext cx="3200000" cy="560000"/>
          </a:xfrm>
          <a:prstGeom prst="rect">
            <a:avLst/>
          </a:prstGeom>
          <a:solidFill>
            <a:srgbClr val="0D1B2A"/>
          </a:solidFill>
          <a:ln w="25400">
            <a:solidFill>
              <a:srgbClr val="F7931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ClassTxt"/>
          <p:cNvSpPr/>
          <p:nvPr/>
        </p:nvSpPr>
        <p:spPr>
          <a:xfrm>
            <a:off x="4496000" y="1820000"/>
            <a:ext cx="32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rtlCol="0" anchor="ctr"/>
          <a:lstStyle/>
          <a:p>
            <a:pPr algn="ctr"/>
            <a:r>
              <a:rPr lang="en-US" sz="1600" b="1" dirty="0">
                <a:solidFill>
                  <a:srgbClr val="F7931A"/>
                </a:solidFill>
                <a:latin typeface="Calibri"/>
              </a:rPr>
              <a:t>🤖  LLM CLASSIFIER / REGEX  </a:t>
            </a:r>
          </a:p>
          <a:p>
            <a:pPr algn="ctr"/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LLaMA 3.3 70B  •  returns {intent, coin}</a:t>
            </a:r>
          </a:p>
        </p:txBody>
      </p:sp>
      <p:sp>
        <p:nvSpPr>
          <p:cNvPr id="30" name="Stem"/>
          <p:cNvSpPr/>
          <p:nvPr/>
        </p:nvSpPr>
        <p:spPr>
          <a:xfrm>
            <a:off x="6086000" y="2380000"/>
            <a:ext cx="20000" cy="3000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HBar"/>
          <p:cNvSpPr/>
          <p:nvPr/>
        </p:nvSpPr>
        <p:spPr>
          <a:xfrm>
            <a:off x="182880" y="2680000"/>
            <a:ext cx="11826240" cy="200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VDrop0"/>
          <p:cNvSpPr/>
          <p:nvPr/>
        </p:nvSpPr>
        <p:spPr>
          <a:xfrm>
            <a:off x="822880" y="2700000"/>
            <a:ext cx="20000" cy="2100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Card0"/>
          <p:cNvSpPr/>
          <p:nvPr/>
        </p:nvSpPr>
        <p:spPr>
          <a:xfrm>
            <a:off x="182880" y="2900000"/>
            <a:ext cx="1280000" cy="1688733"/>
          </a:xfrm>
          <a:prstGeom prst="rect">
            <a:avLst/>
          </a:prstGeom>
          <a:solidFill>
            <a:srgbClr val="0D1B2A"/>
          </a:solidFill>
          <a:ln w="19050">
            <a:solidFill>
              <a:srgbClr val="F7931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" name="CBar0"/>
          <p:cNvSpPr/>
          <p:nvPr/>
        </p:nvSpPr>
        <p:spPr>
          <a:xfrm>
            <a:off x="182880" y="2900000"/>
            <a:ext cx="1280000" cy="600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CTxt0"/>
          <p:cNvSpPr/>
          <p:nvPr/>
        </p:nvSpPr>
        <p:spPr>
          <a:xfrm>
            <a:off x="182880" y="2980000"/>
            <a:ext cx="1280000" cy="918001"/>
          </a:xfrm>
          <a:prstGeom prst="rect">
            <a:avLst/>
          </a:prstGeom>
          <a:noFill/>
          <a:ln>
            <a:noFill/>
          </a:ln>
        </p:spPr>
        <p:txBody>
          <a:bodyPr wrap="square" lIns="60000" tIns="80000" rIns="60000" bIns="60000" rtlCol="0" anchor="t"/>
          <a:lstStyle/>
          <a:p>
            <a:pPr algn="ctr"/>
            <a:r>
              <a:rPr lang="en-US" sz="2800" dirty="0">
                <a:latin typeface="Segoe UI Emoji"/>
              </a:rPr>
              <a:t>👋</a:t>
            </a:r>
          </a:p>
          <a:p>
            <a:endParaRPr lang="en-US" sz="800" dirty="0"/>
          </a:p>
          <a:p>
            <a:pPr algn="ctr"/>
            <a:r>
              <a:rPr lang="en-US" sz="1300" b="1" dirty="0">
                <a:solidFill>
                  <a:srgbClr val="F7931A"/>
                </a:solidFill>
                <a:latin typeface="Calibri"/>
              </a:rPr>
              <a:t>Greeting</a:t>
            </a:r>
          </a:p>
          <a:p>
            <a:endParaRPr lang="en-US" sz="700" dirty="0"/>
          </a:p>
          <a:p>
            <a:pPr algn="ctr"/>
            <a:endParaRPr lang="en-US" sz="1000" dirty="0">
              <a:solidFill>
                <a:schemeClr val="tx1">
                  <a:lumMod val="95000"/>
                </a:schemeClr>
              </a:solidFill>
              <a:latin typeface="Calibri"/>
            </a:endParaRPr>
          </a:p>
        </p:txBody>
      </p:sp>
      <p:sp>
        <p:nvSpPr>
          <p:cNvPr id="44" name="Tag0"/>
          <p:cNvSpPr/>
          <p:nvPr/>
        </p:nvSpPr>
        <p:spPr>
          <a:xfrm>
            <a:off x="262880" y="4227229"/>
            <a:ext cx="1120000" cy="260000"/>
          </a:xfrm>
          <a:prstGeom prst="roundRect">
            <a:avLst>
              <a:gd name="adj" fmla="val 30000"/>
            </a:avLst>
          </a:prstGeom>
          <a:solidFill>
            <a:srgbClr val="111B27"/>
          </a:solidFill>
          <a:ln w="16000">
            <a:solidFill>
              <a:srgbClr val="F7931A"/>
            </a:solidFill>
          </a:ln>
        </p:spPr>
        <p:txBody>
          <a:bodyPr wrap="square" lIns="60000" tIns="0" rIns="60000" bIns="0" rtlCol="0" anchor="ctr"/>
          <a:lstStyle/>
          <a:p>
            <a:pPr algn="ctr"/>
            <a:r>
              <a:rPr lang="en-US" sz="850" b="1" dirty="0">
                <a:solidFill>
                  <a:srgbClr val="F7931A"/>
                </a:solidFill>
                <a:latin typeface="Calibri"/>
              </a:rPr>
              <a:t>⚡ Keyword routed</a:t>
            </a:r>
          </a:p>
        </p:txBody>
      </p:sp>
      <p:sp>
        <p:nvSpPr>
          <p:cNvPr id="46" name="VDrop1"/>
          <p:cNvSpPr/>
          <p:nvPr/>
        </p:nvSpPr>
        <p:spPr>
          <a:xfrm>
            <a:off x="2329485" y="2700000"/>
            <a:ext cx="20000" cy="2100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7" name="Card1"/>
          <p:cNvSpPr/>
          <p:nvPr/>
        </p:nvSpPr>
        <p:spPr>
          <a:xfrm>
            <a:off x="1689485" y="2900000"/>
            <a:ext cx="1280000" cy="170181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F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8" name="CBar1"/>
          <p:cNvSpPr/>
          <p:nvPr/>
        </p:nvSpPr>
        <p:spPr>
          <a:xfrm>
            <a:off x="1689485" y="2900000"/>
            <a:ext cx="1280000" cy="60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9" name="CTxt1"/>
          <p:cNvSpPr/>
          <p:nvPr/>
        </p:nvSpPr>
        <p:spPr>
          <a:xfrm>
            <a:off x="1689485" y="2980000"/>
            <a:ext cx="1280000" cy="918001"/>
          </a:xfrm>
          <a:prstGeom prst="rect">
            <a:avLst/>
          </a:prstGeom>
          <a:noFill/>
          <a:ln>
            <a:noFill/>
          </a:ln>
        </p:spPr>
        <p:txBody>
          <a:bodyPr wrap="square" lIns="60000" tIns="80000" rIns="60000" bIns="60000" rtlCol="0" anchor="t"/>
          <a:lstStyle/>
          <a:p>
            <a:pPr algn="ctr"/>
            <a:r>
              <a:rPr lang="en-US" sz="2800" dirty="0">
                <a:latin typeface="Segoe UI Emoji"/>
              </a:rPr>
              <a:t>📈</a:t>
            </a:r>
          </a:p>
          <a:p>
            <a:endParaRPr lang="en-US" sz="800" dirty="0"/>
          </a:p>
          <a:p>
            <a:pPr algn="ctr"/>
            <a:r>
              <a:rPr lang="en-US" sz="1300" b="1" dirty="0">
                <a:solidFill>
                  <a:srgbClr val="00BFA5"/>
                </a:solidFill>
                <a:latin typeface="Calibri"/>
              </a:rPr>
              <a:t>Prediction</a:t>
            </a:r>
          </a:p>
          <a:p>
            <a:endParaRPr lang="en-US" sz="700" dirty="0"/>
          </a:p>
          <a:p>
            <a:pPr algn="ctr"/>
            <a:endParaRPr lang="en-US" sz="1000" dirty="0">
              <a:solidFill>
                <a:schemeClr val="tx1">
                  <a:lumMod val="95000"/>
                </a:schemeClr>
              </a:solidFill>
              <a:latin typeface="Calibri"/>
            </a:endParaRPr>
          </a:p>
        </p:txBody>
      </p:sp>
      <p:sp>
        <p:nvSpPr>
          <p:cNvPr id="50" name="Tag1"/>
          <p:cNvSpPr/>
          <p:nvPr/>
        </p:nvSpPr>
        <p:spPr>
          <a:xfrm>
            <a:off x="1776233" y="4230661"/>
            <a:ext cx="1120000" cy="260000"/>
          </a:xfrm>
          <a:prstGeom prst="roundRect">
            <a:avLst>
              <a:gd name="adj" fmla="val 30000"/>
            </a:avLst>
          </a:prstGeom>
          <a:solidFill>
            <a:srgbClr val="111B27"/>
          </a:solidFill>
          <a:ln w="16000">
            <a:solidFill>
              <a:srgbClr val="00BFA5"/>
            </a:solidFill>
          </a:ln>
        </p:spPr>
        <p:txBody>
          <a:bodyPr wrap="square" lIns="60000" tIns="0" rIns="60000" bIns="0" rtlCol="0" anchor="ctr"/>
          <a:lstStyle/>
          <a:p>
            <a:pPr algn="ctr"/>
            <a:r>
              <a:rPr lang="en-US" sz="850" b="1" dirty="0">
                <a:solidFill>
                  <a:srgbClr val="00BFA5"/>
                </a:solidFill>
                <a:latin typeface="Calibri"/>
              </a:rPr>
              <a:t>🤖 LLM routed</a:t>
            </a:r>
          </a:p>
        </p:txBody>
      </p:sp>
      <p:sp>
        <p:nvSpPr>
          <p:cNvPr id="52" name="VDrop2"/>
          <p:cNvSpPr/>
          <p:nvPr/>
        </p:nvSpPr>
        <p:spPr>
          <a:xfrm>
            <a:off x="3836090" y="2700000"/>
            <a:ext cx="20000" cy="2100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" name="Card2"/>
          <p:cNvSpPr/>
          <p:nvPr/>
        </p:nvSpPr>
        <p:spPr>
          <a:xfrm>
            <a:off x="3196090" y="2899999"/>
            <a:ext cx="1280000" cy="1701811"/>
          </a:xfrm>
          <a:prstGeom prst="rect">
            <a:avLst/>
          </a:prstGeom>
          <a:solidFill>
            <a:srgbClr val="0D1B2A"/>
          </a:solidFill>
          <a:ln w="19050">
            <a:solidFill>
              <a:srgbClr val="4A9C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4" name="CBar2"/>
          <p:cNvSpPr/>
          <p:nvPr/>
        </p:nvSpPr>
        <p:spPr>
          <a:xfrm>
            <a:off x="3196090" y="2900000"/>
            <a:ext cx="1280000" cy="60000"/>
          </a:xfrm>
          <a:prstGeom prst="rect">
            <a:avLst/>
          </a:prstGeom>
          <a:solidFill>
            <a:srgbClr val="4A9C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5" name="CTxt2"/>
          <p:cNvSpPr/>
          <p:nvPr/>
        </p:nvSpPr>
        <p:spPr>
          <a:xfrm>
            <a:off x="3196090" y="2980000"/>
            <a:ext cx="1280000" cy="990926"/>
          </a:xfrm>
          <a:prstGeom prst="rect">
            <a:avLst/>
          </a:prstGeom>
          <a:noFill/>
          <a:ln>
            <a:noFill/>
          </a:ln>
        </p:spPr>
        <p:txBody>
          <a:bodyPr wrap="square" lIns="60000" tIns="80000" rIns="60000" bIns="60000" rtlCol="0" anchor="t"/>
          <a:lstStyle/>
          <a:p>
            <a:pPr algn="ctr"/>
            <a:r>
              <a:rPr lang="en-US" sz="2800" dirty="0">
                <a:latin typeface="Segoe UI Emoji"/>
              </a:rPr>
              <a:t>🔍</a:t>
            </a:r>
          </a:p>
          <a:p>
            <a:endParaRPr lang="en-US" sz="800" dirty="0"/>
          </a:p>
          <a:p>
            <a:pPr algn="ctr"/>
            <a:r>
              <a:rPr lang="en-US" sz="1300" b="1" dirty="0">
                <a:solidFill>
                  <a:srgbClr val="4A9CCC"/>
                </a:solidFill>
                <a:latin typeface="Calibri"/>
              </a:rPr>
              <a:t>Explanation</a:t>
            </a:r>
          </a:p>
          <a:p>
            <a:endParaRPr lang="en-US" sz="700" dirty="0"/>
          </a:p>
          <a:p>
            <a:pPr algn="ctr"/>
            <a:endParaRPr lang="en-US" sz="1000" dirty="0">
              <a:solidFill>
                <a:schemeClr val="tx1">
                  <a:lumMod val="95000"/>
                </a:schemeClr>
              </a:solidFill>
              <a:latin typeface="Calibri"/>
            </a:endParaRPr>
          </a:p>
        </p:txBody>
      </p:sp>
      <p:sp>
        <p:nvSpPr>
          <p:cNvPr id="56" name="Tag2"/>
          <p:cNvSpPr/>
          <p:nvPr/>
        </p:nvSpPr>
        <p:spPr>
          <a:xfrm>
            <a:off x="3291454" y="4241830"/>
            <a:ext cx="1120000" cy="260000"/>
          </a:xfrm>
          <a:prstGeom prst="roundRect">
            <a:avLst>
              <a:gd name="adj" fmla="val 30000"/>
            </a:avLst>
          </a:prstGeom>
          <a:solidFill>
            <a:srgbClr val="111B27"/>
          </a:solidFill>
          <a:ln w="16000">
            <a:solidFill>
              <a:srgbClr val="00BFA5"/>
            </a:solidFill>
          </a:ln>
        </p:spPr>
        <p:txBody>
          <a:bodyPr wrap="square" lIns="60000" tIns="0" rIns="60000" bIns="0" rtlCol="0" anchor="ctr"/>
          <a:lstStyle/>
          <a:p>
            <a:pPr algn="ctr"/>
            <a:r>
              <a:rPr lang="en-US" sz="850" b="1" dirty="0">
                <a:solidFill>
                  <a:srgbClr val="00BFA5"/>
                </a:solidFill>
                <a:latin typeface="Calibri"/>
              </a:rPr>
              <a:t>🤖 LLM routed</a:t>
            </a:r>
          </a:p>
        </p:txBody>
      </p:sp>
      <p:sp>
        <p:nvSpPr>
          <p:cNvPr id="58" name="VDrop3"/>
          <p:cNvSpPr/>
          <p:nvPr/>
        </p:nvSpPr>
        <p:spPr>
          <a:xfrm>
            <a:off x="5342695" y="2700000"/>
            <a:ext cx="20000" cy="2100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9" name="Card3"/>
          <p:cNvSpPr/>
          <p:nvPr/>
        </p:nvSpPr>
        <p:spPr>
          <a:xfrm>
            <a:off x="4702695" y="2900000"/>
            <a:ext cx="1280000" cy="1701810"/>
          </a:xfrm>
          <a:prstGeom prst="rect">
            <a:avLst/>
          </a:prstGeom>
          <a:solidFill>
            <a:srgbClr val="0D1B2A"/>
          </a:solidFill>
          <a:ln w="19050">
            <a:solidFill>
              <a:srgbClr val="9A66C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" name="CBar3"/>
          <p:cNvSpPr/>
          <p:nvPr/>
        </p:nvSpPr>
        <p:spPr>
          <a:xfrm>
            <a:off x="4702695" y="2900000"/>
            <a:ext cx="1280000" cy="60000"/>
          </a:xfrm>
          <a:prstGeom prst="rect">
            <a:avLst/>
          </a:prstGeom>
          <a:solidFill>
            <a:srgbClr val="9A66C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CTxt3"/>
          <p:cNvSpPr/>
          <p:nvPr/>
        </p:nvSpPr>
        <p:spPr>
          <a:xfrm>
            <a:off x="4702695" y="2980000"/>
            <a:ext cx="1280000" cy="1139553"/>
          </a:xfrm>
          <a:prstGeom prst="rect">
            <a:avLst/>
          </a:prstGeom>
          <a:noFill/>
          <a:ln>
            <a:noFill/>
          </a:ln>
        </p:spPr>
        <p:txBody>
          <a:bodyPr wrap="square" lIns="60000" tIns="80000" rIns="60000" bIns="60000" rtlCol="0" anchor="t"/>
          <a:lstStyle/>
          <a:p>
            <a:pPr algn="ctr"/>
            <a:r>
              <a:rPr lang="en-US" sz="2800" dirty="0">
                <a:latin typeface="Segoe UI Emoji"/>
              </a:rPr>
              <a:t>🌍</a:t>
            </a:r>
          </a:p>
          <a:p>
            <a:endParaRPr lang="en-US" sz="800" dirty="0"/>
          </a:p>
          <a:p>
            <a:pPr algn="ctr"/>
            <a:r>
              <a:rPr lang="en-US" sz="1300" b="1" dirty="0">
                <a:solidFill>
                  <a:srgbClr val="9A66CA"/>
                </a:solidFill>
                <a:latin typeface="Calibri"/>
              </a:rPr>
              <a:t>Market</a:t>
            </a:r>
          </a:p>
          <a:p>
            <a:pPr algn="ctr"/>
            <a:r>
              <a:rPr lang="en-US" sz="1300" b="1" dirty="0">
                <a:solidFill>
                  <a:srgbClr val="9A66CA"/>
                </a:solidFill>
                <a:latin typeface="Calibri"/>
              </a:rPr>
              <a:t>Overview</a:t>
            </a:r>
          </a:p>
          <a:p>
            <a:endParaRPr lang="en-US" sz="700" dirty="0"/>
          </a:p>
        </p:txBody>
      </p:sp>
      <p:sp>
        <p:nvSpPr>
          <p:cNvPr id="62" name="Tag3"/>
          <p:cNvSpPr/>
          <p:nvPr/>
        </p:nvSpPr>
        <p:spPr>
          <a:xfrm>
            <a:off x="4772756" y="4241830"/>
            <a:ext cx="1120000" cy="260000"/>
          </a:xfrm>
          <a:prstGeom prst="roundRect">
            <a:avLst>
              <a:gd name="adj" fmla="val 30000"/>
            </a:avLst>
          </a:prstGeom>
          <a:solidFill>
            <a:srgbClr val="111B27"/>
          </a:solidFill>
          <a:ln w="16000">
            <a:solidFill>
              <a:srgbClr val="00BFA5"/>
            </a:solidFill>
          </a:ln>
        </p:spPr>
        <p:txBody>
          <a:bodyPr wrap="square" lIns="60000" tIns="0" rIns="60000" bIns="0" rtlCol="0" anchor="ctr"/>
          <a:lstStyle/>
          <a:p>
            <a:pPr algn="ctr"/>
            <a:r>
              <a:rPr lang="en-US" sz="850" b="1" dirty="0">
                <a:solidFill>
                  <a:srgbClr val="00BFA5"/>
                </a:solidFill>
                <a:latin typeface="Calibri"/>
              </a:rPr>
              <a:t>🤖 LLM routed</a:t>
            </a:r>
          </a:p>
        </p:txBody>
      </p:sp>
      <p:sp>
        <p:nvSpPr>
          <p:cNvPr id="64" name="VDrop4"/>
          <p:cNvSpPr/>
          <p:nvPr/>
        </p:nvSpPr>
        <p:spPr>
          <a:xfrm>
            <a:off x="6849300" y="2700000"/>
            <a:ext cx="20000" cy="2100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5" name="Card4"/>
          <p:cNvSpPr/>
          <p:nvPr/>
        </p:nvSpPr>
        <p:spPr>
          <a:xfrm>
            <a:off x="6209300" y="2900000"/>
            <a:ext cx="1280000" cy="1701810"/>
          </a:xfrm>
          <a:prstGeom prst="rect">
            <a:avLst/>
          </a:prstGeom>
          <a:solidFill>
            <a:srgbClr val="0D1B2A"/>
          </a:solidFill>
          <a:ln w="19050">
            <a:solidFill>
              <a:srgbClr val="DE9C3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6" name="CBar4"/>
          <p:cNvSpPr/>
          <p:nvPr/>
        </p:nvSpPr>
        <p:spPr>
          <a:xfrm>
            <a:off x="6209300" y="2900000"/>
            <a:ext cx="1280000" cy="60000"/>
          </a:xfrm>
          <a:prstGeom prst="rect">
            <a:avLst/>
          </a:prstGeom>
          <a:solidFill>
            <a:srgbClr val="DE9C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7" name="CTxt4"/>
          <p:cNvSpPr/>
          <p:nvPr/>
        </p:nvSpPr>
        <p:spPr>
          <a:xfrm>
            <a:off x="6209300" y="2980000"/>
            <a:ext cx="1280000" cy="1079553"/>
          </a:xfrm>
          <a:prstGeom prst="rect">
            <a:avLst/>
          </a:prstGeom>
          <a:noFill/>
          <a:ln>
            <a:noFill/>
          </a:ln>
        </p:spPr>
        <p:txBody>
          <a:bodyPr wrap="square" lIns="60000" tIns="80000" rIns="60000" bIns="60000" rtlCol="0" anchor="t"/>
          <a:lstStyle/>
          <a:p>
            <a:pPr algn="ctr"/>
            <a:r>
              <a:rPr lang="en-US" sz="2800" dirty="0">
                <a:latin typeface="Segoe UI Emoji"/>
              </a:rPr>
              <a:t>💰</a:t>
            </a:r>
          </a:p>
          <a:p>
            <a:endParaRPr lang="en-US" sz="800" dirty="0"/>
          </a:p>
          <a:p>
            <a:pPr algn="ctr"/>
            <a:r>
              <a:rPr lang="en-US" sz="1300" b="1" dirty="0">
                <a:solidFill>
                  <a:srgbClr val="DE9C3C"/>
                </a:solidFill>
                <a:latin typeface="Calibri"/>
              </a:rPr>
              <a:t>Investment</a:t>
            </a:r>
          </a:p>
          <a:p>
            <a:pPr algn="ctr"/>
            <a:r>
              <a:rPr lang="en-US" sz="1300" b="1" dirty="0">
                <a:solidFill>
                  <a:srgbClr val="DE9C3C"/>
                </a:solidFill>
                <a:latin typeface="Calibri"/>
              </a:rPr>
              <a:t>Advice</a:t>
            </a:r>
          </a:p>
          <a:p>
            <a:endParaRPr lang="en-US" sz="700" dirty="0"/>
          </a:p>
        </p:txBody>
      </p:sp>
      <p:sp>
        <p:nvSpPr>
          <p:cNvPr id="68" name="Tag4"/>
          <p:cNvSpPr/>
          <p:nvPr/>
        </p:nvSpPr>
        <p:spPr>
          <a:xfrm>
            <a:off x="6289300" y="4237383"/>
            <a:ext cx="1120000" cy="260000"/>
          </a:xfrm>
          <a:prstGeom prst="roundRect">
            <a:avLst>
              <a:gd name="adj" fmla="val 30000"/>
            </a:avLst>
          </a:prstGeom>
          <a:solidFill>
            <a:srgbClr val="111B27"/>
          </a:solidFill>
          <a:ln w="16000">
            <a:solidFill>
              <a:srgbClr val="00BFA5"/>
            </a:solidFill>
          </a:ln>
        </p:spPr>
        <p:txBody>
          <a:bodyPr wrap="square" lIns="60000" tIns="0" rIns="60000" bIns="0" rtlCol="0" anchor="ctr"/>
          <a:lstStyle/>
          <a:p>
            <a:pPr algn="ctr"/>
            <a:r>
              <a:rPr lang="en-US" sz="850" b="1" dirty="0">
                <a:solidFill>
                  <a:srgbClr val="00BFA5"/>
                </a:solidFill>
                <a:latin typeface="Calibri"/>
              </a:rPr>
              <a:t>🤖 LLM routed</a:t>
            </a:r>
          </a:p>
        </p:txBody>
      </p:sp>
      <p:sp>
        <p:nvSpPr>
          <p:cNvPr id="70" name="VDrop5"/>
          <p:cNvSpPr/>
          <p:nvPr/>
        </p:nvSpPr>
        <p:spPr>
          <a:xfrm>
            <a:off x="8355905" y="2700000"/>
            <a:ext cx="20000" cy="2100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1" name="Card5"/>
          <p:cNvSpPr/>
          <p:nvPr/>
        </p:nvSpPr>
        <p:spPr>
          <a:xfrm>
            <a:off x="7715905" y="2900000"/>
            <a:ext cx="1280000" cy="1701810"/>
          </a:xfrm>
          <a:prstGeom prst="rect">
            <a:avLst/>
          </a:prstGeom>
          <a:solidFill>
            <a:srgbClr val="0D1B2A"/>
          </a:solidFill>
          <a:ln w="19050">
            <a:solidFill>
              <a:srgbClr val="9EC5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" name="CBar5"/>
          <p:cNvSpPr/>
          <p:nvPr/>
        </p:nvSpPr>
        <p:spPr>
          <a:xfrm>
            <a:off x="7715905" y="2900000"/>
            <a:ext cx="1280000" cy="60000"/>
          </a:xfrm>
          <a:prstGeom prst="rect">
            <a:avLst/>
          </a:prstGeom>
          <a:solidFill>
            <a:srgbClr val="9EC5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3" name="CTxt5"/>
          <p:cNvSpPr/>
          <p:nvPr/>
        </p:nvSpPr>
        <p:spPr>
          <a:xfrm>
            <a:off x="7715905" y="2980000"/>
            <a:ext cx="1280000" cy="1079553"/>
          </a:xfrm>
          <a:prstGeom prst="rect">
            <a:avLst/>
          </a:prstGeom>
          <a:noFill/>
          <a:ln>
            <a:noFill/>
          </a:ln>
        </p:spPr>
        <p:txBody>
          <a:bodyPr wrap="square" lIns="60000" tIns="80000" rIns="60000" bIns="60000" rtlCol="0" anchor="t"/>
          <a:lstStyle/>
          <a:p>
            <a:pPr algn="ctr"/>
            <a:r>
              <a:rPr lang="en-US" sz="2800" dirty="0">
                <a:latin typeface="Segoe UI Emoji"/>
              </a:rPr>
              <a:t>📚</a:t>
            </a:r>
          </a:p>
          <a:p>
            <a:endParaRPr lang="en-US" sz="800" dirty="0"/>
          </a:p>
          <a:p>
            <a:pPr algn="ctr"/>
            <a:r>
              <a:rPr lang="en-US" sz="1300" b="1" dirty="0">
                <a:solidFill>
                  <a:srgbClr val="9EC544"/>
                </a:solidFill>
                <a:latin typeface="Calibri"/>
              </a:rPr>
              <a:t>Factual</a:t>
            </a:r>
          </a:p>
          <a:p>
            <a:pPr algn="ctr"/>
            <a:r>
              <a:rPr lang="en-US" sz="1300" b="1" dirty="0">
                <a:solidFill>
                  <a:srgbClr val="9EC544"/>
                </a:solidFill>
                <a:latin typeface="Calibri"/>
              </a:rPr>
              <a:t>Crypto</a:t>
            </a:r>
          </a:p>
          <a:p>
            <a:endParaRPr lang="en-US" sz="700" dirty="0"/>
          </a:p>
        </p:txBody>
      </p:sp>
      <p:sp>
        <p:nvSpPr>
          <p:cNvPr id="74" name="Tag5"/>
          <p:cNvSpPr/>
          <p:nvPr/>
        </p:nvSpPr>
        <p:spPr>
          <a:xfrm>
            <a:off x="7795905" y="4256574"/>
            <a:ext cx="1120000" cy="260000"/>
          </a:xfrm>
          <a:prstGeom prst="roundRect">
            <a:avLst>
              <a:gd name="adj" fmla="val 30000"/>
            </a:avLst>
          </a:prstGeom>
          <a:solidFill>
            <a:srgbClr val="111B27"/>
          </a:solidFill>
          <a:ln w="16000">
            <a:solidFill>
              <a:srgbClr val="00BFA5"/>
            </a:solidFill>
          </a:ln>
        </p:spPr>
        <p:txBody>
          <a:bodyPr wrap="square" lIns="60000" tIns="0" rIns="60000" bIns="0" rtlCol="0" anchor="ctr"/>
          <a:lstStyle/>
          <a:p>
            <a:pPr algn="ctr"/>
            <a:r>
              <a:rPr lang="en-US" sz="850" b="1" dirty="0">
                <a:solidFill>
                  <a:srgbClr val="00BFA5"/>
                </a:solidFill>
                <a:latin typeface="Calibri"/>
              </a:rPr>
              <a:t>🤖 LLM routed</a:t>
            </a:r>
          </a:p>
        </p:txBody>
      </p:sp>
      <p:sp>
        <p:nvSpPr>
          <p:cNvPr id="76" name="VDrop6"/>
          <p:cNvSpPr/>
          <p:nvPr/>
        </p:nvSpPr>
        <p:spPr>
          <a:xfrm>
            <a:off x="9862510" y="2700000"/>
            <a:ext cx="20000" cy="2100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7" name="Card6"/>
          <p:cNvSpPr/>
          <p:nvPr/>
        </p:nvSpPr>
        <p:spPr>
          <a:xfrm>
            <a:off x="10748993" y="2918272"/>
            <a:ext cx="1280000" cy="1707018"/>
          </a:xfrm>
          <a:prstGeom prst="rect">
            <a:avLst/>
          </a:prstGeom>
          <a:solidFill>
            <a:srgbClr val="0D1B2A"/>
          </a:solidFill>
          <a:ln w="19050">
            <a:solidFill>
              <a:srgbClr val="50BEA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8" name="CBar6"/>
          <p:cNvSpPr/>
          <p:nvPr/>
        </p:nvSpPr>
        <p:spPr>
          <a:xfrm>
            <a:off x="10748993" y="2900000"/>
            <a:ext cx="1280000" cy="45719"/>
          </a:xfrm>
          <a:prstGeom prst="rect">
            <a:avLst/>
          </a:prstGeom>
          <a:solidFill>
            <a:srgbClr val="50BEA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9" name="CTxt6"/>
          <p:cNvSpPr/>
          <p:nvPr/>
        </p:nvSpPr>
        <p:spPr>
          <a:xfrm>
            <a:off x="10748993" y="3001512"/>
            <a:ext cx="1280000" cy="444627"/>
          </a:xfrm>
          <a:prstGeom prst="rect">
            <a:avLst/>
          </a:prstGeom>
          <a:noFill/>
          <a:ln>
            <a:noFill/>
          </a:ln>
        </p:spPr>
        <p:txBody>
          <a:bodyPr wrap="square" lIns="60000" tIns="80000" rIns="60000" bIns="60000" rtlCol="0" anchor="t"/>
          <a:lstStyle/>
          <a:p>
            <a:pPr algn="ctr"/>
            <a:r>
              <a:rPr lang="en-US" sz="2800" dirty="0">
                <a:latin typeface="Segoe UI Emoji"/>
              </a:rPr>
              <a:t>🔁</a:t>
            </a:r>
          </a:p>
          <a:p>
            <a:endParaRPr lang="en-US" sz="800" dirty="0"/>
          </a:p>
          <a:p>
            <a:pPr algn="ctr"/>
            <a:r>
              <a:rPr lang="en-US" sz="1300" b="1" dirty="0">
                <a:solidFill>
                  <a:srgbClr val="50BEA3"/>
                </a:solidFill>
                <a:latin typeface="Calibri"/>
              </a:rPr>
              <a:t>Follow-up</a:t>
            </a:r>
          </a:p>
          <a:p>
            <a:endParaRPr lang="en-US" sz="700" dirty="0"/>
          </a:p>
          <a:p>
            <a:pPr algn="ctr"/>
            <a:endParaRPr lang="en-US" sz="1000" dirty="0">
              <a:solidFill>
                <a:schemeClr val="tx1">
                  <a:lumMod val="95000"/>
                </a:schemeClr>
              </a:solidFill>
              <a:latin typeface="Calibri"/>
            </a:endParaRPr>
          </a:p>
        </p:txBody>
      </p:sp>
      <p:sp>
        <p:nvSpPr>
          <p:cNvPr id="80" name="Tag6"/>
          <p:cNvSpPr/>
          <p:nvPr/>
        </p:nvSpPr>
        <p:spPr>
          <a:xfrm>
            <a:off x="10828993" y="4263496"/>
            <a:ext cx="1120000" cy="292498"/>
          </a:xfrm>
          <a:prstGeom prst="roundRect">
            <a:avLst>
              <a:gd name="adj" fmla="val 30000"/>
            </a:avLst>
          </a:prstGeom>
          <a:solidFill>
            <a:srgbClr val="111B27"/>
          </a:solidFill>
          <a:ln w="16000">
            <a:solidFill>
              <a:srgbClr val="9A66CA"/>
            </a:solidFill>
          </a:ln>
        </p:spPr>
        <p:txBody>
          <a:bodyPr wrap="square" lIns="60000" tIns="0" rIns="60000" bIns="0" rtlCol="0" anchor="ctr"/>
          <a:lstStyle/>
          <a:p>
            <a:pPr algn="ctr"/>
            <a:r>
              <a:rPr lang="en-US" sz="850" b="1" dirty="0">
                <a:solidFill>
                  <a:srgbClr val="9A66CA"/>
                </a:solidFill>
                <a:latin typeface="Calibri"/>
              </a:rPr>
              <a:t>🔁 Regex routed</a:t>
            </a:r>
          </a:p>
        </p:txBody>
      </p:sp>
      <p:sp>
        <p:nvSpPr>
          <p:cNvPr id="82" name="VDrop7"/>
          <p:cNvSpPr/>
          <p:nvPr/>
        </p:nvSpPr>
        <p:spPr>
          <a:xfrm>
            <a:off x="11369115" y="2700000"/>
            <a:ext cx="20000" cy="2100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3" name="Card7"/>
          <p:cNvSpPr/>
          <p:nvPr/>
        </p:nvSpPr>
        <p:spPr>
          <a:xfrm>
            <a:off x="9242388" y="2909999"/>
            <a:ext cx="1280000" cy="1715291"/>
          </a:xfrm>
          <a:prstGeom prst="rect">
            <a:avLst/>
          </a:prstGeom>
          <a:solidFill>
            <a:srgbClr val="0D1B2A"/>
          </a:solidFill>
          <a:ln w="19050">
            <a:solidFill>
              <a:srgbClr val="C54F7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4" name="CBar7"/>
          <p:cNvSpPr/>
          <p:nvPr/>
        </p:nvSpPr>
        <p:spPr>
          <a:xfrm>
            <a:off x="9242388" y="2909999"/>
            <a:ext cx="1280000" cy="78639"/>
          </a:xfrm>
          <a:prstGeom prst="rect">
            <a:avLst/>
          </a:prstGeom>
          <a:solidFill>
            <a:srgbClr val="C54F7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5" name="CTxt7"/>
          <p:cNvSpPr/>
          <p:nvPr/>
        </p:nvSpPr>
        <p:spPr>
          <a:xfrm>
            <a:off x="9242388" y="3014853"/>
            <a:ext cx="1280000" cy="966062"/>
          </a:xfrm>
          <a:prstGeom prst="rect">
            <a:avLst/>
          </a:prstGeom>
          <a:noFill/>
          <a:ln>
            <a:noFill/>
          </a:ln>
        </p:spPr>
        <p:txBody>
          <a:bodyPr wrap="square" lIns="60000" tIns="80000" rIns="60000" bIns="60000" rtlCol="0" anchor="t"/>
          <a:lstStyle/>
          <a:p>
            <a:pPr algn="ctr"/>
            <a:r>
              <a:rPr lang="en-US" sz="2800" dirty="0">
                <a:latin typeface="Segoe UI Emoji"/>
              </a:rPr>
              <a:t>🚫</a:t>
            </a:r>
          </a:p>
          <a:p>
            <a:endParaRPr lang="en-US" sz="800" dirty="0"/>
          </a:p>
          <a:p>
            <a:pPr algn="ctr"/>
            <a:r>
              <a:rPr lang="en-US" sz="1300" b="1" dirty="0">
                <a:solidFill>
                  <a:srgbClr val="C54F71"/>
                </a:solidFill>
                <a:latin typeface="Calibri"/>
              </a:rPr>
              <a:t>Off-topic</a:t>
            </a:r>
          </a:p>
          <a:p>
            <a:endParaRPr lang="en-US" sz="700" dirty="0"/>
          </a:p>
        </p:txBody>
      </p:sp>
      <p:sp>
        <p:nvSpPr>
          <p:cNvPr id="86" name="Tag7"/>
          <p:cNvSpPr/>
          <p:nvPr/>
        </p:nvSpPr>
        <p:spPr>
          <a:xfrm>
            <a:off x="9322388" y="4263495"/>
            <a:ext cx="1120000" cy="271270"/>
          </a:xfrm>
          <a:prstGeom prst="roundRect">
            <a:avLst>
              <a:gd name="adj" fmla="val 30000"/>
            </a:avLst>
          </a:prstGeom>
          <a:solidFill>
            <a:srgbClr val="111B27"/>
          </a:solidFill>
          <a:ln w="16000">
            <a:solidFill>
              <a:srgbClr val="00BFA5"/>
            </a:solidFill>
          </a:ln>
        </p:spPr>
        <p:txBody>
          <a:bodyPr wrap="square" lIns="60000" tIns="0" rIns="60000" bIns="0" rtlCol="0" anchor="ctr"/>
          <a:lstStyle/>
          <a:p>
            <a:pPr algn="ctr"/>
            <a:r>
              <a:rPr lang="en-US" sz="850" b="1" dirty="0">
                <a:solidFill>
                  <a:srgbClr val="00BFA5"/>
                </a:solidFill>
                <a:latin typeface="Calibri"/>
              </a:rPr>
              <a:t>🤖 LLM routed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1B36C4-DF60-11C2-4BD4-3223D7C930DA}"/>
              </a:ext>
            </a:extLst>
          </p:cNvPr>
          <p:cNvSpPr txBox="1"/>
          <p:nvPr/>
        </p:nvSpPr>
        <p:spPr>
          <a:xfrm>
            <a:off x="182880" y="5571016"/>
            <a:ext cx="12601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Hardcoded list</a:t>
            </a:r>
          </a:p>
          <a:p>
            <a:pPr algn="ctr"/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before LLM call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3E99EF-06BB-7CA1-5C26-450AC1385411}"/>
              </a:ext>
            </a:extLst>
          </p:cNvPr>
          <p:cNvSpPr txBox="1"/>
          <p:nvPr/>
        </p:nvSpPr>
        <p:spPr>
          <a:xfrm>
            <a:off x="1714370" y="5615335"/>
            <a:ext cx="12601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ML model</a:t>
            </a:r>
          </a:p>
          <a:p>
            <a:pPr algn="ctr"/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+ News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799065-2EA0-3259-31C4-48A54417F4D0}"/>
              </a:ext>
            </a:extLst>
          </p:cNvPr>
          <p:cNvSpPr txBox="1"/>
          <p:nvPr/>
        </p:nvSpPr>
        <p:spPr>
          <a:xfrm>
            <a:off x="3238817" y="5615335"/>
            <a:ext cx="12601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ML + Live</a:t>
            </a:r>
          </a:p>
          <a:p>
            <a:pPr algn="ctr"/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features + News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372C70-9D85-4690-D2B8-3A6158C45C4A}"/>
              </a:ext>
            </a:extLst>
          </p:cNvPr>
          <p:cNvSpPr txBox="1"/>
          <p:nvPr/>
        </p:nvSpPr>
        <p:spPr>
          <a:xfrm>
            <a:off x="4738487" y="5596779"/>
            <a:ext cx="12601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News only</a:t>
            </a:r>
          </a:p>
          <a:p>
            <a:pPr algn="ctr"/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BTC + ETH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9A5D7D-5B06-E501-1BA0-47D0FF6E288D}"/>
              </a:ext>
            </a:extLst>
          </p:cNvPr>
          <p:cNvSpPr txBox="1"/>
          <p:nvPr/>
        </p:nvSpPr>
        <p:spPr>
          <a:xfrm>
            <a:off x="6231209" y="5615335"/>
            <a:ext cx="12601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ML model</a:t>
            </a:r>
          </a:p>
          <a:p>
            <a:pPr algn="ctr"/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+ News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7F9DE8-3E3F-21D3-1F77-0BA3860B3E03}"/>
              </a:ext>
            </a:extLst>
          </p:cNvPr>
          <p:cNvSpPr txBox="1"/>
          <p:nvPr/>
        </p:nvSpPr>
        <p:spPr>
          <a:xfrm>
            <a:off x="7758632" y="5615335"/>
            <a:ext cx="12601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Pure LLM</a:t>
            </a:r>
          </a:p>
          <a:p>
            <a:pPr algn="ctr"/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no data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EF22AB-E4C1-EC67-783F-C5F0A5AA813B}"/>
              </a:ext>
            </a:extLst>
          </p:cNvPr>
          <p:cNvSpPr txBox="1"/>
          <p:nvPr/>
        </p:nvSpPr>
        <p:spPr>
          <a:xfrm>
            <a:off x="9255872" y="5621729"/>
            <a:ext cx="12601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Friendly</a:t>
            </a:r>
          </a:p>
          <a:p>
            <a:pPr algn="ctr"/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redirect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E2FBB0-963A-9320-A858-CD783C81E97D}"/>
              </a:ext>
            </a:extLst>
          </p:cNvPr>
          <p:cNvSpPr txBox="1"/>
          <p:nvPr/>
        </p:nvSpPr>
        <p:spPr>
          <a:xfrm>
            <a:off x="10806329" y="5603514"/>
            <a:ext cx="126012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fires after LLM returns off topic + history detected</a:t>
            </a:r>
          </a:p>
        </p:txBody>
      </p:sp>
      <p:sp>
        <p:nvSpPr>
          <p:cNvPr id="18" name="SepL">
            <a:extLst>
              <a:ext uri="{FF2B5EF4-FFF2-40B4-BE49-F238E27FC236}">
                <a16:creationId xmlns:a16="http://schemas.microsoft.com/office/drawing/2014/main" id="{2C156949-8538-3AE1-87D0-013115D596C1}"/>
              </a:ext>
            </a:extLst>
          </p:cNvPr>
          <p:cNvSpPr/>
          <p:nvPr/>
        </p:nvSpPr>
        <p:spPr>
          <a:xfrm>
            <a:off x="182879" y="5256940"/>
            <a:ext cx="5253043" cy="4571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SepTxt">
            <a:extLst>
              <a:ext uri="{FF2B5EF4-FFF2-40B4-BE49-F238E27FC236}">
                <a16:creationId xmlns:a16="http://schemas.microsoft.com/office/drawing/2014/main" id="{24EAFCA5-AEE7-FC46-DDE5-A28EE454B42B}"/>
              </a:ext>
            </a:extLst>
          </p:cNvPr>
          <p:cNvSpPr/>
          <p:nvPr/>
        </p:nvSpPr>
        <p:spPr>
          <a:xfrm>
            <a:off x="5631383" y="5171532"/>
            <a:ext cx="949105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chemeClr val="tx2">
                    <a:lumMod val="75000"/>
                  </a:schemeClr>
                </a:solidFill>
                <a:latin typeface="Calibri"/>
              </a:rPr>
              <a:t>Chatbot rooting</a:t>
            </a:r>
          </a:p>
        </p:txBody>
      </p:sp>
      <p:sp>
        <p:nvSpPr>
          <p:cNvPr id="23" name="VDrop0">
            <a:extLst>
              <a:ext uri="{FF2B5EF4-FFF2-40B4-BE49-F238E27FC236}">
                <a16:creationId xmlns:a16="http://schemas.microsoft.com/office/drawing/2014/main" id="{FB128B3D-6309-247E-B9BA-690BE9601676}"/>
              </a:ext>
            </a:extLst>
          </p:cNvPr>
          <p:cNvSpPr/>
          <p:nvPr/>
        </p:nvSpPr>
        <p:spPr>
          <a:xfrm>
            <a:off x="783454" y="5307847"/>
            <a:ext cx="20000" cy="210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24" name="VDrop0">
            <a:extLst>
              <a:ext uri="{FF2B5EF4-FFF2-40B4-BE49-F238E27FC236}">
                <a16:creationId xmlns:a16="http://schemas.microsoft.com/office/drawing/2014/main" id="{C5BF65C9-B514-A23E-3E2A-90E88DDEA437}"/>
              </a:ext>
            </a:extLst>
          </p:cNvPr>
          <p:cNvSpPr/>
          <p:nvPr/>
        </p:nvSpPr>
        <p:spPr>
          <a:xfrm>
            <a:off x="2342620" y="5313179"/>
            <a:ext cx="20000" cy="210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VDrop0">
            <a:extLst>
              <a:ext uri="{FF2B5EF4-FFF2-40B4-BE49-F238E27FC236}">
                <a16:creationId xmlns:a16="http://schemas.microsoft.com/office/drawing/2014/main" id="{6550F6D0-D7BB-667D-FA3C-9997D42C8776}"/>
              </a:ext>
            </a:extLst>
          </p:cNvPr>
          <p:cNvSpPr/>
          <p:nvPr/>
        </p:nvSpPr>
        <p:spPr>
          <a:xfrm>
            <a:off x="3858090" y="5313177"/>
            <a:ext cx="20000" cy="210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VDrop0">
            <a:extLst>
              <a:ext uri="{FF2B5EF4-FFF2-40B4-BE49-F238E27FC236}">
                <a16:creationId xmlns:a16="http://schemas.microsoft.com/office/drawing/2014/main" id="{89DCCE67-9B60-5683-55F3-1C8ED589EC4C}"/>
              </a:ext>
            </a:extLst>
          </p:cNvPr>
          <p:cNvSpPr/>
          <p:nvPr/>
        </p:nvSpPr>
        <p:spPr>
          <a:xfrm>
            <a:off x="5311919" y="5306940"/>
            <a:ext cx="20000" cy="210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VDrop0">
            <a:extLst>
              <a:ext uri="{FF2B5EF4-FFF2-40B4-BE49-F238E27FC236}">
                <a16:creationId xmlns:a16="http://schemas.microsoft.com/office/drawing/2014/main" id="{1000B620-BC62-B231-07E2-6554BB247F6C}"/>
              </a:ext>
            </a:extLst>
          </p:cNvPr>
          <p:cNvSpPr/>
          <p:nvPr/>
        </p:nvSpPr>
        <p:spPr>
          <a:xfrm>
            <a:off x="6853613" y="5313492"/>
            <a:ext cx="20000" cy="210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VDrop0">
            <a:extLst>
              <a:ext uri="{FF2B5EF4-FFF2-40B4-BE49-F238E27FC236}">
                <a16:creationId xmlns:a16="http://schemas.microsoft.com/office/drawing/2014/main" id="{C3FA82D9-8A25-C711-FFC8-14191B241050}"/>
              </a:ext>
            </a:extLst>
          </p:cNvPr>
          <p:cNvSpPr/>
          <p:nvPr/>
        </p:nvSpPr>
        <p:spPr>
          <a:xfrm>
            <a:off x="8371081" y="5304701"/>
            <a:ext cx="20000" cy="210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VDrop0">
            <a:extLst>
              <a:ext uri="{FF2B5EF4-FFF2-40B4-BE49-F238E27FC236}">
                <a16:creationId xmlns:a16="http://schemas.microsoft.com/office/drawing/2014/main" id="{B270AB0B-AC52-0699-5FFB-27C54DE6F76C}"/>
              </a:ext>
            </a:extLst>
          </p:cNvPr>
          <p:cNvSpPr/>
          <p:nvPr/>
        </p:nvSpPr>
        <p:spPr>
          <a:xfrm>
            <a:off x="9904678" y="5310064"/>
            <a:ext cx="20000" cy="210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VDrop0">
            <a:extLst>
              <a:ext uri="{FF2B5EF4-FFF2-40B4-BE49-F238E27FC236}">
                <a16:creationId xmlns:a16="http://schemas.microsoft.com/office/drawing/2014/main" id="{3ADE6DCB-D8AF-C0CA-576B-1C8534633011}"/>
              </a:ext>
            </a:extLst>
          </p:cNvPr>
          <p:cNvSpPr/>
          <p:nvPr/>
        </p:nvSpPr>
        <p:spPr>
          <a:xfrm>
            <a:off x="11434934" y="5304701"/>
            <a:ext cx="20000" cy="210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SepL">
            <a:extLst>
              <a:ext uri="{FF2B5EF4-FFF2-40B4-BE49-F238E27FC236}">
                <a16:creationId xmlns:a16="http://schemas.microsoft.com/office/drawing/2014/main" id="{DCCD0D47-953D-F464-B66F-3B81B34DD21E}"/>
              </a:ext>
            </a:extLst>
          </p:cNvPr>
          <p:cNvSpPr/>
          <p:nvPr/>
        </p:nvSpPr>
        <p:spPr>
          <a:xfrm>
            <a:off x="6775950" y="5274948"/>
            <a:ext cx="5253043" cy="4571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2" grpId="0"/>
      <p:bldP spid="13" grpId="0"/>
      <p:bldP spid="15" grpId="0"/>
      <p:bldP spid="16" grpId="0"/>
      <p:bldP spid="17" grpId="0"/>
      <p:bldP spid="18" grpId="0" animBg="1"/>
      <p:bldP spid="22" grpId="0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2" grpId="0" animBg="1"/>
      <p:bldP spid="3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g"/>
          <p:cNvSpPr/>
          <p:nvPr/>
        </p:nvSpPr>
        <p:spPr>
          <a:xfrm>
            <a:off x="0" y="0"/>
            <a:ext cx="12192000" cy="520000"/>
          </a:xfrm>
          <a:prstGeom prst="rect">
            <a:avLst/>
          </a:prstGeom>
          <a:solidFill>
            <a:srgbClr val="1A25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Txt"/>
          <p:cNvSpPr/>
          <p:nvPr/>
        </p:nvSpPr>
        <p:spPr>
          <a:xfrm>
            <a:off x="0" y="0"/>
            <a:ext cx="12192000" cy="520000"/>
          </a:xfrm>
          <a:prstGeom prst="rect">
            <a:avLst/>
          </a:prstGeom>
          <a:noFill/>
          <a:ln>
            <a:noFill/>
          </a:ln>
        </p:spPr>
        <p:txBody>
          <a:bodyPr wrap="square" lIns="36576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/>
              </a:rPr>
              <a:t>RAG Pipeline — </a:t>
            </a:r>
            <a:r>
              <a:rPr lang="en-US" sz="2200" b="1" dirty="0">
                <a:solidFill>
                  <a:srgbClr val="00BFA5"/>
                </a:solidFill>
                <a:latin typeface="Calibri"/>
              </a:rPr>
              <a:t>Selecting What Matters</a:t>
            </a:r>
          </a:p>
        </p:txBody>
      </p:sp>
      <p:sp>
        <p:nvSpPr>
          <p:cNvPr id="4" name="TLine"/>
          <p:cNvSpPr/>
          <p:nvPr/>
        </p:nvSpPr>
        <p:spPr>
          <a:xfrm>
            <a:off x="0" y="516000"/>
            <a:ext cx="12192000" cy="16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Ic0"/>
          <p:cNvSpPr/>
          <p:nvPr/>
        </p:nvSpPr>
        <p:spPr>
          <a:xfrm>
            <a:off x="182880" y="1452519"/>
            <a:ext cx="1700000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4200" dirty="0">
                <a:latin typeface="Segoe UI Emoji"/>
              </a:rPr>
              <a:t>📡</a:t>
            </a:r>
          </a:p>
        </p:txBody>
      </p:sp>
      <p:sp>
        <p:nvSpPr>
          <p:cNvPr id="11" name="Lb0"/>
          <p:cNvSpPr/>
          <p:nvPr/>
        </p:nvSpPr>
        <p:spPr>
          <a:xfrm>
            <a:off x="182880" y="2372519"/>
            <a:ext cx="17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7931A"/>
                </a:solidFill>
                <a:latin typeface="Calibri"/>
              </a:rPr>
              <a:t>Tavily</a:t>
            </a:r>
          </a:p>
          <a:p>
            <a:pPr algn="ctr"/>
            <a:r>
              <a:rPr lang="en-US" sz="1500" b="1" dirty="0">
                <a:solidFill>
                  <a:srgbClr val="F7931A"/>
                </a:solidFill>
                <a:latin typeface="Calibri"/>
              </a:rPr>
              <a:t>Fetch</a:t>
            </a:r>
          </a:p>
        </p:txBody>
      </p:sp>
      <p:sp>
        <p:nvSpPr>
          <p:cNvPr id="12" name="Ds0"/>
          <p:cNvSpPr/>
          <p:nvPr/>
        </p:nvSpPr>
        <p:spPr>
          <a:xfrm>
            <a:off x="174880" y="2602519"/>
            <a:ext cx="1700000" cy="10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6 parallel queries * 8 articles </a:t>
            </a:r>
          </a:p>
          <a:p>
            <a:pPr algn="ctr"/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3 coin-specific</a:t>
            </a:r>
          </a:p>
          <a:p>
            <a:pPr algn="ctr"/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3 macro queries</a:t>
            </a:r>
          </a:p>
        </p:txBody>
      </p:sp>
      <p:sp>
        <p:nvSpPr>
          <p:cNvPr id="14" name="Ar0"/>
          <p:cNvSpPr/>
          <p:nvPr/>
        </p:nvSpPr>
        <p:spPr>
          <a:xfrm>
            <a:off x="1882880" y="1832519"/>
            <a:ext cx="325248" cy="130000"/>
          </a:xfrm>
          <a:prstGeom prst="rightArrow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Ic1"/>
          <p:cNvSpPr/>
          <p:nvPr/>
        </p:nvSpPr>
        <p:spPr>
          <a:xfrm>
            <a:off x="2208128" y="1452519"/>
            <a:ext cx="1700000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4200" dirty="0">
                <a:latin typeface="Segoe UI Emoji"/>
              </a:rPr>
              <a:t>🚫</a:t>
            </a:r>
          </a:p>
        </p:txBody>
      </p:sp>
      <p:sp>
        <p:nvSpPr>
          <p:cNvPr id="17" name="Lb1"/>
          <p:cNvSpPr/>
          <p:nvPr/>
        </p:nvSpPr>
        <p:spPr>
          <a:xfrm>
            <a:off x="2208128" y="2372519"/>
            <a:ext cx="17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DE9C3C"/>
                </a:solidFill>
                <a:latin typeface="Calibri"/>
              </a:rPr>
              <a:t>Crypto</a:t>
            </a:r>
          </a:p>
          <a:p>
            <a:pPr algn="ctr"/>
            <a:r>
              <a:rPr lang="en-US" sz="1500" b="1" dirty="0">
                <a:solidFill>
                  <a:srgbClr val="DE9C3C"/>
                </a:solidFill>
                <a:latin typeface="Calibri"/>
              </a:rPr>
              <a:t>Filter</a:t>
            </a:r>
          </a:p>
        </p:txBody>
      </p:sp>
      <p:sp>
        <p:nvSpPr>
          <p:cNvPr id="18" name="Ds1"/>
          <p:cNvSpPr/>
          <p:nvPr/>
        </p:nvSpPr>
        <p:spPr>
          <a:xfrm>
            <a:off x="2184128" y="2857569"/>
            <a:ext cx="17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24-keyword blocklist</a:t>
            </a:r>
          </a:p>
          <a:p>
            <a:pPr algn="ctr"/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removes off-topic</a:t>
            </a:r>
          </a:p>
        </p:txBody>
      </p:sp>
      <p:sp>
        <p:nvSpPr>
          <p:cNvPr id="20" name="Ar1"/>
          <p:cNvSpPr/>
          <p:nvPr/>
        </p:nvSpPr>
        <p:spPr>
          <a:xfrm>
            <a:off x="3908128" y="1832519"/>
            <a:ext cx="325248" cy="130000"/>
          </a:xfrm>
          <a:prstGeom prst="rightArrow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Ic2"/>
          <p:cNvSpPr/>
          <p:nvPr/>
        </p:nvSpPr>
        <p:spPr>
          <a:xfrm>
            <a:off x="4233376" y="1452519"/>
            <a:ext cx="1700000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4200" dirty="0">
                <a:latin typeface="Segoe UI Emoji"/>
              </a:rPr>
              <a:t>🧮</a:t>
            </a:r>
          </a:p>
        </p:txBody>
      </p:sp>
      <p:sp>
        <p:nvSpPr>
          <p:cNvPr id="23" name="Lb2"/>
          <p:cNvSpPr/>
          <p:nvPr/>
        </p:nvSpPr>
        <p:spPr>
          <a:xfrm>
            <a:off x="4233376" y="2372519"/>
            <a:ext cx="17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4A9CCC"/>
                </a:solidFill>
                <a:latin typeface="Calibri"/>
              </a:rPr>
              <a:t>TF-IDF</a:t>
            </a:r>
          </a:p>
          <a:p>
            <a:pPr algn="ctr"/>
            <a:r>
              <a:rPr lang="en-US" sz="1350" b="1" dirty="0">
                <a:solidFill>
                  <a:srgbClr val="4A9CCC"/>
                </a:solidFill>
                <a:latin typeface="Calibri"/>
              </a:rPr>
              <a:t>Scoring</a:t>
            </a:r>
          </a:p>
        </p:txBody>
      </p:sp>
      <p:sp>
        <p:nvSpPr>
          <p:cNvPr id="24" name="Ds2"/>
          <p:cNvSpPr/>
          <p:nvPr/>
        </p:nvSpPr>
        <p:spPr>
          <a:xfrm>
            <a:off x="4241376" y="2854237"/>
            <a:ext cx="17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cosine similarity</a:t>
            </a:r>
          </a:p>
          <a:p>
            <a:pPr algn="ctr"/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range [0 → 1]</a:t>
            </a:r>
          </a:p>
        </p:txBody>
      </p:sp>
      <p:sp>
        <p:nvSpPr>
          <p:cNvPr id="26" name="Ar2"/>
          <p:cNvSpPr/>
          <p:nvPr/>
        </p:nvSpPr>
        <p:spPr>
          <a:xfrm>
            <a:off x="5933376" y="1832519"/>
            <a:ext cx="325248" cy="130000"/>
          </a:xfrm>
          <a:prstGeom prst="rightArrow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Ic3"/>
          <p:cNvSpPr/>
          <p:nvPr/>
        </p:nvSpPr>
        <p:spPr>
          <a:xfrm>
            <a:off x="6258624" y="1452519"/>
            <a:ext cx="1700000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4200" dirty="0">
                <a:latin typeface="Segoe UI Emoji"/>
              </a:rPr>
              <a:t>⚡</a:t>
            </a:r>
          </a:p>
        </p:txBody>
      </p:sp>
      <p:sp>
        <p:nvSpPr>
          <p:cNvPr id="29" name="Lb3"/>
          <p:cNvSpPr/>
          <p:nvPr/>
        </p:nvSpPr>
        <p:spPr>
          <a:xfrm>
            <a:off x="6258624" y="2372519"/>
            <a:ext cx="17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9A66CA"/>
                </a:solidFill>
                <a:latin typeface="Calibri"/>
              </a:rPr>
              <a:t>Keyword</a:t>
            </a:r>
          </a:p>
          <a:p>
            <a:pPr algn="ctr"/>
            <a:r>
              <a:rPr lang="en-US" sz="1350" b="1" dirty="0">
                <a:solidFill>
                  <a:srgbClr val="9A66CA"/>
                </a:solidFill>
                <a:latin typeface="Calibri"/>
              </a:rPr>
              <a:t>Boost</a:t>
            </a:r>
          </a:p>
        </p:txBody>
      </p:sp>
      <p:sp>
        <p:nvSpPr>
          <p:cNvPr id="30" name="Ds3"/>
          <p:cNvSpPr/>
          <p:nvPr/>
        </p:nvSpPr>
        <p:spPr>
          <a:xfrm>
            <a:off x="6258624" y="2817111"/>
            <a:ext cx="17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coin + macro terms</a:t>
            </a:r>
          </a:p>
          <a:p>
            <a:pPr algn="ctr"/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normalized [0 → 1]</a:t>
            </a:r>
          </a:p>
        </p:txBody>
      </p:sp>
      <p:sp>
        <p:nvSpPr>
          <p:cNvPr id="32" name="Ar3"/>
          <p:cNvSpPr/>
          <p:nvPr/>
        </p:nvSpPr>
        <p:spPr>
          <a:xfrm>
            <a:off x="7958624" y="1832519"/>
            <a:ext cx="325248" cy="130000"/>
          </a:xfrm>
          <a:prstGeom prst="rightArrow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Ic4"/>
          <p:cNvSpPr/>
          <p:nvPr/>
        </p:nvSpPr>
        <p:spPr>
          <a:xfrm>
            <a:off x="8283872" y="1452519"/>
            <a:ext cx="1700000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4200" dirty="0">
                <a:latin typeface="Segoe UI Emoji"/>
              </a:rPr>
              <a:t>🕐</a:t>
            </a:r>
          </a:p>
        </p:txBody>
      </p:sp>
      <p:sp>
        <p:nvSpPr>
          <p:cNvPr id="35" name="Lb4"/>
          <p:cNvSpPr/>
          <p:nvPr/>
        </p:nvSpPr>
        <p:spPr>
          <a:xfrm>
            <a:off x="8283872" y="2372519"/>
            <a:ext cx="17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F7931A"/>
                </a:solidFill>
                <a:latin typeface="Calibri"/>
              </a:rPr>
              <a:t>Recency</a:t>
            </a:r>
          </a:p>
          <a:p>
            <a:pPr algn="ctr"/>
            <a:r>
              <a:rPr lang="en-US" sz="1350" b="1" dirty="0">
                <a:solidFill>
                  <a:srgbClr val="F7931A"/>
                </a:solidFill>
                <a:latin typeface="Calibri"/>
              </a:rPr>
              <a:t>Score</a:t>
            </a:r>
          </a:p>
        </p:txBody>
      </p:sp>
      <p:sp>
        <p:nvSpPr>
          <p:cNvPr id="36" name="Ds4"/>
          <p:cNvSpPr/>
          <p:nvPr/>
        </p:nvSpPr>
        <p:spPr>
          <a:xfrm>
            <a:off x="8283872" y="2830759"/>
            <a:ext cx="17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1.0 = today</a:t>
            </a:r>
          </a:p>
          <a:p>
            <a:pPr algn="ctr"/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0.1 = 30 days old</a:t>
            </a:r>
          </a:p>
        </p:txBody>
      </p:sp>
      <p:sp>
        <p:nvSpPr>
          <p:cNvPr id="38" name="Ar4"/>
          <p:cNvSpPr/>
          <p:nvPr/>
        </p:nvSpPr>
        <p:spPr>
          <a:xfrm>
            <a:off x="9983872" y="1832519"/>
            <a:ext cx="325248" cy="130000"/>
          </a:xfrm>
          <a:prstGeom prst="rightArrow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Ic5"/>
          <p:cNvSpPr/>
          <p:nvPr/>
        </p:nvSpPr>
        <p:spPr>
          <a:xfrm>
            <a:off x="10309120" y="1452519"/>
            <a:ext cx="1700000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4200" dirty="0">
                <a:latin typeface="Segoe UI Emoji"/>
              </a:rPr>
              <a:t>⭐</a:t>
            </a:r>
          </a:p>
        </p:txBody>
      </p:sp>
      <p:sp>
        <p:nvSpPr>
          <p:cNvPr id="41" name="Lb5"/>
          <p:cNvSpPr/>
          <p:nvPr/>
        </p:nvSpPr>
        <p:spPr>
          <a:xfrm>
            <a:off x="10309120" y="2372519"/>
            <a:ext cx="17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9EC544"/>
                </a:solidFill>
                <a:latin typeface="Calibri"/>
              </a:rPr>
              <a:t>Tavily</a:t>
            </a:r>
          </a:p>
          <a:p>
            <a:pPr algn="ctr"/>
            <a:r>
              <a:rPr lang="en-US" sz="1350" b="1" dirty="0">
                <a:solidFill>
                  <a:srgbClr val="9EC544"/>
                </a:solidFill>
                <a:latin typeface="Calibri"/>
              </a:rPr>
              <a:t>Score</a:t>
            </a:r>
          </a:p>
        </p:txBody>
      </p:sp>
      <p:sp>
        <p:nvSpPr>
          <p:cNvPr id="42" name="Ds5"/>
          <p:cNvSpPr/>
          <p:nvPr/>
        </p:nvSpPr>
        <p:spPr>
          <a:xfrm>
            <a:off x="10309120" y="2830759"/>
            <a:ext cx="17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source quality</a:t>
            </a:r>
          </a:p>
          <a:p>
            <a:pPr algn="ctr"/>
            <a:r>
              <a:rPr lang="en-US" sz="1000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range [0 → 1]</a:t>
            </a:r>
          </a:p>
        </p:txBody>
      </p:sp>
      <p:sp>
        <p:nvSpPr>
          <p:cNvPr id="100" name="Wt0"/>
          <p:cNvSpPr/>
          <p:nvPr/>
        </p:nvSpPr>
        <p:spPr>
          <a:xfrm>
            <a:off x="4216752" y="3380891"/>
            <a:ext cx="17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3600" b="1" dirty="0">
                <a:solidFill>
                  <a:srgbClr val="4A9CCC"/>
                </a:solidFill>
                <a:latin typeface="Calibri"/>
              </a:rPr>
              <a:t>x 0.50</a:t>
            </a:r>
          </a:p>
        </p:txBody>
      </p:sp>
      <p:sp>
        <p:nvSpPr>
          <p:cNvPr id="105" name="Wt1"/>
          <p:cNvSpPr/>
          <p:nvPr/>
        </p:nvSpPr>
        <p:spPr>
          <a:xfrm>
            <a:off x="6244624" y="3356691"/>
            <a:ext cx="17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3600" b="1" dirty="0">
                <a:solidFill>
                  <a:srgbClr val="9A66CA"/>
                </a:solidFill>
                <a:latin typeface="Calibri"/>
              </a:rPr>
              <a:t>x 0.20</a:t>
            </a:r>
          </a:p>
        </p:txBody>
      </p:sp>
      <p:sp>
        <p:nvSpPr>
          <p:cNvPr id="110" name="Wt2"/>
          <p:cNvSpPr/>
          <p:nvPr/>
        </p:nvSpPr>
        <p:spPr>
          <a:xfrm>
            <a:off x="8247872" y="3362191"/>
            <a:ext cx="17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3600" b="1" dirty="0">
                <a:solidFill>
                  <a:srgbClr val="F7931A"/>
                </a:solidFill>
                <a:latin typeface="Calibri"/>
              </a:rPr>
              <a:t>x 0.20</a:t>
            </a:r>
          </a:p>
        </p:txBody>
      </p:sp>
      <p:sp>
        <p:nvSpPr>
          <p:cNvPr id="115" name="Wt3"/>
          <p:cNvSpPr/>
          <p:nvPr/>
        </p:nvSpPr>
        <p:spPr>
          <a:xfrm>
            <a:off x="10257120" y="3343066"/>
            <a:ext cx="17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3600" b="1" dirty="0">
                <a:solidFill>
                  <a:srgbClr val="9EC544"/>
                </a:solidFill>
                <a:latin typeface="Calibri"/>
              </a:rPr>
              <a:t>x 0.10</a:t>
            </a:r>
          </a:p>
        </p:txBody>
      </p:sp>
      <p:sp>
        <p:nvSpPr>
          <p:cNvPr id="140" name="Plus0"/>
          <p:cNvSpPr/>
          <p:nvPr/>
        </p:nvSpPr>
        <p:spPr>
          <a:xfrm>
            <a:off x="5936000" y="3479091"/>
            <a:ext cx="32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2A3A4A"/>
                </a:solidFill>
                <a:latin typeface="Calibri"/>
              </a:rPr>
              <a:t>+</a:t>
            </a:r>
          </a:p>
        </p:txBody>
      </p:sp>
      <p:sp>
        <p:nvSpPr>
          <p:cNvPr id="141" name="Plus1"/>
          <p:cNvSpPr/>
          <p:nvPr/>
        </p:nvSpPr>
        <p:spPr>
          <a:xfrm>
            <a:off x="7961248" y="3479091"/>
            <a:ext cx="32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2A3A4A"/>
                </a:solidFill>
                <a:latin typeface="Calibri"/>
              </a:rPr>
              <a:t>+</a:t>
            </a:r>
          </a:p>
        </p:txBody>
      </p:sp>
      <p:sp>
        <p:nvSpPr>
          <p:cNvPr id="142" name="Plus2"/>
          <p:cNvSpPr/>
          <p:nvPr/>
        </p:nvSpPr>
        <p:spPr>
          <a:xfrm>
            <a:off x="9986496" y="3479091"/>
            <a:ext cx="32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2A3A4A"/>
                </a:solidFill>
                <a:latin typeface="Calibri"/>
              </a:rPr>
              <a:t>+</a:t>
            </a:r>
          </a:p>
        </p:txBody>
      </p:sp>
      <p:sp>
        <p:nvSpPr>
          <p:cNvPr id="143" name="ResBg"/>
          <p:cNvSpPr/>
          <p:nvPr/>
        </p:nvSpPr>
        <p:spPr>
          <a:xfrm>
            <a:off x="130880" y="4942790"/>
            <a:ext cx="11826240" cy="825931"/>
          </a:xfrm>
          <a:prstGeom prst="rect">
            <a:avLst/>
          </a:prstGeom>
          <a:solidFill>
            <a:srgbClr val="0D1B2A"/>
          </a:solidFill>
          <a:ln w="22860">
            <a:solidFill>
              <a:srgbClr val="9EC5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5" name="ResTxt"/>
          <p:cNvSpPr/>
          <p:nvPr/>
        </p:nvSpPr>
        <p:spPr>
          <a:xfrm>
            <a:off x="130880" y="4870479"/>
            <a:ext cx="11826240" cy="8864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3200" dirty="0">
                <a:latin typeface="Segoe UI Emoji"/>
              </a:rPr>
              <a:t>🏆</a:t>
            </a:r>
            <a:r>
              <a:rPr lang="en-US" sz="2400" b="1" dirty="0">
                <a:solidFill>
                  <a:srgbClr val="9EC544"/>
                </a:solidFill>
                <a:latin typeface="Calibri"/>
              </a:rPr>
              <a:t>  = TOP 6 SELECTED</a:t>
            </a:r>
          </a:p>
          <a:p>
            <a:pPr algn="ctr"/>
            <a:r>
              <a:rPr lang="en-US" sz="1050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Min score: 0.20  •  sorted by final score  •  top 6 from ~48 fetched articles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  <p:bldP spid="105" grpId="0"/>
      <p:bldP spid="110" grpId="0"/>
      <p:bldP spid="115" grpId="0"/>
      <p:bldP spid="140" grpId="0"/>
      <p:bldP spid="141" grpId="0"/>
      <p:bldP spid="142" grpId="0"/>
      <p:bldP spid="143" grpId="0" animBg="1"/>
      <p:bldP spid="14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g"/>
          <p:cNvSpPr/>
          <p:nvPr/>
        </p:nvSpPr>
        <p:spPr>
          <a:xfrm>
            <a:off x="0" y="0"/>
            <a:ext cx="12192000" cy="520000"/>
          </a:xfrm>
          <a:prstGeom prst="rect">
            <a:avLst/>
          </a:prstGeom>
          <a:solidFill>
            <a:srgbClr val="1A25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Txt"/>
          <p:cNvSpPr/>
          <p:nvPr/>
        </p:nvSpPr>
        <p:spPr>
          <a:xfrm>
            <a:off x="0" y="0"/>
            <a:ext cx="12192000" cy="520000"/>
          </a:xfrm>
          <a:prstGeom prst="rect">
            <a:avLst/>
          </a:prstGeom>
          <a:noFill/>
          <a:ln>
            <a:noFill/>
          </a:ln>
        </p:spPr>
        <p:txBody>
          <a:bodyPr wrap="square" lIns="36576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/>
              </a:rPr>
              <a:t>LLM &amp; </a:t>
            </a:r>
            <a:r>
              <a:rPr lang="en-US" sz="2200" b="1" dirty="0">
                <a:solidFill>
                  <a:srgbClr val="DE9C3C"/>
                </a:solidFill>
                <a:latin typeface="Calibri"/>
              </a:rPr>
              <a:t>Response Generation</a:t>
            </a:r>
          </a:p>
        </p:txBody>
      </p:sp>
      <p:sp>
        <p:nvSpPr>
          <p:cNvPr id="4" name="TLine"/>
          <p:cNvSpPr/>
          <p:nvPr/>
        </p:nvSpPr>
        <p:spPr>
          <a:xfrm>
            <a:off x="0" y="516000"/>
            <a:ext cx="12192000" cy="16000"/>
          </a:xfrm>
          <a:prstGeom prst="rect">
            <a:avLst/>
          </a:prstGeom>
          <a:solidFill>
            <a:srgbClr val="DE9C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LBg"/>
          <p:cNvSpPr/>
          <p:nvPr/>
        </p:nvSpPr>
        <p:spPr>
          <a:xfrm>
            <a:off x="182880" y="590000"/>
            <a:ext cx="2170000" cy="6108000"/>
          </a:xfrm>
          <a:prstGeom prst="rect">
            <a:avLst/>
          </a:prstGeom>
          <a:solidFill>
            <a:srgbClr val="0D1B2A"/>
          </a:solidFill>
          <a:ln w="22860">
            <a:solidFill>
              <a:srgbClr val="9A66C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Bar"/>
          <p:cNvSpPr/>
          <p:nvPr/>
        </p:nvSpPr>
        <p:spPr>
          <a:xfrm>
            <a:off x="182880" y="590000"/>
            <a:ext cx="2170000" cy="80000"/>
          </a:xfrm>
          <a:prstGeom prst="rect">
            <a:avLst/>
          </a:prstGeom>
          <a:solidFill>
            <a:srgbClr val="9A66C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LTitle"/>
          <p:cNvSpPr/>
          <p:nvPr/>
        </p:nvSpPr>
        <p:spPr>
          <a:xfrm>
            <a:off x="182880" y="670000"/>
            <a:ext cx="217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0000" rIns="91440" bIns="60000" rtlCol="0" anchor="ctr"/>
          <a:lstStyle/>
          <a:p>
            <a:pPr algn="ctr"/>
            <a:r>
              <a:rPr lang="en-US" sz="1500" b="1" dirty="0">
                <a:solidFill>
                  <a:srgbClr val="9A66CA"/>
                </a:solidFill>
                <a:latin typeface="Calibri"/>
              </a:rPr>
              <a:t>CONTEXT BUILDER</a:t>
            </a:r>
          </a:p>
        </p:txBody>
      </p:sp>
      <p:sp>
        <p:nvSpPr>
          <p:cNvPr id="13" name="LSubtitle"/>
          <p:cNvSpPr/>
          <p:nvPr/>
        </p:nvSpPr>
        <p:spPr>
          <a:xfrm>
            <a:off x="182880" y="1020000"/>
            <a:ext cx="217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0000" rIns="91440" bIns="60000" rtlCol="0" anchor="ctr"/>
          <a:lstStyle/>
          <a:p>
            <a:pPr algn="ctr"/>
            <a:r>
              <a:rPr lang="en-US" sz="1000" b="0" i="1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what goes into the prompt</a:t>
            </a:r>
          </a:p>
        </p:txBody>
      </p:sp>
      <p:sp>
        <p:nvSpPr>
          <p:cNvPr id="20" name="IIc0"/>
          <p:cNvSpPr/>
          <p:nvPr/>
        </p:nvSpPr>
        <p:spPr>
          <a:xfrm>
            <a:off x="262880" y="1390000"/>
            <a:ext cx="400000" cy="8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latin typeface="Segoe UI Emoji"/>
              </a:rPr>
              <a:t>💬</a:t>
            </a:r>
          </a:p>
        </p:txBody>
      </p:sp>
      <p:sp>
        <p:nvSpPr>
          <p:cNvPr id="21" name="ILb0"/>
          <p:cNvSpPr/>
          <p:nvPr/>
        </p:nvSpPr>
        <p:spPr>
          <a:xfrm>
            <a:off x="702880" y="1390000"/>
            <a:ext cx="1800000" cy="8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0000" rIns="91440" bIns="60000" rtlCol="0" anchor="ctr"/>
          <a:lstStyle/>
          <a:p>
            <a:pPr algn="l"/>
            <a:r>
              <a:rPr lang="en-US" sz="1150" b="1" dirty="0">
                <a:solidFill>
                  <a:srgbClr val="AAAAAA"/>
                </a:solidFill>
                <a:latin typeface="Calibri"/>
              </a:rPr>
              <a:t>Conversation History</a:t>
            </a:r>
          </a:p>
        </p:txBody>
      </p:sp>
      <p:sp>
        <p:nvSpPr>
          <p:cNvPr id="22" name="IAcc0"/>
          <p:cNvSpPr/>
          <p:nvPr/>
        </p:nvSpPr>
        <p:spPr>
          <a:xfrm>
            <a:off x="642880" y="1590000"/>
            <a:ext cx="8000" cy="46000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IIc1"/>
          <p:cNvSpPr/>
          <p:nvPr/>
        </p:nvSpPr>
        <p:spPr>
          <a:xfrm>
            <a:off x="262880" y="2250000"/>
            <a:ext cx="400000" cy="8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latin typeface="Segoe UI Emoji"/>
              </a:rPr>
              <a:t>📊</a:t>
            </a:r>
          </a:p>
        </p:txBody>
      </p:sp>
      <p:sp>
        <p:nvSpPr>
          <p:cNvPr id="25" name="ILb1"/>
          <p:cNvSpPr/>
          <p:nvPr/>
        </p:nvSpPr>
        <p:spPr>
          <a:xfrm>
            <a:off x="702880" y="2250000"/>
            <a:ext cx="1800000" cy="8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0000" rIns="91440" bIns="60000" rtlCol="0" anchor="ctr"/>
          <a:lstStyle/>
          <a:p>
            <a:pPr algn="l"/>
            <a:r>
              <a:rPr lang="en-US" sz="1150" b="1" dirty="0">
                <a:solidFill>
                  <a:srgbClr val="DE9C3C"/>
                </a:solidFill>
                <a:latin typeface="Calibri"/>
              </a:rPr>
              <a:t>ML Prediction</a:t>
            </a:r>
          </a:p>
        </p:txBody>
      </p:sp>
      <p:sp>
        <p:nvSpPr>
          <p:cNvPr id="26" name="IAcc1"/>
          <p:cNvSpPr/>
          <p:nvPr/>
        </p:nvSpPr>
        <p:spPr>
          <a:xfrm>
            <a:off x="642880" y="2450000"/>
            <a:ext cx="8000" cy="460000"/>
          </a:xfrm>
          <a:prstGeom prst="rect">
            <a:avLst/>
          </a:prstGeom>
          <a:solidFill>
            <a:srgbClr val="DE9C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IIc2"/>
          <p:cNvSpPr/>
          <p:nvPr/>
        </p:nvSpPr>
        <p:spPr>
          <a:xfrm>
            <a:off x="262880" y="3110000"/>
            <a:ext cx="400000" cy="8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latin typeface="Segoe UI Emoji"/>
              </a:rPr>
              <a:t>📈</a:t>
            </a:r>
          </a:p>
        </p:txBody>
      </p:sp>
      <p:sp>
        <p:nvSpPr>
          <p:cNvPr id="29" name="ILb2"/>
          <p:cNvSpPr/>
          <p:nvPr/>
        </p:nvSpPr>
        <p:spPr>
          <a:xfrm>
            <a:off x="702880" y="3110000"/>
            <a:ext cx="1800000" cy="8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0000" rIns="91440" bIns="60000" rtlCol="0" anchor="ctr"/>
          <a:lstStyle/>
          <a:p>
            <a:pPr algn="l"/>
            <a:r>
              <a:rPr lang="en-US" sz="1150" b="1" dirty="0">
                <a:solidFill>
                  <a:srgbClr val="4A9CCC"/>
                </a:solidFill>
                <a:latin typeface="Calibri"/>
              </a:rPr>
              <a:t>Live Tech Indicators</a:t>
            </a:r>
          </a:p>
        </p:txBody>
      </p:sp>
      <p:sp>
        <p:nvSpPr>
          <p:cNvPr id="30" name="IAcc2"/>
          <p:cNvSpPr/>
          <p:nvPr/>
        </p:nvSpPr>
        <p:spPr>
          <a:xfrm>
            <a:off x="642880" y="3310000"/>
            <a:ext cx="8000" cy="460000"/>
          </a:xfrm>
          <a:prstGeom prst="rect">
            <a:avLst/>
          </a:prstGeom>
          <a:solidFill>
            <a:srgbClr val="4A9C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IIc3"/>
          <p:cNvSpPr/>
          <p:nvPr/>
        </p:nvSpPr>
        <p:spPr>
          <a:xfrm>
            <a:off x="262880" y="3970000"/>
            <a:ext cx="400000" cy="8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latin typeface="Segoe UI Emoji"/>
              </a:rPr>
              <a:t>📰</a:t>
            </a:r>
          </a:p>
        </p:txBody>
      </p:sp>
      <p:sp>
        <p:nvSpPr>
          <p:cNvPr id="33" name="ILb3"/>
          <p:cNvSpPr/>
          <p:nvPr/>
        </p:nvSpPr>
        <p:spPr>
          <a:xfrm>
            <a:off x="702880" y="3970000"/>
            <a:ext cx="1800000" cy="8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0000" rIns="91440" bIns="60000" rtlCol="0" anchor="ctr"/>
          <a:lstStyle/>
          <a:p>
            <a:pPr algn="l"/>
            <a:r>
              <a:rPr lang="en-US" sz="1150" b="1" dirty="0">
                <a:solidFill>
                  <a:srgbClr val="00BFA5"/>
                </a:solidFill>
                <a:latin typeface="Calibri"/>
              </a:rPr>
              <a:t>TOP News Articles</a:t>
            </a:r>
          </a:p>
        </p:txBody>
      </p:sp>
      <p:sp>
        <p:nvSpPr>
          <p:cNvPr id="34" name="IAcc3"/>
          <p:cNvSpPr/>
          <p:nvPr/>
        </p:nvSpPr>
        <p:spPr>
          <a:xfrm>
            <a:off x="642880" y="4170000"/>
            <a:ext cx="8000" cy="460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IIc4"/>
          <p:cNvSpPr/>
          <p:nvPr/>
        </p:nvSpPr>
        <p:spPr>
          <a:xfrm>
            <a:off x="262880" y="4830000"/>
            <a:ext cx="400000" cy="8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latin typeface="Segoe UI Emoji"/>
              </a:rPr>
              <a:t>📋</a:t>
            </a:r>
          </a:p>
        </p:txBody>
      </p:sp>
      <p:sp>
        <p:nvSpPr>
          <p:cNvPr id="37" name="ILb4"/>
          <p:cNvSpPr/>
          <p:nvPr/>
        </p:nvSpPr>
        <p:spPr>
          <a:xfrm>
            <a:off x="702880" y="4830000"/>
            <a:ext cx="1800000" cy="8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0000" rIns="91440" bIns="60000" rtlCol="0" anchor="ctr"/>
          <a:lstStyle/>
          <a:p>
            <a:pPr algn="l"/>
            <a:r>
              <a:rPr lang="en-US" sz="1150" b="1" dirty="0">
                <a:solidFill>
                  <a:srgbClr val="9EC544"/>
                </a:solidFill>
                <a:latin typeface="Calibri"/>
              </a:rPr>
              <a:t>Intent specific Prompt</a:t>
            </a:r>
          </a:p>
        </p:txBody>
      </p:sp>
      <p:sp>
        <p:nvSpPr>
          <p:cNvPr id="38" name="IAcc4"/>
          <p:cNvSpPr/>
          <p:nvPr/>
        </p:nvSpPr>
        <p:spPr>
          <a:xfrm>
            <a:off x="642880" y="5030000"/>
            <a:ext cx="8000" cy="460000"/>
          </a:xfrm>
          <a:prstGeom prst="rect">
            <a:avLst/>
          </a:prstGeom>
          <a:solidFill>
            <a:srgbClr val="9EC5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5" name="Arr1"/>
          <p:cNvSpPr/>
          <p:nvPr/>
        </p:nvSpPr>
        <p:spPr>
          <a:xfrm>
            <a:off x="2352880" y="3464000"/>
            <a:ext cx="284592" cy="360000"/>
          </a:xfrm>
          <a:prstGeom prst="rightArrow">
            <a:avLst/>
          </a:prstGeom>
          <a:solidFill>
            <a:srgbClr val="9A66C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CBg"/>
          <p:cNvSpPr/>
          <p:nvPr/>
        </p:nvSpPr>
        <p:spPr>
          <a:xfrm>
            <a:off x="2653224" y="590000"/>
            <a:ext cx="1900000" cy="6108000"/>
          </a:xfrm>
          <a:prstGeom prst="rect">
            <a:avLst/>
          </a:prstGeom>
          <a:solidFill>
            <a:srgbClr val="0D1B2A"/>
          </a:solidFill>
          <a:ln w="25400">
            <a:solidFill>
              <a:srgbClr val="DE9C3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" name="CBar"/>
          <p:cNvSpPr/>
          <p:nvPr/>
        </p:nvSpPr>
        <p:spPr>
          <a:xfrm>
            <a:off x="2653224" y="590000"/>
            <a:ext cx="1900000" cy="65000"/>
          </a:xfrm>
          <a:prstGeom prst="rect">
            <a:avLst/>
          </a:prstGeom>
          <a:solidFill>
            <a:srgbClr val="DE9C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Brain"/>
          <p:cNvSpPr/>
          <p:nvPr/>
        </p:nvSpPr>
        <p:spPr>
          <a:xfrm>
            <a:off x="2782880" y="790000"/>
            <a:ext cx="19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5600" dirty="0">
                <a:latin typeface="Segoe UI Emoji"/>
              </a:rPr>
              <a:t>🧠</a:t>
            </a:r>
          </a:p>
        </p:txBody>
      </p:sp>
      <p:sp>
        <p:nvSpPr>
          <p:cNvPr id="63" name="CTitle"/>
          <p:cNvSpPr/>
          <p:nvPr/>
        </p:nvSpPr>
        <p:spPr>
          <a:xfrm>
            <a:off x="2782880" y="2040000"/>
            <a:ext cx="19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0000" rIns="91440" bIns="60000" rtlCol="0" anchor="ctr"/>
          <a:lstStyle/>
          <a:p>
            <a:pPr algn="ctr"/>
            <a:r>
              <a:rPr lang="en-US" sz="2200" b="1" dirty="0">
                <a:solidFill>
                  <a:srgbClr val="DE9C3C"/>
                </a:solidFill>
                <a:latin typeface="Calibri"/>
              </a:rPr>
              <a:t>LLM</a:t>
            </a:r>
          </a:p>
          <a:p>
            <a:pPr algn="ctr"/>
            <a:r>
              <a:rPr lang="en-US" sz="2200" b="1" dirty="0">
                <a:solidFill>
                  <a:srgbClr val="DE9C3C"/>
                </a:solidFill>
                <a:latin typeface="Calibri"/>
              </a:rPr>
              <a:t>ENGINE</a:t>
            </a:r>
          </a:p>
        </p:txBody>
      </p:sp>
      <p:sp>
        <p:nvSpPr>
          <p:cNvPr id="64" name="CModel"/>
          <p:cNvSpPr/>
          <p:nvPr/>
        </p:nvSpPr>
        <p:spPr>
          <a:xfrm>
            <a:off x="2782880" y="2950000"/>
            <a:ext cx="1615408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0000" rIns="91440" bIns="6000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/>
              </a:rPr>
              <a:t>LLaMA 3.3 70B</a:t>
            </a:r>
          </a:p>
        </p:txBody>
      </p:sp>
      <p:sp>
        <p:nvSpPr>
          <p:cNvPr id="65" name="CGroq"/>
          <p:cNvSpPr/>
          <p:nvPr/>
        </p:nvSpPr>
        <p:spPr>
          <a:xfrm>
            <a:off x="2782880" y="3270000"/>
            <a:ext cx="1615408" cy="2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0000" rIns="91440" bIns="60000" rtlCol="0" anchor="ctr"/>
          <a:lstStyle/>
          <a:p>
            <a:pPr algn="ctr"/>
            <a:r>
              <a:rPr lang="en-US" sz="1000" b="0" i="1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via</a:t>
            </a:r>
            <a:r>
              <a:rPr lang="en-US" sz="1000" b="0" i="1" dirty="0">
                <a:solidFill>
                  <a:srgbClr val="777777"/>
                </a:solidFill>
                <a:latin typeface="Calibri"/>
              </a:rPr>
              <a:t> </a:t>
            </a:r>
            <a:r>
              <a:rPr lang="en-US" sz="1000" b="0" i="1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Groq</a:t>
            </a:r>
            <a:r>
              <a:rPr lang="en-US" sz="1000" b="0" i="1" dirty="0">
                <a:solidFill>
                  <a:srgbClr val="777777"/>
                </a:solidFill>
                <a:latin typeface="Calibri"/>
              </a:rPr>
              <a:t> </a:t>
            </a:r>
            <a:r>
              <a:rPr lang="en-US" sz="1000" b="0" i="1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API</a:t>
            </a:r>
          </a:p>
        </p:txBody>
      </p:sp>
      <p:sp>
        <p:nvSpPr>
          <p:cNvPr id="70" name="Pill0"/>
          <p:cNvSpPr/>
          <p:nvPr/>
        </p:nvSpPr>
        <p:spPr>
          <a:xfrm>
            <a:off x="2794640" y="3690000"/>
            <a:ext cx="720000" cy="520000"/>
          </a:xfrm>
          <a:prstGeom prst="rect">
            <a:avLst/>
          </a:prstGeom>
          <a:solidFill>
            <a:srgbClr val="111B27"/>
          </a:solidFill>
          <a:ln w="16000">
            <a:solidFill>
              <a:srgbClr val="4A9C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" name="PillTxt0"/>
          <p:cNvSpPr/>
          <p:nvPr/>
        </p:nvSpPr>
        <p:spPr>
          <a:xfrm>
            <a:off x="2801464" y="3690000"/>
            <a:ext cx="72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0000" rIns="91440" bIns="60000" rtlCol="0" anchor="ctr"/>
          <a:lstStyle/>
          <a:p>
            <a:pPr algn="ctr"/>
            <a:r>
              <a:rPr lang="en-US" sz="1600" b="1" dirty="0">
                <a:solidFill>
                  <a:srgbClr val="4A9CCC"/>
                </a:solidFill>
                <a:latin typeface="Calibri"/>
              </a:rPr>
              <a:t>0.3</a:t>
            </a:r>
          </a:p>
          <a:p>
            <a:pPr algn="ctr"/>
            <a:r>
              <a:rPr lang="en-US" sz="900" b="0" dirty="0">
                <a:solidFill>
                  <a:srgbClr val="555555"/>
                </a:solidFill>
                <a:latin typeface="Calibri"/>
              </a:rPr>
              <a:t>Temp</a:t>
            </a:r>
          </a:p>
        </p:txBody>
      </p:sp>
      <p:sp>
        <p:nvSpPr>
          <p:cNvPr id="73" name="Pill1"/>
          <p:cNvSpPr/>
          <p:nvPr/>
        </p:nvSpPr>
        <p:spPr>
          <a:xfrm>
            <a:off x="3678288" y="3690000"/>
            <a:ext cx="720000" cy="520000"/>
          </a:xfrm>
          <a:prstGeom prst="rect">
            <a:avLst/>
          </a:prstGeom>
          <a:solidFill>
            <a:srgbClr val="111B27"/>
          </a:solidFill>
          <a:ln w="16000">
            <a:solidFill>
              <a:srgbClr val="9EC5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4" name="PillTxt1"/>
          <p:cNvSpPr/>
          <p:nvPr/>
        </p:nvSpPr>
        <p:spPr>
          <a:xfrm>
            <a:off x="3678288" y="3690000"/>
            <a:ext cx="72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0000" rIns="91440" bIns="60000" rtlCol="0" anchor="ctr"/>
          <a:lstStyle/>
          <a:p>
            <a:pPr algn="ctr"/>
            <a:r>
              <a:rPr lang="en-US" sz="1600" b="1" dirty="0">
                <a:solidFill>
                  <a:srgbClr val="9EC544"/>
                </a:solidFill>
                <a:latin typeface="Calibri"/>
              </a:rPr>
              <a:t>1024</a:t>
            </a:r>
          </a:p>
          <a:p>
            <a:pPr algn="ctr"/>
            <a:r>
              <a:rPr lang="en-US" sz="900" b="0" dirty="0">
                <a:solidFill>
                  <a:srgbClr val="555555"/>
                </a:solidFill>
                <a:latin typeface="Calibri"/>
              </a:rPr>
              <a:t>Tokens</a:t>
            </a:r>
          </a:p>
        </p:txBody>
      </p:sp>
      <p:sp>
        <p:nvSpPr>
          <p:cNvPr id="76" name="CReason"/>
          <p:cNvSpPr/>
          <p:nvPr/>
        </p:nvSpPr>
        <p:spPr>
          <a:xfrm>
            <a:off x="2782880" y="4389999"/>
            <a:ext cx="1615408" cy="823445"/>
          </a:xfrm>
          <a:prstGeom prst="rect">
            <a:avLst/>
          </a:prstGeom>
          <a:noFill/>
          <a:ln>
            <a:noFill/>
          </a:ln>
        </p:spPr>
        <p:txBody>
          <a:bodyPr wrap="square" lIns="91440" tIns="60000" rIns="91440" bIns="60000" rtlCol="0" anchor="ctr"/>
          <a:lstStyle/>
          <a:p>
            <a:pPr algn="ctr"/>
            <a:r>
              <a:rPr lang="en-US" sz="1000" i="1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R</a:t>
            </a:r>
            <a:r>
              <a:rPr lang="en-US" sz="1000" b="0" i="1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easons over</a:t>
            </a:r>
          </a:p>
          <a:p>
            <a:pPr algn="ctr"/>
            <a:r>
              <a:rPr lang="en-US" sz="1000" b="0" i="1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full context</a:t>
            </a:r>
          </a:p>
          <a:p>
            <a:pPr algn="ctr"/>
            <a:r>
              <a:rPr lang="en-US" sz="1000" b="0" i="1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generates structured</a:t>
            </a:r>
          </a:p>
          <a:p>
            <a:pPr algn="ctr"/>
            <a:r>
              <a:rPr lang="en-US" sz="1000" b="0" i="1" dirty="0">
                <a:solidFill>
                  <a:schemeClr val="tx1">
                    <a:lumMod val="95000"/>
                  </a:schemeClr>
                </a:solidFill>
                <a:latin typeface="Calibri"/>
              </a:rPr>
              <a:t>response</a:t>
            </a:r>
          </a:p>
        </p:txBody>
      </p:sp>
      <p:sp>
        <p:nvSpPr>
          <p:cNvPr id="77" name="Arr2"/>
          <p:cNvSpPr/>
          <p:nvPr/>
        </p:nvSpPr>
        <p:spPr>
          <a:xfrm>
            <a:off x="4568976" y="3485418"/>
            <a:ext cx="313904" cy="360000"/>
          </a:xfrm>
          <a:prstGeom prst="rightArrow">
            <a:avLst/>
          </a:prstGeom>
          <a:solidFill>
            <a:srgbClr val="DE9C3C"/>
          </a:solidFill>
          <a:ln>
            <a:noFill/>
          </a:ln>
        </p:spPr>
        <p:txBody>
          <a:bodyPr/>
          <a:lstStyle/>
          <a:p>
            <a:endParaRPr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AB6A4CA-9090-66DD-860D-E04B52FD22A3}"/>
              </a:ext>
            </a:extLst>
          </p:cNvPr>
          <p:cNvGrpSpPr/>
          <p:nvPr/>
        </p:nvGrpSpPr>
        <p:grpSpPr>
          <a:xfrm>
            <a:off x="4882880" y="1966845"/>
            <a:ext cx="7126240" cy="3155805"/>
            <a:chOff x="4882880" y="1966845"/>
            <a:chExt cx="7126240" cy="3155805"/>
          </a:xfrm>
        </p:grpSpPr>
        <p:sp>
          <p:nvSpPr>
            <p:cNvPr id="90" name="TC0"/>
            <p:cNvSpPr/>
            <p:nvPr/>
          </p:nvSpPr>
          <p:spPr>
            <a:xfrm>
              <a:off x="4882880" y="1968650"/>
              <a:ext cx="1377248" cy="3154000"/>
            </a:xfrm>
            <a:prstGeom prst="rect">
              <a:avLst/>
            </a:prstGeom>
            <a:solidFill>
              <a:srgbClr val="0D1B2A"/>
            </a:solidFill>
            <a:ln w="19050">
              <a:solidFill>
                <a:srgbClr val="F7931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TCB0"/>
            <p:cNvSpPr/>
            <p:nvPr/>
          </p:nvSpPr>
          <p:spPr>
            <a:xfrm>
              <a:off x="4882880" y="1968650"/>
              <a:ext cx="1377248" cy="65000"/>
            </a:xfrm>
            <a:prstGeom prst="rect">
              <a:avLst/>
            </a:prstGeom>
            <a:solidFill>
              <a:srgbClr val="F7931A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TTl0"/>
            <p:cNvSpPr/>
            <p:nvPr/>
          </p:nvSpPr>
          <p:spPr>
            <a:xfrm>
              <a:off x="4882880" y="2048650"/>
              <a:ext cx="1377248" cy="40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60000" rIns="91440" bIns="60000" rtlCol="0" anchor="ctr"/>
            <a:lstStyle/>
            <a:p>
              <a:pPr algn="ctr"/>
              <a:r>
                <a:rPr lang="en-US" sz="1150" b="1" dirty="0">
                  <a:solidFill>
                    <a:srgbClr val="F7931A"/>
                  </a:solidFill>
                  <a:latin typeface="Calibri"/>
                </a:rPr>
                <a:t>PREDICTION</a:t>
              </a:r>
            </a:p>
          </p:txBody>
        </p:sp>
        <p:sp>
          <p:nvSpPr>
            <p:cNvPr id="93" name="TDiv0"/>
            <p:cNvSpPr/>
            <p:nvPr/>
          </p:nvSpPr>
          <p:spPr>
            <a:xfrm>
              <a:off x="4962880" y="2468650"/>
              <a:ext cx="1217248" cy="8000"/>
            </a:xfrm>
            <a:prstGeom prst="rect">
              <a:avLst/>
            </a:prstGeom>
            <a:solidFill>
              <a:srgbClr val="F7931A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TIc00"/>
            <p:cNvSpPr/>
            <p:nvPr/>
          </p:nvSpPr>
          <p:spPr>
            <a:xfrm>
              <a:off x="4922880" y="2528650"/>
              <a:ext cx="300000" cy="40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500" dirty="0">
                  <a:latin typeface="Segoe UI Emoji"/>
                </a:rPr>
                <a:t>📊</a:t>
              </a:r>
            </a:p>
          </p:txBody>
        </p:sp>
        <p:sp>
          <p:nvSpPr>
            <p:cNvPr id="95" name="TLb00"/>
            <p:cNvSpPr/>
            <p:nvPr/>
          </p:nvSpPr>
          <p:spPr>
            <a:xfrm>
              <a:off x="5242880" y="2528650"/>
              <a:ext cx="977248" cy="40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60000" rIns="91440" bIns="60000" rtlCol="0" anchor="ctr"/>
            <a:lstStyle/>
            <a:p>
              <a:pPr algn="l"/>
              <a:r>
                <a:rPr lang="en-US" sz="1000" b="0" dirty="0">
                  <a:solidFill>
                    <a:srgbClr val="CCCCCC"/>
                  </a:solidFill>
                  <a:latin typeface="Calibri"/>
                </a:rPr>
                <a:t>ML Signal</a:t>
              </a:r>
            </a:p>
          </p:txBody>
        </p:sp>
        <p:sp>
          <p:nvSpPr>
            <p:cNvPr id="96" name="TIc01"/>
            <p:cNvSpPr/>
            <p:nvPr/>
          </p:nvSpPr>
          <p:spPr>
            <a:xfrm>
              <a:off x="4922880" y="2928650"/>
              <a:ext cx="300000" cy="40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500" dirty="0">
                  <a:latin typeface="Segoe UI Emoji"/>
                </a:rPr>
                <a:t>📰</a:t>
              </a:r>
            </a:p>
          </p:txBody>
        </p:sp>
        <p:sp>
          <p:nvSpPr>
            <p:cNvPr id="97" name="TLb01"/>
            <p:cNvSpPr/>
            <p:nvPr/>
          </p:nvSpPr>
          <p:spPr>
            <a:xfrm>
              <a:off x="5242880" y="2928650"/>
              <a:ext cx="977248" cy="40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60000" rIns="91440" bIns="60000" rtlCol="0" anchor="ctr"/>
            <a:lstStyle/>
            <a:p>
              <a:pPr algn="l"/>
              <a:r>
                <a:rPr lang="en-US" sz="1000" b="0" dirty="0">
                  <a:solidFill>
                    <a:srgbClr val="CCCCCC"/>
                  </a:solidFill>
                  <a:latin typeface="Calibri"/>
                </a:rPr>
                <a:t>Key News</a:t>
              </a:r>
            </a:p>
          </p:txBody>
        </p:sp>
        <p:sp>
          <p:nvSpPr>
            <p:cNvPr id="98" name="TIc02"/>
            <p:cNvSpPr/>
            <p:nvPr/>
          </p:nvSpPr>
          <p:spPr>
            <a:xfrm>
              <a:off x="4922880" y="3328650"/>
              <a:ext cx="300000" cy="40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500" dirty="0">
                  <a:latin typeface="Segoe UI Emoji"/>
                </a:rPr>
                <a:t>✅</a:t>
              </a:r>
            </a:p>
          </p:txBody>
        </p:sp>
        <p:sp>
          <p:nvSpPr>
            <p:cNvPr id="99" name="TLb02"/>
            <p:cNvSpPr/>
            <p:nvPr/>
          </p:nvSpPr>
          <p:spPr>
            <a:xfrm>
              <a:off x="5242880" y="3328650"/>
              <a:ext cx="977248" cy="40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60000" rIns="91440" bIns="60000" rtlCol="0" anchor="ctr"/>
            <a:lstStyle/>
            <a:p>
              <a:pPr algn="l"/>
              <a:r>
                <a:rPr lang="en-US" sz="1000" b="0" dirty="0">
                  <a:solidFill>
                    <a:srgbClr val="CCCCCC"/>
                  </a:solidFill>
                  <a:latin typeface="Calibri"/>
                </a:rPr>
                <a:t>Bullish Signals</a:t>
              </a:r>
            </a:p>
          </p:txBody>
        </p:sp>
        <p:sp>
          <p:nvSpPr>
            <p:cNvPr id="100" name="TIc03"/>
            <p:cNvSpPr/>
            <p:nvPr/>
          </p:nvSpPr>
          <p:spPr>
            <a:xfrm>
              <a:off x="4922880" y="3728650"/>
              <a:ext cx="300000" cy="40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500" dirty="0">
                  <a:latin typeface="Segoe UI Emoji"/>
                </a:rPr>
                <a:t>⚠</a:t>
              </a:r>
            </a:p>
          </p:txBody>
        </p:sp>
        <p:sp>
          <p:nvSpPr>
            <p:cNvPr id="101" name="TLb03"/>
            <p:cNvSpPr/>
            <p:nvPr/>
          </p:nvSpPr>
          <p:spPr>
            <a:xfrm>
              <a:off x="5242880" y="3728650"/>
              <a:ext cx="977248" cy="40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60000" rIns="91440" bIns="60000" rtlCol="0" anchor="ctr"/>
            <a:lstStyle/>
            <a:p>
              <a:pPr algn="l"/>
              <a:r>
                <a:rPr lang="en-US" sz="1000" b="0" dirty="0">
                  <a:solidFill>
                    <a:srgbClr val="CCCCCC"/>
                  </a:solidFill>
                  <a:latin typeface="Calibri"/>
                </a:rPr>
                <a:t>Risk Factors</a:t>
              </a:r>
            </a:p>
          </p:txBody>
        </p:sp>
        <p:sp>
          <p:nvSpPr>
            <p:cNvPr id="102" name="TIc04"/>
            <p:cNvSpPr/>
            <p:nvPr/>
          </p:nvSpPr>
          <p:spPr>
            <a:xfrm>
              <a:off x="4922880" y="4128650"/>
              <a:ext cx="300000" cy="40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500" dirty="0">
                  <a:latin typeface="Segoe UI Emoji"/>
                </a:rPr>
                <a:t>🎯</a:t>
              </a:r>
            </a:p>
          </p:txBody>
        </p:sp>
        <p:sp>
          <p:nvSpPr>
            <p:cNvPr id="103" name="TLb04"/>
            <p:cNvSpPr/>
            <p:nvPr/>
          </p:nvSpPr>
          <p:spPr>
            <a:xfrm>
              <a:off x="5242880" y="4128650"/>
              <a:ext cx="977248" cy="40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60000" rIns="91440" bIns="60000" rtlCol="0" anchor="ctr"/>
            <a:lstStyle/>
            <a:p>
              <a:pPr algn="l"/>
              <a:r>
                <a:rPr lang="en-US" sz="1000" b="0" dirty="0">
                  <a:solidFill>
                    <a:srgbClr val="CCCCCC"/>
                  </a:solidFill>
                  <a:latin typeface="Calibri"/>
                </a:rPr>
                <a:t>Short-Term Outlook</a:t>
              </a:r>
            </a:p>
          </p:txBody>
        </p:sp>
        <p:sp>
          <p:nvSpPr>
            <p:cNvPr id="110" name="TC1"/>
            <p:cNvSpPr/>
            <p:nvPr/>
          </p:nvSpPr>
          <p:spPr>
            <a:xfrm>
              <a:off x="6320128" y="1968650"/>
              <a:ext cx="1377248" cy="3146536"/>
            </a:xfrm>
            <a:prstGeom prst="rect">
              <a:avLst/>
            </a:prstGeom>
            <a:solidFill>
              <a:srgbClr val="0D1B2A"/>
            </a:solidFill>
            <a:ln w="19050">
              <a:solidFill>
                <a:srgbClr val="00BFA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TCB1"/>
            <p:cNvSpPr/>
            <p:nvPr/>
          </p:nvSpPr>
          <p:spPr>
            <a:xfrm>
              <a:off x="6327503" y="1966845"/>
              <a:ext cx="1377248" cy="65000"/>
            </a:xfrm>
            <a:prstGeom prst="rect">
              <a:avLst/>
            </a:prstGeom>
            <a:solidFill>
              <a:srgbClr val="00BFA5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TTl1"/>
            <p:cNvSpPr/>
            <p:nvPr/>
          </p:nvSpPr>
          <p:spPr>
            <a:xfrm>
              <a:off x="6320128" y="2048650"/>
              <a:ext cx="1377248" cy="40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60000" rIns="91440" bIns="60000" rtlCol="0" anchor="ctr"/>
            <a:lstStyle/>
            <a:p>
              <a:pPr algn="ctr"/>
              <a:r>
                <a:rPr lang="en-US" sz="1150" b="1" dirty="0">
                  <a:solidFill>
                    <a:srgbClr val="00BFA5"/>
                  </a:solidFill>
                  <a:latin typeface="Calibri"/>
                </a:rPr>
                <a:t>EXPLANATION</a:t>
              </a:r>
            </a:p>
          </p:txBody>
        </p:sp>
        <p:sp>
          <p:nvSpPr>
            <p:cNvPr id="113" name="TDiv1"/>
            <p:cNvSpPr/>
            <p:nvPr/>
          </p:nvSpPr>
          <p:spPr>
            <a:xfrm>
              <a:off x="6400128" y="2468650"/>
              <a:ext cx="1217248" cy="8000"/>
            </a:xfrm>
            <a:prstGeom prst="rect">
              <a:avLst/>
            </a:prstGeom>
            <a:solidFill>
              <a:srgbClr val="00BFA5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TIc10"/>
            <p:cNvSpPr/>
            <p:nvPr/>
          </p:nvSpPr>
          <p:spPr>
            <a:xfrm>
              <a:off x="6360128" y="2528650"/>
              <a:ext cx="300000" cy="40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500" dirty="0">
                  <a:latin typeface="Segoe UI Emoji"/>
                </a:rPr>
                <a:t>🔍</a:t>
              </a:r>
            </a:p>
          </p:txBody>
        </p:sp>
        <p:sp>
          <p:nvSpPr>
            <p:cNvPr id="115" name="TLb10"/>
            <p:cNvSpPr/>
            <p:nvPr/>
          </p:nvSpPr>
          <p:spPr>
            <a:xfrm>
              <a:off x="6680128" y="2528650"/>
              <a:ext cx="977248" cy="40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60000" rIns="91440" bIns="60000" rtlCol="0" anchor="ctr"/>
            <a:lstStyle/>
            <a:p>
              <a:pPr algn="l"/>
              <a:r>
                <a:rPr lang="en-US" sz="1000" b="0" dirty="0">
                  <a:solidFill>
                    <a:srgbClr val="CCCCCC"/>
                  </a:solidFill>
                  <a:latin typeface="Calibri"/>
                </a:rPr>
                <a:t>What's Happening</a:t>
              </a:r>
            </a:p>
          </p:txBody>
        </p:sp>
        <p:sp>
          <p:nvSpPr>
            <p:cNvPr id="116" name="TIc11"/>
            <p:cNvSpPr/>
            <p:nvPr/>
          </p:nvSpPr>
          <p:spPr>
            <a:xfrm>
              <a:off x="6360128" y="2928650"/>
              <a:ext cx="300000" cy="40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500" dirty="0">
                  <a:latin typeface="Segoe UI Emoji"/>
                </a:rPr>
                <a:t>📰</a:t>
              </a:r>
            </a:p>
          </p:txBody>
        </p:sp>
        <p:sp>
          <p:nvSpPr>
            <p:cNvPr id="118" name="TIc12"/>
            <p:cNvSpPr/>
            <p:nvPr/>
          </p:nvSpPr>
          <p:spPr>
            <a:xfrm>
              <a:off x="6360128" y="3328650"/>
              <a:ext cx="300000" cy="40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500" dirty="0">
                  <a:latin typeface="Segoe UI Emoji"/>
                </a:rPr>
                <a:t>📊</a:t>
              </a:r>
            </a:p>
          </p:txBody>
        </p:sp>
        <p:sp>
          <p:nvSpPr>
            <p:cNvPr id="119" name="TLb12"/>
            <p:cNvSpPr/>
            <p:nvPr/>
          </p:nvSpPr>
          <p:spPr>
            <a:xfrm>
              <a:off x="6680128" y="3328650"/>
              <a:ext cx="977248" cy="40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60000" rIns="91440" bIns="60000" rtlCol="0" anchor="ctr"/>
            <a:lstStyle/>
            <a:p>
              <a:pPr algn="l"/>
              <a:r>
                <a:rPr lang="en-US" sz="1000" b="0" dirty="0">
                  <a:solidFill>
                    <a:srgbClr val="CCCCCC"/>
                  </a:solidFill>
                  <a:latin typeface="Calibri"/>
                </a:rPr>
                <a:t>Technical Picture</a:t>
              </a:r>
            </a:p>
          </p:txBody>
        </p:sp>
        <p:sp>
          <p:nvSpPr>
            <p:cNvPr id="120" name="TIc13"/>
            <p:cNvSpPr/>
            <p:nvPr/>
          </p:nvSpPr>
          <p:spPr>
            <a:xfrm>
              <a:off x="6360128" y="3728650"/>
              <a:ext cx="300000" cy="40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500" dirty="0">
                  <a:latin typeface="Segoe UI Emoji"/>
                </a:rPr>
                <a:t>🔗</a:t>
              </a:r>
            </a:p>
          </p:txBody>
        </p:sp>
        <p:sp>
          <p:nvSpPr>
            <p:cNvPr id="121" name="TLb13"/>
            <p:cNvSpPr/>
            <p:nvPr/>
          </p:nvSpPr>
          <p:spPr>
            <a:xfrm>
              <a:off x="6680128" y="3728650"/>
              <a:ext cx="977248" cy="40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60000" rIns="91440" bIns="60000" rtlCol="0" anchor="ctr"/>
            <a:lstStyle/>
            <a:p>
              <a:pPr algn="l"/>
              <a:r>
                <a:rPr lang="en-US" sz="1000" b="0" dirty="0">
                  <a:solidFill>
                    <a:srgbClr val="CCCCCC"/>
                  </a:solidFill>
                  <a:latin typeface="Calibri"/>
                </a:rPr>
                <a:t>Connections</a:t>
              </a:r>
            </a:p>
          </p:txBody>
        </p:sp>
        <p:sp>
          <p:nvSpPr>
            <p:cNvPr id="122" name="TIc14"/>
            <p:cNvSpPr/>
            <p:nvPr/>
          </p:nvSpPr>
          <p:spPr>
            <a:xfrm>
              <a:off x="6360128" y="4128650"/>
              <a:ext cx="300000" cy="40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500" dirty="0">
                  <a:latin typeface="Segoe UI Emoji"/>
                </a:rPr>
                <a:t>💡</a:t>
              </a:r>
            </a:p>
          </p:txBody>
        </p:sp>
        <p:sp>
          <p:nvSpPr>
            <p:cNvPr id="123" name="TLb14"/>
            <p:cNvSpPr/>
            <p:nvPr/>
          </p:nvSpPr>
          <p:spPr>
            <a:xfrm>
              <a:off x="6680128" y="4128650"/>
              <a:ext cx="977248" cy="40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60000" rIns="91440" bIns="60000" rtlCol="0" anchor="ctr"/>
            <a:lstStyle/>
            <a:p>
              <a:pPr algn="l"/>
              <a:r>
                <a:rPr lang="en-US" sz="1000" b="0" dirty="0">
                  <a:solidFill>
                    <a:srgbClr val="CCCCCC"/>
                  </a:solidFill>
                  <a:latin typeface="Calibri"/>
                </a:rPr>
                <a:t>Summary</a:t>
              </a:r>
            </a:p>
          </p:txBody>
        </p:sp>
        <p:sp>
          <p:nvSpPr>
            <p:cNvPr id="130" name="TC2"/>
            <p:cNvSpPr/>
            <p:nvPr/>
          </p:nvSpPr>
          <p:spPr>
            <a:xfrm>
              <a:off x="7757376" y="1968650"/>
              <a:ext cx="1377248" cy="3154000"/>
            </a:xfrm>
            <a:prstGeom prst="rect">
              <a:avLst/>
            </a:prstGeom>
            <a:solidFill>
              <a:srgbClr val="0D1B2A"/>
            </a:solidFill>
            <a:ln w="19050">
              <a:solidFill>
                <a:srgbClr val="4A9CCC"/>
              </a:solidFill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131" name="TCB2"/>
            <p:cNvSpPr/>
            <p:nvPr/>
          </p:nvSpPr>
          <p:spPr>
            <a:xfrm>
              <a:off x="7757376" y="1968650"/>
              <a:ext cx="1377248" cy="65000"/>
            </a:xfrm>
            <a:prstGeom prst="rect">
              <a:avLst/>
            </a:prstGeom>
            <a:solidFill>
              <a:srgbClr val="4A9CCC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TTl2"/>
            <p:cNvSpPr/>
            <p:nvPr/>
          </p:nvSpPr>
          <p:spPr>
            <a:xfrm>
              <a:off x="7757376" y="2048650"/>
              <a:ext cx="1377248" cy="323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60000" rIns="91440" bIns="60000" rtlCol="0" anchor="ctr"/>
            <a:lstStyle/>
            <a:p>
              <a:pPr algn="ctr"/>
              <a:r>
                <a:rPr lang="en-US" sz="1150" b="1" dirty="0">
                  <a:solidFill>
                    <a:srgbClr val="4A9CCC"/>
                  </a:solidFill>
                  <a:latin typeface="Calibri"/>
                </a:rPr>
                <a:t>MARKET</a:t>
              </a:r>
            </a:p>
            <a:p>
              <a:pPr algn="ctr"/>
              <a:r>
                <a:rPr lang="en-US" sz="1150" b="1" dirty="0">
                  <a:solidFill>
                    <a:srgbClr val="4A9CCC"/>
                  </a:solidFill>
                  <a:latin typeface="Calibri"/>
                </a:rPr>
                <a:t>OVERVIEW</a:t>
              </a:r>
            </a:p>
          </p:txBody>
        </p:sp>
        <p:sp>
          <p:nvSpPr>
            <p:cNvPr id="133" name="TDiv2"/>
            <p:cNvSpPr/>
            <p:nvPr/>
          </p:nvSpPr>
          <p:spPr>
            <a:xfrm>
              <a:off x="7837376" y="2460626"/>
              <a:ext cx="1217248" cy="8000"/>
            </a:xfrm>
            <a:prstGeom prst="rect">
              <a:avLst/>
            </a:prstGeom>
            <a:solidFill>
              <a:srgbClr val="4A9CCC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TIc20"/>
            <p:cNvSpPr/>
            <p:nvPr/>
          </p:nvSpPr>
          <p:spPr>
            <a:xfrm>
              <a:off x="7797376" y="2513805"/>
              <a:ext cx="300000" cy="40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500" dirty="0">
                  <a:latin typeface="Segoe UI Emoji"/>
                </a:rPr>
                <a:t>🌍</a:t>
              </a:r>
            </a:p>
          </p:txBody>
        </p:sp>
        <p:sp>
          <p:nvSpPr>
            <p:cNvPr id="135" name="TLb20"/>
            <p:cNvSpPr/>
            <p:nvPr/>
          </p:nvSpPr>
          <p:spPr>
            <a:xfrm>
              <a:off x="8117376" y="2513805"/>
              <a:ext cx="977248" cy="40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60000" rIns="91440" bIns="60000" rtlCol="0" anchor="ctr"/>
            <a:lstStyle/>
            <a:p>
              <a:pPr algn="l"/>
              <a:r>
                <a:rPr lang="en-US" sz="1000" b="0" dirty="0">
                  <a:solidFill>
                    <a:srgbClr val="CCCCCC"/>
                  </a:solidFill>
                  <a:latin typeface="Calibri"/>
                </a:rPr>
                <a:t>Market Snapshot</a:t>
              </a:r>
            </a:p>
          </p:txBody>
        </p:sp>
        <p:sp>
          <p:nvSpPr>
            <p:cNvPr id="136" name="TIc21"/>
            <p:cNvSpPr/>
            <p:nvPr/>
          </p:nvSpPr>
          <p:spPr>
            <a:xfrm>
              <a:off x="7797376" y="2913805"/>
              <a:ext cx="300000" cy="40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500" dirty="0">
                  <a:latin typeface="Segoe UI Emoji"/>
                </a:rPr>
                <a:t>📰</a:t>
              </a:r>
            </a:p>
          </p:txBody>
        </p:sp>
        <p:sp>
          <p:nvSpPr>
            <p:cNvPr id="137" name="TLb21"/>
            <p:cNvSpPr/>
            <p:nvPr/>
          </p:nvSpPr>
          <p:spPr>
            <a:xfrm>
              <a:off x="8117376" y="2913805"/>
              <a:ext cx="977248" cy="40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60000" rIns="91440" bIns="60000" rtlCol="0" anchor="ctr"/>
            <a:lstStyle/>
            <a:p>
              <a:pPr algn="l"/>
              <a:r>
                <a:rPr lang="en-US" sz="1000" b="0" dirty="0">
                  <a:solidFill>
                    <a:srgbClr val="CCCCCC"/>
                  </a:solidFill>
                  <a:latin typeface="Calibri"/>
                </a:rPr>
                <a:t>Top Stories</a:t>
              </a:r>
            </a:p>
          </p:txBody>
        </p:sp>
        <p:sp>
          <p:nvSpPr>
            <p:cNvPr id="138" name="TIc22"/>
            <p:cNvSpPr/>
            <p:nvPr/>
          </p:nvSpPr>
          <p:spPr>
            <a:xfrm>
              <a:off x="7797376" y="3313805"/>
              <a:ext cx="300000" cy="40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500" dirty="0">
                  <a:latin typeface="Segoe UI Emoji"/>
                </a:rPr>
                <a:t>📊</a:t>
              </a:r>
            </a:p>
          </p:txBody>
        </p:sp>
        <p:sp>
          <p:nvSpPr>
            <p:cNvPr id="139" name="TLb22"/>
            <p:cNvSpPr/>
            <p:nvPr/>
          </p:nvSpPr>
          <p:spPr>
            <a:xfrm>
              <a:off x="8117376" y="3313805"/>
              <a:ext cx="977248" cy="40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60000" rIns="91440" bIns="60000" rtlCol="0" anchor="ctr"/>
            <a:lstStyle/>
            <a:p>
              <a:pPr algn="l"/>
              <a:r>
                <a:rPr lang="en-US" sz="1000" b="0" dirty="0">
                  <a:solidFill>
                    <a:srgbClr val="CCCCCC"/>
                  </a:solidFill>
                  <a:latin typeface="Calibri"/>
                </a:rPr>
                <a:t>Sentiment</a:t>
              </a:r>
            </a:p>
          </p:txBody>
        </p:sp>
        <p:sp>
          <p:nvSpPr>
            <p:cNvPr id="140" name="TIc23"/>
            <p:cNvSpPr/>
            <p:nvPr/>
          </p:nvSpPr>
          <p:spPr>
            <a:xfrm>
              <a:off x="7797376" y="3713805"/>
              <a:ext cx="300000" cy="40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500" dirty="0">
                  <a:latin typeface="Segoe UI Emoji"/>
                </a:rPr>
                <a:t>🔮</a:t>
              </a:r>
            </a:p>
          </p:txBody>
        </p:sp>
        <p:sp>
          <p:nvSpPr>
            <p:cNvPr id="141" name="TLb23"/>
            <p:cNvSpPr/>
            <p:nvPr/>
          </p:nvSpPr>
          <p:spPr>
            <a:xfrm>
              <a:off x="8117376" y="3713805"/>
              <a:ext cx="977248" cy="40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60000" rIns="91440" bIns="60000" rtlCol="0" anchor="ctr"/>
            <a:lstStyle/>
            <a:p>
              <a:pPr algn="l"/>
              <a:r>
                <a:rPr lang="en-US" sz="1000" b="0" dirty="0">
                  <a:solidFill>
                    <a:srgbClr val="CCCCCC"/>
                  </a:solidFill>
                  <a:latin typeface="Calibri"/>
                </a:rPr>
                <a:t>Factors to Watch</a:t>
              </a:r>
            </a:p>
          </p:txBody>
        </p:sp>
        <p:sp>
          <p:nvSpPr>
            <p:cNvPr id="150" name="TC3"/>
            <p:cNvSpPr/>
            <p:nvPr/>
          </p:nvSpPr>
          <p:spPr>
            <a:xfrm>
              <a:off x="9194624" y="1968650"/>
              <a:ext cx="1377248" cy="3154000"/>
            </a:xfrm>
            <a:prstGeom prst="rect">
              <a:avLst/>
            </a:prstGeom>
            <a:solidFill>
              <a:srgbClr val="0D1B2A"/>
            </a:solidFill>
            <a:ln w="19050">
              <a:solidFill>
                <a:srgbClr val="9A66C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TCB3"/>
            <p:cNvSpPr/>
            <p:nvPr/>
          </p:nvSpPr>
          <p:spPr>
            <a:xfrm>
              <a:off x="9194624" y="1968650"/>
              <a:ext cx="1377248" cy="65000"/>
            </a:xfrm>
            <a:prstGeom prst="rect">
              <a:avLst/>
            </a:prstGeom>
            <a:solidFill>
              <a:srgbClr val="9A66CA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TTl3"/>
            <p:cNvSpPr/>
            <p:nvPr/>
          </p:nvSpPr>
          <p:spPr>
            <a:xfrm>
              <a:off x="9194624" y="2048650"/>
              <a:ext cx="1377248" cy="33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60000" rIns="91440" bIns="60000" rtlCol="0" anchor="ctr"/>
            <a:lstStyle/>
            <a:p>
              <a:pPr algn="ctr"/>
              <a:r>
                <a:rPr lang="en-US" sz="1150" b="1" dirty="0">
                  <a:solidFill>
                    <a:srgbClr val="9A66CA"/>
                  </a:solidFill>
                  <a:latin typeface="Calibri"/>
                </a:rPr>
                <a:t>INVESTMENT</a:t>
              </a:r>
            </a:p>
            <a:p>
              <a:pPr algn="ctr"/>
              <a:r>
                <a:rPr lang="en-US" sz="1150" b="1" dirty="0">
                  <a:solidFill>
                    <a:srgbClr val="9A66CA"/>
                  </a:solidFill>
                  <a:latin typeface="Calibri"/>
                </a:rPr>
                <a:t>ADVICE</a:t>
              </a:r>
            </a:p>
          </p:txBody>
        </p:sp>
        <p:sp>
          <p:nvSpPr>
            <p:cNvPr id="153" name="TDiv3"/>
            <p:cNvSpPr/>
            <p:nvPr/>
          </p:nvSpPr>
          <p:spPr>
            <a:xfrm>
              <a:off x="9274624" y="2460629"/>
              <a:ext cx="1217248" cy="8000"/>
            </a:xfrm>
            <a:prstGeom prst="rect">
              <a:avLst/>
            </a:prstGeom>
            <a:solidFill>
              <a:srgbClr val="9A66CA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TIc30"/>
            <p:cNvSpPr/>
            <p:nvPr/>
          </p:nvSpPr>
          <p:spPr>
            <a:xfrm>
              <a:off x="9234624" y="2868650"/>
              <a:ext cx="300000" cy="40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500" dirty="0">
                  <a:latin typeface="Segoe UI Emoji"/>
                </a:rPr>
                <a:t>📊</a:t>
              </a:r>
            </a:p>
          </p:txBody>
        </p:sp>
        <p:sp>
          <p:nvSpPr>
            <p:cNvPr id="155" name="TLb30"/>
            <p:cNvSpPr/>
            <p:nvPr/>
          </p:nvSpPr>
          <p:spPr>
            <a:xfrm>
              <a:off x="9554624" y="2513805"/>
              <a:ext cx="977248" cy="40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60000" rIns="91440" bIns="60000" rtlCol="0" anchor="ctr"/>
            <a:lstStyle/>
            <a:p>
              <a:pPr algn="l"/>
              <a:r>
                <a:rPr lang="en-US" sz="1000" b="0" dirty="0">
                  <a:solidFill>
                    <a:srgbClr val="CCCCCC"/>
                  </a:solidFill>
                  <a:latin typeface="Calibri"/>
                </a:rPr>
                <a:t>M</a:t>
              </a:r>
              <a:r>
                <a:rPr lang="en-US" sz="1000" dirty="0">
                  <a:solidFill>
                    <a:srgbClr val="CCCCCC"/>
                  </a:solidFill>
                  <a:latin typeface="Calibri"/>
                </a:rPr>
                <a:t>L</a:t>
              </a:r>
              <a:r>
                <a:rPr lang="en-US" sz="1000" b="0" dirty="0">
                  <a:solidFill>
                    <a:srgbClr val="CCCCCC"/>
                  </a:solidFill>
                  <a:latin typeface="Calibri"/>
                </a:rPr>
                <a:t> Signal</a:t>
              </a:r>
            </a:p>
          </p:txBody>
        </p:sp>
        <p:sp>
          <p:nvSpPr>
            <p:cNvPr id="156" name="TIc31"/>
            <p:cNvSpPr/>
            <p:nvPr/>
          </p:nvSpPr>
          <p:spPr>
            <a:xfrm>
              <a:off x="9234624" y="2913805"/>
              <a:ext cx="300000" cy="40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500" dirty="0">
                  <a:latin typeface="Segoe UI Emoji"/>
                </a:rPr>
                <a:t>📰</a:t>
              </a:r>
            </a:p>
          </p:txBody>
        </p:sp>
        <p:sp>
          <p:nvSpPr>
            <p:cNvPr id="157" name="TLb31"/>
            <p:cNvSpPr/>
            <p:nvPr/>
          </p:nvSpPr>
          <p:spPr>
            <a:xfrm>
              <a:off x="9554624" y="2913805"/>
              <a:ext cx="977248" cy="40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60000" rIns="91440" bIns="60000" rtlCol="0" anchor="ctr"/>
            <a:lstStyle/>
            <a:p>
              <a:pPr algn="l"/>
              <a:r>
                <a:rPr lang="en-US" sz="1000" b="0" dirty="0">
                  <a:solidFill>
                    <a:srgbClr val="CCCCCC"/>
                  </a:solidFill>
                  <a:latin typeface="Calibri"/>
                </a:rPr>
                <a:t>Market Context</a:t>
              </a:r>
            </a:p>
          </p:txBody>
        </p:sp>
        <p:sp>
          <p:nvSpPr>
            <p:cNvPr id="158" name="TIc32"/>
            <p:cNvSpPr/>
            <p:nvPr/>
          </p:nvSpPr>
          <p:spPr>
            <a:xfrm>
              <a:off x="9234624" y="3313805"/>
              <a:ext cx="300000" cy="40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500" dirty="0">
                  <a:latin typeface="Segoe UI Emoji"/>
                </a:rPr>
                <a:t>✅</a:t>
              </a:r>
            </a:p>
          </p:txBody>
        </p:sp>
        <p:sp>
          <p:nvSpPr>
            <p:cNvPr id="159" name="TLb32"/>
            <p:cNvSpPr/>
            <p:nvPr/>
          </p:nvSpPr>
          <p:spPr>
            <a:xfrm>
              <a:off x="9554624" y="3313805"/>
              <a:ext cx="977248" cy="40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60000" rIns="91440" bIns="60000" rtlCol="0" anchor="ctr"/>
            <a:lstStyle/>
            <a:p>
              <a:pPr algn="l"/>
              <a:r>
                <a:rPr lang="en-US" sz="1000" b="0" dirty="0">
                  <a:solidFill>
                    <a:srgbClr val="CCCCCC"/>
                  </a:solidFill>
                  <a:latin typeface="Calibri"/>
                </a:rPr>
                <a:t>Arguments For</a:t>
              </a:r>
            </a:p>
          </p:txBody>
        </p:sp>
        <p:sp>
          <p:nvSpPr>
            <p:cNvPr id="160" name="TIc33"/>
            <p:cNvSpPr/>
            <p:nvPr/>
          </p:nvSpPr>
          <p:spPr>
            <a:xfrm>
              <a:off x="9234624" y="3713805"/>
              <a:ext cx="300000" cy="40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500" dirty="0">
                  <a:latin typeface="Segoe UI Emoji"/>
                </a:rPr>
                <a:t>⚠</a:t>
              </a:r>
            </a:p>
          </p:txBody>
        </p:sp>
        <p:sp>
          <p:nvSpPr>
            <p:cNvPr id="161" name="TLb33"/>
            <p:cNvSpPr/>
            <p:nvPr/>
          </p:nvSpPr>
          <p:spPr>
            <a:xfrm>
              <a:off x="9554624" y="3713805"/>
              <a:ext cx="977248" cy="40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60000" rIns="91440" bIns="60000" rtlCol="0" anchor="ctr"/>
            <a:lstStyle/>
            <a:p>
              <a:pPr algn="l"/>
              <a:r>
                <a:rPr lang="en-US" sz="1000" b="0" dirty="0">
                  <a:solidFill>
                    <a:srgbClr val="CCCCCC"/>
                  </a:solidFill>
                  <a:latin typeface="Calibri"/>
                </a:rPr>
                <a:t>Arguments Against</a:t>
              </a:r>
            </a:p>
          </p:txBody>
        </p:sp>
        <p:sp>
          <p:nvSpPr>
            <p:cNvPr id="162" name="TIc34"/>
            <p:cNvSpPr/>
            <p:nvPr/>
          </p:nvSpPr>
          <p:spPr>
            <a:xfrm>
              <a:off x="9234624" y="4113805"/>
              <a:ext cx="300000" cy="40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500" dirty="0">
                  <a:latin typeface="Segoe UI Emoji"/>
                </a:rPr>
                <a:t>🎯</a:t>
              </a:r>
            </a:p>
          </p:txBody>
        </p:sp>
        <p:sp>
          <p:nvSpPr>
            <p:cNvPr id="163" name="TLb34"/>
            <p:cNvSpPr/>
            <p:nvPr/>
          </p:nvSpPr>
          <p:spPr>
            <a:xfrm>
              <a:off x="9554624" y="4113805"/>
              <a:ext cx="977248" cy="40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60000" rIns="91440" bIns="60000" rtlCol="0" anchor="ctr"/>
            <a:lstStyle/>
            <a:p>
              <a:pPr algn="l"/>
              <a:r>
                <a:rPr lang="en-US" sz="1000" b="0" dirty="0">
                  <a:solidFill>
                    <a:srgbClr val="CCCCCC"/>
                  </a:solidFill>
                  <a:latin typeface="Calibri"/>
                </a:rPr>
                <a:t>Neutral Assessment</a:t>
              </a:r>
            </a:p>
          </p:txBody>
        </p:sp>
        <p:sp>
          <p:nvSpPr>
            <p:cNvPr id="170" name="TC4"/>
            <p:cNvSpPr/>
            <p:nvPr/>
          </p:nvSpPr>
          <p:spPr>
            <a:xfrm>
              <a:off x="10631872" y="1968650"/>
              <a:ext cx="1377248" cy="3154000"/>
            </a:xfrm>
            <a:prstGeom prst="rect">
              <a:avLst/>
            </a:prstGeom>
            <a:solidFill>
              <a:srgbClr val="0D1B2A"/>
            </a:solidFill>
            <a:ln w="19050">
              <a:solidFill>
                <a:srgbClr val="9EC544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TCB4"/>
            <p:cNvSpPr/>
            <p:nvPr/>
          </p:nvSpPr>
          <p:spPr>
            <a:xfrm>
              <a:off x="10631872" y="1968650"/>
              <a:ext cx="1377248" cy="65000"/>
            </a:xfrm>
            <a:prstGeom prst="rect">
              <a:avLst/>
            </a:prstGeom>
            <a:solidFill>
              <a:srgbClr val="9EC544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TTl4"/>
            <p:cNvSpPr/>
            <p:nvPr/>
          </p:nvSpPr>
          <p:spPr>
            <a:xfrm>
              <a:off x="10631872" y="2048650"/>
              <a:ext cx="1377248" cy="314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60000" rIns="91440" bIns="60000" rtlCol="0" anchor="ctr"/>
            <a:lstStyle/>
            <a:p>
              <a:pPr algn="ctr"/>
              <a:r>
                <a:rPr lang="en-US" sz="1150" b="1" dirty="0">
                  <a:solidFill>
                    <a:srgbClr val="9EC544"/>
                  </a:solidFill>
                  <a:latin typeface="Calibri"/>
                </a:rPr>
                <a:t>FACTUAL</a:t>
              </a:r>
            </a:p>
            <a:p>
              <a:pPr algn="ctr"/>
              <a:r>
                <a:rPr lang="en-US" sz="1150" b="1" dirty="0">
                  <a:solidFill>
                    <a:srgbClr val="9EC544"/>
                  </a:solidFill>
                  <a:latin typeface="Calibri"/>
                </a:rPr>
                <a:t>CRYPTO</a:t>
              </a:r>
            </a:p>
          </p:txBody>
        </p:sp>
        <p:sp>
          <p:nvSpPr>
            <p:cNvPr id="173" name="TDiv4"/>
            <p:cNvSpPr/>
            <p:nvPr/>
          </p:nvSpPr>
          <p:spPr>
            <a:xfrm>
              <a:off x="10711872" y="2467450"/>
              <a:ext cx="1217248" cy="8000"/>
            </a:xfrm>
            <a:prstGeom prst="rect">
              <a:avLst/>
            </a:prstGeom>
            <a:solidFill>
              <a:srgbClr val="9EC544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" name="TIc40"/>
            <p:cNvSpPr/>
            <p:nvPr/>
          </p:nvSpPr>
          <p:spPr>
            <a:xfrm>
              <a:off x="10671872" y="2513805"/>
              <a:ext cx="300000" cy="40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500" dirty="0">
                  <a:latin typeface="Segoe UI Emoji"/>
                </a:rPr>
                <a:t>🧠</a:t>
              </a:r>
            </a:p>
          </p:txBody>
        </p:sp>
        <p:sp>
          <p:nvSpPr>
            <p:cNvPr id="175" name="TLb40"/>
            <p:cNvSpPr/>
            <p:nvPr/>
          </p:nvSpPr>
          <p:spPr>
            <a:xfrm>
              <a:off x="10991872" y="2513805"/>
              <a:ext cx="977248" cy="40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60000" rIns="91440" bIns="60000" rtlCol="0" anchor="ctr"/>
            <a:lstStyle/>
            <a:p>
              <a:pPr algn="l"/>
              <a:r>
                <a:rPr lang="en-US" sz="1000" b="0" dirty="0">
                  <a:solidFill>
                    <a:srgbClr val="CCCCCC"/>
                  </a:solidFill>
                  <a:latin typeface="Calibri"/>
                </a:rPr>
                <a:t>Pure LLM knowledge</a:t>
              </a:r>
            </a:p>
          </p:txBody>
        </p:sp>
        <p:sp>
          <p:nvSpPr>
            <p:cNvPr id="180" name="TIc43"/>
            <p:cNvSpPr/>
            <p:nvPr/>
          </p:nvSpPr>
          <p:spPr>
            <a:xfrm>
              <a:off x="10671872" y="2840344"/>
              <a:ext cx="300000" cy="40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500" dirty="0">
                  <a:latin typeface="Segoe UI Emoji"/>
                </a:rPr>
                <a:t>📝</a:t>
              </a:r>
            </a:p>
          </p:txBody>
        </p:sp>
        <p:sp>
          <p:nvSpPr>
            <p:cNvPr id="181" name="TLb43"/>
            <p:cNvSpPr/>
            <p:nvPr/>
          </p:nvSpPr>
          <p:spPr>
            <a:xfrm>
              <a:off x="10991872" y="2840344"/>
              <a:ext cx="977248" cy="40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60000" rIns="91440" bIns="60000" rtlCol="0" anchor="ctr"/>
            <a:lstStyle/>
            <a:p>
              <a:pPr algn="l"/>
              <a:r>
                <a:rPr lang="en-US" sz="1000" b="0" dirty="0">
                  <a:solidFill>
                    <a:srgbClr val="CCCCCC"/>
                  </a:solidFill>
                  <a:latin typeface="Calibri"/>
                </a:rPr>
                <a:t>Max 200 words</a:t>
              </a:r>
            </a:p>
          </p:txBody>
        </p:sp>
        <p:sp>
          <p:nvSpPr>
            <p:cNvPr id="182" name="TIc44"/>
            <p:cNvSpPr/>
            <p:nvPr/>
          </p:nvSpPr>
          <p:spPr>
            <a:xfrm>
              <a:off x="10671872" y="3240344"/>
              <a:ext cx="300000" cy="40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500" dirty="0">
                  <a:latin typeface="Segoe UI Emoji"/>
                </a:rPr>
                <a:t>📖</a:t>
              </a:r>
            </a:p>
          </p:txBody>
        </p:sp>
        <p:sp>
          <p:nvSpPr>
            <p:cNvPr id="183" name="TLb44"/>
            <p:cNvSpPr/>
            <p:nvPr/>
          </p:nvSpPr>
          <p:spPr>
            <a:xfrm>
              <a:off x="10991872" y="3240344"/>
              <a:ext cx="977248" cy="40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60000" rIns="91440" bIns="60000" rtlCol="0" anchor="ctr"/>
            <a:lstStyle/>
            <a:p>
              <a:pPr algn="l"/>
              <a:r>
                <a:rPr lang="en-US" sz="1000" b="0" dirty="0">
                  <a:solidFill>
                    <a:srgbClr val="CCCCCC"/>
                  </a:solidFill>
                  <a:latin typeface="Calibri"/>
                </a:rPr>
                <a:t>No fixed structure</a:t>
              </a:r>
            </a:p>
          </p:txBody>
        </p:sp>
        <p:sp>
          <p:nvSpPr>
            <p:cNvPr id="5" name="TIc00">
              <a:extLst>
                <a:ext uri="{FF2B5EF4-FFF2-40B4-BE49-F238E27FC236}">
                  <a16:creationId xmlns:a16="http://schemas.microsoft.com/office/drawing/2014/main" id="{06744B1A-E36F-5604-6368-843B06007B53}"/>
                </a:ext>
              </a:extLst>
            </p:cNvPr>
            <p:cNvSpPr/>
            <p:nvPr/>
          </p:nvSpPr>
          <p:spPr>
            <a:xfrm>
              <a:off x="9238776" y="2510000"/>
              <a:ext cx="300000" cy="40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500" dirty="0">
                  <a:latin typeface="Segoe UI Emoji"/>
                </a:rPr>
                <a:t>📊</a:t>
              </a:r>
            </a:p>
          </p:txBody>
        </p:sp>
      </p:grpSp>
      <p:sp>
        <p:nvSpPr>
          <p:cNvPr id="7" name="TLb11">
            <a:extLst>
              <a:ext uri="{FF2B5EF4-FFF2-40B4-BE49-F238E27FC236}">
                <a16:creationId xmlns:a16="http://schemas.microsoft.com/office/drawing/2014/main" id="{9AA49F77-5AE9-1A5F-112E-2ED6F4474DCD}"/>
              </a:ext>
            </a:extLst>
          </p:cNvPr>
          <p:cNvSpPr/>
          <p:nvPr/>
        </p:nvSpPr>
        <p:spPr>
          <a:xfrm>
            <a:off x="6680128" y="2928650"/>
            <a:ext cx="977248" cy="4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0000" rIns="91440" bIns="60000" rtlCol="0" anchor="ctr"/>
          <a:lstStyle/>
          <a:p>
            <a:pPr algn="l"/>
            <a:r>
              <a:rPr lang="en-US" sz="1000" b="0" dirty="0">
                <a:solidFill>
                  <a:srgbClr val="CCCCCC"/>
                </a:solidFill>
                <a:latin typeface="Calibri"/>
              </a:rPr>
              <a:t>News Drivers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60" grpId="0" animBg="1"/>
      <p:bldP spid="61" grpId="0" animBg="1"/>
      <p:bldP spid="62" grpId="0"/>
      <p:bldP spid="63" grpId="0"/>
      <p:bldP spid="64" grpId="0"/>
      <p:bldP spid="65" grpId="0"/>
      <p:bldP spid="70" grpId="0" animBg="1"/>
      <p:bldP spid="71" grpId="0"/>
      <p:bldP spid="73" grpId="0" animBg="1"/>
      <p:bldP spid="74" grpId="0"/>
      <p:bldP spid="76" grpId="0"/>
      <p:bldP spid="77" grpId="0" animBg="1"/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3BE23-3D92-2F04-69ED-EABBA4CB2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47EDD90-D820-D3CE-B0C3-10BC686FF505}"/>
              </a:ext>
            </a:extLst>
          </p:cNvPr>
          <p:cNvSpPr txBox="1"/>
          <p:nvPr/>
        </p:nvSpPr>
        <p:spPr>
          <a:xfrm>
            <a:off x="3048568" y="2825087"/>
            <a:ext cx="632061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 spc="-1" dirty="0" err="1">
                <a:solidFill>
                  <a:srgbClr val="FFFFFF"/>
                </a:solidFill>
                <a:latin typeface="Arial Black"/>
                <a:ea typeface="Arial Black"/>
              </a:rPr>
              <a:t>CoinTrend</a:t>
            </a:r>
            <a:r>
              <a:rPr lang="en-US" sz="4000" b="1" strike="noStrike" spc="-1" dirty="0">
                <a:solidFill>
                  <a:srgbClr val="FFFFFF"/>
                </a:solidFill>
                <a:latin typeface="Arial Black"/>
                <a:ea typeface="Arial Black"/>
              </a:rPr>
              <a:t> App </a:t>
            </a:r>
          </a:p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 spc="-1" dirty="0">
                <a:solidFill>
                  <a:srgbClr val="FFFFFF"/>
                </a:solidFill>
                <a:latin typeface="Arial Black"/>
                <a:ea typeface="Arial Black"/>
              </a:rPr>
              <a:t>Live Demo 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751766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4144</TotalTime>
  <Words>4197</Words>
  <Application>Microsoft Office PowerPoint</Application>
  <PresentationFormat>Widescreen</PresentationFormat>
  <Paragraphs>1143</Paragraphs>
  <Slides>29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Aptos</vt:lpstr>
      <vt:lpstr>Arial</vt:lpstr>
      <vt:lpstr>Arial Black</vt:lpstr>
      <vt:lpstr>Bookman Old Style</vt:lpstr>
      <vt:lpstr>Calibri</vt:lpstr>
      <vt:lpstr>Rockwell</vt:lpstr>
      <vt:lpstr>Segoe UI Emoji</vt:lpstr>
      <vt:lpstr>Times New Roman</vt:lpstr>
      <vt:lpstr>Wingdings</vt:lpstr>
      <vt:lpstr>Damask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Maryem Tlili</dc:creator>
  <cp:lastModifiedBy>Maryem Tlili</cp:lastModifiedBy>
  <cp:revision>53</cp:revision>
  <dcterms:created xsi:type="dcterms:W3CDTF">2026-02-23T21:37:55Z</dcterms:created>
  <dcterms:modified xsi:type="dcterms:W3CDTF">2026-03-04T08:23:09Z</dcterms:modified>
</cp:coreProperties>
</file>